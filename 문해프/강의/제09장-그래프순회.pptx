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434" r:id="rId2"/>
    <p:sldId id="457" r:id="rId3"/>
    <p:sldId id="581" r:id="rId4"/>
    <p:sldId id="437" r:id="rId5"/>
    <p:sldId id="562" r:id="rId6"/>
    <p:sldId id="601" r:id="rId7"/>
    <p:sldId id="602" r:id="rId8"/>
    <p:sldId id="603" r:id="rId9"/>
    <p:sldId id="604" r:id="rId10"/>
    <p:sldId id="605" r:id="rId11"/>
    <p:sldId id="606" r:id="rId12"/>
    <p:sldId id="607" r:id="rId13"/>
    <p:sldId id="608" r:id="rId14"/>
    <p:sldId id="609" r:id="rId15"/>
    <p:sldId id="610" r:id="rId16"/>
    <p:sldId id="541" r:id="rId17"/>
    <p:sldId id="611" r:id="rId18"/>
    <p:sldId id="612" r:id="rId19"/>
    <p:sldId id="563" r:id="rId20"/>
    <p:sldId id="564" r:id="rId21"/>
    <p:sldId id="565" r:id="rId22"/>
    <p:sldId id="613" r:id="rId23"/>
    <p:sldId id="614" r:id="rId24"/>
    <p:sldId id="615" r:id="rId25"/>
    <p:sldId id="616" r:id="rId26"/>
    <p:sldId id="617" r:id="rId27"/>
    <p:sldId id="566" r:id="rId28"/>
    <p:sldId id="495" r:id="rId29"/>
    <p:sldId id="576" r:id="rId30"/>
    <p:sldId id="618" r:id="rId31"/>
    <p:sldId id="518" r:id="rId32"/>
    <p:sldId id="496" r:id="rId33"/>
    <p:sldId id="497" r:id="rId34"/>
    <p:sldId id="519" r:id="rId35"/>
    <p:sldId id="547" r:id="rId36"/>
    <p:sldId id="585" r:id="rId37"/>
    <p:sldId id="586" r:id="rId38"/>
    <p:sldId id="619" r:id="rId39"/>
    <p:sldId id="587" r:id="rId40"/>
    <p:sldId id="589" r:id="rId41"/>
    <p:sldId id="620" r:id="rId42"/>
    <p:sldId id="621" r:id="rId43"/>
    <p:sldId id="622" r:id="rId44"/>
    <p:sldId id="623" r:id="rId45"/>
    <p:sldId id="625" r:id="rId46"/>
  </p:sldIdLst>
  <p:sldSz cx="9144000" cy="6858000" type="screen4x3"/>
  <p:notesSz cx="6858000" cy="95742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바탕" pitchFamily="18" charset="-127"/>
        <a:ea typeface="바탕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B4B4B4"/>
    <a:srgbClr val="7ACCB7"/>
    <a:srgbClr val="FFCC00"/>
    <a:srgbClr val="7BB0E5"/>
    <a:srgbClr val="89B2DB"/>
    <a:srgbClr val="3D81C5"/>
    <a:srgbClr val="8FB6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9" autoAdjust="0"/>
    <p:restoredTop sz="94003" autoAdjust="0"/>
  </p:normalViewPr>
  <p:slideViewPr>
    <p:cSldViewPr>
      <p:cViewPr varScale="1">
        <p:scale>
          <a:sx n="121" d="100"/>
          <a:sy n="121" d="100"/>
        </p:scale>
        <p:origin x="-1320" y="-96"/>
      </p:cViewPr>
      <p:guideLst>
        <p:guide orient="horz" pos="2160"/>
        <p:guide pos="5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C0A8F9-D868-4AAD-9DD5-4BFC86FA08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5547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38225" y="719138"/>
            <a:ext cx="4783138" cy="3587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48188"/>
            <a:ext cx="5029200" cy="430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094788"/>
            <a:ext cx="2971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62EA2C-6A7B-4AE4-9565-91AC0F95E9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28696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7832E-844D-470C-8C0F-12EE8280A2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0217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A3A84-ADC4-40BE-9831-816FDDEFB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36531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00D486-035F-41F5-9170-0500B9C707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593866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7A648-85B3-4977-8B2A-E12A6F1734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130685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CF8AA5-3C2C-4A68-83B0-B42998F3D2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448001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C486B-732A-410C-8533-00AA0C15C6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5420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FAE050-7BCF-4ADD-864F-F96DD2DFD2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3183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37C71-214F-4A0E-94EE-F9A3CF6F67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758545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F2BEE-6B22-4F95-871D-0836B7578F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102218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C7C7C-63DE-45E6-9CFD-1FC765F37C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99822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1F21C-FE8B-4C09-993B-6B9FA0C0D0D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98237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D8EDF84B-17EA-4A1E-8C40-DE4CA9254A5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9</a:t>
            </a:r>
            <a:r>
              <a:rPr lang="ko-KR" altLang="en-US" dirty="0" smtClean="0"/>
              <a:t>장 그래프순회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강원대학교</a:t>
            </a:r>
            <a:endParaRPr lang="en-US" altLang="ko-KR" dirty="0" smtClean="0"/>
          </a:p>
          <a:p>
            <a:r>
              <a:rPr lang="ko-KR" altLang="en-US" dirty="0" smtClean="0"/>
              <a:t>하진</a:t>
            </a:r>
            <a:r>
              <a:rPr lang="ko-KR" altLang="en-US" dirty="0"/>
              <a:t>영</a:t>
            </a:r>
          </a:p>
        </p:txBody>
      </p:sp>
    </p:spTree>
    <p:extLst>
      <p:ext uri="{BB962C8B-B14F-4D97-AF65-F5344CB8AC3E}">
        <p14:creationId xmlns:p14="http://schemas.microsoft.com/office/powerpoint/2010/main" val="3449141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762000"/>
            <a:ext cx="9144000" cy="2286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D81C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3492500" y="115888"/>
            <a:ext cx="5470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바탕" pitchFamily="18" charset="-127"/>
                <a:ea typeface="바탕" pitchFamily="18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3600" b="0">
                <a:solidFill>
                  <a:srgbClr val="BCCFEA"/>
                </a:solidFill>
                <a:latin typeface="산돌명조 M" pitchFamily="18" charset="-127"/>
                <a:ea typeface="산돌명조 M" pitchFamily="18" charset="-127"/>
              </a:rPr>
              <a:t>주차별 수업 계획 </a:t>
            </a:r>
          </a:p>
        </p:txBody>
      </p:sp>
      <p:sp>
        <p:nvSpPr>
          <p:cNvPr id="5127" name="Rectangle 11"/>
          <p:cNvSpPr>
            <a:spLocks noChangeArrowheads="1"/>
          </p:cNvSpPr>
          <p:nvPr/>
        </p:nvSpPr>
        <p:spPr bwMode="auto">
          <a:xfrm>
            <a:off x="0" y="-23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8" name="Rectangle 739"/>
          <p:cNvSpPr>
            <a:spLocks noChangeArrowheads="1"/>
          </p:cNvSpPr>
          <p:nvPr/>
        </p:nvSpPr>
        <p:spPr bwMode="auto">
          <a:xfrm>
            <a:off x="0" y="1154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FAE050-7BCF-4ADD-864F-F96DD2DFD22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graphicFrame>
        <p:nvGraphicFramePr>
          <p:cNvPr id="11" name="Group 2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452702"/>
              </p:ext>
            </p:extLst>
          </p:nvPr>
        </p:nvGraphicFramePr>
        <p:xfrm>
          <a:off x="1116013" y="1135063"/>
          <a:ext cx="7632699" cy="5084762"/>
        </p:xfrm>
        <a:graphic>
          <a:graphicData uri="http://schemas.openxmlformats.org/drawingml/2006/table">
            <a:tbl>
              <a:tblPr/>
              <a:tblGrid>
                <a:gridCol w="809638"/>
                <a:gridCol w="3078584"/>
                <a:gridCol w="2016530"/>
                <a:gridCol w="1727947"/>
              </a:tblGrid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주차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수업내용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교재 범위 및 과제물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비고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8" marB="45728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9205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9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62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10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백트래킹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2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8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59, 61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11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tx1"/>
                          </a:solidFill>
                          <a:effectLst/>
                        </a:rPr>
                        <a:t>그래프 순회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9</a:t>
                      </a:r>
                      <a:r>
                        <a:rPr lang="ko-KR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65, 71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12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그래프 알고리즘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73, 74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792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13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동적 프로그래밍</a:t>
                      </a:r>
                      <a:r>
                        <a:rPr lang="en-US" altLang="ko-KR" sz="1600" b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1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83, 84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40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14</a:t>
                      </a:r>
                      <a:endParaRPr kumimoji="1" lang="en-US" altLang="ko-K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동적 프로그래밍</a:t>
                      </a:r>
                      <a:r>
                        <a:rPr kumimoji="1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2</a:t>
                      </a:r>
                      <a:endParaRPr kumimoji="1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11</a:t>
                      </a:r>
                      <a:r>
                        <a:rPr lang="ko-KR" altLang="ko-KR" sz="1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문제 </a:t>
                      </a: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86, 87</a:t>
                      </a:r>
                      <a:endParaRPr kumimoji="1" lang="ko-KR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627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체" pitchFamily="49" charset="-127"/>
                        </a:rPr>
                        <a:t>15</a:t>
                      </a:r>
                      <a:endParaRPr kumimoji="1" lang="en-US" altLang="ko-K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체" pitchFamily="49" charset="-127"/>
                          <a:ea typeface="굴림" pitchFamily="50" charset="-127"/>
                        </a:rPr>
                        <a:t>기말고사</a:t>
                      </a: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필기시험</a:t>
                      </a: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굴림" pitchFamily="50" charset="-127"/>
                        <a:ea typeface="바탕" pitchFamily="18" charset="-127"/>
                      </a:endParaRPr>
                    </a:p>
                  </a:txBody>
                  <a:tcPr marL="91441" marR="91441" marT="45729" marB="45729"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962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그래프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전산 분야에서 여러 분야를 통합시킬 수 있는 주제 가운데 하나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교통체계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전기회로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인간관계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통신 네트워크 등을 기술하기 위한 추상적인 표현법</a:t>
            </a:r>
            <a:endParaRPr lang="en-US" altLang="ko-KR" dirty="0" smtClean="0"/>
          </a:p>
          <a:p>
            <a:r>
              <a:rPr lang="ko-KR" altLang="en-US" dirty="0" smtClean="0"/>
              <a:t>그래프 자료 구조와 순회 알고리즘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그래프 알고리즘에 대한 기초적인 지식만 필요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56112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Graph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Graphs are one of the unifying themes of computer science.</a:t>
            </a:r>
          </a:p>
          <a:p>
            <a:r>
              <a:rPr lang="en-US" altLang="ko-KR" sz="2400" dirty="0">
                <a:latin typeface="Times New Roman"/>
              </a:rPr>
              <a:t>A graph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 smtClean="0">
                <a:latin typeface="Times New Roman"/>
              </a:rPr>
              <a:t>is </a:t>
            </a:r>
            <a:r>
              <a:rPr lang="en-US" altLang="ko-KR" sz="2400" dirty="0">
                <a:latin typeface="Times New Roman"/>
              </a:rPr>
              <a:t>defined by a set of </a:t>
            </a:r>
            <a:r>
              <a:rPr lang="en-US" altLang="ko-KR" sz="2400" i="1" dirty="0">
                <a:latin typeface="Times New Roman"/>
              </a:rPr>
              <a:t>vertices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dirty="0" smtClean="0">
                <a:latin typeface="Times New Roman"/>
              </a:rPr>
              <a:t>, and a </a:t>
            </a:r>
            <a:r>
              <a:rPr lang="en-US" altLang="ko-KR" sz="2400" dirty="0">
                <a:latin typeface="Times New Roman"/>
              </a:rPr>
              <a:t>set of </a:t>
            </a:r>
            <a:r>
              <a:rPr lang="en-US" altLang="ko-KR" sz="2400" i="1" dirty="0">
                <a:latin typeface="Times New Roman"/>
              </a:rPr>
              <a:t>edges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consisting of ordered or unordered pairs </a:t>
            </a:r>
            <a:r>
              <a:rPr lang="en-US" altLang="ko-KR" sz="2400" dirty="0" smtClean="0">
                <a:latin typeface="Times New Roman"/>
              </a:rPr>
              <a:t>of vertices </a:t>
            </a:r>
            <a:r>
              <a:rPr lang="en-US" altLang="ko-KR" sz="2400" dirty="0">
                <a:latin typeface="Times New Roman"/>
              </a:rPr>
              <a:t>from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In modeling a road network, the vertices may represent </a:t>
            </a:r>
            <a:r>
              <a:rPr lang="en-US" altLang="ko-KR" sz="2400" dirty="0" smtClean="0">
                <a:latin typeface="Times New Roman"/>
              </a:rPr>
              <a:t>the cities </a:t>
            </a:r>
            <a:r>
              <a:rPr lang="en-US" altLang="ko-KR" sz="2400" dirty="0">
                <a:latin typeface="Times New Roman"/>
              </a:rPr>
              <a:t>or junctions, certain pairs of which are connected </a:t>
            </a:r>
            <a:r>
              <a:rPr lang="en-US" altLang="ko-KR" sz="2400" dirty="0" smtClean="0">
                <a:latin typeface="Times New Roman"/>
              </a:rPr>
              <a:t>by roads/edges</a:t>
            </a:r>
            <a:r>
              <a:rPr lang="en-US" altLang="ko-KR" sz="2400" dirty="0">
                <a:latin typeface="Times New Roman"/>
              </a:rPr>
              <a:t>. In analyzing human interactions, the </a:t>
            </a:r>
            <a:r>
              <a:rPr lang="en-US" altLang="ko-KR" sz="2400" dirty="0" smtClean="0">
                <a:latin typeface="Times New Roman"/>
              </a:rPr>
              <a:t>vertices typically </a:t>
            </a:r>
            <a:r>
              <a:rPr lang="en-US" altLang="ko-KR" sz="2400" dirty="0">
                <a:latin typeface="Times New Roman"/>
              </a:rPr>
              <a:t>represent people, with edges connecting pairs </a:t>
            </a:r>
            <a:r>
              <a:rPr lang="en-US" altLang="ko-KR" sz="2400" dirty="0" smtClean="0">
                <a:latin typeface="Times New Roman"/>
              </a:rPr>
              <a:t>of related </a:t>
            </a:r>
            <a:r>
              <a:rPr lang="en-US" altLang="ko-KR" sz="2400" dirty="0">
                <a:latin typeface="Times New Roman"/>
              </a:rPr>
              <a:t>souls.</a:t>
            </a:r>
            <a:endParaRPr lang="en-US" altLang="ko-K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5526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Graph</a:t>
            </a:r>
            <a:r>
              <a:rPr lang="ko-KR" altLang="en-US" dirty="0" smtClean="0"/>
              <a:t>의 종류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i="1" dirty="0">
                <a:latin typeface="Times New Roman"/>
              </a:rPr>
              <a:t>Undirected vs. Directed </a:t>
            </a:r>
            <a:r>
              <a:rPr lang="en-US" altLang="ko-KR" sz="2400" dirty="0">
                <a:latin typeface="Times New Roman"/>
              </a:rPr>
              <a:t>– A graph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ko-KR" sz="2400" i="1" dirty="0" smtClean="0">
                <a:latin typeface="Times New Roman"/>
              </a:rPr>
              <a:t>undirected </a:t>
            </a:r>
            <a:r>
              <a:rPr lang="en-US" altLang="ko-KR" sz="2400" dirty="0">
                <a:latin typeface="Times New Roman"/>
              </a:rPr>
              <a:t>if edge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/>
              </a:rPr>
              <a:t>implies that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ko-KR" sz="2400" dirty="0" smtClean="0">
                <a:latin typeface="CMR17"/>
              </a:rPr>
              <a:t> </a:t>
            </a:r>
            <a:r>
              <a:rPr lang="en-US" altLang="ko-KR" sz="2400" dirty="0">
                <a:latin typeface="Times New Roman"/>
              </a:rPr>
              <a:t>is </a:t>
            </a:r>
            <a:r>
              <a:rPr lang="en-US" altLang="ko-KR" sz="2400" dirty="0" smtClean="0">
                <a:latin typeface="Times New Roman"/>
              </a:rPr>
              <a:t>also in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i="1" dirty="0" smtClean="0">
                <a:latin typeface="Times New Roman"/>
              </a:rPr>
              <a:t>Weighted </a:t>
            </a:r>
            <a:r>
              <a:rPr lang="en-US" altLang="ko-KR" sz="2400" i="1" dirty="0">
                <a:latin typeface="Times New Roman"/>
              </a:rPr>
              <a:t>vs. </a:t>
            </a:r>
            <a:r>
              <a:rPr lang="en-US" altLang="ko-KR" sz="2400" i="1" dirty="0" err="1">
                <a:latin typeface="Times New Roman"/>
              </a:rPr>
              <a:t>Unweighted</a:t>
            </a:r>
            <a:r>
              <a:rPr lang="en-US" altLang="ko-KR" sz="2400" i="1" dirty="0">
                <a:latin typeface="Times New Roman"/>
              </a:rPr>
              <a:t> </a:t>
            </a:r>
            <a:r>
              <a:rPr lang="en-US" altLang="ko-KR" sz="2400" dirty="0">
                <a:latin typeface="Times New Roman"/>
              </a:rPr>
              <a:t>– In </a:t>
            </a:r>
            <a:r>
              <a:rPr lang="en-US" altLang="ko-KR" sz="2400" i="1" dirty="0">
                <a:latin typeface="Times New Roman"/>
              </a:rPr>
              <a:t>weighted </a:t>
            </a:r>
            <a:r>
              <a:rPr lang="en-US" altLang="ko-KR" sz="2400" dirty="0">
                <a:latin typeface="Times New Roman"/>
              </a:rPr>
              <a:t>graphs, </a:t>
            </a:r>
            <a:r>
              <a:rPr lang="en-US" altLang="ko-KR" sz="2400" dirty="0" smtClean="0">
                <a:latin typeface="Times New Roman"/>
              </a:rPr>
              <a:t>each edge </a:t>
            </a:r>
            <a:r>
              <a:rPr lang="en-US" altLang="ko-KR" sz="2400" dirty="0">
                <a:latin typeface="Times New Roman"/>
              </a:rPr>
              <a:t>(or vertex)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ko-KR" sz="2400" dirty="0">
                <a:latin typeface="Times New Roman"/>
              </a:rPr>
              <a:t>assigned a numerical value, </a:t>
            </a:r>
            <a:r>
              <a:rPr lang="en-US" altLang="ko-KR" sz="2400" dirty="0" smtClean="0">
                <a:latin typeface="Times New Roman"/>
              </a:rPr>
              <a:t>or weight.</a:t>
            </a:r>
          </a:p>
          <a:p>
            <a:r>
              <a:rPr lang="en-US" altLang="ko-KR" sz="2400" i="1" dirty="0">
                <a:latin typeface="Times New Roman"/>
              </a:rPr>
              <a:t>Cyclic vs. Acyclic </a:t>
            </a:r>
            <a:r>
              <a:rPr lang="en-US" altLang="ko-KR" sz="2400" dirty="0">
                <a:latin typeface="Times New Roman"/>
              </a:rPr>
              <a:t>– An </a:t>
            </a:r>
            <a:r>
              <a:rPr lang="en-US" altLang="ko-KR" sz="2400" i="1" dirty="0">
                <a:latin typeface="Times New Roman"/>
              </a:rPr>
              <a:t>acyclic </a:t>
            </a:r>
            <a:r>
              <a:rPr lang="en-US" altLang="ko-KR" sz="2400" dirty="0">
                <a:latin typeface="Times New Roman"/>
              </a:rPr>
              <a:t>graph does not </a:t>
            </a:r>
            <a:r>
              <a:rPr lang="en-US" altLang="ko-KR" sz="2400" dirty="0" smtClean="0">
                <a:latin typeface="Times New Roman"/>
              </a:rPr>
              <a:t>contain any </a:t>
            </a:r>
            <a:r>
              <a:rPr lang="en-US" altLang="ko-KR" sz="2400" dirty="0">
                <a:latin typeface="Times New Roman"/>
              </a:rPr>
              <a:t>cycles. </a:t>
            </a:r>
            <a:r>
              <a:rPr lang="en-US" altLang="ko-KR" sz="2400" i="1" dirty="0">
                <a:latin typeface="Times New Roman"/>
              </a:rPr>
              <a:t>Trees </a:t>
            </a:r>
            <a:r>
              <a:rPr lang="en-US" altLang="ko-KR" sz="2400" dirty="0">
                <a:latin typeface="Times New Roman"/>
              </a:rPr>
              <a:t>are connected acyclic </a:t>
            </a:r>
            <a:r>
              <a:rPr lang="en-US" altLang="ko-KR" sz="2400" i="1" dirty="0">
                <a:latin typeface="Times New Roman"/>
              </a:rPr>
              <a:t>undirected </a:t>
            </a:r>
            <a:r>
              <a:rPr lang="en-US" altLang="ko-KR" sz="2400" dirty="0" smtClean="0">
                <a:latin typeface="Times New Roman"/>
              </a:rPr>
              <a:t>graphs. Directed </a:t>
            </a:r>
            <a:r>
              <a:rPr lang="en-US" altLang="ko-KR" sz="2400" dirty="0">
                <a:latin typeface="Times New Roman"/>
              </a:rPr>
              <a:t>acyclic graphs are called </a:t>
            </a:r>
            <a:r>
              <a:rPr lang="en-US" altLang="ko-KR" sz="2400" i="1" dirty="0">
                <a:latin typeface="Times New Roman"/>
              </a:rPr>
              <a:t>DAGs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i="1" dirty="0" smtClean="0">
                <a:latin typeface="Times New Roman"/>
              </a:rPr>
              <a:t>Implicit </a:t>
            </a:r>
            <a:r>
              <a:rPr lang="en-US" altLang="ko-KR" sz="2400" i="1" dirty="0">
                <a:latin typeface="Times New Roman"/>
              </a:rPr>
              <a:t>vs. Explicit </a:t>
            </a:r>
            <a:r>
              <a:rPr lang="en-US" altLang="ko-KR" sz="2400" dirty="0">
                <a:latin typeface="Times New Roman"/>
              </a:rPr>
              <a:t>– Many graphs are not </a:t>
            </a:r>
            <a:r>
              <a:rPr lang="en-US" altLang="ko-KR" sz="2400" dirty="0" smtClean="0">
                <a:latin typeface="Times New Roman"/>
              </a:rPr>
              <a:t>explicitly constructed </a:t>
            </a:r>
            <a:r>
              <a:rPr lang="en-US" altLang="ko-KR" sz="2400" dirty="0">
                <a:latin typeface="Times New Roman"/>
              </a:rPr>
              <a:t>and then traversed, but built as we use </a:t>
            </a:r>
            <a:r>
              <a:rPr lang="en-US" altLang="ko-KR" sz="2400" dirty="0" smtClean="0">
                <a:latin typeface="Times New Roman"/>
              </a:rPr>
              <a:t>them. A </a:t>
            </a:r>
            <a:r>
              <a:rPr lang="en-US" altLang="ko-KR" sz="2400" dirty="0">
                <a:latin typeface="Times New Roman"/>
              </a:rPr>
              <a:t>good example is in backtrack search.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0285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 Structures for Graphs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There are several possible ways to represent graphs. </a:t>
            </a:r>
            <a:r>
              <a:rPr lang="en-US" altLang="ko-KR" sz="2400" dirty="0" smtClean="0">
                <a:latin typeface="Times New Roman"/>
              </a:rPr>
              <a:t>Say graph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 smtClean="0">
                <a:latin typeface="Times New Roman"/>
              </a:rPr>
              <a:t>contains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dirty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vertices and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edges.</a:t>
            </a:r>
          </a:p>
          <a:p>
            <a:pPr lvl="1"/>
            <a:r>
              <a:rPr lang="en-US" altLang="ko-KR" sz="2400" i="1" dirty="0" smtClean="0">
                <a:latin typeface="Times New Roman"/>
              </a:rPr>
              <a:t>Adjacency </a:t>
            </a:r>
            <a:r>
              <a:rPr lang="en-US" altLang="ko-KR" sz="2400" i="1" dirty="0">
                <a:latin typeface="Times New Roman"/>
              </a:rPr>
              <a:t>Matrix </a:t>
            </a:r>
            <a:r>
              <a:rPr lang="en-US" altLang="ko-KR" sz="2400" dirty="0">
                <a:latin typeface="Times New Roman"/>
              </a:rPr>
              <a:t>– We can represent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using an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CMSY10"/>
              </a:rPr>
              <a:t>×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 smtClean="0">
                <a:latin typeface="Times New Roman"/>
              </a:rPr>
              <a:t>matrix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ko-KR" sz="2400" dirty="0" smtClean="0">
                <a:latin typeface="Times New Roman"/>
              </a:rPr>
              <a:t>, </a:t>
            </a:r>
            <a:r>
              <a:rPr lang="en-US" altLang="ko-KR" sz="2400" dirty="0">
                <a:latin typeface="Times New Roman"/>
              </a:rPr>
              <a:t>where element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2400" dirty="0">
                <a:latin typeface="Times New Roman"/>
              </a:rPr>
              <a:t>is, say, 1, if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 smtClean="0">
                <a:latin typeface="Times New Roman"/>
              </a:rPr>
              <a:t>is an edge </a:t>
            </a:r>
            <a:r>
              <a:rPr lang="en-US" altLang="ko-KR" sz="2400" dirty="0">
                <a:latin typeface="Times New Roman"/>
              </a:rPr>
              <a:t>of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ko-KR" sz="2400" dirty="0" smtClean="0">
                <a:latin typeface="Times New Roman"/>
              </a:rPr>
              <a:t>, </a:t>
            </a:r>
            <a:r>
              <a:rPr lang="en-US" altLang="ko-KR" sz="2400" dirty="0">
                <a:latin typeface="Times New Roman"/>
              </a:rPr>
              <a:t>and 0 if it isn’t. It may use excessive </a:t>
            </a:r>
            <a:r>
              <a:rPr lang="en-US" altLang="ko-KR" sz="2400" dirty="0" smtClean="0">
                <a:latin typeface="Times New Roman"/>
              </a:rPr>
              <a:t>space for </a:t>
            </a:r>
            <a:r>
              <a:rPr lang="en-US" altLang="ko-KR" sz="2400" dirty="0">
                <a:latin typeface="Times New Roman"/>
              </a:rPr>
              <a:t>graphs with many vertices and relatively few </a:t>
            </a:r>
            <a:r>
              <a:rPr lang="en-US" altLang="ko-KR" sz="2400" dirty="0" smtClean="0">
                <a:latin typeface="Times New Roman"/>
              </a:rPr>
              <a:t>edges, however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pPr lvl="1"/>
            <a:r>
              <a:rPr lang="en-US" altLang="ko-KR" sz="2400" i="1" dirty="0" smtClean="0">
                <a:latin typeface="Times New Roman"/>
              </a:rPr>
              <a:t>Adjacency </a:t>
            </a:r>
            <a:r>
              <a:rPr lang="en-US" altLang="ko-KR" sz="2400" i="1" dirty="0">
                <a:latin typeface="Times New Roman"/>
              </a:rPr>
              <a:t>Lists in Lists </a:t>
            </a:r>
            <a:r>
              <a:rPr lang="en-US" altLang="ko-KR" sz="2400" dirty="0">
                <a:latin typeface="Times New Roman"/>
              </a:rPr>
              <a:t>– We can more </a:t>
            </a:r>
            <a:r>
              <a:rPr lang="en-US" altLang="ko-KR" sz="2400" dirty="0" smtClean="0">
                <a:latin typeface="Times New Roman"/>
              </a:rPr>
              <a:t>efficiently represent </a:t>
            </a:r>
            <a:r>
              <a:rPr lang="en-US" altLang="ko-KR" sz="2400" dirty="0">
                <a:latin typeface="Times New Roman"/>
              </a:rPr>
              <a:t>sparse graphs by using linked lists to store </a:t>
            </a:r>
            <a:r>
              <a:rPr lang="en-US" altLang="ko-KR" sz="2400" dirty="0" smtClean="0">
                <a:latin typeface="Times New Roman"/>
              </a:rPr>
              <a:t>the neighbors </a:t>
            </a:r>
            <a:r>
              <a:rPr lang="en-US" altLang="ko-KR" sz="2400" dirty="0">
                <a:latin typeface="Times New Roman"/>
              </a:rPr>
              <a:t>adjacent to each vertex. Adjacency lists </a:t>
            </a:r>
            <a:r>
              <a:rPr lang="en-US" altLang="ko-KR" sz="2400" dirty="0" smtClean="0">
                <a:latin typeface="Times New Roman"/>
              </a:rPr>
              <a:t>require pointers </a:t>
            </a:r>
            <a:r>
              <a:rPr lang="en-US" altLang="ko-KR" sz="2400" dirty="0">
                <a:latin typeface="Times New Roman"/>
              </a:rPr>
              <a:t>but are not frightening.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78931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548680"/>
            <a:ext cx="7772400" cy="5547320"/>
          </a:xfrm>
        </p:spPr>
        <p:txBody>
          <a:bodyPr/>
          <a:lstStyle/>
          <a:p>
            <a:r>
              <a:rPr lang="en-US" altLang="ko-KR" sz="2400" i="1" dirty="0">
                <a:latin typeface="Times New Roman"/>
              </a:rPr>
              <a:t>Adjacency Lists in Matrices </a:t>
            </a:r>
            <a:r>
              <a:rPr lang="en-US" altLang="ko-KR" sz="2400" dirty="0">
                <a:latin typeface="Times New Roman"/>
              </a:rPr>
              <a:t>– Adjacency lists </a:t>
            </a:r>
            <a:r>
              <a:rPr lang="en-US" altLang="ko-KR" sz="2400" dirty="0" smtClean="0">
                <a:latin typeface="Times New Roman"/>
              </a:rPr>
              <a:t>can also </a:t>
            </a:r>
            <a:r>
              <a:rPr lang="en-US" altLang="ko-KR" sz="2400" dirty="0">
                <a:latin typeface="Times New Roman"/>
              </a:rPr>
              <a:t>embedded in matrices, thus eliminating the need </a:t>
            </a:r>
            <a:r>
              <a:rPr lang="en-US" altLang="ko-KR" sz="2400" dirty="0" smtClean="0">
                <a:latin typeface="Times New Roman"/>
              </a:rPr>
              <a:t>for pointers</a:t>
            </a:r>
            <a:r>
              <a:rPr lang="en-US" altLang="ko-KR" sz="2400" dirty="0">
                <a:latin typeface="Times New Roman"/>
              </a:rPr>
              <a:t>. We can represent a list in an array counting </a:t>
            </a:r>
            <a:r>
              <a:rPr lang="en-US" altLang="ko-KR" sz="2400" dirty="0" smtClean="0">
                <a:latin typeface="Times New Roman"/>
              </a:rPr>
              <a:t>how many </a:t>
            </a:r>
            <a:r>
              <a:rPr lang="en-US" altLang="ko-KR" sz="2400" dirty="0">
                <a:latin typeface="Times New Roman"/>
              </a:rPr>
              <a:t>elements there are, and packing them into the </a:t>
            </a:r>
            <a:r>
              <a:rPr lang="en-US" altLang="ko-KR" sz="2400" dirty="0" smtClean="0">
                <a:latin typeface="Times New Roman"/>
              </a:rPr>
              <a:t>first elements </a:t>
            </a:r>
            <a:r>
              <a:rPr lang="en-US" altLang="ko-KR" sz="2400" dirty="0">
                <a:latin typeface="Times New Roman"/>
              </a:rPr>
              <a:t>of the array. Now we can visit successive </a:t>
            </a:r>
            <a:r>
              <a:rPr lang="en-US" altLang="ko-KR" sz="2400" dirty="0" smtClean="0">
                <a:latin typeface="Times New Roman"/>
              </a:rPr>
              <a:t>the elements </a:t>
            </a:r>
            <a:r>
              <a:rPr lang="en-US" altLang="ko-KR" sz="2400" dirty="0">
                <a:latin typeface="Times New Roman"/>
              </a:rPr>
              <a:t>from the first to last by incrementing an index </a:t>
            </a:r>
            <a:r>
              <a:rPr lang="en-US" altLang="ko-KR" sz="2400" dirty="0" smtClean="0">
                <a:latin typeface="Times New Roman"/>
              </a:rPr>
              <a:t>in a </a:t>
            </a:r>
            <a:r>
              <a:rPr lang="en-US" altLang="ko-KR" sz="2400" dirty="0">
                <a:latin typeface="Times New Roman"/>
              </a:rPr>
              <a:t>loop instead of cruising through </a:t>
            </a:r>
            <a:r>
              <a:rPr lang="en-US" altLang="ko-KR" sz="2400" dirty="0" smtClean="0">
                <a:latin typeface="Times New Roman"/>
              </a:rPr>
              <a:t>pointers. This </a:t>
            </a:r>
            <a:r>
              <a:rPr lang="en-US" altLang="ko-KR" sz="2400" dirty="0">
                <a:latin typeface="Times New Roman"/>
              </a:rPr>
              <a:t>data structure looks like it combines the </a:t>
            </a:r>
            <a:r>
              <a:rPr lang="en-US" altLang="ko-KR" sz="2400" dirty="0" smtClean="0">
                <a:latin typeface="Times New Roman"/>
              </a:rPr>
              <a:t>worst properties </a:t>
            </a:r>
            <a:r>
              <a:rPr lang="en-US" altLang="ko-KR" sz="2400" dirty="0">
                <a:latin typeface="Times New Roman"/>
              </a:rPr>
              <a:t>of adjacency matrices (large space) with </a:t>
            </a:r>
            <a:r>
              <a:rPr lang="en-US" altLang="ko-KR" sz="2400" dirty="0" smtClean="0">
                <a:latin typeface="Times New Roman"/>
              </a:rPr>
              <a:t>the worst </a:t>
            </a:r>
            <a:r>
              <a:rPr lang="en-US" altLang="ko-KR" sz="2400" dirty="0">
                <a:latin typeface="Times New Roman"/>
              </a:rPr>
              <a:t>properties of adjacency lists (the need to search </a:t>
            </a:r>
            <a:r>
              <a:rPr lang="en-US" altLang="ko-KR" sz="2400" dirty="0" smtClean="0">
                <a:latin typeface="Times New Roman"/>
              </a:rPr>
              <a:t>for edges). However, it is simple to program and understand– </a:t>
            </a:r>
            <a:r>
              <a:rPr lang="en-US" altLang="ko-KR" sz="2400" dirty="0">
                <a:latin typeface="Times New Roman"/>
              </a:rPr>
              <a:t>and what I will use in my examples.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00863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 in Array Representation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8062664" cy="41148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ko-KR" sz="2400" dirty="0">
                <a:latin typeface="Times New Roman"/>
              </a:rPr>
              <a:t>For each graph, we keep count of the number of vertices, </a:t>
            </a:r>
            <a:r>
              <a:rPr lang="en-US" altLang="ko-KR" sz="2400" dirty="0" smtClean="0">
                <a:latin typeface="Times New Roman"/>
              </a:rPr>
              <a:t>and assign </a:t>
            </a:r>
            <a:r>
              <a:rPr lang="en-US" altLang="ko-KR" sz="2400" dirty="0">
                <a:latin typeface="Times New Roman"/>
              </a:rPr>
              <a:t>each vertex a unique number from 1 to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2400" dirty="0" smtClean="0">
                <a:latin typeface="Times New Roman"/>
              </a:rPr>
              <a:t>. The </a:t>
            </a:r>
            <a:r>
              <a:rPr lang="en-US" altLang="ko-KR" sz="2400" dirty="0">
                <a:latin typeface="Times New Roman"/>
              </a:rPr>
              <a:t>edges go in an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MAXV × MAXDEGREE </a:t>
            </a:r>
            <a:r>
              <a:rPr lang="en-US" altLang="ko-KR" sz="2400" dirty="0">
                <a:latin typeface="Times New Roman"/>
              </a:rPr>
              <a:t>array, so </a:t>
            </a:r>
            <a:r>
              <a:rPr lang="en-US" altLang="ko-KR" sz="2400" dirty="0" smtClean="0">
                <a:latin typeface="Times New Roman"/>
              </a:rPr>
              <a:t>each vertex </a:t>
            </a:r>
            <a:r>
              <a:rPr lang="en-US" altLang="ko-KR" sz="2400" dirty="0">
                <a:latin typeface="Times New Roman"/>
              </a:rPr>
              <a:t>can be adjacent to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MAXDEGREE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others. </a:t>
            </a:r>
            <a:r>
              <a:rPr lang="en-US" altLang="ko-KR" sz="2400" dirty="0" smtClean="0">
                <a:latin typeface="Times New Roman"/>
              </a:rPr>
              <a:t>Defining 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MAXDEGREE</a:t>
            </a:r>
            <a:r>
              <a:rPr lang="en-US" altLang="ko-KR" sz="2400" dirty="0" smtClean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to be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MAXV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can be wasteful of space for </a:t>
            </a:r>
            <a:r>
              <a:rPr lang="en-US" altLang="ko-KR" sz="2400" dirty="0" smtClean="0">
                <a:latin typeface="Times New Roman"/>
              </a:rPr>
              <a:t>low degree graphs</a:t>
            </a:r>
            <a:r>
              <a:rPr lang="en-US" altLang="ko-KR" sz="2400" dirty="0">
                <a:latin typeface="Times New Roman"/>
              </a:rPr>
              <a:t>: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MAXV 100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maximum number of vertices */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MAXDEGREE 50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maximum vertex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outdegree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457200" lvl="1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457200" lvl="1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edges[MAXV+1][MAXDEGREE]; /* adjacency info */</a:t>
            </a:r>
          </a:p>
          <a:p>
            <a:pPr marL="457200" lvl="1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degree[MAXV+1];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outdegree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of each vertex */</a:t>
            </a:r>
          </a:p>
          <a:p>
            <a:pPr marL="457200" lvl="1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vertices in graph */</a:t>
            </a:r>
          </a:p>
          <a:p>
            <a:pPr marL="457200" lvl="1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edges in graph */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graph;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74797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dirty="0"/>
              <a:t>Directed and Undirected Edges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We represent a directed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>
                <a:latin typeface="Times New Roman"/>
              </a:rPr>
              <a:t>by the integer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 smtClean="0">
                <a:latin typeface="Times New Roman"/>
              </a:rPr>
              <a:t>in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Times New Roman"/>
              </a:rPr>
              <a:t>’s </a:t>
            </a:r>
            <a:r>
              <a:rPr lang="en-US" altLang="ko-KR" sz="2400" dirty="0">
                <a:latin typeface="Times New Roman"/>
              </a:rPr>
              <a:t>adjacency list, which is located in the </a:t>
            </a:r>
            <a:r>
              <a:rPr lang="en-US" altLang="ko-KR" sz="2400" dirty="0" err="1" smtClean="0">
                <a:latin typeface="Times New Roman"/>
              </a:rPr>
              <a:t>subarray</a:t>
            </a:r>
            <a:r>
              <a:rPr lang="en-US" altLang="ko-KR" sz="2400" dirty="0" smtClean="0">
                <a:latin typeface="Times New Roman"/>
              </a:rPr>
              <a:t>        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graph-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&gt;edges[x]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The degree field counts the number of meaningful entries </a:t>
            </a:r>
            <a:r>
              <a:rPr lang="en-US" altLang="ko-KR" sz="2400" dirty="0" smtClean="0">
                <a:latin typeface="Times New Roman"/>
              </a:rPr>
              <a:t>for the </a:t>
            </a:r>
            <a:r>
              <a:rPr lang="en-US" altLang="ko-KR" sz="2400" dirty="0">
                <a:latin typeface="Times New Roman"/>
              </a:rPr>
              <a:t>given </a:t>
            </a:r>
            <a:r>
              <a:rPr lang="en-US" altLang="ko-KR" sz="2400" dirty="0" smtClean="0">
                <a:latin typeface="Times New Roman"/>
              </a:rPr>
              <a:t>vertex.</a:t>
            </a:r>
          </a:p>
          <a:p>
            <a:r>
              <a:rPr lang="en-US" altLang="ko-KR" sz="2400" dirty="0" smtClean="0">
                <a:latin typeface="Times New Roman"/>
              </a:rPr>
              <a:t>An </a:t>
            </a:r>
            <a:r>
              <a:rPr lang="en-US" altLang="ko-KR" sz="2400" dirty="0">
                <a:latin typeface="Times New Roman"/>
              </a:rPr>
              <a:t>undirected edge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ko-KR" sz="2400" dirty="0" smtClean="0">
                <a:latin typeface="Times New Roman"/>
              </a:rPr>
              <a:t>appears </a:t>
            </a:r>
            <a:r>
              <a:rPr lang="en-US" altLang="ko-KR" sz="2400" dirty="0">
                <a:latin typeface="Times New Roman"/>
              </a:rPr>
              <a:t>twice in any </a:t>
            </a:r>
            <a:r>
              <a:rPr lang="en-US" altLang="ko-KR" sz="2400" dirty="0" smtClean="0">
                <a:latin typeface="Times New Roman"/>
              </a:rPr>
              <a:t>adjacency based graph </a:t>
            </a:r>
            <a:r>
              <a:rPr lang="en-US" altLang="ko-KR" sz="2400" dirty="0">
                <a:latin typeface="Times New Roman"/>
              </a:rPr>
              <a:t>structure, once as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Times New Roman"/>
              </a:rPr>
              <a:t>’s </a:t>
            </a:r>
            <a:r>
              <a:rPr lang="en-US" altLang="ko-KR" sz="2400" dirty="0">
                <a:latin typeface="Times New Roman"/>
              </a:rPr>
              <a:t>list, and once as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 smtClean="0">
                <a:latin typeface="Times New Roman"/>
              </a:rPr>
              <a:t>in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 smtClean="0">
                <a:latin typeface="Times New Roman"/>
              </a:rPr>
              <a:t>’s </a:t>
            </a:r>
            <a:r>
              <a:rPr lang="en-US" altLang="ko-KR" sz="2400" dirty="0">
                <a:latin typeface="Times New Roman"/>
              </a:rPr>
              <a:t>list.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51538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altLang="ko-KR" dirty="0"/>
              <a:t>Reading a Graph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423864"/>
            <a:ext cx="7772400" cy="411480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A typical graph format consists of an initial line </a:t>
            </a:r>
            <a:r>
              <a:rPr lang="en-US" altLang="ko-KR" sz="2400" dirty="0" smtClean="0">
                <a:latin typeface="Times New Roman"/>
              </a:rPr>
              <a:t>featuring the </a:t>
            </a:r>
            <a:r>
              <a:rPr lang="en-US" altLang="ko-KR" sz="2400" dirty="0">
                <a:latin typeface="Times New Roman"/>
              </a:rPr>
              <a:t>number of vertices and edges in the graph, followed </a:t>
            </a:r>
            <a:r>
              <a:rPr lang="en-US" altLang="ko-KR" sz="2400" dirty="0" smtClean="0">
                <a:latin typeface="Times New Roman"/>
              </a:rPr>
              <a:t>by a </a:t>
            </a:r>
            <a:r>
              <a:rPr lang="en-US" altLang="ko-KR" sz="2400" dirty="0">
                <a:latin typeface="Times New Roman"/>
              </a:rPr>
              <a:t>listing of the edges at one vertex pair per line.</a:t>
            </a:r>
          </a:p>
          <a:p>
            <a:pPr marL="457200" lvl="1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read_graph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directed)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counter */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number of edges */</a:t>
            </a:r>
          </a:p>
          <a:p>
            <a:pPr marL="457200" lvl="1" indent="0">
              <a:buNone/>
            </a:pPr>
            <a:r>
              <a:rPr lang="es-E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s-E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x, y; </a:t>
            </a:r>
            <a:r>
              <a:rPr lang="es-E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s-E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vertices in edge (x,y) */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initialize_graph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(g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fr-FR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scanf</a:t>
            </a:r>
            <a:r>
              <a:rPr lang="fr-FR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 %d",&amp;(g-&gt;nvertices),&amp;m);</a:t>
            </a:r>
          </a:p>
          <a:p>
            <a:pPr marL="457200" lvl="1" indent="0">
              <a:buNone/>
            </a:pPr>
            <a:r>
              <a:rPr lang="nn-NO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nn-NO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i&lt;=m; i++) {</a:t>
            </a:r>
          </a:p>
          <a:p>
            <a:pPr marL="457200" lvl="1" indent="0">
              <a:buNone/>
            </a:pPr>
            <a:r>
              <a:rPr lang="es-E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scanf</a:t>
            </a:r>
            <a:r>
              <a:rPr lang="es-E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 %d",&amp;x,&amp;y);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insert_edge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g,x,y,directed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6623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525928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initialize_graph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(graph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*g)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 */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-&gt;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457200" lvl="1" indent="0">
              <a:buNone/>
            </a:pPr>
            <a:r>
              <a:rPr lang="nn-NO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nn-NO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i&lt;=MAXV; i++) g-&gt;degree[i] = 0;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76074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3568" y="116632"/>
            <a:ext cx="7772400" cy="1143000"/>
          </a:xfrm>
        </p:spPr>
        <p:txBody>
          <a:bodyPr/>
          <a:lstStyle/>
          <a:p>
            <a:r>
              <a:rPr lang="en-US" altLang="ko-KR" dirty="0"/>
              <a:t>Inserting an Edge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268760"/>
            <a:ext cx="7772400" cy="4683224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The critical routine is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insert_edge</a:t>
            </a:r>
            <a:r>
              <a:rPr lang="en-US" altLang="ko-KR" sz="2400" dirty="0">
                <a:latin typeface="Times New Roman"/>
              </a:rPr>
              <a:t>. We parameterize </a:t>
            </a:r>
            <a:r>
              <a:rPr lang="en-US" altLang="ko-KR" sz="2400" dirty="0" smtClean="0">
                <a:latin typeface="Times New Roman"/>
              </a:rPr>
              <a:t>it with </a:t>
            </a:r>
            <a:r>
              <a:rPr lang="en-US" altLang="ko-KR" sz="2400" dirty="0">
                <a:latin typeface="Times New Roman"/>
              </a:rPr>
              <a:t>a Boolean flag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directed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to identify whether we </a:t>
            </a:r>
            <a:r>
              <a:rPr lang="en-US" altLang="ko-KR" sz="2400" dirty="0" smtClean="0">
                <a:latin typeface="Times New Roman"/>
              </a:rPr>
              <a:t>need to </a:t>
            </a:r>
            <a:r>
              <a:rPr lang="en-US" altLang="ko-KR" sz="2400" dirty="0">
                <a:latin typeface="Times New Roman"/>
              </a:rPr>
              <a:t>insert two copies of each edge or only one. Note the use </a:t>
            </a:r>
            <a:r>
              <a:rPr lang="en-US" altLang="ko-KR" sz="2400" dirty="0" smtClean="0">
                <a:latin typeface="Times New Roman"/>
              </a:rPr>
              <a:t>of recursion </a:t>
            </a:r>
            <a:r>
              <a:rPr lang="en-US" altLang="ko-KR" sz="2400" dirty="0">
                <a:latin typeface="Times New Roman"/>
              </a:rPr>
              <a:t>to solve the problem</a:t>
            </a:r>
            <a:r>
              <a:rPr lang="en-US" altLang="ko-KR" sz="2400" dirty="0" smtClean="0">
                <a:latin typeface="Times New Roman"/>
              </a:rPr>
              <a:t>:</a:t>
            </a:r>
            <a:endParaRPr lang="en-US" altLang="ko-KR" sz="1600" dirty="0" smtClean="0">
              <a:latin typeface="Courier"/>
            </a:endParaRP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insert_edge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(graph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*g,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directed)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(g-&gt;degree[x] &gt; MAXDEGREE)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("Warning: insertion(%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d,%d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exceeds max degree\n",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g-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&gt;edges[x][g-&gt;degree[x]] = y;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g-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&gt;degree[x] ++;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(directed == FALSE)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insert_edge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g,y,x,TRUE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g-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++;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3887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Breadth-First Traversal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The basic operation in most graph algorithms is </a:t>
            </a:r>
            <a:r>
              <a:rPr lang="en-US" altLang="ko-KR" sz="2400" dirty="0" smtClean="0">
                <a:latin typeface="Times New Roman"/>
              </a:rPr>
              <a:t>completely and </a:t>
            </a:r>
            <a:r>
              <a:rPr lang="en-US" altLang="ko-KR" sz="2400" dirty="0">
                <a:latin typeface="Times New Roman"/>
              </a:rPr>
              <a:t>systematically traversing the graph. We want to </a:t>
            </a:r>
            <a:r>
              <a:rPr lang="en-US" altLang="ko-KR" sz="2400" dirty="0" smtClean="0">
                <a:latin typeface="Times New Roman"/>
              </a:rPr>
              <a:t>visit every </a:t>
            </a:r>
            <a:r>
              <a:rPr lang="en-US" altLang="ko-KR" sz="2400" dirty="0">
                <a:latin typeface="Times New Roman"/>
              </a:rPr>
              <a:t>vertex and every edge exactly once in some </a:t>
            </a:r>
            <a:r>
              <a:rPr lang="en-US" altLang="ko-KR" sz="2400" dirty="0" smtClean="0">
                <a:latin typeface="Times New Roman"/>
              </a:rPr>
              <a:t>well-defined order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Breadth-first search is appropriate if we are interested </a:t>
            </a:r>
            <a:r>
              <a:rPr lang="en-US" altLang="ko-KR" sz="2400" dirty="0" smtClean="0">
                <a:latin typeface="Times New Roman"/>
              </a:rPr>
              <a:t>in shortest </a:t>
            </a:r>
            <a:r>
              <a:rPr lang="en-US" altLang="ko-KR" sz="2400" dirty="0">
                <a:latin typeface="Times New Roman"/>
              </a:rPr>
              <a:t>paths on </a:t>
            </a:r>
            <a:r>
              <a:rPr lang="en-US" altLang="ko-KR" sz="2400" dirty="0" err="1">
                <a:latin typeface="Times New Roman"/>
              </a:rPr>
              <a:t>unweighted</a:t>
            </a:r>
            <a:r>
              <a:rPr lang="en-US" altLang="ko-KR" sz="2400" dirty="0">
                <a:latin typeface="Times New Roman"/>
              </a:rPr>
              <a:t> graphs.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55494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dirty="0"/>
              <a:t>Discovered vs. Processed Vertices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Our implementation 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bfs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uses two Boolean arrays </a:t>
            </a:r>
            <a:r>
              <a:rPr lang="en-US" altLang="ko-KR" sz="2400" dirty="0" smtClean="0">
                <a:latin typeface="Times New Roman"/>
              </a:rPr>
              <a:t>to maintain </a:t>
            </a:r>
            <a:r>
              <a:rPr lang="en-US" altLang="ko-KR" sz="2400" dirty="0">
                <a:latin typeface="Times New Roman"/>
              </a:rPr>
              <a:t>our knowledge about each vertex in the graph.</a:t>
            </a:r>
          </a:p>
          <a:p>
            <a:r>
              <a:rPr lang="en-US" altLang="ko-KR" sz="2400" dirty="0">
                <a:latin typeface="Times New Roman"/>
              </a:rPr>
              <a:t>A vertex is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discovered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the first time we visit it. A vertex </a:t>
            </a:r>
            <a:r>
              <a:rPr lang="en-US" altLang="ko-KR" sz="2400" dirty="0" smtClean="0">
                <a:latin typeface="Times New Roman"/>
              </a:rPr>
              <a:t>is considered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processed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after we have traversed all </a:t>
            </a:r>
            <a:r>
              <a:rPr lang="en-US" altLang="ko-KR" sz="2400" dirty="0" smtClean="0">
                <a:latin typeface="Times New Roman"/>
              </a:rPr>
              <a:t>outgoing edges </a:t>
            </a:r>
            <a:r>
              <a:rPr lang="en-US" altLang="ko-KR" sz="2400" dirty="0">
                <a:latin typeface="Times New Roman"/>
              </a:rPr>
              <a:t>from it. Thus each vertex passes from undiscovered </a:t>
            </a:r>
            <a:r>
              <a:rPr lang="en-US" altLang="ko-KR" sz="2400" dirty="0" smtClean="0">
                <a:latin typeface="Times New Roman"/>
              </a:rPr>
              <a:t>to discovered </a:t>
            </a:r>
            <a:r>
              <a:rPr lang="en-US" altLang="ko-KR" sz="2400" dirty="0">
                <a:latin typeface="Times New Roman"/>
              </a:rPr>
              <a:t>to processed over the search.</a:t>
            </a:r>
          </a:p>
          <a:p>
            <a:r>
              <a:rPr lang="en-US" altLang="ko-KR" sz="2400" dirty="0">
                <a:latin typeface="Times New Roman"/>
              </a:rPr>
              <a:t>Once a vertex is discovered, it is placed on a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queue</a:t>
            </a:r>
            <a:r>
              <a:rPr lang="en-US" altLang="ko-KR" sz="2400" dirty="0">
                <a:latin typeface="Times New Roman"/>
              </a:rPr>
              <a:t>. </a:t>
            </a:r>
            <a:r>
              <a:rPr lang="en-US" altLang="ko-KR" sz="2400" dirty="0" smtClean="0">
                <a:latin typeface="Times New Roman"/>
              </a:rPr>
              <a:t>Since we </a:t>
            </a:r>
            <a:r>
              <a:rPr lang="en-US" altLang="ko-KR" sz="2400" dirty="0">
                <a:latin typeface="Times New Roman"/>
              </a:rPr>
              <a:t>process these vertices in first-in, first-out order, the </a:t>
            </a:r>
            <a:r>
              <a:rPr lang="en-US" altLang="ko-KR" sz="2400" dirty="0" smtClean="0">
                <a:latin typeface="Times New Roman"/>
              </a:rPr>
              <a:t>oldest vertices </a:t>
            </a:r>
            <a:r>
              <a:rPr lang="en-US" altLang="ko-KR" sz="2400" dirty="0">
                <a:latin typeface="Times New Roman"/>
              </a:rPr>
              <a:t>are expanded first, which are exactly those closest </a:t>
            </a:r>
            <a:r>
              <a:rPr lang="en-US" altLang="ko-KR" sz="2400" dirty="0" smtClean="0">
                <a:latin typeface="Times New Roman"/>
              </a:rPr>
              <a:t>to the </a:t>
            </a:r>
            <a:r>
              <a:rPr lang="en-US" altLang="ko-KR" sz="2400" dirty="0">
                <a:latin typeface="Times New Roman"/>
              </a:rPr>
              <a:t>root: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5257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Initializing Search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8134672" cy="4114800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processed[MAXV];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which vertices have been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processed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discovered[MAXV];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which vertices have been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found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parent[MAXV];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discovery relation */</a:t>
            </a:r>
          </a:p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initialize_search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/*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counter */</a:t>
            </a:r>
          </a:p>
          <a:p>
            <a:pPr marL="0" indent="0">
              <a:buNone/>
            </a:pPr>
            <a:r>
              <a:rPr lang="nn-NO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i&lt;=g-&gt;nvertices; i++)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processed[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discovered[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FALSE;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parent[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-1;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654255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44624"/>
            <a:ext cx="8892480" cy="6051376"/>
          </a:xfrm>
        </p:spPr>
        <p:txBody>
          <a:bodyPr/>
          <a:lstStyle/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start)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queue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q; /* queue of vertices to visit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v; /* current vertex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 */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init_queue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(&amp;q);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q,start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discovered[start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while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(empty(&amp;q) == FALSE)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v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(&amp;q);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process_vertex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(v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processed[v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&lt;g-&gt;degree[v];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valid_edge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(g-&gt;edges[v][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 == TRUE)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(discovered[g-&gt;edges[v][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]] == FALSE) {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q,g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-&gt;edges[v][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discovered[g-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&gt;edges[v][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]] = TRUE;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parent[g-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&gt;edges[v][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]] = v;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(processed[g-&gt;edges[v][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]] == FALSE)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process_edge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v,g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&gt;edges[v][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250"/>
              </a:spcBef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0916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Traversal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The exact behavior of </a:t>
            </a:r>
            <a:r>
              <a:rPr lang="en-US" altLang="ko-KR" sz="2400" dirty="0" err="1">
                <a:latin typeface="Courier"/>
              </a:rPr>
              <a:t>bfs</a:t>
            </a:r>
            <a:r>
              <a:rPr lang="en-US" altLang="ko-KR" sz="2400" dirty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depends upon the </a:t>
            </a:r>
            <a:r>
              <a:rPr lang="en-US" altLang="ko-KR" sz="2400" dirty="0" smtClean="0">
                <a:latin typeface="Times New Roman"/>
              </a:rPr>
              <a:t>functions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process_vertex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sz="2400" dirty="0">
                <a:latin typeface="Times New Roman"/>
              </a:rPr>
              <a:t>and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process_edge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sz="2400" dirty="0">
                <a:latin typeface="Times New Roman"/>
              </a:rPr>
              <a:t>. </a:t>
            </a:r>
            <a:r>
              <a:rPr lang="en-US" altLang="ko-KR" sz="2400" dirty="0" smtClean="0">
                <a:latin typeface="Times New Roman"/>
              </a:rPr>
              <a:t>Through these </a:t>
            </a:r>
            <a:r>
              <a:rPr lang="en-US" altLang="ko-KR" sz="2400" dirty="0">
                <a:latin typeface="Times New Roman"/>
              </a:rPr>
              <a:t>functions, we can easily customize what the </a:t>
            </a:r>
            <a:r>
              <a:rPr lang="en-US" altLang="ko-KR" sz="2400" dirty="0" smtClean="0">
                <a:latin typeface="Times New Roman"/>
              </a:rPr>
              <a:t>traversal does </a:t>
            </a:r>
            <a:r>
              <a:rPr lang="en-US" altLang="ko-KR" sz="2400" dirty="0">
                <a:latin typeface="Times New Roman"/>
              </a:rPr>
              <a:t>as it makes one official visit to each edge and </a:t>
            </a:r>
            <a:r>
              <a:rPr lang="en-US" altLang="ko-KR" sz="2400" dirty="0" smtClean="0">
                <a:latin typeface="Times New Roman"/>
              </a:rPr>
              <a:t>each vertex</a:t>
            </a:r>
            <a:r>
              <a:rPr lang="en-US" altLang="ko-KR" sz="2400" dirty="0">
                <a:latin typeface="Times New Roman"/>
              </a:rPr>
              <a:t>. By setting the functions to</a:t>
            </a:r>
          </a:p>
          <a:p>
            <a:pPr marL="457200" lvl="1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process_vertex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v)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pt-BR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printf</a:t>
            </a:r>
            <a:r>
              <a:rPr lang="pt-BR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("processed vertex %d\n",v);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process_edge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y)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("processed edge (%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d,%d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)\n",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ko-KR" sz="2400" dirty="0">
                <a:latin typeface="Times New Roman"/>
              </a:rPr>
              <a:t>we print each vertex and edge exactly once.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56323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Paths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The vertex which discovered vertex </a:t>
            </a:r>
            <a:r>
              <a:rPr lang="en-US" altLang="ko-KR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is defined </a:t>
            </a:r>
            <a:r>
              <a:rPr lang="en-US" altLang="ko-KR" sz="2400" dirty="0" smtClean="0">
                <a:latin typeface="Times New Roman"/>
              </a:rPr>
              <a:t>as </a:t>
            </a:r>
            <a:r>
              <a:rPr lang="en-US" altLang="ko-KR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parent[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ko-KR" sz="2400" dirty="0">
                <a:latin typeface="Times New Roman"/>
              </a:rPr>
              <a:t>. The parent relation defines a tree of </a:t>
            </a:r>
            <a:r>
              <a:rPr lang="en-US" altLang="ko-KR" sz="2400" dirty="0" smtClean="0">
                <a:latin typeface="Times New Roman"/>
              </a:rPr>
              <a:t>discovery with </a:t>
            </a:r>
            <a:r>
              <a:rPr lang="en-US" altLang="ko-KR" sz="2400" dirty="0">
                <a:latin typeface="Times New Roman"/>
              </a:rPr>
              <a:t>the initial search node as the root of the tree.</a:t>
            </a:r>
          </a:p>
          <a:p>
            <a:r>
              <a:rPr lang="en-US" altLang="ko-KR" sz="2400" dirty="0">
                <a:latin typeface="Times New Roman"/>
              </a:rPr>
              <a:t>The unique BFS tree path from the root to any </a:t>
            </a:r>
            <a:r>
              <a:rPr lang="en-US" altLang="ko-KR" sz="2400" dirty="0" smtClean="0">
                <a:latin typeface="Times New Roman"/>
              </a:rPr>
              <a:t>no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altLang="ko-KR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/>
              </a:rPr>
              <a:t>uses the smallest number of edges (or </a:t>
            </a:r>
            <a:r>
              <a:rPr lang="en-US" altLang="ko-KR" sz="2400" dirty="0" smtClean="0">
                <a:latin typeface="Times New Roman"/>
              </a:rPr>
              <a:t>equivalently, intermediate </a:t>
            </a:r>
            <a:r>
              <a:rPr lang="en-US" altLang="ko-KR" sz="2400" dirty="0">
                <a:latin typeface="Times New Roman"/>
              </a:rPr>
              <a:t>nodes) possible on any root-to-</a:t>
            </a:r>
            <a:r>
              <a:rPr lang="en-US" altLang="ko-KR" sz="2400" dirty="0">
                <a:latin typeface="CMMI12"/>
              </a:rPr>
              <a:t>x </a:t>
            </a:r>
            <a:r>
              <a:rPr lang="en-US" altLang="ko-KR" sz="2400" dirty="0">
                <a:latin typeface="Times New Roman"/>
              </a:rPr>
              <a:t>path in </a:t>
            </a:r>
            <a:r>
              <a:rPr lang="en-US" altLang="ko-KR" sz="2400" dirty="0" smtClean="0">
                <a:latin typeface="Times New Roman"/>
              </a:rPr>
              <a:t>the graph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We can reconstruct this path by following the chain </a:t>
            </a:r>
            <a:r>
              <a:rPr lang="en-US" altLang="ko-KR" sz="2400" dirty="0" smtClean="0">
                <a:latin typeface="Times New Roman"/>
              </a:rPr>
              <a:t>of ancestors </a:t>
            </a:r>
            <a:r>
              <a:rPr lang="en-US" altLang="ko-KR" sz="2400" dirty="0">
                <a:latin typeface="Times New Roman"/>
              </a:rPr>
              <a:t>backwards from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CMMI12"/>
              </a:rPr>
              <a:t> </a:t>
            </a:r>
            <a:r>
              <a:rPr lang="en-US" altLang="ko-KR" sz="2400" dirty="0">
                <a:latin typeface="Times New Roman"/>
              </a:rPr>
              <a:t>to the root. We cannot </a:t>
            </a:r>
            <a:r>
              <a:rPr lang="en-US" altLang="ko-KR" sz="2400" dirty="0" smtClean="0">
                <a:latin typeface="Times New Roman"/>
              </a:rPr>
              <a:t>find the </a:t>
            </a:r>
            <a:r>
              <a:rPr lang="en-US" altLang="ko-KR" sz="2400" dirty="0">
                <a:latin typeface="Times New Roman"/>
              </a:rPr>
              <a:t>path from the root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 smtClean="0">
                <a:latin typeface="Times New Roman"/>
              </a:rPr>
              <a:t>, </a:t>
            </a:r>
            <a:r>
              <a:rPr lang="en-US" altLang="ko-KR" sz="2400" dirty="0">
                <a:latin typeface="Times New Roman"/>
              </a:rPr>
              <a:t>since that does not follow </a:t>
            </a:r>
            <a:r>
              <a:rPr lang="en-US" altLang="ko-KR" sz="2400" dirty="0" smtClean="0">
                <a:latin typeface="Times New Roman"/>
              </a:rPr>
              <a:t>the direction </a:t>
            </a:r>
            <a:r>
              <a:rPr lang="en-US" altLang="ko-KR" sz="2400" dirty="0">
                <a:latin typeface="Times New Roman"/>
              </a:rPr>
              <a:t>of the parent pointers.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28559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8206680" cy="5619328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Since this is the reverse of how we normally want the </a:t>
            </a:r>
            <a:r>
              <a:rPr lang="en-US" altLang="ko-KR" sz="2400" dirty="0" smtClean="0">
                <a:latin typeface="Times New Roman"/>
              </a:rPr>
              <a:t>path, we </a:t>
            </a:r>
            <a:r>
              <a:rPr lang="en-US" altLang="ko-KR" sz="2400" dirty="0">
                <a:latin typeface="Times New Roman"/>
              </a:rPr>
              <a:t>can either (1) store it and then explicitly reverse it using </a:t>
            </a:r>
            <a:r>
              <a:rPr lang="en-US" altLang="ko-KR" sz="2400" dirty="0" smtClean="0">
                <a:latin typeface="Times New Roman"/>
              </a:rPr>
              <a:t>a stack</a:t>
            </a:r>
            <a:r>
              <a:rPr lang="en-US" altLang="ko-KR" sz="2400" dirty="0">
                <a:latin typeface="Times New Roman"/>
              </a:rPr>
              <a:t>, or (2) let recursion reverse it for us, as in the </a:t>
            </a:r>
            <a:r>
              <a:rPr lang="en-US" altLang="ko-KR" sz="2400" dirty="0" smtClean="0">
                <a:latin typeface="Times New Roman"/>
              </a:rPr>
              <a:t>following slick </a:t>
            </a:r>
            <a:r>
              <a:rPr lang="en-US" altLang="ko-KR" sz="2400" dirty="0">
                <a:latin typeface="Times New Roman"/>
              </a:rPr>
              <a:t>routine:</a:t>
            </a:r>
          </a:p>
          <a:p>
            <a:pPr marL="457200" lvl="1" indent="0">
              <a:buNone/>
            </a:pP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find_path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start,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end,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parents[])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((start == end) || (end == -1))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("\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n%d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",start);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else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find_path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start,parents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[end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],parents);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 %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d",end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79805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Depth-First Search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Depth-first search uses essentially the same idea as </a:t>
            </a:r>
            <a:r>
              <a:rPr lang="en-US" altLang="ko-KR" sz="2400" dirty="0" smtClean="0">
                <a:latin typeface="Times New Roman"/>
              </a:rPr>
              <a:t>backtracking. Both </a:t>
            </a:r>
            <a:r>
              <a:rPr lang="en-US" altLang="ko-KR" sz="2400" dirty="0">
                <a:latin typeface="Times New Roman"/>
              </a:rPr>
              <a:t>involve exhaustively searching all possibilities, </a:t>
            </a:r>
            <a:r>
              <a:rPr lang="en-US" altLang="ko-KR" sz="2400" dirty="0" smtClean="0">
                <a:latin typeface="Times New Roman"/>
              </a:rPr>
              <a:t>and backing </a:t>
            </a:r>
            <a:r>
              <a:rPr lang="en-US" altLang="ko-KR" sz="2400" dirty="0">
                <a:latin typeface="Times New Roman"/>
              </a:rPr>
              <a:t>up as soon as there is no unexplored possibility </a:t>
            </a:r>
            <a:r>
              <a:rPr lang="en-US" altLang="ko-KR" sz="2400" dirty="0" smtClean="0">
                <a:latin typeface="Times New Roman"/>
              </a:rPr>
              <a:t>for further </a:t>
            </a:r>
            <a:r>
              <a:rPr lang="en-US" altLang="ko-KR" sz="2400" dirty="0">
                <a:latin typeface="Times New Roman"/>
              </a:rPr>
              <a:t>advancement. Both are best understood as </a:t>
            </a:r>
            <a:r>
              <a:rPr lang="en-US" altLang="ko-KR" sz="2400" dirty="0" smtClean="0">
                <a:latin typeface="Times New Roman"/>
              </a:rPr>
              <a:t>recursive algorithms</a:t>
            </a:r>
            <a:r>
              <a:rPr lang="en-US" altLang="ko-KR" sz="2400" dirty="0">
                <a:latin typeface="Times New Roman"/>
              </a:rPr>
              <a:t>.</a:t>
            </a:r>
          </a:p>
          <a:p>
            <a:r>
              <a:rPr lang="en-US" altLang="ko-KR" sz="2400" dirty="0">
                <a:latin typeface="Times New Roman"/>
              </a:rPr>
              <a:t>Depth-first search can be thought of as breadth-first </a:t>
            </a:r>
            <a:r>
              <a:rPr lang="en-US" altLang="ko-KR" sz="2400" dirty="0" smtClean="0">
                <a:latin typeface="Times New Roman"/>
              </a:rPr>
              <a:t>search with </a:t>
            </a:r>
            <a:r>
              <a:rPr lang="en-US" altLang="ko-KR" sz="2400" dirty="0">
                <a:latin typeface="Times New Roman"/>
              </a:rPr>
              <a:t>a </a:t>
            </a:r>
            <a:r>
              <a:rPr lang="en-US" altLang="ko-KR" sz="2400" dirty="0">
                <a:solidFill>
                  <a:srgbClr val="FF0000"/>
                </a:solidFill>
                <a:latin typeface="Times New Roman"/>
              </a:rPr>
              <a:t>stack</a:t>
            </a:r>
            <a:r>
              <a:rPr lang="en-US" altLang="ko-KR" sz="2400" dirty="0">
                <a:latin typeface="Times New Roman"/>
              </a:rPr>
              <a:t> instead of a queue. The beauty of </a:t>
            </a:r>
            <a:r>
              <a:rPr lang="en-US" altLang="ko-KR" sz="2400" dirty="0" smtClean="0">
                <a:latin typeface="Times New Roman"/>
              </a:rPr>
              <a:t> implementing </a:t>
            </a:r>
            <a:r>
              <a:rPr lang="en-US" altLang="ko-KR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altLang="ko-KR" sz="2400" dirty="0" smtClean="0">
                <a:latin typeface="Courier"/>
              </a:rPr>
              <a:t> </a:t>
            </a:r>
            <a:r>
              <a:rPr lang="en-US" altLang="ko-KR" sz="2400" dirty="0">
                <a:latin typeface="Times New Roman"/>
              </a:rPr>
              <a:t>recursively is that recursion eliminates the need to </a:t>
            </a:r>
            <a:r>
              <a:rPr lang="en-US" altLang="ko-KR" sz="2400" dirty="0" smtClean="0">
                <a:latin typeface="Times New Roman"/>
              </a:rPr>
              <a:t>keep an </a:t>
            </a:r>
            <a:r>
              <a:rPr lang="en-US" altLang="ko-KR" sz="2400" dirty="0">
                <a:latin typeface="Times New Roman"/>
              </a:rPr>
              <a:t>explicit stack: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63117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88640"/>
            <a:ext cx="8892480" cy="5907360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*g, 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v)</a:t>
            </a:r>
          </a:p>
          <a:p>
            <a:pPr marL="0" indent="0">
              <a:buNone/>
            </a:pP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/*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counter */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y; 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/*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successor vertex */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(finished) return; 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allow for search termination */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discovered[v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process_vertex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(v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&lt;g-&gt;degree[v]; 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y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= g-&gt;edges[v][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valid_edge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(g-&gt;edges[v][</a:t>
            </a:r>
            <a:r>
              <a:rPr lang="en-US" altLang="ko-K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]) == TRUE) {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(discovered[y] == FALSE) {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parent[y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] = v;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g,y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}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if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(processed[y] == FALSE)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  </a:t>
            </a:r>
            <a:r>
              <a:rPr lang="en-US" altLang="ko-KR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process_edge</a:t>
            </a: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7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v,y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(finished) return;</a:t>
            </a: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processed[v</a:t>
            </a: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] = TRUE;</a:t>
            </a:r>
          </a:p>
          <a:p>
            <a:pPr marL="0" indent="0">
              <a:buNone/>
            </a:pPr>
            <a:r>
              <a:rPr lang="en-US" altLang="ko-K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81919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altLang="ko-KR" dirty="0"/>
              <a:t>Connected Components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632248"/>
            <a:ext cx="7772400" cy="4114800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The </a:t>
            </a:r>
            <a:r>
              <a:rPr lang="en-US" altLang="ko-KR" sz="2400" i="1" dirty="0">
                <a:latin typeface="Times New Roman"/>
              </a:rPr>
              <a:t>connected components </a:t>
            </a:r>
            <a:r>
              <a:rPr lang="en-US" altLang="ko-KR" sz="2400" dirty="0">
                <a:latin typeface="Times New Roman"/>
              </a:rPr>
              <a:t>of an undirected graph are </a:t>
            </a:r>
            <a:r>
              <a:rPr lang="en-US" altLang="ko-KR" sz="2400" dirty="0" smtClean="0">
                <a:latin typeface="Times New Roman"/>
              </a:rPr>
              <a:t>the separate </a:t>
            </a:r>
            <a:r>
              <a:rPr lang="en-US" altLang="ko-KR" sz="2400" dirty="0">
                <a:latin typeface="Times New Roman"/>
              </a:rPr>
              <a:t>“pieces” of the graph such that there is no </a:t>
            </a:r>
            <a:r>
              <a:rPr lang="en-US" altLang="ko-KR" sz="2400" dirty="0" smtClean="0">
                <a:latin typeface="Times New Roman"/>
              </a:rPr>
              <a:t>connection between </a:t>
            </a:r>
            <a:r>
              <a:rPr lang="en-US" altLang="ko-KR" sz="2400" dirty="0">
                <a:latin typeface="Times New Roman"/>
              </a:rPr>
              <a:t>the pieces.</a:t>
            </a:r>
          </a:p>
          <a:p>
            <a:r>
              <a:rPr lang="en-US" altLang="ko-KR" sz="2400" dirty="0">
                <a:latin typeface="Times New Roman"/>
              </a:rPr>
              <a:t>Many seemingly complicated problems reduce to </a:t>
            </a:r>
            <a:r>
              <a:rPr lang="en-US" altLang="ko-KR" sz="2400" dirty="0" smtClean="0">
                <a:latin typeface="Times New Roman"/>
              </a:rPr>
              <a:t>finding connected </a:t>
            </a:r>
            <a:r>
              <a:rPr lang="en-US" altLang="ko-KR" sz="2400" dirty="0">
                <a:latin typeface="Times New Roman"/>
              </a:rPr>
              <a:t>components. Testing whether Rubik’s cube or </a:t>
            </a:r>
            <a:r>
              <a:rPr lang="en-US" altLang="ko-KR" sz="2400" dirty="0" smtClean="0">
                <a:latin typeface="Times New Roman"/>
              </a:rPr>
              <a:t>the 15-puzzle </a:t>
            </a:r>
            <a:r>
              <a:rPr lang="en-US" altLang="ko-KR" sz="2400" dirty="0">
                <a:latin typeface="Times New Roman"/>
              </a:rPr>
              <a:t>can be solved from any position is really </a:t>
            </a:r>
            <a:r>
              <a:rPr lang="en-US" altLang="ko-KR" sz="2400" dirty="0" smtClean="0">
                <a:latin typeface="Times New Roman"/>
              </a:rPr>
              <a:t>asking whether </a:t>
            </a:r>
            <a:r>
              <a:rPr lang="en-US" altLang="ko-KR" sz="2400" dirty="0">
                <a:latin typeface="Times New Roman"/>
              </a:rPr>
              <a:t>the graph of legal configurations is connected.</a:t>
            </a:r>
          </a:p>
          <a:p>
            <a:r>
              <a:rPr lang="en-US" altLang="ko-KR" sz="2400" dirty="0">
                <a:latin typeface="Times New Roman"/>
              </a:rPr>
              <a:t>Connected components can found using DFS or </a:t>
            </a:r>
            <a:r>
              <a:rPr lang="en-US" altLang="ko-KR" sz="2400" dirty="0" smtClean="0">
                <a:latin typeface="Times New Roman"/>
              </a:rPr>
              <a:t>BFS. Anything </a:t>
            </a:r>
            <a:r>
              <a:rPr lang="en-US" altLang="ko-KR" sz="2400" dirty="0">
                <a:latin typeface="Times New Roman"/>
              </a:rPr>
              <a:t>we discover during this search must be part of </a:t>
            </a:r>
            <a:r>
              <a:rPr lang="en-US" altLang="ko-KR" sz="2400" dirty="0" smtClean="0">
                <a:latin typeface="Times New Roman"/>
              </a:rPr>
              <a:t>the same </a:t>
            </a:r>
            <a:r>
              <a:rPr lang="en-US" altLang="ko-KR" sz="2400" dirty="0">
                <a:latin typeface="Times New Roman"/>
              </a:rPr>
              <a:t>connected component. We then repeat the search </a:t>
            </a:r>
            <a:r>
              <a:rPr lang="en-US" altLang="ko-KR" sz="2400" dirty="0" smtClean="0">
                <a:latin typeface="Times New Roman"/>
              </a:rPr>
              <a:t>from any </a:t>
            </a:r>
            <a:r>
              <a:rPr lang="en-US" altLang="ko-KR" sz="2400" dirty="0">
                <a:latin typeface="Times New Roman"/>
              </a:rPr>
              <a:t>undiscovered vertex (if one exists) to define the </a:t>
            </a:r>
            <a:r>
              <a:rPr lang="en-US" altLang="ko-KR" sz="2400" dirty="0" smtClean="0">
                <a:latin typeface="Times New Roman"/>
              </a:rPr>
              <a:t>next component</a:t>
            </a:r>
            <a:r>
              <a:rPr lang="en-US" altLang="ko-KR" sz="2400" dirty="0">
                <a:latin typeface="Times New Roman"/>
              </a:rPr>
              <a:t>, until all vertices have been found: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4966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Connected Components Implementation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connected_components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c; /* component number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 */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initialize_search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(g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c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 marL="0" indent="0">
              <a:buNone/>
            </a:pPr>
            <a:r>
              <a:rPr lang="nn-NO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i&lt;=g-&gt;nvertices; i++)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(discovered[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FALSE) {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c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 c+1;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("Component %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d:",c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g,i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5911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Topological Sorting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/>
              </a:rPr>
              <a:t>Topological sorting is the fundamental operation on </a:t>
            </a:r>
            <a:r>
              <a:rPr lang="en-US" altLang="ko-KR" sz="2400" dirty="0" smtClean="0">
                <a:latin typeface="Times New Roman"/>
              </a:rPr>
              <a:t>directed acyclic </a:t>
            </a:r>
            <a:r>
              <a:rPr lang="en-US" altLang="ko-KR" sz="2400" dirty="0">
                <a:latin typeface="Times New Roman"/>
              </a:rPr>
              <a:t>graphs (DAGs). It constructs an ordering of </a:t>
            </a:r>
            <a:r>
              <a:rPr lang="en-US" altLang="ko-KR" sz="2400" dirty="0" smtClean="0">
                <a:latin typeface="Times New Roman"/>
              </a:rPr>
              <a:t>the vertices </a:t>
            </a:r>
            <a:r>
              <a:rPr lang="en-US" altLang="ko-KR" sz="2400" dirty="0">
                <a:latin typeface="Times New Roman"/>
              </a:rPr>
              <a:t>such that all directed edges go from left to right.</a:t>
            </a:r>
          </a:p>
          <a:p>
            <a:r>
              <a:rPr lang="en-US" altLang="ko-KR" sz="2400" dirty="0">
                <a:latin typeface="Times New Roman"/>
              </a:rPr>
              <a:t>Such an ordering clearly cannot exist if the graph </a:t>
            </a:r>
            <a:r>
              <a:rPr lang="en-US" altLang="ko-KR" sz="2400" dirty="0" smtClean="0">
                <a:latin typeface="Times New Roman"/>
              </a:rPr>
              <a:t>contains any </a:t>
            </a:r>
            <a:r>
              <a:rPr lang="en-US" altLang="ko-KR" sz="2400" dirty="0">
                <a:latin typeface="Times New Roman"/>
              </a:rPr>
              <a:t>directed cycles, because there is no way you can </a:t>
            </a:r>
            <a:r>
              <a:rPr lang="en-US" altLang="ko-KR" sz="2400" dirty="0" smtClean="0">
                <a:latin typeface="Times New Roman"/>
              </a:rPr>
              <a:t>keep going </a:t>
            </a:r>
            <a:r>
              <a:rPr lang="en-US" altLang="ko-KR" sz="2400" dirty="0">
                <a:latin typeface="Times New Roman"/>
              </a:rPr>
              <a:t>right on a line and still return back to where you </a:t>
            </a:r>
            <a:r>
              <a:rPr lang="en-US" altLang="ko-KR" sz="2400" dirty="0" smtClean="0">
                <a:latin typeface="Times New Roman"/>
              </a:rPr>
              <a:t>started from</a:t>
            </a:r>
            <a:r>
              <a:rPr lang="en-US" altLang="ko-KR" sz="2400" dirty="0">
                <a:latin typeface="Times New Roman"/>
              </a:rPr>
              <a:t>!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840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Longest Path in a DAG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topological sorting is that it gives us a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way to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each vertex before any of its successors.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seek the shortest (or longest) path from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DAG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Certainly no vertex appearing after y in the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topological order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contribute to any such path, because there will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no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to get back to </a:t>
            </a:r>
            <a:r>
              <a:rPr lang="en-US" altLang="ko-K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appropriately process all the vertices from left to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right in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topological order, considering the impact of their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outgoing edges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know that we will look at everything we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before 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it.</a:t>
            </a:r>
            <a:endParaRPr lang="ko-KR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14959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altLang="ko-KR" sz="4000" dirty="0"/>
              <a:t>Topological Sorting Algorithms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412776"/>
            <a:ext cx="8640960" cy="5328592"/>
          </a:xfrm>
        </p:spPr>
        <p:txBody>
          <a:bodyPr/>
          <a:lstStyle/>
          <a:p>
            <a:r>
              <a:rPr lang="en-US" altLang="ko-KR" sz="2400" dirty="0">
                <a:latin typeface="Times New Roman"/>
              </a:rPr>
              <a:t>Topological sorting can be performed using DFS.</a:t>
            </a:r>
          </a:p>
          <a:p>
            <a:r>
              <a:rPr lang="en-US" altLang="ko-KR" sz="2400" dirty="0">
                <a:latin typeface="Times New Roman"/>
              </a:rPr>
              <a:t>However, a more straightforward algorithm does an </a:t>
            </a:r>
            <a:r>
              <a:rPr lang="en-US" altLang="ko-KR" sz="2400" dirty="0" smtClean="0">
                <a:latin typeface="Times New Roman"/>
              </a:rPr>
              <a:t>analysis of </a:t>
            </a:r>
            <a:r>
              <a:rPr lang="en-US" altLang="ko-KR" sz="2400" dirty="0">
                <a:latin typeface="Times New Roman"/>
              </a:rPr>
              <a:t>the in-degrees of each vertex in a DAG. Any in-degree </a:t>
            </a:r>
            <a:r>
              <a:rPr lang="en-US" altLang="ko-KR" sz="2400" dirty="0" smtClean="0">
                <a:latin typeface="Times New Roman"/>
              </a:rPr>
              <a:t>0 vertex </a:t>
            </a:r>
            <a:r>
              <a:rPr lang="en-US" altLang="ko-KR" sz="2400" dirty="0">
                <a:latin typeface="Times New Roman"/>
              </a:rPr>
              <a:t>may safely be placed first in topological order.</a:t>
            </a:r>
          </a:p>
          <a:p>
            <a:r>
              <a:rPr lang="en-US" altLang="ko-KR" sz="2400" dirty="0">
                <a:latin typeface="Times New Roman"/>
              </a:rPr>
              <a:t>Deleting its outgoing edges may create new in-degree </a:t>
            </a:r>
            <a:r>
              <a:rPr lang="en-US" altLang="ko-KR" sz="2400" dirty="0" smtClean="0">
                <a:latin typeface="Times New Roman"/>
              </a:rPr>
              <a:t>0 vertices</a:t>
            </a:r>
            <a:r>
              <a:rPr lang="en-US" altLang="ko-KR" sz="2400" dirty="0">
                <a:latin typeface="Times New Roman"/>
              </a:rPr>
              <a:t>, continuing the process.</a:t>
            </a:r>
          </a:p>
          <a:p>
            <a:pPr marL="457200" lvl="1" indent="0">
              <a:buNone/>
            </a:pP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compute_indegrees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in[])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/* counters */</a:t>
            </a:r>
          </a:p>
          <a:p>
            <a:pPr marL="457200" lvl="1" indent="0">
              <a:buNone/>
            </a:pPr>
            <a:r>
              <a:rPr lang="nn-NO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i&lt;=g-&gt;nvertices; i++) in[i] = 0;</a:t>
            </a:r>
          </a:p>
          <a:p>
            <a:pPr marL="457200" lvl="1" indent="0">
              <a:buNone/>
            </a:pPr>
            <a:r>
              <a:rPr lang="nn-NO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nn-NO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(i=1; i&lt;=g-&gt;nvertices; i++)</a:t>
            </a:r>
          </a:p>
          <a:p>
            <a:pPr marL="457200" lvl="1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for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(j=0; j&lt;g-&gt;degree[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]; j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in[ g-&gt;edges[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][j] ] ++;</a:t>
            </a:r>
          </a:p>
          <a:p>
            <a:pPr marL="457200" lvl="1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72474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251520" y="116632"/>
            <a:ext cx="8892480" cy="5979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topsort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(graph *g,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sorted[])</a:t>
            </a:r>
          </a:p>
          <a:p>
            <a:pPr marL="0" indent="0">
              <a:buNone/>
            </a:pP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indegree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[MAXV]; 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indegree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of each vertex */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queue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zeroin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/*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vertices of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indegree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0 */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x, y; 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current and next vertex */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, j; 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/*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counters */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compute_indegrees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g,indegree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init_queue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zeroin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for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&lt;=g-&gt;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indegree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== 0)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zeroin,i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j=0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while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(empty(&amp;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zeroin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 == FALSE) {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j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= j+1;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x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dequeue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zeroin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sorted[j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= x;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&lt;g-&gt;degree[x];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y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= g-&gt;edges[x][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indegree</a:t>
            </a: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[y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] --;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if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indegree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[y] == 0) 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enqueue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zeroin,y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ko-KR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ko-KR" sz="1500" b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(j != g-&gt;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nvertices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500" b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500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("Not a DAG -- only %d vertices found\</a:t>
            </a:r>
            <a:r>
              <a:rPr lang="en-US" altLang="ko-KR" sz="1500" b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n",j</a:t>
            </a: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500" b="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500" b="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225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문제</a:t>
            </a:r>
            <a:r>
              <a:rPr lang="en-US" altLang="ko-KR" sz="3200" dirty="0"/>
              <a:t> 65. </a:t>
            </a:r>
            <a:r>
              <a:rPr lang="ko-KR" altLang="en-US" sz="3200" dirty="0"/>
              <a:t>두 색으로 칠하기</a:t>
            </a:r>
            <a:r>
              <a:rPr lang="en-US" altLang="ko-KR" sz="3200" dirty="0"/>
              <a:t>(</a:t>
            </a:r>
            <a:r>
              <a:rPr lang="en-US" altLang="ko-KR" sz="3200" dirty="0" err="1"/>
              <a:t>Bicoloring</a:t>
            </a:r>
            <a:r>
              <a:rPr lang="en-US" altLang="ko-KR" sz="3200" dirty="0"/>
              <a:t>)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4328120"/>
          </a:xfrm>
        </p:spPr>
        <p:txBody>
          <a:bodyPr/>
          <a:lstStyle/>
          <a:p>
            <a:r>
              <a:rPr lang="ko-KR" altLang="en-US" sz="2000" dirty="0" smtClean="0"/>
              <a:t>평면 위에 지도가 있을 때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각 영역을 인접한 다른 영역과 구분할 수 있게 서로 다른 색으로 칠하고자 한다면 네 가지 색만 있으면 된다는 </a:t>
            </a:r>
            <a:r>
              <a:rPr lang="en-US" altLang="ko-KR" sz="2000" dirty="0" smtClean="0"/>
              <a:t>4</a:t>
            </a:r>
            <a:r>
              <a:rPr lang="ko-KR" altLang="en-US" sz="2000" dirty="0" smtClean="0"/>
              <a:t>색 정리</a:t>
            </a:r>
            <a:r>
              <a:rPr lang="en-US" altLang="ko-KR" sz="2000" dirty="0" smtClean="0"/>
              <a:t>(four-color theorem)</a:t>
            </a:r>
            <a:r>
              <a:rPr lang="ko-KR" altLang="en-US" sz="2000" dirty="0" smtClean="0"/>
              <a:t>라는 것이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이 정리는 </a:t>
            </a:r>
            <a:r>
              <a:rPr lang="en-US" altLang="ko-KR" sz="2000" dirty="0" smtClean="0"/>
              <a:t>100</a:t>
            </a:r>
            <a:r>
              <a:rPr lang="ko-KR" altLang="en-US" sz="2000" dirty="0" smtClean="0"/>
              <a:t>년이 넘게 증명되지 않은 채로 남아 있다가 </a:t>
            </a:r>
            <a:r>
              <a:rPr lang="en-US" altLang="ko-KR" sz="2000" dirty="0" smtClean="0"/>
              <a:t>1976</a:t>
            </a:r>
            <a:r>
              <a:rPr lang="ko-KR" altLang="en-US" sz="2000" dirty="0" smtClean="0"/>
              <a:t>년에 컴퓨터의 도움을 받아서 증명될 수 있었다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여기에서는 조금 더 쉬운 문제를 풀면 된다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어떤 연결 그래프가 주어졌을 때 그 그래프를 두 색으로 칠할 수 있는지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즉 모든 정점을 빨간색 또는 검은색으로 칠할 때 인접한 정점이 같은 색으로 칠해지지 않게 할 수 있는지 알아보자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000" dirty="0" smtClean="0"/>
              <a:t>문제를 간단하게 하기 위해 그래프가 연결 그래프이고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무방향</a:t>
            </a:r>
            <a:r>
              <a:rPr lang="ko-KR" altLang="en-US" sz="2000" dirty="0" smtClean="0"/>
              <a:t> 그래프며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자체 루프가 없다고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즉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2000" dirty="0" smtClean="0"/>
              <a:t>와 같이 한 정점에서 출발해서 그 정점으로 연결되는 모서리가 없다고</a:t>
            </a:r>
            <a:r>
              <a:rPr lang="en-US" altLang="ko-KR" sz="2000" dirty="0" smtClean="0"/>
              <a:t>) </a:t>
            </a:r>
            <a:r>
              <a:rPr lang="ko-KR" altLang="en-US" sz="2000" dirty="0" smtClean="0"/>
              <a:t>가정하자</a:t>
            </a:r>
            <a:r>
              <a:rPr lang="en-US" altLang="ko-KR" sz="20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415312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332656"/>
            <a:ext cx="7772400" cy="4114800"/>
          </a:xfrm>
        </p:spPr>
        <p:txBody>
          <a:bodyPr/>
          <a:lstStyle/>
          <a:p>
            <a:r>
              <a:rPr lang="ko-KR" altLang="en-US" sz="2400" dirty="0" smtClean="0"/>
              <a:t>입력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여러 테스트 케이스가 입력될 수 있다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각 테스트 케이스의 첫째 줄에는 정점의 개수 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(1&lt;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&lt;200)</a:t>
            </a:r>
            <a:r>
              <a:rPr lang="ko-KR" altLang="en-US" sz="2000" dirty="0" smtClean="0"/>
              <a:t>이 입력된다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각 정점에는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부터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000" dirty="0" smtClean="0"/>
              <a:t>-1</a:t>
            </a:r>
            <a:r>
              <a:rPr lang="ko-KR" altLang="en-US" sz="2000" dirty="0" smtClean="0"/>
              <a:t>까지의 번호가 붙는다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 다음 줄에는 모서리의 개수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ko-KR" altLang="en-US" sz="2000" dirty="0" smtClean="0"/>
              <a:t>이 입력된다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그 밑으로 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ko-KR" altLang="en-US" sz="2000" dirty="0" smtClean="0"/>
              <a:t>개의 줄이 입력되며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각 줄에는 모서리를 나타내는 두 개의 정점 번호가 들어있다</a:t>
            </a:r>
            <a:r>
              <a:rPr lang="en-US" altLang="ko-KR" sz="2000" dirty="0" smtClean="0"/>
              <a:t>. </a:t>
            </a:r>
            <a:r>
              <a:rPr lang="en-US" altLang="ko-K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ko-KR" altLang="en-US" sz="2000" dirty="0" smtClean="0"/>
              <a:t>자리에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이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입력되면 입력이 끝난 것이며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그 줄은 처리하지 않는다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400" dirty="0" smtClean="0"/>
              <a:t>출력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입력된 그래프가 두 색으로 칠할 수 있는 그래프인지 판단하고 아래 예에 나온 형식에 맞게 결과를 출력하다</a:t>
            </a:r>
            <a:r>
              <a:rPr lang="en-US" altLang="ko-KR" sz="2000" dirty="0" smtClean="0"/>
              <a:t>.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3603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685800" y="332656"/>
            <a:ext cx="4102224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입력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FF0000"/>
                </a:solidFill>
              </a:rPr>
              <a:t>3		// </a:t>
            </a:r>
            <a:r>
              <a:rPr lang="ko-KR" altLang="en-US" sz="2000" b="0" kern="0" dirty="0" smtClean="0">
                <a:solidFill>
                  <a:srgbClr val="FF0000"/>
                </a:solidFill>
              </a:rPr>
              <a:t>정점의 개수</a:t>
            </a:r>
            <a:endParaRPr lang="en-US" altLang="ko-KR" sz="2000" b="0" kern="0" dirty="0" smtClean="0">
              <a:solidFill>
                <a:srgbClr val="FF0000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FF0000"/>
                </a:solidFill>
              </a:rPr>
              <a:t>3		// </a:t>
            </a:r>
            <a:r>
              <a:rPr lang="ko-KR" altLang="en-US" sz="2000" b="0" kern="0" dirty="0" smtClean="0">
                <a:solidFill>
                  <a:srgbClr val="FF0000"/>
                </a:solidFill>
              </a:rPr>
              <a:t>모서리의 개수</a:t>
            </a:r>
            <a:endParaRPr lang="en-US" altLang="ko-KR" sz="2000" b="0" kern="0" dirty="0" smtClean="0">
              <a:solidFill>
                <a:srgbClr val="FF0000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FF0000"/>
                </a:solidFill>
              </a:rPr>
              <a:t>0 1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FF0000"/>
                </a:solidFill>
              </a:rPr>
              <a:t>1 2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FF0000"/>
                </a:solidFill>
              </a:rPr>
              <a:t>2 0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9		// </a:t>
            </a:r>
            <a:r>
              <a:rPr lang="ko-KR" altLang="en-US" sz="2000" b="0" kern="0" dirty="0" smtClean="0">
                <a:solidFill>
                  <a:srgbClr val="0066FF"/>
                </a:solidFill>
              </a:rPr>
              <a:t>정점의 개수</a:t>
            </a:r>
            <a:endParaRPr lang="en-US" altLang="ko-KR" sz="2000" b="0" kern="0" dirty="0" smtClean="0">
              <a:solidFill>
                <a:srgbClr val="0066FF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8		// </a:t>
            </a:r>
            <a:r>
              <a:rPr lang="ko-KR" altLang="en-US" sz="2000" b="0" kern="0" dirty="0" smtClean="0">
                <a:solidFill>
                  <a:srgbClr val="0066FF"/>
                </a:solidFill>
              </a:rPr>
              <a:t>모서리의 개수</a:t>
            </a:r>
            <a:endParaRPr lang="en-US" altLang="ko-KR" sz="2000" b="0" kern="0" dirty="0" smtClean="0">
              <a:solidFill>
                <a:srgbClr val="0066FF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0 1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0 2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0 3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0 4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0 5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0 6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0 7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 smtClean="0">
                <a:solidFill>
                  <a:srgbClr val="0066FF"/>
                </a:solidFill>
              </a:rPr>
              <a:t>0 8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/>
              <a:t>0</a:t>
            </a:r>
            <a:endParaRPr lang="en-US" altLang="ko-KR" sz="2000" b="0" kern="0" dirty="0" smtClean="0"/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5078288" y="332656"/>
            <a:ext cx="359816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400" b="0" kern="0" dirty="0" smtClean="0"/>
              <a:t>출력 예</a:t>
            </a:r>
            <a:endParaRPr lang="en-US" altLang="ko-KR" sz="2400" b="0" kern="0" dirty="0" smtClean="0"/>
          </a:p>
          <a:p>
            <a:pPr marL="457200" lvl="1" indent="0">
              <a:buFontTx/>
              <a:buNone/>
            </a:pPr>
            <a:r>
              <a:rPr lang="en-US" altLang="ko-KR" sz="2000" b="0" kern="0" dirty="0">
                <a:solidFill>
                  <a:srgbClr val="FF0000"/>
                </a:solidFill>
              </a:rPr>
              <a:t>NOT BICOLORABLE.</a:t>
            </a:r>
          </a:p>
          <a:p>
            <a:pPr marL="457200" lvl="1" indent="0">
              <a:buFontTx/>
              <a:buNone/>
            </a:pPr>
            <a:r>
              <a:rPr lang="en-US" altLang="ko-KR" sz="2000" b="0" kern="0" dirty="0">
                <a:solidFill>
                  <a:srgbClr val="0066FF"/>
                </a:solidFill>
              </a:rPr>
              <a:t>BICOLORABLE.</a:t>
            </a:r>
          </a:p>
        </p:txBody>
      </p:sp>
    </p:spTree>
    <p:extLst>
      <p:ext uri="{BB962C8B-B14F-4D97-AF65-F5344CB8AC3E}">
        <p14:creationId xmlns:p14="http://schemas.microsoft.com/office/powerpoint/2010/main" val="23339226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65.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주어진 그래프를 깊이 우선 탐색으로 순회하면서 이전 방문했던 정점과는 다른 </a:t>
            </a:r>
            <a:r>
              <a:rPr lang="ko-KR" altLang="en-US" sz="2000" dirty="0" smtClean="0"/>
              <a:t>색으로 </a:t>
            </a:r>
            <a:r>
              <a:rPr lang="ko-KR" altLang="en-US" sz="2000" dirty="0"/>
              <a:t>칠하면 된다</a:t>
            </a:r>
            <a:r>
              <a:rPr lang="en-US" altLang="ko-KR" sz="2000" dirty="0"/>
              <a:t>. </a:t>
            </a:r>
            <a:r>
              <a:rPr lang="ko-KR" altLang="en-US" sz="2000" dirty="0"/>
              <a:t>만약 연결된 정점에 이미 색이 칠해져 있는데</a:t>
            </a:r>
            <a:r>
              <a:rPr lang="en-US" altLang="ko-KR" sz="2000" dirty="0"/>
              <a:t>, </a:t>
            </a:r>
            <a:r>
              <a:rPr lang="ko-KR" altLang="en-US" sz="2000" dirty="0"/>
              <a:t>칠할 색과 다른 경우 </a:t>
            </a:r>
            <a:r>
              <a:rPr lang="en-US" altLang="ko-KR" sz="2000" dirty="0" err="1"/>
              <a:t>bicoloring</a:t>
            </a:r>
            <a:r>
              <a:rPr lang="ko-KR" altLang="en-US" sz="2000" dirty="0"/>
              <a:t>이 불가능하게 된다</a:t>
            </a:r>
            <a:endParaRPr lang="en-US" altLang="ko-KR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1974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65: Bicoloring</a:t>
            </a: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&lt;stdio.h&gt;</a:t>
            </a:r>
          </a:p>
          <a:p>
            <a:pPr marL="0" indent="0">
              <a:buNone/>
            </a:pP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define MAXN 200</a:t>
            </a: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int n, graph[MAXN][MAXN];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int color[MAXN];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int colorable;</a:t>
            </a: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729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76672"/>
            <a:ext cx="7772400" cy="6264696"/>
          </a:xfrm>
        </p:spPr>
        <p:txBody>
          <a:bodyPr/>
          <a:lstStyle/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input()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i, j, l, a, b;</a:t>
            </a:r>
          </a:p>
          <a:p>
            <a:pPr marL="0" indent="0">
              <a:buNone/>
            </a:pPr>
            <a:r>
              <a:rPr lang="sv-SE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scanf("%d", &amp;n);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if (n == 0) return 0;</a:t>
            </a:r>
          </a:p>
          <a:p>
            <a:pPr marL="0" indent="0">
              <a:buNone/>
            </a:pPr>
            <a:endParaRPr lang="sv-SE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(i = 0; i &lt; n; i++)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n; j++)</a:t>
            </a:r>
          </a:p>
          <a:p>
            <a:pPr marL="0" indent="0">
              <a:buNone/>
            </a:pPr>
            <a:r>
              <a:rPr lang="sv-SE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graph[i][j] = 0;</a:t>
            </a:r>
            <a:endParaRPr lang="en-US" altLang="ko-KR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&amp;l);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l;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("%d %d", &amp;a, &amp;b);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graph[a][b] = graph[b][a] = 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return 1;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545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8352928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node,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color[node] = c;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n &amp;&amp; colorable;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(graph[node][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0) continue;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(color[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0)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c%2 + 1);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(color[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== c)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colorable = 0;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return;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37132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404664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while (input())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color[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 = 0;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colorable = 1;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dfs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(0, 1);</a:t>
            </a:r>
          </a:p>
          <a:p>
            <a:pPr marL="0" indent="0">
              <a:buNone/>
            </a:pP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(colorable == 0)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("NOT BICOLORABLE.\n");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("BICOLORABLE.\n");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04857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97904"/>
            <a:ext cx="8568952" cy="1143000"/>
          </a:xfrm>
        </p:spPr>
        <p:txBody>
          <a:bodyPr/>
          <a:lstStyle/>
          <a:p>
            <a:r>
              <a:rPr lang="ko-KR" altLang="en-US" sz="2800" dirty="0" smtClean="0"/>
              <a:t>문제 </a:t>
            </a:r>
            <a:r>
              <a:rPr lang="en-US" altLang="ko-KR" sz="2800" dirty="0" smtClean="0"/>
              <a:t>71. </a:t>
            </a:r>
            <a:r>
              <a:rPr lang="ko-KR" altLang="en-US" sz="2800" dirty="0" smtClean="0"/>
              <a:t>황혼에서 새벽까지</a:t>
            </a:r>
            <a:r>
              <a:rPr lang="en-US" altLang="ko-KR" sz="2800" dirty="0"/>
              <a:t>(From Dusk Till Dawn)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3568" y="1124744"/>
            <a:ext cx="7990656" cy="4464496"/>
          </a:xfrm>
        </p:spPr>
        <p:txBody>
          <a:bodyPr/>
          <a:lstStyle/>
          <a:p>
            <a:r>
              <a:rPr lang="ko-KR" altLang="en-US" sz="1800" dirty="0" err="1" smtClean="0"/>
              <a:t>블라디미르는</a:t>
            </a:r>
            <a:r>
              <a:rPr lang="ko-KR" altLang="en-US" sz="1800" dirty="0" smtClean="0"/>
              <a:t> 새하얀 피부와 날카로운 이를 가지고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나이는 </a:t>
            </a:r>
            <a:r>
              <a:rPr lang="en-US" altLang="ko-KR" sz="1800" dirty="0" smtClean="0"/>
              <a:t>600</a:t>
            </a:r>
            <a:r>
              <a:rPr lang="ko-KR" altLang="en-US" sz="1800" dirty="0" smtClean="0"/>
              <a:t>살이나 되지만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뱀파이어인 </a:t>
            </a:r>
            <a:r>
              <a:rPr lang="ko-KR" altLang="en-US" sz="1800" dirty="0" err="1" smtClean="0"/>
              <a:t>블라디미르에게</a:t>
            </a:r>
            <a:r>
              <a:rPr lang="ko-KR" altLang="en-US" sz="1800" dirty="0" smtClean="0"/>
              <a:t> 나이는 별 의미가 없다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블라디미르는</a:t>
            </a:r>
            <a:r>
              <a:rPr lang="ko-KR" altLang="en-US" sz="1800" dirty="0" smtClean="0"/>
              <a:t> 뱀파이어로 살아가는 데 있어서 별 다른 불편함을 느끼지 못한다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그는 항상 야간 근무를 맡는 의사로 일하고 있는데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훌륭하게 의사 생활을 하고 있으며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야간 근무를 도맡아 하다 보니 동료들하고도 매우 사이 좋게 지내고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그는 파티장에서 맛을 보는 것만으로도 혈액형을 알아맞히는 쇼를 보여주곤 한다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블라디미르는</a:t>
            </a:r>
            <a:r>
              <a:rPr lang="ko-KR" altLang="en-US" sz="1800" dirty="0" smtClean="0"/>
              <a:t> 여행을 하고 싶은데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뱀파이어이다 보니 세 가지 문제를 극복해야 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항상 관을 가지고 다녀야 하기 때문에 기차 여행 밖에는 할 수 없다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다행히도 워낙 오랫동안 돈을 모았기 때문에 재력이 상당하므로 항상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등칸을 타고 다닐 수 있다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황혼에서 새벽까지만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즉 오후 여섯 시부터 오전 여섯 시까지만 여행할 수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낮에는 기차역을 벗어날 수 없다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뭔가 먹을 것을 가지고 다녀야 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하루에 피를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리터씩 먹어야 하며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그의 관에서 정오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낮 </a:t>
            </a:r>
            <a:r>
              <a:rPr lang="en-US" altLang="ko-KR" sz="1800" dirty="0" smtClean="0"/>
              <a:t>12</a:t>
            </a:r>
            <a:r>
              <a:rPr lang="ko-KR" altLang="en-US" sz="1800" dirty="0" smtClean="0"/>
              <a:t>시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에 피를 마신다</a:t>
            </a:r>
            <a:r>
              <a:rPr lang="en-US" altLang="ko-KR" sz="1800" dirty="0" smtClean="0"/>
              <a:t>.</a:t>
            </a:r>
          </a:p>
          <a:p>
            <a:r>
              <a:rPr lang="ko-KR" altLang="en-US" sz="1800" dirty="0" smtClean="0"/>
              <a:t>두 도시가 주어졌을 때 최단 경로를 찾는 프로그램을 만들어서 </a:t>
            </a:r>
            <a:r>
              <a:rPr lang="ko-KR" altLang="en-US" sz="1800" dirty="0" err="1" smtClean="0"/>
              <a:t>블라디미르가</a:t>
            </a:r>
            <a:r>
              <a:rPr lang="ko-KR" altLang="en-US" sz="1800" dirty="0" smtClean="0"/>
              <a:t> 최소한의 피만 챙겨서 여행할 수 있도록 도와주자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피를 너무 많이 가지고 다니면 사람들이 </a:t>
            </a:r>
            <a:r>
              <a:rPr lang="en-US" altLang="ko-KR" sz="1800" dirty="0" smtClean="0"/>
              <a:t>“</a:t>
            </a:r>
            <a:r>
              <a:rPr lang="ko-KR" altLang="en-US" sz="1800" dirty="0" smtClean="0"/>
              <a:t>그 피 가지고 뭘 하실 건가요</a:t>
            </a:r>
            <a:r>
              <a:rPr lang="en-US" altLang="ko-KR" sz="1800" dirty="0" smtClean="0"/>
              <a:t>?</a:t>
            </a:r>
            <a:r>
              <a:rPr lang="ko-KR" altLang="en-US" sz="1800" dirty="0" smtClean="0"/>
              <a:t>같은 질문을 하면서 의심할 수도 있기 때문이다</a:t>
            </a:r>
            <a:r>
              <a:rPr lang="en-US" altLang="ko-KR" sz="18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558305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476672"/>
            <a:ext cx="7772400" cy="5760640"/>
          </a:xfrm>
        </p:spPr>
        <p:txBody>
          <a:bodyPr/>
          <a:lstStyle/>
          <a:p>
            <a:r>
              <a:rPr lang="ko-KR" altLang="en-US" sz="2000" dirty="0" smtClean="0"/>
              <a:t>입력</a:t>
            </a:r>
            <a:endParaRPr lang="en-US" altLang="ko-KR" sz="2000" dirty="0" smtClean="0"/>
          </a:p>
          <a:p>
            <a:pPr lvl="1"/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줄에는 테스트 케이스의 개수를 나타내는 정수 한 개가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각 테스트 케이스의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줄에는 그 밑에서 몇 개의 열차 노선을 설명할 것인지를 나타내는 정수 한 개가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각 노선을 설명하는 부분에는 두 도시의 이름</a:t>
            </a:r>
            <a:r>
              <a:rPr lang="en-US" altLang="ko-KR" sz="1800" dirty="0" smtClean="0"/>
              <a:t>,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도시에서의 출발 시각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그리고 총 여행 시간이 입력된다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출발 시각은 반드시 정각이며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여행 시간은 정확하게 정수 단위의 시간으로 표현된다</a:t>
            </a:r>
            <a:r>
              <a:rPr lang="en-US" altLang="ko-KR" sz="1800" dirty="0" smtClean="0"/>
              <a:t>. </a:t>
            </a:r>
            <a:r>
              <a:rPr lang="ko-KR" altLang="en-US" sz="1800" dirty="0" err="1" smtClean="0"/>
              <a:t>블라디미르는</a:t>
            </a:r>
            <a:r>
              <a:rPr lang="ko-KR" altLang="en-US" sz="1800" dirty="0" smtClean="0"/>
              <a:t> </a:t>
            </a:r>
            <a:r>
              <a:rPr lang="en-US" altLang="ko-KR" sz="1800" dirty="0" smtClean="0"/>
              <a:t>18:00 </a:t>
            </a:r>
            <a:r>
              <a:rPr lang="ko-KR" altLang="en-US" sz="1800" dirty="0" smtClean="0"/>
              <a:t>이전에 출발할 수 없으며 </a:t>
            </a:r>
            <a:r>
              <a:rPr lang="en-US" altLang="ko-KR" sz="1800" dirty="0" smtClean="0"/>
              <a:t>6:00 </a:t>
            </a:r>
            <a:r>
              <a:rPr lang="ko-KR" altLang="en-US" sz="1800" dirty="0" smtClean="0"/>
              <a:t>이후에 도착해서도 안 된다는 점을 꼭 기억해두자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도시의 개수는 최대 </a:t>
            </a:r>
            <a:r>
              <a:rPr lang="en-US" altLang="ko-KR" sz="1800" dirty="0" smtClean="0"/>
              <a:t>100</a:t>
            </a:r>
            <a:r>
              <a:rPr lang="ko-KR" altLang="en-US" sz="1800" dirty="0" smtClean="0"/>
              <a:t>개며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열차 노선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서로 다른 출발 시각 포함</a:t>
            </a:r>
            <a:r>
              <a:rPr lang="en-US" altLang="ko-KR" sz="1800" dirty="0" smtClean="0"/>
              <a:t>)</a:t>
            </a:r>
            <a:r>
              <a:rPr lang="ko-KR" altLang="en-US" sz="1800" dirty="0" smtClean="0"/>
              <a:t>은 </a:t>
            </a:r>
            <a:r>
              <a:rPr lang="en-US" altLang="ko-KR" sz="1800" dirty="0" smtClean="0"/>
              <a:t>1,000</a:t>
            </a:r>
            <a:r>
              <a:rPr lang="ko-KR" altLang="en-US" sz="1800" dirty="0" smtClean="0"/>
              <a:t>개를 넘지 않는다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여행 시간이 한 시간 미만이거나 </a:t>
            </a:r>
            <a:r>
              <a:rPr lang="en-US" altLang="ko-KR" sz="1800" dirty="0" smtClean="0"/>
              <a:t>24</a:t>
            </a:r>
            <a:r>
              <a:rPr lang="ko-KR" altLang="en-US" sz="1800" dirty="0" smtClean="0"/>
              <a:t>시간 이상인 노선은 없지만</a:t>
            </a:r>
            <a:r>
              <a:rPr lang="en-US" altLang="ko-KR" sz="1800" dirty="0" smtClean="0"/>
              <a:t>, </a:t>
            </a:r>
            <a:r>
              <a:rPr lang="ko-KR" altLang="en-US" sz="1800" dirty="0" err="1" smtClean="0"/>
              <a:t>블라디미르가</a:t>
            </a:r>
            <a:r>
              <a:rPr lang="ko-KR" altLang="en-US" sz="1800" dirty="0" smtClean="0"/>
              <a:t> 탈 수 있는 노선은 주어진 시간 내에서만 </a:t>
            </a:r>
            <a:r>
              <a:rPr lang="en-US" altLang="ko-KR" sz="1800" dirty="0" smtClean="0"/>
              <a:t>12</a:t>
            </a:r>
            <a:r>
              <a:rPr lang="ko-KR" altLang="en-US" sz="1800" dirty="0" smtClean="0"/>
              <a:t>시간 이내로 여행하는 것으로 제한된다</a:t>
            </a:r>
            <a:r>
              <a:rPr lang="en-US" altLang="ko-KR" sz="1800" dirty="0" smtClean="0"/>
              <a:t>.</a:t>
            </a:r>
          </a:p>
          <a:p>
            <a:pPr lvl="1"/>
            <a:r>
              <a:rPr lang="ko-KR" altLang="en-US" sz="1800" dirty="0" smtClean="0"/>
              <a:t>모든 도시의 이름은 최대 </a:t>
            </a:r>
            <a:r>
              <a:rPr lang="en-US" altLang="ko-KR" sz="1800" dirty="0" smtClean="0"/>
              <a:t>32</a:t>
            </a:r>
            <a:r>
              <a:rPr lang="ko-KR" altLang="en-US" sz="1800" dirty="0" smtClean="0"/>
              <a:t>글자로 주어진다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마지막 줄에는 두 개의 도시 이름이 입력되는데</a:t>
            </a:r>
            <a:r>
              <a:rPr lang="en-US" altLang="ko-KR" sz="1800" dirty="0" smtClean="0"/>
              <a:t>, </a:t>
            </a:r>
            <a:r>
              <a:rPr lang="ko-KR" altLang="en-US" sz="1800" dirty="0" err="1" smtClean="0"/>
              <a:t>첫번째</a:t>
            </a:r>
            <a:r>
              <a:rPr lang="ko-KR" altLang="en-US" sz="1800" dirty="0" smtClean="0"/>
              <a:t> 도시 이름은 출발지 이름</a:t>
            </a:r>
            <a:r>
              <a:rPr lang="en-US" altLang="ko-KR" sz="1800" dirty="0" smtClean="0"/>
              <a:t>, </a:t>
            </a:r>
            <a:r>
              <a:rPr lang="ko-KR" altLang="en-US" sz="1800" dirty="0" err="1" smtClean="0"/>
              <a:t>두번째</a:t>
            </a:r>
            <a:r>
              <a:rPr lang="ko-KR" altLang="en-US" sz="1800" dirty="0" smtClean="0"/>
              <a:t> 도시 이름은 도착지 이름이다</a:t>
            </a:r>
            <a:r>
              <a:rPr lang="en-US" altLang="ko-KR" sz="1800" dirty="0" smtClean="0"/>
              <a:t>.</a:t>
            </a:r>
            <a:endParaRPr lang="en-US" altLang="ko-KR" sz="1800" dirty="0"/>
          </a:p>
          <a:p>
            <a:r>
              <a:rPr lang="ko-KR" altLang="en-US" sz="2000" dirty="0" smtClean="0"/>
              <a:t>출력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각 테스트 케이스에 대해 일단 테스트 케이스 번호를 출력한 다음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그 다음 줄에 </a:t>
            </a:r>
            <a:r>
              <a:rPr lang="en-US" altLang="ko-KR" sz="1800" dirty="0" smtClean="0"/>
              <a:t>“Vladimir needs # </a:t>
            </a:r>
            <a:r>
              <a:rPr lang="en-US" altLang="ko-KR" sz="1800" dirty="0" err="1" smtClean="0"/>
              <a:t>litre</a:t>
            </a:r>
            <a:r>
              <a:rPr lang="en-US" altLang="ko-KR" sz="1800" dirty="0" smtClean="0"/>
              <a:t>(s) of blood.” </a:t>
            </a:r>
            <a:r>
              <a:rPr lang="ko-KR" altLang="en-US" sz="1800" dirty="0" smtClean="0"/>
              <a:t>또는 </a:t>
            </a:r>
            <a:r>
              <a:rPr lang="en-US" altLang="ko-KR" sz="1800" dirty="0" smtClean="0"/>
              <a:t>“There is no route Vladimir can take.”</a:t>
            </a:r>
            <a:r>
              <a:rPr lang="ko-KR" altLang="en-US" sz="1800" dirty="0" smtClean="0"/>
              <a:t>를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출력한다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출력 예 참조</a:t>
            </a:r>
            <a:r>
              <a:rPr lang="en-US" altLang="ko-KR" sz="1800" dirty="0" smtClean="0"/>
              <a:t>).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14402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107504" y="476672"/>
            <a:ext cx="5256584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입력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 smtClean="0"/>
              <a:t>2	// </a:t>
            </a:r>
            <a:r>
              <a:rPr lang="ko-KR" altLang="en-US" sz="1800" b="0" kern="0" dirty="0" smtClean="0"/>
              <a:t>테스트케이스 수</a:t>
            </a:r>
            <a:endParaRPr lang="en-US" altLang="ko-KR" sz="1800" b="0" kern="0" dirty="0"/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FF0000"/>
                </a:solidFill>
              </a:rPr>
              <a:t>3	// </a:t>
            </a:r>
            <a:r>
              <a:rPr lang="ko-KR" altLang="en-US" sz="1800" b="0" kern="0" dirty="0" smtClean="0">
                <a:solidFill>
                  <a:srgbClr val="FF0000"/>
                </a:solidFill>
              </a:rPr>
              <a:t>열차노선 수</a:t>
            </a:r>
            <a:endParaRPr lang="en-US" altLang="ko-KR" sz="1800" b="0" kern="0" dirty="0">
              <a:solidFill>
                <a:srgbClr val="FF0000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Ulm </a:t>
            </a:r>
            <a:r>
              <a:rPr lang="en-US" altLang="ko-KR" sz="1800" b="0" kern="0" dirty="0" err="1">
                <a:solidFill>
                  <a:srgbClr val="FF0000"/>
                </a:solidFill>
              </a:rPr>
              <a:t>Muenchen</a:t>
            </a:r>
            <a:r>
              <a:rPr lang="en-US" altLang="ko-KR" sz="1800" b="0" kern="0" dirty="0">
                <a:solidFill>
                  <a:srgbClr val="FF0000"/>
                </a:solidFill>
              </a:rPr>
              <a:t> 17 </a:t>
            </a:r>
            <a:r>
              <a:rPr lang="en-US" altLang="ko-KR" sz="1800" b="0" kern="0" dirty="0" smtClean="0">
                <a:solidFill>
                  <a:srgbClr val="FF0000"/>
                </a:solidFill>
              </a:rPr>
              <a:t>2 // </a:t>
            </a:r>
            <a:r>
              <a:rPr lang="ko-KR" altLang="en-US" sz="1800" b="0" kern="0" dirty="0" smtClean="0">
                <a:solidFill>
                  <a:srgbClr val="FF0000"/>
                </a:solidFill>
              </a:rPr>
              <a:t>출발시각</a:t>
            </a:r>
            <a:r>
              <a:rPr lang="en-US" altLang="ko-KR" sz="1800" b="0" kern="0" dirty="0" smtClean="0">
                <a:solidFill>
                  <a:srgbClr val="FF0000"/>
                </a:solidFill>
              </a:rPr>
              <a:t>, </a:t>
            </a:r>
            <a:r>
              <a:rPr lang="ko-KR" altLang="en-US" sz="1800" b="0" kern="0" dirty="0" smtClean="0">
                <a:solidFill>
                  <a:srgbClr val="FF0000"/>
                </a:solidFill>
              </a:rPr>
              <a:t>여행시간</a:t>
            </a:r>
            <a:endParaRPr lang="en-US" altLang="ko-KR" sz="1800" b="0" kern="0" dirty="0">
              <a:solidFill>
                <a:srgbClr val="FF0000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Ulm </a:t>
            </a:r>
            <a:r>
              <a:rPr lang="en-US" altLang="ko-KR" sz="1800" b="0" kern="0" dirty="0" err="1">
                <a:solidFill>
                  <a:srgbClr val="FF0000"/>
                </a:solidFill>
              </a:rPr>
              <a:t>Muenchen</a:t>
            </a:r>
            <a:r>
              <a:rPr lang="en-US" altLang="ko-KR" sz="1800" b="0" kern="0" dirty="0">
                <a:solidFill>
                  <a:srgbClr val="FF0000"/>
                </a:solidFill>
              </a:rPr>
              <a:t> 19 12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Ulm </a:t>
            </a:r>
            <a:r>
              <a:rPr lang="en-US" altLang="ko-KR" sz="1800" b="0" kern="0" dirty="0" err="1">
                <a:solidFill>
                  <a:srgbClr val="FF0000"/>
                </a:solidFill>
              </a:rPr>
              <a:t>Muenchen</a:t>
            </a:r>
            <a:r>
              <a:rPr lang="en-US" altLang="ko-KR" sz="1800" b="0" kern="0" dirty="0">
                <a:solidFill>
                  <a:srgbClr val="FF0000"/>
                </a:solidFill>
              </a:rPr>
              <a:t> 5 2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Ulm </a:t>
            </a:r>
            <a:r>
              <a:rPr lang="en-US" altLang="ko-KR" sz="1800" b="0" kern="0" dirty="0" err="1" smtClean="0">
                <a:solidFill>
                  <a:srgbClr val="FF0000"/>
                </a:solidFill>
              </a:rPr>
              <a:t>Muenchen</a:t>
            </a:r>
            <a:r>
              <a:rPr lang="en-US" altLang="ko-KR" sz="1800" b="0" kern="0" dirty="0" smtClean="0">
                <a:solidFill>
                  <a:srgbClr val="FF0000"/>
                </a:solidFill>
              </a:rPr>
              <a:t>  // </a:t>
            </a:r>
            <a:r>
              <a:rPr lang="ko-KR" altLang="en-US" sz="1800" b="0" kern="0" dirty="0" smtClean="0">
                <a:solidFill>
                  <a:srgbClr val="FF0000"/>
                </a:solidFill>
              </a:rPr>
              <a:t>출발지</a:t>
            </a:r>
            <a:r>
              <a:rPr lang="en-US" altLang="ko-KR" sz="1800" b="0" kern="0" dirty="0" smtClean="0">
                <a:solidFill>
                  <a:srgbClr val="FF0000"/>
                </a:solidFill>
              </a:rPr>
              <a:t>, </a:t>
            </a:r>
            <a:r>
              <a:rPr lang="ko-KR" altLang="en-US" sz="1800" b="0" kern="0" dirty="0" smtClean="0">
                <a:solidFill>
                  <a:srgbClr val="FF0000"/>
                </a:solidFill>
              </a:rPr>
              <a:t>도착지</a:t>
            </a:r>
            <a:endParaRPr lang="en-US" altLang="ko-KR" sz="1800" b="0" kern="0" dirty="0">
              <a:solidFill>
                <a:srgbClr val="FF0000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10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>
                <a:solidFill>
                  <a:srgbClr val="0066FF"/>
                </a:solidFill>
              </a:rPr>
              <a:t> Sibiu 12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>
                <a:solidFill>
                  <a:srgbClr val="0066FF"/>
                </a:solidFill>
              </a:rPr>
              <a:t> Sibiu 18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>
                <a:solidFill>
                  <a:srgbClr val="0066FF"/>
                </a:solidFill>
              </a:rPr>
              <a:t> Sibiu 24 5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>
                <a:solidFill>
                  <a:srgbClr val="0066FF"/>
                </a:solidFill>
              </a:rPr>
              <a:t> Medias 22 8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>
                <a:solidFill>
                  <a:srgbClr val="0066FF"/>
                </a:solidFill>
              </a:rPr>
              <a:t> Medias 18 8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>
                <a:solidFill>
                  <a:srgbClr val="0066FF"/>
                </a:solidFill>
              </a:rPr>
              <a:t> </a:t>
            </a:r>
            <a:r>
              <a:rPr lang="en-US" altLang="ko-KR" sz="1800" b="0" kern="0" dirty="0" err="1">
                <a:solidFill>
                  <a:srgbClr val="0066FF"/>
                </a:solidFill>
              </a:rPr>
              <a:t>Reghin</a:t>
            </a:r>
            <a:r>
              <a:rPr lang="en-US" altLang="ko-KR" sz="1800" b="0" kern="0" dirty="0">
                <a:solidFill>
                  <a:srgbClr val="0066FF"/>
                </a:solidFill>
              </a:rPr>
              <a:t> 17 4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Sibiu </a:t>
            </a:r>
            <a:r>
              <a:rPr lang="en-US" altLang="ko-KR" sz="1800" b="0" kern="0" dirty="0" err="1">
                <a:solidFill>
                  <a:srgbClr val="0066FF"/>
                </a:solidFill>
              </a:rPr>
              <a:t>Reghin</a:t>
            </a:r>
            <a:r>
              <a:rPr lang="en-US" altLang="ko-KR" sz="1800" b="0" kern="0" dirty="0">
                <a:solidFill>
                  <a:srgbClr val="0066FF"/>
                </a:solidFill>
              </a:rPr>
              <a:t> 19 9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Sibiu Medias 20 3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Reghin</a:t>
            </a:r>
            <a:r>
              <a:rPr lang="en-US" altLang="ko-KR" sz="1800" b="0" kern="0" dirty="0">
                <a:solidFill>
                  <a:srgbClr val="0066FF"/>
                </a:solidFill>
              </a:rPr>
              <a:t> Medias 20 4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Reghin</a:t>
            </a:r>
            <a:r>
              <a:rPr lang="en-US" altLang="ko-KR" sz="1800" b="0" kern="0" dirty="0">
                <a:solidFill>
                  <a:srgbClr val="0066FF"/>
                </a:solidFill>
              </a:rPr>
              <a:t> Bacau 24 6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 err="1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>
                <a:solidFill>
                  <a:srgbClr val="0066FF"/>
                </a:solidFill>
              </a:rPr>
              <a:t> Bacau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4788024" y="476672"/>
            <a:ext cx="4608512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ko-KR" altLang="en-US" sz="2000" b="0" kern="0" dirty="0" smtClean="0"/>
              <a:t>출력 예</a:t>
            </a:r>
            <a:endParaRPr lang="en-US" altLang="ko-KR" sz="2000" b="0" kern="0" dirty="0" smtClean="0"/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Test Case 1.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FF0000"/>
                </a:solidFill>
              </a:rPr>
              <a:t>There is no route Vladimir can take.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Test Case 2.</a:t>
            </a: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Vladimir needs 2 </a:t>
            </a:r>
            <a:r>
              <a:rPr lang="en-US" altLang="ko-KR" sz="1800" b="0" kern="0" dirty="0" err="1">
                <a:solidFill>
                  <a:srgbClr val="0066FF"/>
                </a:solidFill>
              </a:rPr>
              <a:t>litre</a:t>
            </a:r>
            <a:r>
              <a:rPr lang="en-US" altLang="ko-KR" sz="1800" b="0" kern="0" dirty="0">
                <a:solidFill>
                  <a:srgbClr val="0066FF"/>
                </a:solidFill>
              </a:rPr>
              <a:t>(s) of blood.</a:t>
            </a:r>
            <a:endParaRPr lang="en-US" altLang="ko-KR" sz="1800" b="0" kern="0" dirty="0" smtClean="0">
              <a:solidFill>
                <a:srgbClr val="0066FF"/>
              </a:solidFill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531658" y="3356992"/>
            <a:ext cx="5256584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lvl="1" indent="0">
              <a:buFontTx/>
              <a:buNone/>
            </a:pPr>
            <a:r>
              <a:rPr lang="ko-KR" altLang="en-US" sz="1800" b="0" kern="0" dirty="0" smtClean="0">
                <a:solidFill>
                  <a:srgbClr val="0066FF"/>
                </a:solidFill>
              </a:rPr>
              <a:t>선택된 경로</a:t>
            </a:r>
            <a:endParaRPr lang="en-US" altLang="ko-KR" sz="1800" b="0" kern="0" dirty="0" smtClean="0">
              <a:solidFill>
                <a:srgbClr val="0066FF"/>
              </a:solidFill>
            </a:endParaRPr>
          </a:p>
          <a:p>
            <a:pPr marL="457200" lvl="1" indent="0">
              <a:buFontTx/>
              <a:buNone/>
            </a:pPr>
            <a:endParaRPr lang="en-US" altLang="ko-KR" sz="1800" b="0" kern="0" dirty="0" smtClean="0">
              <a:solidFill>
                <a:srgbClr val="0066FF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1800" b="0" kern="0" dirty="0" err="1" smtClean="0">
                <a:solidFill>
                  <a:srgbClr val="0066FF"/>
                </a:solidFill>
              </a:rPr>
              <a:t>Lugoj</a:t>
            </a:r>
            <a:r>
              <a:rPr lang="en-US" altLang="ko-KR" sz="1800" b="0" kern="0" dirty="0" smtClean="0">
                <a:solidFill>
                  <a:srgbClr val="0066FF"/>
                </a:solidFill>
              </a:rPr>
              <a:t>  Sibiu 18 6	: 24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시 도착</a:t>
            </a:r>
            <a:endParaRPr lang="en-US" altLang="ko-KR" sz="1800" b="0" kern="0" dirty="0" smtClean="0">
              <a:solidFill>
                <a:srgbClr val="0066FF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	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낮에 쉬면서 낮 </a:t>
            </a:r>
            <a:r>
              <a:rPr lang="en-US" altLang="ko-KR" sz="1800" b="0" kern="0" dirty="0" smtClean="0">
                <a:solidFill>
                  <a:srgbClr val="0066FF"/>
                </a:solidFill>
              </a:rPr>
              <a:t>12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시에 </a:t>
            </a:r>
            <a:r>
              <a:rPr lang="en-US" altLang="ko-KR" sz="1800" b="0" kern="0" dirty="0" smtClean="0">
                <a:solidFill>
                  <a:srgbClr val="0066FF"/>
                </a:solidFill>
              </a:rPr>
              <a:t>1 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리터 섭취</a:t>
            </a:r>
            <a:endParaRPr lang="en-US" altLang="ko-KR" sz="1800" b="0" kern="0" dirty="0" smtClean="0">
              <a:solidFill>
                <a:srgbClr val="0066FF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1800" b="0" kern="0" dirty="0" smtClean="0">
                <a:solidFill>
                  <a:srgbClr val="0066FF"/>
                </a:solidFill>
              </a:rPr>
              <a:t>Sibiu </a:t>
            </a:r>
            <a:r>
              <a:rPr lang="en-US" altLang="ko-KR" sz="1800" b="0" kern="0" dirty="0" err="1" smtClean="0">
                <a:solidFill>
                  <a:srgbClr val="0066FF"/>
                </a:solidFill>
              </a:rPr>
              <a:t>Reghin</a:t>
            </a:r>
            <a:r>
              <a:rPr lang="en-US" altLang="ko-KR" sz="1800" b="0" kern="0" dirty="0" smtClean="0">
                <a:solidFill>
                  <a:srgbClr val="0066FF"/>
                </a:solidFill>
              </a:rPr>
              <a:t> 19 9	: 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다음 날 </a:t>
            </a:r>
            <a:r>
              <a:rPr lang="en-US" altLang="ko-KR" sz="1800" b="0" kern="0" dirty="0" smtClean="0">
                <a:solidFill>
                  <a:srgbClr val="0066FF"/>
                </a:solidFill>
              </a:rPr>
              <a:t>4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시 도착</a:t>
            </a:r>
            <a:endParaRPr lang="en-US" altLang="ko-KR" sz="1800" b="0" kern="0" dirty="0" smtClean="0">
              <a:solidFill>
                <a:srgbClr val="0066FF"/>
              </a:solidFill>
            </a:endParaRPr>
          </a:p>
          <a:p>
            <a:pPr marL="457200" lvl="1" indent="0">
              <a:buNone/>
            </a:pPr>
            <a:r>
              <a:rPr lang="en-US" altLang="ko-KR" sz="1800" b="0" kern="0" dirty="0">
                <a:solidFill>
                  <a:srgbClr val="0066FF"/>
                </a:solidFill>
              </a:rPr>
              <a:t>	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낮에 </a:t>
            </a:r>
            <a:r>
              <a:rPr lang="ko-KR" altLang="en-US" sz="1800" b="0" kern="0" dirty="0">
                <a:solidFill>
                  <a:srgbClr val="0066FF"/>
                </a:solidFill>
              </a:rPr>
              <a:t>쉬면서 낮 </a:t>
            </a:r>
            <a:r>
              <a:rPr lang="en-US" altLang="ko-KR" sz="1800" b="0" kern="0" dirty="0">
                <a:solidFill>
                  <a:srgbClr val="0066FF"/>
                </a:solidFill>
              </a:rPr>
              <a:t>12</a:t>
            </a:r>
            <a:r>
              <a:rPr lang="ko-KR" altLang="en-US" sz="1800" b="0" kern="0" dirty="0">
                <a:solidFill>
                  <a:srgbClr val="0066FF"/>
                </a:solidFill>
              </a:rPr>
              <a:t>시에 </a:t>
            </a:r>
            <a:r>
              <a:rPr lang="en-US" altLang="ko-KR" sz="1800" b="0" kern="0" dirty="0">
                <a:solidFill>
                  <a:srgbClr val="0066FF"/>
                </a:solidFill>
              </a:rPr>
              <a:t>1 </a:t>
            </a:r>
            <a:r>
              <a:rPr lang="ko-KR" altLang="en-US" sz="1800" b="0" kern="0" dirty="0">
                <a:solidFill>
                  <a:srgbClr val="0066FF"/>
                </a:solidFill>
              </a:rPr>
              <a:t>리터 섭취</a:t>
            </a:r>
            <a:endParaRPr lang="en-US" altLang="ko-KR" sz="1800" b="0" kern="0" dirty="0">
              <a:solidFill>
                <a:srgbClr val="0066FF"/>
              </a:solidFill>
            </a:endParaRPr>
          </a:p>
          <a:p>
            <a:pPr marL="457200" lvl="1" indent="0">
              <a:buFontTx/>
              <a:buNone/>
            </a:pPr>
            <a:r>
              <a:rPr lang="en-US" altLang="ko-KR" sz="1800" b="0" kern="0" dirty="0" err="1" smtClean="0">
                <a:solidFill>
                  <a:srgbClr val="0066FF"/>
                </a:solidFill>
              </a:rPr>
              <a:t>Reghin</a:t>
            </a:r>
            <a:r>
              <a:rPr lang="en-US" altLang="ko-KR" sz="1800" b="0" kern="0" dirty="0" smtClean="0">
                <a:solidFill>
                  <a:srgbClr val="0066FF"/>
                </a:solidFill>
              </a:rPr>
              <a:t> Bacau 24 6	: 6</a:t>
            </a:r>
            <a:r>
              <a:rPr lang="ko-KR" altLang="en-US" sz="1800" b="0" kern="0" dirty="0" smtClean="0">
                <a:solidFill>
                  <a:srgbClr val="0066FF"/>
                </a:solidFill>
              </a:rPr>
              <a:t>시 도착</a:t>
            </a:r>
            <a:endParaRPr lang="en-US" altLang="ko-KR" sz="1800" b="0" kern="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4694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 smtClean="0"/>
              <a:t>문제 </a:t>
            </a:r>
            <a:r>
              <a:rPr lang="en-US" altLang="ko-KR" sz="3200" dirty="0" smtClean="0"/>
              <a:t>71. </a:t>
            </a:r>
            <a:r>
              <a:rPr lang="ko-KR" altLang="en-US" sz="3200" dirty="0" smtClean="0"/>
              <a:t>힌트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너비 우선 탐색을 통해 쉽게 해결이 가능하다</a:t>
            </a:r>
            <a:r>
              <a:rPr lang="en-US" altLang="ko-KR" sz="2400" dirty="0"/>
              <a:t>. </a:t>
            </a:r>
            <a:r>
              <a:rPr lang="ko-KR" altLang="en-US" sz="2400" dirty="0"/>
              <a:t>먼저 입력으로 들어온 노선들 중 </a:t>
            </a:r>
            <a:r>
              <a:rPr lang="ko-KR" altLang="en-US" sz="2400" dirty="0" err="1" smtClean="0"/>
              <a:t>블라디미르가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탈 수 없는 노선은 제외시킨다</a:t>
            </a:r>
            <a:r>
              <a:rPr lang="en-US" altLang="ko-KR" sz="2400" dirty="0"/>
              <a:t>. </a:t>
            </a:r>
            <a:r>
              <a:rPr lang="ko-KR" altLang="en-US" sz="2400" dirty="0"/>
              <a:t>나머지 노선을 이용해 시작 도시에서부터 </a:t>
            </a:r>
            <a:r>
              <a:rPr lang="ko-KR" altLang="en-US" sz="2400" dirty="0" smtClean="0"/>
              <a:t>너비 </a:t>
            </a:r>
            <a:r>
              <a:rPr lang="ko-KR" altLang="en-US" sz="2400" dirty="0"/>
              <a:t>우선 탐색으로 순회를 한다</a:t>
            </a:r>
            <a:r>
              <a:rPr lang="en-US" altLang="ko-KR" sz="2400" dirty="0"/>
              <a:t>. </a:t>
            </a:r>
            <a:r>
              <a:rPr lang="ko-KR" altLang="en-US" sz="2400" dirty="0"/>
              <a:t>이 때 이미 방문한 도시에 대해서는 이전에 방문했을 때보다 늦게 도착했으면 더 이상 방문하지 않도록 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 smtClean="0"/>
              <a:t>다음 </a:t>
            </a:r>
            <a:r>
              <a:rPr lang="ko-KR" altLang="en-US" sz="2400" dirty="0"/>
              <a:t>소스의 경우 좀 더 쉽게 해결하기 위해서 </a:t>
            </a:r>
            <a:r>
              <a:rPr lang="en-US" altLang="ko-KR" sz="2400" dirty="0"/>
              <a:t>12</a:t>
            </a:r>
            <a:r>
              <a:rPr lang="ko-KR" altLang="en-US" sz="2400" dirty="0"/>
              <a:t>시간씩 시간을 당겨서 문제를 </a:t>
            </a:r>
            <a:r>
              <a:rPr lang="ko-KR" altLang="en-US" sz="2400" dirty="0" smtClean="0"/>
              <a:t>해결했다</a:t>
            </a:r>
            <a:r>
              <a:rPr lang="en-US" altLang="ko-KR" sz="2400" dirty="0"/>
              <a:t>. </a:t>
            </a:r>
            <a:r>
              <a:rPr lang="ko-KR" altLang="en-US" sz="2400" dirty="0"/>
              <a:t>이 경우 </a:t>
            </a:r>
            <a:r>
              <a:rPr lang="en-US" altLang="ko-KR" sz="2400" dirty="0"/>
              <a:t>24</a:t>
            </a:r>
            <a:r>
              <a:rPr lang="ko-KR" altLang="en-US" sz="2400" dirty="0"/>
              <a:t>시를 기준으로 생기는 문제를 쉽게 처리할 수 있다</a:t>
            </a:r>
            <a:r>
              <a:rPr lang="en-US" altLang="ko-KR" sz="240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2471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prob. 71: From Dusk Till Dawn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MAXN 100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MAXE 1000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MAXNAME 32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MAXQUEUESIZE 10000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n, e, ne, start, finish, reachable, edges[MAXE][4], check[MAXN][2];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static char city[MAXN][MAXNAME + 1];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front, rear, queue[MAXQUEUESIZE];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1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getcity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(char *name)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(name, city[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 == 0)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(city[n], name);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n++;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input(void)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a, b, t1, t2;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char name1[MAXNAME + 1], name2[MAXNAME + 1];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n = ne = 0;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&amp;e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1842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88640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e;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("%s %s %d %d", name1, name2, &amp;t1, &amp;t2);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t1 %= 24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 24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시를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시로 변경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((t1 &gt;= 6 &amp;&amp; t1 &lt; 18) || (t1 &lt; 6 &amp;&amp; t2 &gt; 6 - t1)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(t1 &gt;= 18 &amp;&amp; t2 &gt; 30 - t1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continue;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정오를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시로 치환하여 저장한다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edges[ne][0]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getcity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(name1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출발 도시 번호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edges[ne][1]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getcity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(name2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도착 도시 번호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edges[ne][2] = (t1 + 12) % 24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출발 시각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edges[ne][3] = t2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	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여행 시간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ne++;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("%s %s", name1, name2);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start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getcity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(name1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출발지 도시 번호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finish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getcity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(name2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도착지 도시 번호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1465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260648"/>
            <a:ext cx="7992888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t, now[3];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front = 0;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rear = 0;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reachable = 0;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check[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][0] = 10000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큰 수로 초기화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최소값을 찾기 위함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queue[rear++] = start;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check[start][0] = 0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필요한 혈액량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여행 날짜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check[start][1] = 0;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while (front &lt; rear) 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now[0] = queue[front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++];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현재 도시 번호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now[1] = check[now[0]][0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	// 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현재까지 필요 혈액량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ko-KR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리터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now[2] = check[now[0]][1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	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다음 도시에서의 도착 시각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if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(now[0] == finish){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reachable = 1;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continue;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577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116632"/>
            <a:ext cx="8352928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for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ne;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][0] != now[0]) continue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출발 도시 불일치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(now[2] &lt;=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][2] &amp;&amp;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출발 시각 확인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(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][1]][0] &gt; now[1]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|| 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누적 날짜 확인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(check[edges[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][1]][0]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now[1]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  check[edges[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][1]][1] &gt;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][2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 +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  edges[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][3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]))) { 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도착 시각 확인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queue[rear++] =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]; // </a:t>
            </a:r>
            <a:r>
              <a:rPr lang="ko-KR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더 짧은 경로 설정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][1]][0] = now[1];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][1]][1] =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][2] +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][3];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else 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(check[edges[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][1]][0] &gt; now[1] + 1 ||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(check[edges[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][1]][0] == now[1] + 1 &amp;&amp; </a:t>
            </a:r>
            <a:endParaRPr lang="en-US" altLang="ko-KR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check[edges[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][1]][1] &gt;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][2] +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][3])){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ko-KR" altLang="en-US" sz="1600" smtClean="0">
                <a:latin typeface="Courier New" panose="02070309020205020404" pitchFamily="49" charset="0"/>
                <a:cs typeface="Courier New" panose="02070309020205020404" pitchFamily="49" charset="0"/>
              </a:rPr>
              <a:t>하루 후에 출발하는 경우 고려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queue[rear++] =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][1]][0] = now[1] + 1;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check[edges[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][1]][1] =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][2] + edges[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][3];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577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FA3A84-ADC4-40BE-9831-816FDDEFB539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83568" y="260648"/>
            <a:ext cx="7772400" cy="645333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t;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&amp;t);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&lt;= t;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input();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bfs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("Test Case %d.\n",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(reachable)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("Vladimir needs %d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litre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(s) of blood.\n", 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check[finish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][0]);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("There is no route Vladimir can take.\n");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4577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" pitchFamily="18" charset="-127"/>
            <a:ea typeface="바탕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11228</TotalTime>
  <Words>3427</Words>
  <Application>Microsoft Office PowerPoint</Application>
  <PresentationFormat>화면 슬라이드 쇼(4:3)</PresentationFormat>
  <Paragraphs>559</Paragraphs>
  <Slides>45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6" baseType="lpstr">
      <vt:lpstr>기본 디자인</vt:lpstr>
      <vt:lpstr>제 9장 그래프순회</vt:lpstr>
      <vt:lpstr>PowerPoint 프레젠테이션</vt:lpstr>
      <vt:lpstr>서론</vt:lpstr>
      <vt:lpstr>Graph</vt:lpstr>
      <vt:lpstr>Graph의 종류</vt:lpstr>
      <vt:lpstr>Data Structures for Graphs</vt:lpstr>
      <vt:lpstr>PowerPoint 프레젠테이션</vt:lpstr>
      <vt:lpstr>List in Array Representation</vt:lpstr>
      <vt:lpstr>Directed and Undirected Edges</vt:lpstr>
      <vt:lpstr>Reading a Graph</vt:lpstr>
      <vt:lpstr>PowerPoint 프레젠테이션</vt:lpstr>
      <vt:lpstr>Inserting an Edge</vt:lpstr>
      <vt:lpstr>Breadth-First Traversal</vt:lpstr>
      <vt:lpstr>Discovered vs. Processed Vertices</vt:lpstr>
      <vt:lpstr>Initializing Search</vt:lpstr>
      <vt:lpstr>PowerPoint 프레젠테이션</vt:lpstr>
      <vt:lpstr>Exploiting Traversal</vt:lpstr>
      <vt:lpstr>Finding Paths</vt:lpstr>
      <vt:lpstr>PowerPoint 프레젠테이션</vt:lpstr>
      <vt:lpstr>Depth-First Search</vt:lpstr>
      <vt:lpstr>PowerPoint 프레젠테이션</vt:lpstr>
      <vt:lpstr>Connected Components</vt:lpstr>
      <vt:lpstr>Connected Components Implementation</vt:lpstr>
      <vt:lpstr>Topological Sorting</vt:lpstr>
      <vt:lpstr>Longest Path in a DAG</vt:lpstr>
      <vt:lpstr>Topological Sorting Algorithms</vt:lpstr>
      <vt:lpstr>PowerPoint 프레젠테이션</vt:lpstr>
      <vt:lpstr>문제 65. 두 색으로 칠하기(Bicoloring)</vt:lpstr>
      <vt:lpstr>PowerPoint 프레젠테이션</vt:lpstr>
      <vt:lpstr>PowerPoint 프레젠테이션</vt:lpstr>
      <vt:lpstr>문제 65. 힌트</vt:lpstr>
      <vt:lpstr>PowerPoint 프레젠테이션</vt:lpstr>
      <vt:lpstr>PowerPoint 프레젠테이션</vt:lpstr>
      <vt:lpstr>PowerPoint 프레젠테이션</vt:lpstr>
      <vt:lpstr>PowerPoint 프레젠테이션</vt:lpstr>
      <vt:lpstr>문제 71. 황혼에서 새벽까지(From Dusk Till Dawn)</vt:lpstr>
      <vt:lpstr>PowerPoint 프레젠테이션</vt:lpstr>
      <vt:lpstr>PowerPoint 프레젠테이션</vt:lpstr>
      <vt:lpstr>문제 71. 힌트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inje</dc:creator>
  <cp:lastModifiedBy>하진영</cp:lastModifiedBy>
  <cp:revision>516</cp:revision>
  <dcterms:created xsi:type="dcterms:W3CDTF">2003-02-22T04:47:49Z</dcterms:created>
  <dcterms:modified xsi:type="dcterms:W3CDTF">2017-11-20T08:52:24Z</dcterms:modified>
</cp:coreProperties>
</file>