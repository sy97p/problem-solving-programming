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434" r:id="rId2"/>
    <p:sldId id="457" r:id="rId3"/>
    <p:sldId id="581" r:id="rId4"/>
    <p:sldId id="437" r:id="rId5"/>
    <p:sldId id="561" r:id="rId6"/>
    <p:sldId id="562" r:id="rId7"/>
    <p:sldId id="541" r:id="rId8"/>
    <p:sldId id="563" r:id="rId9"/>
    <p:sldId id="564" r:id="rId10"/>
    <p:sldId id="577" r:id="rId11"/>
    <p:sldId id="565" r:id="rId12"/>
    <p:sldId id="566" r:id="rId13"/>
    <p:sldId id="567" r:id="rId14"/>
    <p:sldId id="568" r:id="rId15"/>
    <p:sldId id="569" r:id="rId16"/>
    <p:sldId id="570" r:id="rId17"/>
    <p:sldId id="571" r:id="rId18"/>
    <p:sldId id="612" r:id="rId19"/>
    <p:sldId id="582" r:id="rId20"/>
    <p:sldId id="573" r:id="rId21"/>
    <p:sldId id="574" r:id="rId22"/>
    <p:sldId id="575" r:id="rId23"/>
    <p:sldId id="579" r:id="rId24"/>
    <p:sldId id="578" r:id="rId25"/>
    <p:sldId id="584" r:id="rId26"/>
    <p:sldId id="583" r:id="rId27"/>
    <p:sldId id="602" r:id="rId28"/>
    <p:sldId id="603" r:id="rId29"/>
    <p:sldId id="604" r:id="rId30"/>
    <p:sldId id="605" r:id="rId31"/>
    <p:sldId id="606" r:id="rId32"/>
    <p:sldId id="607" r:id="rId33"/>
    <p:sldId id="608" r:id="rId34"/>
    <p:sldId id="609" r:id="rId35"/>
    <p:sldId id="610" r:id="rId36"/>
    <p:sldId id="495" r:id="rId37"/>
    <p:sldId id="576" r:id="rId38"/>
    <p:sldId id="611" r:id="rId39"/>
    <p:sldId id="518" r:id="rId40"/>
    <p:sldId id="496" r:id="rId41"/>
    <p:sldId id="497" r:id="rId42"/>
    <p:sldId id="519" r:id="rId43"/>
    <p:sldId id="547" r:id="rId44"/>
    <p:sldId id="585" r:id="rId45"/>
    <p:sldId id="586" r:id="rId46"/>
    <p:sldId id="587" r:id="rId47"/>
    <p:sldId id="589" r:id="rId48"/>
    <p:sldId id="588" r:id="rId49"/>
    <p:sldId id="590" r:id="rId50"/>
    <p:sldId id="591" r:id="rId51"/>
    <p:sldId id="601" r:id="rId52"/>
  </p:sldIdLst>
  <p:sldSz cx="9144000" cy="6858000" type="screen4x3"/>
  <p:notesSz cx="6858000" cy="95742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B4B4"/>
    <a:srgbClr val="7ACCB7"/>
    <a:srgbClr val="FFCC00"/>
    <a:srgbClr val="7BB0E5"/>
    <a:srgbClr val="0066FF"/>
    <a:srgbClr val="89B2DB"/>
    <a:srgbClr val="3D81C5"/>
    <a:srgbClr val="8FB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9" autoAdjust="0"/>
    <p:restoredTop sz="94003" autoAdjust="0"/>
  </p:normalViewPr>
  <p:slideViewPr>
    <p:cSldViewPr>
      <p:cViewPr varScale="1">
        <p:scale>
          <a:sx n="121" d="100"/>
          <a:sy n="121" d="100"/>
        </p:scale>
        <p:origin x="-1320" y="-96"/>
      </p:cViewPr>
      <p:guideLst>
        <p:guide orient="horz" pos="2160"/>
        <p:guide pos="51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2C0A8F9-D868-4AAD-9DD5-4BFC86FA08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5547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38225" y="719138"/>
            <a:ext cx="4783138" cy="3587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548188"/>
            <a:ext cx="5029200" cy="430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F62EA2C-6A7B-4AE4-9565-91AC0F95E9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28696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7832E-844D-470C-8C0F-12EE8280A2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90217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A3A84-ADC4-40BE-9831-816FDDEFB5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36531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00D486-035F-41F5-9170-0500B9C707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593866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7A648-85B3-4977-8B2A-E12A6F1734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130685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F8AA5-3C2C-4A68-83B0-B42998F3D2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448001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C486B-732A-410C-8533-00AA0C15C6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654208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FAE050-7BCF-4ADD-864F-F96DD2DFD22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31835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37C71-214F-4A0E-94EE-F9A3CF6F67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758545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F2BEE-6B22-4F95-871D-0836B7578F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102218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C7C7C-63DE-45E6-9CFD-1FC765F37C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998222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1F21C-FE8B-4C09-993B-6B9FA0C0D0D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98237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fld id="{D8EDF84B-17EA-4A1E-8C40-DE4CA9254A5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hyperlink" Target="https://ko.wikipedia.org/wiki/%ED%8C%8C%EC%9D%BC:Eight-queens-animation.gi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제 </a:t>
            </a:r>
            <a:r>
              <a:rPr lang="en-US" altLang="ko-KR" dirty="0" smtClean="0"/>
              <a:t>8</a:t>
            </a:r>
            <a:r>
              <a:rPr lang="ko-KR" altLang="en-US" dirty="0" smtClean="0"/>
              <a:t>장 백트래킹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강원대학교</a:t>
            </a:r>
            <a:endParaRPr lang="en-US" altLang="ko-KR" dirty="0" smtClean="0"/>
          </a:p>
          <a:p>
            <a:r>
              <a:rPr lang="ko-KR" altLang="en-US" dirty="0" smtClean="0"/>
              <a:t>하진</a:t>
            </a:r>
            <a:r>
              <a:rPr lang="ko-KR" altLang="en-US" dirty="0"/>
              <a:t>영</a:t>
            </a:r>
          </a:p>
        </p:txBody>
      </p:sp>
    </p:spTree>
    <p:extLst>
      <p:ext uri="{BB962C8B-B14F-4D97-AF65-F5344CB8AC3E}">
        <p14:creationId xmlns:p14="http://schemas.microsoft.com/office/powerpoint/2010/main" val="34491411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762000"/>
            <a:ext cx="9144000" cy="2286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D81C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3492500" y="115888"/>
            <a:ext cx="5470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3600" b="0">
                <a:solidFill>
                  <a:srgbClr val="BCCFEA"/>
                </a:solidFill>
                <a:latin typeface="산돌명조 M" pitchFamily="18" charset="-127"/>
                <a:ea typeface="산돌명조 M" pitchFamily="18" charset="-127"/>
              </a:rPr>
              <a:t>주차별 수업 계획 </a:t>
            </a:r>
          </a:p>
        </p:txBody>
      </p:sp>
      <p:sp>
        <p:nvSpPr>
          <p:cNvPr id="5127" name="Rectangle 11"/>
          <p:cNvSpPr>
            <a:spLocks noChangeArrowheads="1"/>
          </p:cNvSpPr>
          <p:nvPr/>
        </p:nvSpPr>
        <p:spPr bwMode="auto">
          <a:xfrm>
            <a:off x="0" y="-23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128" name="Rectangle 739"/>
          <p:cNvSpPr>
            <a:spLocks noChangeArrowheads="1"/>
          </p:cNvSpPr>
          <p:nvPr/>
        </p:nvSpPr>
        <p:spPr bwMode="auto">
          <a:xfrm>
            <a:off x="0" y="1154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FAE050-7BCF-4ADD-864F-F96DD2DFD22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  <p:graphicFrame>
        <p:nvGraphicFramePr>
          <p:cNvPr id="11" name="Group 2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916521"/>
              </p:ext>
            </p:extLst>
          </p:nvPr>
        </p:nvGraphicFramePr>
        <p:xfrm>
          <a:off x="1116013" y="1135063"/>
          <a:ext cx="7632699" cy="5084762"/>
        </p:xfrm>
        <a:graphic>
          <a:graphicData uri="http://schemas.openxmlformats.org/drawingml/2006/table">
            <a:tbl>
              <a:tblPr/>
              <a:tblGrid>
                <a:gridCol w="809638"/>
                <a:gridCol w="3078584"/>
                <a:gridCol w="2016530"/>
                <a:gridCol w="1727947"/>
              </a:tblGrid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주차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수업내용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교재 범위 및 과제물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9205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9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tx1"/>
                          </a:solidFill>
                          <a:effectLst/>
                        </a:rPr>
                        <a:t>백트래킹</a:t>
                      </a:r>
                      <a:r>
                        <a:rPr lang="en-US" altLang="ko-KR" sz="1600" b="1" dirty="0" smtClea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8</a:t>
                      </a: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62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10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백트래킹</a:t>
                      </a:r>
                      <a:r>
                        <a:rPr lang="en-US" altLang="ko-KR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8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59, 61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11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그래프 순회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65, 71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12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그래프 알고리즘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10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73, 74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13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동적 프로그래밍</a:t>
                      </a:r>
                      <a:r>
                        <a:rPr lang="en-US" altLang="ko-KR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11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83, 84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401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14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동적 프로그래밍</a:t>
                      </a: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2</a:t>
                      </a:r>
                      <a:endParaRPr kumimoji="1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11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86, 87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27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15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기말고사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필기시험</a:t>
                      </a: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바탕" pitchFamily="18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9621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서론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1981200"/>
            <a:ext cx="8568952" cy="4114800"/>
          </a:xfrm>
        </p:spPr>
        <p:txBody>
          <a:bodyPr/>
          <a:lstStyle/>
          <a:p>
            <a:r>
              <a:rPr lang="en-US" altLang="ko-KR" dirty="0" smtClean="0"/>
              <a:t>1GHz CPU</a:t>
            </a:r>
          </a:p>
          <a:p>
            <a:pPr lvl="1"/>
            <a:r>
              <a:rPr lang="ko-KR" altLang="en-US" dirty="0" smtClean="0"/>
              <a:t>초당</a:t>
            </a:r>
            <a:r>
              <a:rPr lang="en-US" altLang="ko-KR" dirty="0" smtClean="0"/>
              <a:t> 10</a:t>
            </a:r>
            <a:r>
              <a:rPr lang="ko-KR" altLang="en-US" dirty="0" err="1" smtClean="0"/>
              <a:t>억번의</a:t>
            </a:r>
            <a:r>
              <a:rPr lang="ko-KR" altLang="en-US" dirty="0" smtClean="0"/>
              <a:t> 연산 가능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한 작업에 수백 개 명령어 처리가 필요하다면 수백만 개의 작업 시도 가능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참고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10! = 3,628,800 (10</a:t>
            </a:r>
            <a:r>
              <a:rPr lang="ko-KR" altLang="en-US" dirty="0" smtClean="0"/>
              <a:t>명을 줄 세우는 방법</a:t>
            </a:r>
            <a:r>
              <a:rPr lang="en-US" altLang="ko-KR" dirty="0" smtClean="0"/>
              <a:t>)</a:t>
            </a:r>
          </a:p>
          <a:p>
            <a:pPr lvl="2"/>
            <a:r>
              <a:rPr lang="en-US" altLang="ko-KR" dirty="0" smtClean="0"/>
              <a:t>2</a:t>
            </a:r>
            <a:r>
              <a:rPr lang="en-US" altLang="ko-KR" baseline="30000" dirty="0" smtClean="0"/>
              <a:t>20</a:t>
            </a:r>
            <a:r>
              <a:rPr lang="en-US" altLang="ko-KR" dirty="0" smtClean="0"/>
              <a:t> = 1,048,576 (20</a:t>
            </a:r>
            <a:r>
              <a:rPr lang="ko-KR" altLang="en-US" dirty="0" smtClean="0"/>
              <a:t>개 원소 집합의 부분 집합 개수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Exhaustive search / pruning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56112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백트래킹</a:t>
            </a:r>
            <a:r>
              <a:rPr lang="en-US" altLang="ko-KR" dirty="0" smtClean="0"/>
              <a:t>(Backtracking)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Backtracking is a </a:t>
            </a:r>
            <a:r>
              <a:rPr lang="en-US" altLang="ko-KR" sz="2400" dirty="0">
                <a:solidFill>
                  <a:srgbClr val="FF0000"/>
                </a:solidFill>
                <a:latin typeface="Times New Roman"/>
              </a:rPr>
              <a:t>systematic</a:t>
            </a:r>
            <a:r>
              <a:rPr lang="en-US" altLang="ko-KR" sz="2400" dirty="0">
                <a:latin typeface="Times New Roman"/>
              </a:rPr>
              <a:t> method to iterate through </a:t>
            </a:r>
            <a:r>
              <a:rPr lang="en-US" altLang="ko-KR" sz="2400" dirty="0" smtClean="0">
                <a:solidFill>
                  <a:srgbClr val="FF0000"/>
                </a:solidFill>
                <a:latin typeface="Times New Roman"/>
              </a:rPr>
              <a:t>all the </a:t>
            </a:r>
            <a:r>
              <a:rPr lang="en-US" altLang="ko-KR" sz="2400" dirty="0">
                <a:solidFill>
                  <a:srgbClr val="FF0000"/>
                </a:solidFill>
                <a:latin typeface="Times New Roman"/>
              </a:rPr>
              <a:t>possible configurations</a:t>
            </a:r>
            <a:r>
              <a:rPr lang="en-US" altLang="ko-KR" sz="2400" dirty="0">
                <a:latin typeface="Times New Roman"/>
              </a:rPr>
              <a:t> of a search space. It is a </a:t>
            </a:r>
            <a:r>
              <a:rPr lang="en-US" altLang="ko-KR" sz="2400" dirty="0" smtClean="0">
                <a:latin typeface="Times New Roman"/>
              </a:rPr>
              <a:t>general algorithm/technique </a:t>
            </a:r>
            <a:r>
              <a:rPr lang="en-US" altLang="ko-KR" sz="2400" dirty="0">
                <a:latin typeface="Times New Roman"/>
              </a:rPr>
              <a:t>which must be customized for </a:t>
            </a:r>
            <a:r>
              <a:rPr lang="en-US" altLang="ko-KR" sz="2400" dirty="0" smtClean="0">
                <a:latin typeface="Times New Roman"/>
              </a:rPr>
              <a:t>each individual </a:t>
            </a:r>
            <a:r>
              <a:rPr lang="en-US" altLang="ko-KR" sz="2400" dirty="0">
                <a:latin typeface="Times New Roman"/>
              </a:rPr>
              <a:t>application.</a:t>
            </a:r>
          </a:p>
          <a:p>
            <a:r>
              <a:rPr lang="en-US" altLang="ko-KR" sz="2400" dirty="0">
                <a:latin typeface="Times New Roman"/>
              </a:rPr>
              <a:t>In the general case, we will model our solution as a </a:t>
            </a:r>
            <a:r>
              <a:rPr lang="en-US" altLang="ko-KR" sz="2400" dirty="0" smtClean="0">
                <a:latin typeface="Times New Roman"/>
              </a:rPr>
              <a:t>vector </a:t>
            </a:r>
            <a:r>
              <a:rPr lang="en-US" altLang="ko-KR" sz="2400" dirty="0" smtClean="0">
                <a:solidFill>
                  <a:srgbClr val="0070C0"/>
                </a:solidFill>
                <a:latin typeface="CMMI12"/>
              </a:rPr>
              <a:t>a</a:t>
            </a:r>
            <a:r>
              <a:rPr lang="en-US" altLang="ko-KR" sz="2400" dirty="0" smtClean="0">
                <a:latin typeface="CMMI12"/>
              </a:rPr>
              <a:t> </a:t>
            </a:r>
            <a:r>
              <a:rPr lang="en-US" altLang="ko-KR" sz="2400" dirty="0">
                <a:latin typeface="CMR17"/>
              </a:rPr>
              <a:t>= (</a:t>
            </a:r>
            <a:r>
              <a:rPr lang="en-US" altLang="ko-KR" sz="2400" dirty="0">
                <a:latin typeface="CMMI12"/>
              </a:rPr>
              <a:t>a</a:t>
            </a:r>
            <a:r>
              <a:rPr lang="en-US" altLang="ko-KR" sz="1600" dirty="0">
                <a:latin typeface="CMR12"/>
              </a:rPr>
              <a:t>1</a:t>
            </a:r>
            <a:r>
              <a:rPr lang="en-US" altLang="ko-KR" sz="2400" dirty="0">
                <a:latin typeface="CMMI12"/>
              </a:rPr>
              <a:t>, a</a:t>
            </a:r>
            <a:r>
              <a:rPr lang="en-US" altLang="ko-KR" sz="1600" dirty="0">
                <a:latin typeface="CMR12"/>
              </a:rPr>
              <a:t>2</a:t>
            </a:r>
            <a:r>
              <a:rPr lang="en-US" altLang="ko-KR" sz="2400" dirty="0">
                <a:latin typeface="CMMI12"/>
              </a:rPr>
              <a:t>, ..., a</a:t>
            </a:r>
            <a:r>
              <a:rPr lang="en-US" altLang="ko-KR" sz="1600" dirty="0">
                <a:latin typeface="CMMI12"/>
              </a:rPr>
              <a:t>n</a:t>
            </a:r>
            <a:r>
              <a:rPr lang="en-US" altLang="ko-KR" sz="2400" dirty="0">
                <a:latin typeface="CMR17"/>
              </a:rPr>
              <a:t>)</a:t>
            </a:r>
            <a:r>
              <a:rPr lang="en-US" altLang="ko-KR" sz="2400" dirty="0">
                <a:latin typeface="Times New Roman"/>
              </a:rPr>
              <a:t>, where each element </a:t>
            </a:r>
            <a:r>
              <a:rPr lang="en-US" altLang="ko-KR" sz="2400" dirty="0" err="1">
                <a:latin typeface="CMMI12"/>
              </a:rPr>
              <a:t>a</a:t>
            </a:r>
            <a:r>
              <a:rPr lang="en-US" altLang="ko-KR" sz="1600" dirty="0" err="1">
                <a:latin typeface="CMMI12"/>
              </a:rPr>
              <a:t>i</a:t>
            </a:r>
            <a:r>
              <a:rPr lang="en-US" altLang="ko-KR" sz="1600" dirty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is selected from </a:t>
            </a:r>
            <a:r>
              <a:rPr lang="en-US" altLang="ko-KR" sz="2400" dirty="0" smtClean="0">
                <a:latin typeface="Times New Roman"/>
              </a:rPr>
              <a:t>a finite </a:t>
            </a:r>
            <a:r>
              <a:rPr lang="en-US" altLang="ko-KR" sz="2400" dirty="0">
                <a:latin typeface="Times New Roman"/>
              </a:rPr>
              <a:t>ordered set </a:t>
            </a:r>
            <a:r>
              <a:rPr lang="en-US" altLang="ko-KR" sz="2400" dirty="0">
                <a:latin typeface="CMMI12"/>
              </a:rPr>
              <a:t>S</a:t>
            </a:r>
            <a:r>
              <a:rPr lang="en-US" altLang="ko-KR" sz="1600" dirty="0">
                <a:latin typeface="CMMI12"/>
              </a:rPr>
              <a:t>i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r>
              <a:rPr lang="en-US" altLang="ko-KR" sz="2400" dirty="0">
                <a:latin typeface="Times New Roman"/>
              </a:rPr>
              <a:t>Such a vector might represent an arrangement where </a:t>
            </a:r>
            <a:r>
              <a:rPr lang="en-US" altLang="ko-KR" sz="2400" dirty="0" err="1" smtClean="0">
                <a:latin typeface="CMMI12"/>
              </a:rPr>
              <a:t>a</a:t>
            </a:r>
            <a:r>
              <a:rPr lang="en-US" altLang="ko-KR" sz="1600" dirty="0" err="1" smtClean="0">
                <a:latin typeface="CMMI12"/>
              </a:rPr>
              <a:t>i</a:t>
            </a:r>
            <a:r>
              <a:rPr lang="en-US" altLang="ko-KR" sz="1600" dirty="0" smtClean="0">
                <a:latin typeface="CMMI12"/>
              </a:rPr>
              <a:t> </a:t>
            </a:r>
            <a:r>
              <a:rPr lang="en-US" altLang="ko-KR" sz="2400" dirty="0" smtClean="0">
                <a:latin typeface="Times New Roman"/>
              </a:rPr>
              <a:t>contains </a:t>
            </a:r>
            <a:r>
              <a:rPr lang="en-US" altLang="ko-KR" sz="2400" dirty="0">
                <a:latin typeface="Times New Roman"/>
              </a:rPr>
              <a:t>the </a:t>
            </a:r>
            <a:r>
              <a:rPr lang="en-US" altLang="ko-KR" sz="2400" dirty="0" err="1">
                <a:latin typeface="CMMI12"/>
              </a:rPr>
              <a:t>i</a:t>
            </a:r>
            <a:r>
              <a:rPr lang="en-US" altLang="ko-KR" sz="2400" dirty="0" err="1">
                <a:latin typeface="Times New Roman"/>
              </a:rPr>
              <a:t>th</a:t>
            </a:r>
            <a:r>
              <a:rPr lang="en-US" altLang="ko-KR" sz="2400" dirty="0">
                <a:latin typeface="Times New Roman"/>
              </a:rPr>
              <a:t> element of the permutation. Or the </a:t>
            </a:r>
            <a:r>
              <a:rPr lang="en-US" altLang="ko-KR" sz="2400" dirty="0" smtClean="0">
                <a:latin typeface="Times New Roman"/>
              </a:rPr>
              <a:t>vector might </a:t>
            </a:r>
            <a:r>
              <a:rPr lang="en-US" altLang="ko-KR" sz="2400" dirty="0">
                <a:latin typeface="Times New Roman"/>
              </a:rPr>
              <a:t>represent a given subset </a:t>
            </a:r>
            <a:r>
              <a:rPr lang="en-US" altLang="ko-KR" sz="2400" dirty="0">
                <a:latin typeface="CMMI12"/>
              </a:rPr>
              <a:t>S</a:t>
            </a:r>
            <a:r>
              <a:rPr lang="en-US" altLang="ko-KR" sz="2400" dirty="0">
                <a:latin typeface="Times New Roman"/>
              </a:rPr>
              <a:t>, where </a:t>
            </a:r>
            <a:r>
              <a:rPr lang="en-US" altLang="ko-KR" sz="2400" dirty="0" err="1">
                <a:latin typeface="CMMI12"/>
              </a:rPr>
              <a:t>a</a:t>
            </a:r>
            <a:r>
              <a:rPr lang="en-US" altLang="ko-KR" sz="1600" dirty="0" err="1">
                <a:latin typeface="CMMI12"/>
              </a:rPr>
              <a:t>i</a:t>
            </a:r>
            <a:r>
              <a:rPr lang="en-US" altLang="ko-KR" sz="1600" dirty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is true if and </a:t>
            </a:r>
            <a:r>
              <a:rPr lang="en-US" altLang="ko-KR" sz="2400" dirty="0" smtClean="0">
                <a:latin typeface="Times New Roman"/>
              </a:rPr>
              <a:t>only if </a:t>
            </a:r>
            <a:r>
              <a:rPr lang="en-US" altLang="ko-KR" sz="2400" dirty="0">
                <a:latin typeface="Times New Roman"/>
              </a:rPr>
              <a:t>the </a:t>
            </a:r>
            <a:r>
              <a:rPr lang="en-US" altLang="ko-KR" sz="2400" dirty="0" err="1">
                <a:latin typeface="CMMI12"/>
              </a:rPr>
              <a:t>i</a:t>
            </a:r>
            <a:r>
              <a:rPr lang="en-US" altLang="ko-KR" sz="2400" dirty="0" err="1">
                <a:latin typeface="Times New Roman"/>
              </a:rPr>
              <a:t>th</a:t>
            </a:r>
            <a:r>
              <a:rPr lang="en-US" altLang="ko-KR" sz="2400" dirty="0">
                <a:latin typeface="Times New Roman"/>
              </a:rPr>
              <a:t> element of the universe is in </a:t>
            </a:r>
            <a:r>
              <a:rPr lang="en-US" altLang="ko-KR" sz="2400" dirty="0">
                <a:latin typeface="CMMI12"/>
              </a:rPr>
              <a:t>S</a:t>
            </a:r>
            <a:r>
              <a:rPr lang="en-US" altLang="ko-KR" sz="2400" dirty="0">
                <a:latin typeface="Times New Roman"/>
              </a:rPr>
              <a:t>.</a:t>
            </a:r>
            <a:endParaRPr lang="en-US" altLang="ko-K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25526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620688"/>
            <a:ext cx="7772400" cy="5475312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At each step in the backtracking algorithm, we start </a:t>
            </a:r>
            <a:r>
              <a:rPr lang="en-US" altLang="ko-KR" sz="2400" dirty="0" smtClean="0">
                <a:latin typeface="Times New Roman"/>
              </a:rPr>
              <a:t>from a </a:t>
            </a:r>
            <a:r>
              <a:rPr lang="en-US" altLang="ko-KR" sz="2400" dirty="0">
                <a:latin typeface="Times New Roman"/>
              </a:rPr>
              <a:t>given partial solution, say, </a:t>
            </a:r>
            <a:r>
              <a:rPr lang="en-US" altLang="ko-KR" sz="2400" dirty="0">
                <a:solidFill>
                  <a:srgbClr val="0070C0"/>
                </a:solidFill>
                <a:latin typeface="CMMI12"/>
              </a:rPr>
              <a:t>a</a:t>
            </a:r>
            <a:r>
              <a:rPr lang="en-US" altLang="ko-KR" sz="2400" dirty="0">
                <a:latin typeface="CMMI12"/>
              </a:rPr>
              <a:t> </a:t>
            </a:r>
            <a:r>
              <a:rPr lang="en-US" altLang="ko-KR" sz="2400" dirty="0">
                <a:latin typeface="CMR17"/>
              </a:rPr>
              <a:t>= (</a:t>
            </a:r>
            <a:r>
              <a:rPr lang="en-US" altLang="ko-KR" sz="2400" dirty="0">
                <a:latin typeface="CMMI12"/>
              </a:rPr>
              <a:t>a</a:t>
            </a:r>
            <a:r>
              <a:rPr lang="en-US" altLang="ko-KR" sz="1600" dirty="0">
                <a:latin typeface="CMR12"/>
              </a:rPr>
              <a:t>1</a:t>
            </a:r>
            <a:r>
              <a:rPr lang="en-US" altLang="ko-KR" sz="2400" dirty="0">
                <a:latin typeface="CMMI12"/>
              </a:rPr>
              <a:t>, a</a:t>
            </a:r>
            <a:r>
              <a:rPr lang="en-US" altLang="ko-KR" sz="1600" dirty="0">
                <a:latin typeface="CMR12"/>
              </a:rPr>
              <a:t>2</a:t>
            </a:r>
            <a:r>
              <a:rPr lang="en-US" altLang="ko-KR" sz="2400" dirty="0">
                <a:latin typeface="CMMI12"/>
              </a:rPr>
              <a:t>, ..., </a:t>
            </a:r>
            <a:r>
              <a:rPr lang="en-US" altLang="ko-KR" sz="2400" dirty="0" err="1">
                <a:latin typeface="CMMI12"/>
              </a:rPr>
              <a:t>a</a:t>
            </a:r>
            <a:r>
              <a:rPr lang="en-US" altLang="ko-KR" sz="1600" dirty="0" err="1">
                <a:latin typeface="CMMI12"/>
              </a:rPr>
              <a:t>k</a:t>
            </a:r>
            <a:r>
              <a:rPr lang="en-US" altLang="ko-KR" sz="2400" dirty="0">
                <a:latin typeface="CMR17"/>
              </a:rPr>
              <a:t>)</a:t>
            </a:r>
            <a:r>
              <a:rPr lang="en-US" altLang="ko-KR" sz="2400" dirty="0">
                <a:latin typeface="Times New Roman"/>
              </a:rPr>
              <a:t>, and try </a:t>
            </a:r>
            <a:r>
              <a:rPr lang="en-US" altLang="ko-KR" sz="2400" dirty="0" smtClean="0">
                <a:latin typeface="Times New Roman"/>
              </a:rPr>
              <a:t>to extend </a:t>
            </a:r>
            <a:r>
              <a:rPr lang="en-US" altLang="ko-KR" sz="2400" dirty="0">
                <a:latin typeface="Times New Roman"/>
              </a:rPr>
              <a:t>it by adding another element at the end.</a:t>
            </a:r>
          </a:p>
          <a:p>
            <a:r>
              <a:rPr lang="en-US" altLang="ko-KR" sz="2400" dirty="0">
                <a:latin typeface="Times New Roman"/>
              </a:rPr>
              <a:t>After extending it, we must test whether what we have so </a:t>
            </a:r>
            <a:r>
              <a:rPr lang="en-US" altLang="ko-KR" sz="2400" dirty="0" smtClean="0">
                <a:latin typeface="Times New Roman"/>
              </a:rPr>
              <a:t>far is </a:t>
            </a:r>
            <a:r>
              <a:rPr lang="en-US" altLang="ko-KR" sz="2400" dirty="0">
                <a:latin typeface="Times New Roman"/>
              </a:rPr>
              <a:t>a solution.</a:t>
            </a:r>
          </a:p>
          <a:p>
            <a:r>
              <a:rPr lang="en-US" altLang="ko-KR" sz="2400" dirty="0">
                <a:latin typeface="Times New Roman"/>
              </a:rPr>
              <a:t>If not, we must then check whether the partial solution is </a:t>
            </a:r>
            <a:r>
              <a:rPr lang="en-US" altLang="ko-KR" sz="2400" dirty="0" smtClean="0">
                <a:latin typeface="Times New Roman"/>
              </a:rPr>
              <a:t>still potentially </a:t>
            </a:r>
            <a:r>
              <a:rPr lang="en-US" altLang="ko-KR" sz="2400" dirty="0">
                <a:latin typeface="Times New Roman"/>
              </a:rPr>
              <a:t>extendible to some complete solution.</a:t>
            </a:r>
          </a:p>
          <a:p>
            <a:r>
              <a:rPr lang="en-US" altLang="ko-KR" sz="2400" dirty="0">
                <a:latin typeface="Times New Roman"/>
              </a:rPr>
              <a:t>If so, recur and continue. If not, we delete the last </a:t>
            </a:r>
            <a:r>
              <a:rPr lang="en-US" altLang="ko-KR" sz="2400" dirty="0" smtClean="0">
                <a:latin typeface="Times New Roman"/>
              </a:rPr>
              <a:t>element from </a:t>
            </a:r>
            <a:r>
              <a:rPr lang="en-US" altLang="ko-KR" sz="2400" dirty="0">
                <a:solidFill>
                  <a:srgbClr val="0070C0"/>
                </a:solidFill>
                <a:latin typeface="CMMI12"/>
              </a:rPr>
              <a:t>a</a:t>
            </a:r>
            <a:r>
              <a:rPr lang="en-US" altLang="ko-KR" sz="2400" dirty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and try another possibility for that position, if </a:t>
            </a:r>
            <a:r>
              <a:rPr lang="en-US" altLang="ko-KR" sz="2400" dirty="0" smtClean="0">
                <a:latin typeface="Times New Roman"/>
              </a:rPr>
              <a:t>one exists</a:t>
            </a:r>
            <a:r>
              <a:rPr lang="en-US" altLang="ko-KR" sz="2400" dirty="0">
                <a:latin typeface="Times New Roman"/>
              </a:rPr>
              <a:t>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59150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Implementation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We include a global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finished</a:t>
            </a:r>
            <a:r>
              <a:rPr lang="en-US" altLang="ko-KR" sz="2400" dirty="0">
                <a:latin typeface="Courier"/>
              </a:rPr>
              <a:t> </a:t>
            </a:r>
            <a:r>
              <a:rPr lang="en-US" altLang="ko-KR" sz="2400" dirty="0">
                <a:latin typeface="Times New Roman"/>
              </a:rPr>
              <a:t>flag to allow for </a:t>
            </a:r>
            <a:r>
              <a:rPr lang="en-US" altLang="ko-KR" sz="2400" dirty="0" smtClean="0">
                <a:latin typeface="Times New Roman"/>
              </a:rPr>
              <a:t>premature termination</a:t>
            </a:r>
            <a:r>
              <a:rPr lang="en-US" altLang="ko-KR" sz="2400" dirty="0">
                <a:latin typeface="Times New Roman"/>
              </a:rPr>
              <a:t>, which could be set in any </a:t>
            </a:r>
            <a:r>
              <a:rPr lang="en-US" altLang="ko-KR" sz="2400" dirty="0" smtClean="0">
                <a:latin typeface="Times New Roman"/>
              </a:rPr>
              <a:t>application-specific routine</a:t>
            </a:r>
            <a:r>
              <a:rPr lang="en-US" altLang="ko-KR" sz="2400" dirty="0">
                <a:latin typeface="Times New Roman"/>
              </a:rPr>
              <a:t>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02858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692696"/>
            <a:ext cx="8892480" cy="54033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finished = FALSE;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found all solutions yet? */</a:t>
            </a:r>
          </a:p>
          <a:p>
            <a:pPr marL="0" indent="0">
              <a:buNone/>
            </a:pP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backtrack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a[],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k, data input)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c[MAXCANDIDATES]; /* candidates for next position */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ncandidates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next position candidate count */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counter */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is_a_solution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a,k,input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process_solution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a,k,input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else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k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k+1;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construct_candidates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(a,k,input,c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,&amp;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ncandidates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ncandidates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a[k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c[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ko-KR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backtrack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a,k,input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(finished) return; /* terminate early */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10916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dirty="0" smtClean="0"/>
              <a:t>Application-Specific Routines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8206680" cy="4114800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The application-specific parts of this algorithm consists </a:t>
            </a:r>
            <a:r>
              <a:rPr lang="en-US" altLang="ko-KR" sz="2400" dirty="0" smtClean="0">
                <a:latin typeface="Times New Roman"/>
              </a:rPr>
              <a:t>of three </a:t>
            </a:r>
            <a:r>
              <a:rPr lang="en-US" altLang="ko-KR" sz="2400" dirty="0">
                <a:latin typeface="Times New Roman"/>
              </a:rPr>
              <a:t>subroutines:</a:t>
            </a:r>
          </a:p>
          <a:p>
            <a:pPr lvl="1"/>
            <a:r>
              <a:rPr lang="en-US" altLang="ko-KR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is_a_solution</a:t>
            </a:r>
            <a:r>
              <a:rPr lang="en-US" altLang="ko-K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ko-KR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,k,input</a:t>
            </a:r>
            <a:r>
              <a:rPr lang="en-US" altLang="ko-K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altLang="ko-KR" sz="2000" dirty="0" smtClean="0">
                <a:latin typeface="Times New Roman"/>
              </a:rPr>
              <a:t>This Boolean function </a:t>
            </a:r>
            <a:r>
              <a:rPr lang="en-US" altLang="ko-KR" sz="2000" dirty="0">
                <a:latin typeface="Times New Roman"/>
              </a:rPr>
              <a:t>tests whether the first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altLang="ko-KR" sz="2000" dirty="0">
                <a:latin typeface="CMMI12"/>
              </a:rPr>
              <a:t> </a:t>
            </a:r>
            <a:r>
              <a:rPr lang="en-US" altLang="ko-KR" sz="2000" dirty="0">
                <a:latin typeface="Times New Roman"/>
              </a:rPr>
              <a:t>elements of vector </a:t>
            </a:r>
            <a:r>
              <a:rPr lang="en-US" altLang="ko-KR" sz="2000" dirty="0" smtClean="0">
                <a:solidFill>
                  <a:srgbClr val="0070C0"/>
                </a:solidFill>
                <a:latin typeface="CMMI12"/>
              </a:rPr>
              <a:t>a</a:t>
            </a:r>
            <a:r>
              <a:rPr lang="en-US" altLang="ko-KR" sz="2000" dirty="0" smtClean="0">
                <a:latin typeface="CMMI12"/>
              </a:rPr>
              <a:t> </a:t>
            </a:r>
            <a:r>
              <a:rPr lang="en-US" altLang="ko-KR" sz="2000" dirty="0" smtClean="0">
                <a:latin typeface="Times New Roman"/>
              </a:rPr>
              <a:t>are </a:t>
            </a:r>
            <a:r>
              <a:rPr lang="en-US" altLang="ko-KR" sz="2000" dirty="0">
                <a:latin typeface="Times New Roman"/>
              </a:rPr>
              <a:t>a complete solution for the given problem. The </a:t>
            </a:r>
            <a:r>
              <a:rPr lang="en-US" altLang="ko-KR" sz="2000" dirty="0" smtClean="0">
                <a:latin typeface="Times New Roman"/>
              </a:rPr>
              <a:t>last argument</a:t>
            </a:r>
            <a:r>
              <a:rPr lang="en-US" altLang="ko-KR" sz="2000" dirty="0">
                <a:latin typeface="Times New Roman"/>
              </a:rPr>
              <a:t>, </a:t>
            </a:r>
            <a:r>
              <a:rPr lang="en-US" altLang="ko-KR" sz="2000" dirty="0">
                <a:latin typeface="Courier"/>
              </a:rPr>
              <a:t>input</a:t>
            </a:r>
            <a:r>
              <a:rPr lang="en-US" altLang="ko-KR" sz="2000" dirty="0">
                <a:latin typeface="Times New Roman"/>
              </a:rPr>
              <a:t>, allows us to pass general </a:t>
            </a:r>
            <a:r>
              <a:rPr lang="en-US" altLang="ko-KR" sz="2000" dirty="0" smtClean="0">
                <a:latin typeface="Times New Roman"/>
              </a:rPr>
              <a:t>information into </a:t>
            </a:r>
            <a:r>
              <a:rPr lang="en-US" altLang="ko-KR" sz="2000" dirty="0">
                <a:latin typeface="Times New Roman"/>
              </a:rPr>
              <a:t>the routine.</a:t>
            </a:r>
          </a:p>
          <a:p>
            <a:pPr lvl="1"/>
            <a:r>
              <a:rPr lang="en-US" altLang="ko-KR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construct_candidates</a:t>
            </a:r>
            <a:r>
              <a:rPr lang="en-US" altLang="ko-K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ko-KR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,k,input,c,ncandidates</a:t>
            </a:r>
            <a:r>
              <a:rPr lang="en-US" altLang="ko-K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ko-K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ko-KR" sz="2000" dirty="0" smtClean="0">
                <a:latin typeface="Times New Roman"/>
              </a:rPr>
              <a:t>This routine fills an array </a:t>
            </a:r>
            <a:r>
              <a:rPr lang="en-US" altLang="ko-K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ko-KR" sz="2000" dirty="0" smtClean="0">
                <a:latin typeface="CMMI12"/>
              </a:rPr>
              <a:t> </a:t>
            </a:r>
            <a:r>
              <a:rPr lang="en-US" altLang="ko-KR" sz="2000" dirty="0" smtClean="0">
                <a:latin typeface="Times New Roman"/>
              </a:rPr>
              <a:t>with the complete set of possible candidates for the </a:t>
            </a:r>
            <a:r>
              <a:rPr lang="en-US" altLang="ko-KR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altLang="ko-KR" sz="2000" dirty="0" err="1" smtClean="0">
                <a:latin typeface="Times New Roman"/>
              </a:rPr>
              <a:t>th</a:t>
            </a:r>
            <a:r>
              <a:rPr lang="en-US" altLang="ko-KR" sz="2000" dirty="0" smtClean="0">
                <a:latin typeface="Times New Roman"/>
              </a:rPr>
              <a:t> position of </a:t>
            </a:r>
            <a:r>
              <a:rPr lang="en-US" altLang="ko-KR" sz="20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ko-KR" sz="2000" dirty="0" smtClean="0">
                <a:latin typeface="Times New Roman"/>
              </a:rPr>
              <a:t>, given the contents of the first </a:t>
            </a:r>
            <a:r>
              <a:rPr lang="en-US" altLang="ko-K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 − 1 </a:t>
            </a:r>
            <a:r>
              <a:rPr lang="en-US" altLang="ko-KR" sz="2000" dirty="0" smtClean="0">
                <a:latin typeface="Times New Roman"/>
              </a:rPr>
              <a:t>positions. The </a:t>
            </a:r>
            <a:r>
              <a:rPr lang="en-US" altLang="ko-KR" sz="2000" dirty="0">
                <a:latin typeface="Times New Roman"/>
              </a:rPr>
              <a:t>number of candidates returned in this array is denoted </a:t>
            </a:r>
            <a:r>
              <a:rPr lang="en-US" altLang="ko-KR" sz="2000" dirty="0" smtClean="0">
                <a:latin typeface="Times New Roman"/>
              </a:rPr>
              <a:t>by </a:t>
            </a:r>
            <a:r>
              <a:rPr lang="en-US" altLang="ko-KR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ncandidates</a:t>
            </a:r>
            <a:r>
              <a:rPr lang="en-US" altLang="ko-KR" sz="2000" dirty="0">
                <a:latin typeface="Times New Roman"/>
              </a:rPr>
              <a:t>.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979805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process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solution(</a:t>
            </a:r>
            <a:r>
              <a:rPr lang="en-US" altLang="ko-KR" sz="2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ko-K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,k</a:t>
            </a:r>
            <a:r>
              <a:rPr lang="en-US" altLang="ko-K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altLang="ko-KR" sz="2000" dirty="0" smtClean="0">
                <a:latin typeface="Times New Roman"/>
              </a:rPr>
              <a:t>This </a:t>
            </a:r>
            <a:r>
              <a:rPr lang="en-US" altLang="ko-KR" sz="2000" dirty="0">
                <a:latin typeface="Times New Roman"/>
              </a:rPr>
              <a:t>routine </a:t>
            </a:r>
            <a:r>
              <a:rPr lang="en-US" altLang="ko-KR" sz="2000" dirty="0" smtClean="0">
                <a:latin typeface="Times New Roman"/>
              </a:rPr>
              <a:t>prints, counts</a:t>
            </a:r>
            <a:r>
              <a:rPr lang="en-US" altLang="ko-KR" sz="2000" dirty="0">
                <a:latin typeface="Times New Roman"/>
              </a:rPr>
              <a:t>, or somehow processes a complete solution </a:t>
            </a:r>
            <a:r>
              <a:rPr lang="en-US" altLang="ko-KR" sz="2000" dirty="0" smtClean="0">
                <a:latin typeface="Times New Roman"/>
              </a:rPr>
              <a:t>once it </a:t>
            </a:r>
            <a:r>
              <a:rPr lang="en-US" altLang="ko-KR" sz="2000" dirty="0">
                <a:latin typeface="Times New Roman"/>
              </a:rPr>
              <a:t>is constructed.</a:t>
            </a:r>
          </a:p>
          <a:p>
            <a:r>
              <a:rPr lang="en-US" altLang="ko-KR" sz="2400" dirty="0">
                <a:latin typeface="Times New Roman"/>
              </a:rPr>
              <a:t>Backtracking ensures correctness by </a:t>
            </a:r>
            <a:r>
              <a:rPr lang="en-US" altLang="ko-KR" sz="2400" dirty="0">
                <a:solidFill>
                  <a:srgbClr val="FF0000"/>
                </a:solidFill>
                <a:latin typeface="Times New Roman"/>
              </a:rPr>
              <a:t>enumerating all </a:t>
            </a:r>
            <a:r>
              <a:rPr lang="en-US" altLang="ko-KR" sz="2400" dirty="0" smtClean="0">
                <a:solidFill>
                  <a:srgbClr val="FF0000"/>
                </a:solidFill>
                <a:latin typeface="Times New Roman"/>
              </a:rPr>
              <a:t>possibilities</a:t>
            </a:r>
            <a:r>
              <a:rPr lang="en-US" altLang="ko-KR" sz="2400" dirty="0" smtClean="0">
                <a:latin typeface="Times New Roman"/>
              </a:rPr>
              <a:t>. It </a:t>
            </a:r>
            <a:r>
              <a:rPr lang="en-US" altLang="ko-KR" sz="2400" dirty="0">
                <a:latin typeface="Times New Roman"/>
              </a:rPr>
              <a:t>ensures efficiency by </a:t>
            </a:r>
            <a:r>
              <a:rPr lang="en-US" altLang="ko-KR" sz="2400" dirty="0">
                <a:solidFill>
                  <a:srgbClr val="FF0000"/>
                </a:solidFill>
                <a:latin typeface="Times New Roman"/>
              </a:rPr>
              <a:t>never visiting a state </a:t>
            </a:r>
            <a:r>
              <a:rPr lang="en-US" altLang="ko-KR" sz="2400" dirty="0" smtClean="0">
                <a:solidFill>
                  <a:srgbClr val="FF0000"/>
                </a:solidFill>
                <a:latin typeface="Times New Roman"/>
              </a:rPr>
              <a:t>more than </a:t>
            </a:r>
            <a:r>
              <a:rPr lang="en-US" altLang="ko-KR" sz="2400" dirty="0">
                <a:solidFill>
                  <a:srgbClr val="FF0000"/>
                </a:solidFill>
                <a:latin typeface="Times New Roman"/>
              </a:rPr>
              <a:t>once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r>
              <a:rPr lang="en-US" altLang="ko-KR" sz="2400" dirty="0">
                <a:latin typeface="Times New Roman"/>
              </a:rPr>
              <a:t>Because a new candidates array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ko-KR" sz="2400" dirty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is allocated with </a:t>
            </a:r>
            <a:r>
              <a:rPr lang="en-US" altLang="ko-KR" sz="2400" dirty="0" smtClean="0">
                <a:latin typeface="Times New Roman"/>
              </a:rPr>
              <a:t>each recursive </a:t>
            </a:r>
            <a:r>
              <a:rPr lang="en-US" altLang="ko-KR" sz="2400" dirty="0">
                <a:latin typeface="Times New Roman"/>
              </a:rPr>
              <a:t>procedure call, the subsets of </a:t>
            </a:r>
            <a:r>
              <a:rPr lang="en-US" altLang="ko-KR" sz="2400" dirty="0" smtClean="0">
                <a:latin typeface="Times New Roman"/>
              </a:rPr>
              <a:t>not-yet-considered extension </a:t>
            </a:r>
            <a:r>
              <a:rPr lang="en-US" altLang="ko-KR" sz="2400" dirty="0">
                <a:latin typeface="Times New Roman"/>
              </a:rPr>
              <a:t>candidates at each position will not interfere </a:t>
            </a:r>
            <a:r>
              <a:rPr lang="en-US" altLang="ko-KR" sz="2400" dirty="0" smtClean="0">
                <a:latin typeface="Times New Roman"/>
              </a:rPr>
              <a:t>with each </a:t>
            </a:r>
            <a:r>
              <a:rPr lang="en-US" altLang="ko-KR" sz="2400" dirty="0">
                <a:latin typeface="Times New Roman"/>
              </a:rPr>
              <a:t>other.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631172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Constructing All Subsets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We can construct the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ko-KR" sz="24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ko-KR" sz="2400" dirty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subsets of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ko-KR" sz="2400" dirty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items by </a:t>
            </a:r>
            <a:r>
              <a:rPr lang="en-US" altLang="ko-KR" sz="2400" dirty="0" smtClean="0">
                <a:latin typeface="Times New Roman"/>
              </a:rPr>
              <a:t>iterating through </a:t>
            </a:r>
            <a:r>
              <a:rPr lang="en-US" altLang="ko-KR" sz="2400" dirty="0">
                <a:latin typeface="Times New Roman"/>
              </a:rPr>
              <a:t>all possible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ko-KR" sz="24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ko-KR" sz="2400" dirty="0" smtClean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length-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ko-KR" sz="2400" dirty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vectors of </a:t>
            </a:r>
            <a:r>
              <a:rPr lang="en-US" altLang="ko-KR" sz="2400" i="1" dirty="0">
                <a:latin typeface="Times New Roman"/>
              </a:rPr>
              <a:t>true </a:t>
            </a:r>
            <a:r>
              <a:rPr lang="en-US" altLang="ko-KR" sz="2400" dirty="0">
                <a:latin typeface="Times New Roman"/>
              </a:rPr>
              <a:t>or </a:t>
            </a:r>
            <a:r>
              <a:rPr lang="en-US" altLang="ko-KR" sz="2400" i="1" dirty="0" smtClean="0">
                <a:latin typeface="Times New Roman"/>
              </a:rPr>
              <a:t>false</a:t>
            </a:r>
            <a:r>
              <a:rPr lang="en-US" altLang="ko-KR" sz="2400" dirty="0" smtClean="0">
                <a:latin typeface="Times New Roman"/>
              </a:rPr>
              <a:t>, letting </a:t>
            </a:r>
            <a:r>
              <a:rPr lang="en-US" altLang="ko-KR" sz="2400" dirty="0">
                <a:latin typeface="Times New Roman"/>
              </a:rPr>
              <a:t>the </a:t>
            </a:r>
            <a:r>
              <a:rPr lang="en-US" altLang="ko-K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2400" dirty="0" err="1">
                <a:latin typeface="Times New Roman"/>
              </a:rPr>
              <a:t>th</a:t>
            </a:r>
            <a:r>
              <a:rPr lang="en-US" altLang="ko-KR" sz="2400" dirty="0">
                <a:latin typeface="Times New Roman"/>
              </a:rPr>
              <a:t> element denote whether item </a:t>
            </a:r>
            <a:r>
              <a:rPr lang="en-US" altLang="ko-KR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2400" dirty="0" smtClean="0">
                <a:latin typeface="Times New Roman"/>
              </a:rPr>
              <a:t> </a:t>
            </a:r>
            <a:r>
              <a:rPr lang="en-US" altLang="ko-KR" sz="2400" dirty="0">
                <a:latin typeface="Times New Roman"/>
              </a:rPr>
              <a:t>is or is not </a:t>
            </a:r>
            <a:r>
              <a:rPr lang="en-US" altLang="ko-KR" sz="2400" dirty="0" smtClean="0">
                <a:latin typeface="Times New Roman"/>
              </a:rPr>
              <a:t>in the </a:t>
            </a:r>
            <a:r>
              <a:rPr lang="en-US" altLang="ko-KR" sz="2400" dirty="0">
                <a:latin typeface="Times New Roman"/>
              </a:rPr>
              <a:t>subset.</a:t>
            </a:r>
          </a:p>
          <a:p>
            <a:r>
              <a:rPr lang="en-US" altLang="ko-KR" sz="2400" dirty="0">
                <a:latin typeface="Times New Roman"/>
              </a:rPr>
              <a:t>Using the notation of the general backtrack algorithm, </a:t>
            </a:r>
            <a:r>
              <a:rPr lang="en-US" altLang="ko-KR" sz="2400" dirty="0" smtClean="0">
                <a:latin typeface="Times New Roman"/>
              </a:rPr>
              <a:t>    </a:t>
            </a:r>
            <a:r>
              <a:rPr lang="en-US" altLang="ko-KR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ko-KR" sz="2400" baseline="-25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altLang="ko-K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true, false)</a:t>
            </a:r>
            <a:r>
              <a:rPr lang="en-US" altLang="ko-KR" sz="2400" dirty="0">
                <a:latin typeface="Times New Roman"/>
              </a:rPr>
              <a:t>, and </a:t>
            </a:r>
            <a:r>
              <a:rPr lang="en-US" altLang="ko-KR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ko-KR" sz="2400" dirty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is a solution </a:t>
            </a:r>
            <a:r>
              <a:rPr lang="en-US" altLang="ko-KR" sz="2400" dirty="0" smtClean="0">
                <a:latin typeface="Times New Roman"/>
              </a:rPr>
              <a:t>whenever  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k </a:t>
            </a:r>
            <a:r>
              <a:rPr lang="en-US" altLang="ko-KR" sz="2400" dirty="0" smtClean="0"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≥</a:t>
            </a:r>
            <a:r>
              <a:rPr lang="en-US" altLang="ko-K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ko-KR" sz="2400" dirty="0">
                <a:latin typeface="Times New Roman"/>
              </a:rPr>
              <a:t>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947598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332656"/>
            <a:ext cx="8892480" cy="5763344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is_a_solution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a[],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(k == n); /* is k == n? */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construct_candidates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[],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k,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[],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ncandidates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c[0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TRUE;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c[1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FALSE;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*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ncandidates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2;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process_solution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a[],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/* counter */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("{");</a:t>
            </a:r>
          </a:p>
          <a:p>
            <a:pPr marL="0" indent="0">
              <a:buNone/>
            </a:pPr>
            <a:r>
              <a:rPr lang="nn-NO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nn-NO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(i=1; i&lt;=k; i++)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(a[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== TRUE)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 %d",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 }\n");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81919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260648"/>
            <a:ext cx="7772400" cy="1296144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Finally, we must instantiate the call to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backtrack</a:t>
            </a:r>
            <a:r>
              <a:rPr lang="en-US" altLang="ko-KR" sz="2400" dirty="0">
                <a:latin typeface="Courier"/>
              </a:rPr>
              <a:t> </a:t>
            </a:r>
            <a:r>
              <a:rPr lang="en-US" altLang="ko-KR" sz="2400" dirty="0">
                <a:latin typeface="Times New Roman"/>
              </a:rPr>
              <a:t>with </a:t>
            </a:r>
            <a:r>
              <a:rPr lang="en-US" altLang="ko-KR" sz="2400" dirty="0" smtClean="0">
                <a:latin typeface="Times New Roman"/>
              </a:rPr>
              <a:t>the right </a:t>
            </a:r>
            <a:r>
              <a:rPr lang="en-US" altLang="ko-KR" sz="2400" dirty="0">
                <a:latin typeface="Times New Roman"/>
              </a:rPr>
              <a:t>arguments.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251520" y="1628800"/>
            <a:ext cx="8892480" cy="44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generate_subsets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pPr marL="0" indent="0">
              <a:buNone/>
            </a:pP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a[NMAX]; /* solution vector */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backtrack(a,0,n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b="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1225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dirty="0"/>
              <a:t>Constructing All Permutations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2023864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To avoid repeating permutation elements, we must ensure </a:t>
            </a:r>
            <a:r>
              <a:rPr lang="en-US" altLang="ko-KR" sz="2400" dirty="0" smtClean="0">
                <a:latin typeface="Times New Roman"/>
              </a:rPr>
              <a:t>that the </a:t>
            </a:r>
            <a:r>
              <a:rPr lang="en-US" altLang="ko-K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2400" dirty="0" err="1">
                <a:latin typeface="Times New Roman"/>
              </a:rPr>
              <a:t>th</a:t>
            </a:r>
            <a:r>
              <a:rPr lang="en-US" altLang="ko-KR" sz="2400" dirty="0">
                <a:latin typeface="Times New Roman"/>
              </a:rPr>
              <a:t> element is distinct from all elements before it.</a:t>
            </a:r>
          </a:p>
          <a:p>
            <a:r>
              <a:rPr lang="en-US" altLang="ko-KR" sz="2400" dirty="0">
                <a:latin typeface="Times New Roman"/>
              </a:rPr>
              <a:t>To use the notation of the general backtrack algorithm, </a:t>
            </a:r>
            <a:r>
              <a:rPr lang="en-US" altLang="ko-KR" sz="2400" dirty="0" smtClean="0">
                <a:latin typeface="Times New Roman"/>
              </a:rPr>
              <a:t>    </a:t>
            </a:r>
            <a:r>
              <a:rPr lang="en-US" altLang="ko-KR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ko-KR" sz="2400" baseline="-25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altLang="ko-K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1, . . . , n} − </a:t>
            </a:r>
            <a:r>
              <a:rPr lang="en-US" altLang="ko-KR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ko-KR" sz="2400" dirty="0">
                <a:latin typeface="Times New Roman"/>
              </a:rPr>
              <a:t>, and </a:t>
            </a:r>
            <a:r>
              <a:rPr lang="en-US" altLang="ko-KR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ko-KR" sz="2400" dirty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is a solution whenever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k = n</a:t>
            </a:r>
            <a:r>
              <a:rPr lang="en-US" altLang="ko-KR" sz="2400" dirty="0">
                <a:latin typeface="Times New Roman"/>
              </a:rPr>
              <a:t>: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742593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251520" y="692696"/>
            <a:ext cx="8892480" cy="5403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construct_candidates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a[],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k,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c[], </a:t>
            </a:r>
            <a:endParaRPr lang="en-US" altLang="ko-KR" sz="1800" b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en-US" altLang="ko-KR" sz="1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ncandidates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; /* counter */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in_perm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[NMAX]; /* who is in the permutation? 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marL="0" indent="0">
              <a:buNone/>
            </a:pPr>
            <a:endParaRPr lang="en-US" altLang="ko-KR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=1;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&lt;NMAX;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in_perm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] = FALSE;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&lt;k;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in_perm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[ a[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] ] = TRUE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ko-KR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*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ncandidates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None/>
            </a:pPr>
            <a:r>
              <a:rPr lang="nn-NO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nn-NO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(i=1; i&lt;=n; i++)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in_perm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] == FALSE) {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c[*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ncandidates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*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ncandidates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*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ncandidates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+ 1;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ko-KR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b="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7234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Completing the job of generating permutations </a:t>
            </a:r>
            <a:r>
              <a:rPr lang="en-US" altLang="ko-KR" sz="2400" dirty="0" smtClean="0">
                <a:latin typeface="Times New Roman"/>
              </a:rPr>
              <a:t>requires specifying </a:t>
            </a:r>
            <a:r>
              <a:rPr lang="en-US" altLang="ko-KR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process_solution</a:t>
            </a:r>
            <a:r>
              <a:rPr lang="en-US" altLang="ko-K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400" dirty="0">
                <a:latin typeface="Times New Roman"/>
              </a:rPr>
              <a:t>and </a:t>
            </a:r>
            <a:r>
              <a:rPr lang="en-US" altLang="ko-KR" sz="2400" dirty="0" smtClean="0">
                <a:latin typeface="Times New Roman"/>
              </a:rPr>
              <a:t>                  </a:t>
            </a:r>
            <a:r>
              <a:rPr lang="en-US" altLang="ko-KR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is_a_solution</a:t>
            </a:r>
            <a:r>
              <a:rPr lang="en-US" altLang="ko-KR" sz="2400" dirty="0">
                <a:latin typeface="Times New Roman"/>
              </a:rPr>
              <a:t>, </a:t>
            </a:r>
            <a:r>
              <a:rPr lang="en-US" altLang="ko-KR" sz="2400" dirty="0" smtClean="0">
                <a:latin typeface="Times New Roman"/>
              </a:rPr>
              <a:t>as well </a:t>
            </a:r>
            <a:r>
              <a:rPr lang="en-US" altLang="ko-KR" sz="2400" dirty="0">
                <a:latin typeface="Times New Roman"/>
              </a:rPr>
              <a:t>as setting the appropriate arguments to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backtrack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r>
              <a:rPr lang="en-US" altLang="ko-KR" sz="2400" dirty="0">
                <a:latin typeface="Times New Roman"/>
              </a:rPr>
              <a:t>All are essentially the same as for subsets: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237779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251520" y="692696"/>
            <a:ext cx="8892480" cy="5403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process_solution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a[],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k)</a:t>
            </a:r>
          </a:p>
          <a:p>
            <a:pPr marL="0" indent="0">
              <a:buNone/>
            </a:pP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; /* counter */</a:t>
            </a:r>
          </a:p>
          <a:p>
            <a:pPr marL="0" indent="0">
              <a:buNone/>
            </a:pPr>
            <a:r>
              <a:rPr lang="nn-NO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nn-NO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(i=1; i&lt;=k; i++) printf(" %d",a[i]);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("\n");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ko-KR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is_a_solution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a[],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k,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pPr marL="0" indent="0">
              <a:buNone/>
            </a:pP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(k == n);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ko-KR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generate_permutations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pPr marL="0" indent="0">
              <a:buNone/>
            </a:pP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a[NMAX]; /* solution vector */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backtrack(a,0,n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b="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5369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Eight-Queens Problem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4534272" cy="4114800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The eight queens problem is a classical puzzle of </a:t>
            </a:r>
            <a:r>
              <a:rPr lang="en-US" altLang="ko-KR" sz="2400" dirty="0" smtClean="0">
                <a:latin typeface="Times New Roman"/>
              </a:rPr>
              <a:t>positioning eight </a:t>
            </a:r>
            <a:r>
              <a:rPr lang="en-US" altLang="ko-KR" sz="2400" dirty="0">
                <a:latin typeface="Times New Roman"/>
              </a:rPr>
              <a:t>queens on an </a:t>
            </a:r>
            <a:r>
              <a:rPr lang="en-US" altLang="ko-K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8×8 </a:t>
            </a:r>
            <a:r>
              <a:rPr lang="en-US" altLang="ko-KR" sz="2400" dirty="0">
                <a:latin typeface="Times New Roman"/>
              </a:rPr>
              <a:t>chessboard such that no two </a:t>
            </a:r>
            <a:r>
              <a:rPr lang="en-US" altLang="ko-KR" sz="2400" dirty="0" smtClean="0">
                <a:latin typeface="Times New Roman"/>
              </a:rPr>
              <a:t>queens threaten </a:t>
            </a:r>
            <a:r>
              <a:rPr lang="en-US" altLang="ko-KR" sz="2400" dirty="0">
                <a:latin typeface="Times New Roman"/>
              </a:rPr>
              <a:t>each other</a:t>
            </a:r>
            <a:r>
              <a:rPr lang="en-US" altLang="ko-KR" sz="2400" dirty="0" smtClean="0">
                <a:latin typeface="Times New Roman"/>
              </a:rPr>
              <a:t>.</a:t>
            </a:r>
            <a:endParaRPr lang="en-US" altLang="ko-KR" sz="2400" dirty="0">
              <a:latin typeface="Times New Roman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17</a:t>
            </a:fld>
            <a:endParaRPr lang="en-US" altLang="ko-KR" dirty="0"/>
          </a:p>
        </p:txBody>
      </p:sp>
      <p:grpSp>
        <p:nvGrpSpPr>
          <p:cNvPr id="7" name="그룹 6"/>
          <p:cNvGrpSpPr/>
          <p:nvPr/>
        </p:nvGrpSpPr>
        <p:grpSpPr>
          <a:xfrm>
            <a:off x="5493262" y="1772816"/>
            <a:ext cx="3499454" cy="4375557"/>
            <a:chOff x="5493262" y="1772816"/>
            <a:chExt cx="3499454" cy="4375557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3262" y="1772816"/>
              <a:ext cx="3499454" cy="4320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직사각형 5"/>
            <p:cNvSpPr/>
            <p:nvPr/>
          </p:nvSpPr>
          <p:spPr bwMode="auto">
            <a:xfrm>
              <a:off x="5502553" y="5233973"/>
              <a:ext cx="3480726" cy="9144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11906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pic>
        <p:nvPicPr>
          <p:cNvPr id="1026" name="Picture 2" descr="Eight-queens-animation.gif">
            <a:hlinkClick r:id="rId2"/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94926"/>
            <a:ext cx="4176464" cy="417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5476874"/>
            <a:ext cx="6829425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9" y="4221088"/>
            <a:ext cx="791527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10292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9512" y="188640"/>
            <a:ext cx="8782744" cy="6552728"/>
          </a:xfrm>
        </p:spPr>
        <p:txBody>
          <a:bodyPr/>
          <a:lstStyle/>
          <a:p>
            <a:r>
              <a:rPr lang="en-US" altLang="ko-KR" sz="2400" dirty="0" smtClean="0">
                <a:latin typeface="Times New Roman"/>
              </a:rPr>
              <a:t>Implementing </a:t>
            </a:r>
            <a:r>
              <a:rPr lang="en-US" altLang="ko-KR" sz="2400" dirty="0">
                <a:latin typeface="Times New Roman"/>
              </a:rPr>
              <a:t>a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backtrack</a:t>
            </a:r>
            <a:r>
              <a:rPr lang="en-US" altLang="ko-KR" sz="2400" dirty="0">
                <a:latin typeface="Courier"/>
              </a:rPr>
              <a:t> </a:t>
            </a:r>
            <a:r>
              <a:rPr lang="en-US" altLang="ko-KR" sz="2400" dirty="0">
                <a:latin typeface="Times New Roman"/>
              </a:rPr>
              <a:t>search requires us to </a:t>
            </a:r>
            <a:r>
              <a:rPr lang="en-US" altLang="ko-KR" sz="2400" dirty="0" smtClean="0">
                <a:latin typeface="Times New Roman"/>
              </a:rPr>
              <a:t>think carefully </a:t>
            </a:r>
            <a:r>
              <a:rPr lang="en-US" altLang="ko-KR" sz="2400" dirty="0">
                <a:latin typeface="Times New Roman"/>
              </a:rPr>
              <a:t>about the most concise, efficient way to </a:t>
            </a:r>
            <a:r>
              <a:rPr lang="en-US" altLang="ko-KR" sz="2400" dirty="0" smtClean="0">
                <a:latin typeface="Times New Roman"/>
              </a:rPr>
              <a:t>represent our </a:t>
            </a:r>
            <a:r>
              <a:rPr lang="en-US" altLang="ko-KR" sz="2400" dirty="0">
                <a:latin typeface="Times New Roman"/>
              </a:rPr>
              <a:t>solutions as a vector. What is a reasonable </a:t>
            </a:r>
            <a:r>
              <a:rPr lang="en-US" altLang="ko-KR" sz="2400" dirty="0" smtClean="0">
                <a:latin typeface="Times New Roman"/>
              </a:rPr>
              <a:t>representation for </a:t>
            </a:r>
            <a:r>
              <a:rPr lang="en-US" altLang="ko-KR" sz="2400" dirty="0">
                <a:latin typeface="Times New Roman"/>
              </a:rPr>
              <a:t>an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ko-KR" sz="2400" dirty="0">
                <a:latin typeface="Times New Roman"/>
              </a:rPr>
              <a:t>-queens solution, and how big must it be?</a:t>
            </a:r>
          </a:p>
          <a:p>
            <a:r>
              <a:rPr lang="en-US" altLang="ko-KR" sz="2400" dirty="0">
                <a:latin typeface="Times New Roman"/>
              </a:rPr>
              <a:t>To make a backtracking program efficient enough to </a:t>
            </a:r>
            <a:r>
              <a:rPr lang="en-US" altLang="ko-KR" sz="2400" dirty="0" smtClean="0">
                <a:latin typeface="Times New Roman"/>
              </a:rPr>
              <a:t>solve interesting </a:t>
            </a:r>
            <a:r>
              <a:rPr lang="en-US" altLang="ko-KR" sz="2400" dirty="0">
                <a:latin typeface="Times New Roman"/>
              </a:rPr>
              <a:t>problems, we must prune the search space </a:t>
            </a:r>
            <a:r>
              <a:rPr lang="en-US" altLang="ko-KR" sz="2400" dirty="0" smtClean="0">
                <a:latin typeface="Times New Roman"/>
              </a:rPr>
              <a:t>by terminating </a:t>
            </a:r>
            <a:r>
              <a:rPr lang="en-US" altLang="ko-KR" sz="2400" dirty="0">
                <a:latin typeface="Times New Roman"/>
              </a:rPr>
              <a:t>every search path the instant it becomes clear </a:t>
            </a:r>
            <a:r>
              <a:rPr lang="en-US" altLang="ko-KR" sz="2400" dirty="0" smtClean="0">
                <a:latin typeface="Times New Roman"/>
              </a:rPr>
              <a:t>it cannot </a:t>
            </a:r>
            <a:r>
              <a:rPr lang="en-US" altLang="ko-KR" sz="2400" dirty="0">
                <a:latin typeface="Times New Roman"/>
              </a:rPr>
              <a:t>lead to a solution</a:t>
            </a:r>
            <a:r>
              <a:rPr lang="en-US" altLang="ko-KR" sz="2400" dirty="0" smtClean="0">
                <a:latin typeface="Times New Roman"/>
              </a:rPr>
              <a:t>.</a:t>
            </a:r>
          </a:p>
          <a:p>
            <a:r>
              <a:rPr lang="en-US" altLang="ko-KR" sz="2400" dirty="0">
                <a:latin typeface="Times New Roman"/>
              </a:rPr>
              <a:t>Since no two queens can occupy the same column, we know that the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ko-KR" sz="2400" dirty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columns of a complete solution must form a permutation of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ko-KR" sz="2400" dirty="0">
                <a:latin typeface="Times New Roman"/>
              </a:rPr>
              <a:t>. By avoiding repetitive elements, we reduce our search space to just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8! = </a:t>
            </a:r>
            <a:r>
              <a:rPr lang="en-US" altLang="ko-KR" sz="2400" dirty="0">
                <a:latin typeface="Times New Roman"/>
              </a:rPr>
              <a:t>40,320 – clearly short work for any reasonably fast machine.</a:t>
            </a:r>
          </a:p>
          <a:p>
            <a:r>
              <a:rPr lang="en-US" altLang="ko-KR" sz="2400" dirty="0">
                <a:latin typeface="Times New Roman"/>
              </a:rPr>
              <a:t>The critical routine is the candidate constructor. We repeatedly check whether the </a:t>
            </a:r>
            <a:r>
              <a:rPr lang="en-US" altLang="ko-K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altLang="ko-KR" sz="2400" dirty="0" err="1">
                <a:latin typeface="Times New Roman"/>
              </a:rPr>
              <a:t>th</a:t>
            </a:r>
            <a:r>
              <a:rPr lang="en-US" altLang="ko-KR" sz="2400" dirty="0">
                <a:latin typeface="Times New Roman"/>
              </a:rPr>
              <a:t> square on the given row is threatened by any previously positioned queen. If so, we move on, but if not we include it as a possible candidate</a:t>
            </a:r>
            <a:r>
              <a:rPr lang="en-US" altLang="ko-KR" sz="2400" dirty="0" smtClean="0">
                <a:latin typeface="Times New Roman"/>
              </a:rPr>
              <a:t>: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18680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7772400" cy="648072"/>
          </a:xfrm>
        </p:spPr>
        <p:txBody>
          <a:bodyPr/>
          <a:lstStyle/>
          <a:p>
            <a:r>
              <a:rPr lang="en-US" altLang="ko-KR" dirty="0" smtClean="0"/>
              <a:t>Implementation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107504" y="908720"/>
            <a:ext cx="9036496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ts val="200"/>
              </a:spcBef>
              <a:buNone/>
            </a:pPr>
            <a:r>
              <a:rPr lang="en-US" altLang="ko-KR" sz="1800" b="0" kern="800" spc="-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construct_candidates</a:t>
            </a:r>
            <a:r>
              <a:rPr lang="en-US" altLang="ko-KR" sz="1800" b="0" kern="800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b="0" kern="800" spc="-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kern="800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altLang="ko-KR" sz="1800" b="0" kern="800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[], </a:t>
            </a:r>
            <a:r>
              <a:rPr lang="en-US" altLang="ko-KR" sz="1800" b="0" kern="800" spc="-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kern="800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k, </a:t>
            </a:r>
            <a:r>
              <a:rPr lang="en-US" altLang="ko-KR" sz="1800" b="0" kern="800" spc="-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kern="800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en-US" altLang="ko-KR" sz="1800" b="0" kern="800" spc="-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kern="800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0" kern="800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ko-KR" sz="1800" b="0" kern="800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[], </a:t>
            </a:r>
            <a:r>
              <a:rPr lang="en-US" altLang="ko-KR" sz="1800" b="0" kern="800" spc="-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kern="800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0" kern="800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ko-KR" sz="1800" b="0" kern="800" spc="-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ncandidates</a:t>
            </a:r>
            <a:r>
              <a:rPr lang="en-US" altLang="ko-KR" sz="1800" b="0" kern="800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/*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counters */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legal_move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/*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might the move be legal? */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*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ncandidates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nn-NO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nn-NO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(i=1; i&lt;=n; i++) {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legal_move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= TRUE;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(j=1; j&lt;k; j++) {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(abs((k)-j) == abs(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-a[j])) /* diagonal threat */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legal_move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= FALSE;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== a[j]) 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 /*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column threat */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legal_move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= FALSE;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ko-KR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legal_move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== TRUE) {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c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[*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ncandidates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*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ncandidates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*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ncandidates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+ 1;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ko-KR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ko-KR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b="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0620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332656"/>
            <a:ext cx="7772400" cy="1512168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The remaining routines are simple, particularly since we </a:t>
            </a:r>
            <a:r>
              <a:rPr lang="en-US" altLang="ko-KR" sz="2400" dirty="0" smtClean="0">
                <a:latin typeface="Times New Roman"/>
              </a:rPr>
              <a:t>are only </a:t>
            </a:r>
            <a:r>
              <a:rPr lang="en-US" altLang="ko-KR" sz="2400" dirty="0">
                <a:latin typeface="Times New Roman"/>
              </a:rPr>
              <a:t>interested in counting the solutions, not displaying them: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251520" y="1844824"/>
            <a:ext cx="8892480" cy="4251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process_solution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a[],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k)</a:t>
            </a:r>
          </a:p>
          <a:p>
            <a:pPr marL="0" indent="0">
              <a:buNone/>
            </a:pP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; /* counter */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ko-KR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is_a_solution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a[],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k, </a:t>
            </a:r>
            <a:r>
              <a:rPr lang="en-US" altLang="ko-KR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pPr marL="0" indent="0">
              <a:buNone/>
            </a:pP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(k == n);</a:t>
            </a:r>
          </a:p>
          <a:p>
            <a:pPr marL="0" indent="0">
              <a:buNone/>
            </a:pPr>
            <a:r>
              <a:rPr lang="en-US" altLang="ko-KR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b="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9890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72400" cy="731168"/>
          </a:xfrm>
        </p:spPr>
        <p:txBody>
          <a:bodyPr/>
          <a:lstStyle/>
          <a:p>
            <a:r>
              <a:rPr lang="en-US" altLang="ko-KR" dirty="0"/>
              <a:t>Finding the Queens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052736"/>
            <a:ext cx="7772400" cy="5043264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The main program is as follows:</a:t>
            </a:r>
          </a:p>
          <a:p>
            <a:pPr marL="0" indent="0">
              <a:buNone/>
            </a:pP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nqueens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a[NMAX]; /* solution vector */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 0;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backtrack(a,0,n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("n=%d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=%d\n",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n,solution_count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ko-KR" sz="2000" dirty="0">
                <a:latin typeface="Times New Roman"/>
              </a:rPr>
              <a:t>and yields the following answers:</a:t>
            </a:r>
          </a:p>
          <a:p>
            <a:pPr marL="0" indent="0">
              <a:buNone/>
            </a:pP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n=1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=1</a:t>
            </a:r>
          </a:p>
          <a:p>
            <a:pPr marL="0" indent="0">
              <a:buNone/>
            </a:pP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n=2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pPr marL="0" indent="0">
              <a:buNone/>
            </a:pP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n=3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pPr marL="0" indent="0">
              <a:buNone/>
            </a:pP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n=4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=2</a:t>
            </a:r>
          </a:p>
          <a:p>
            <a:pPr marL="0" indent="0">
              <a:buNone/>
            </a:pP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n=5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</a:p>
          <a:p>
            <a:pPr marL="0" indent="0">
              <a:buNone/>
            </a:pP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n=6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=4</a:t>
            </a:r>
          </a:p>
          <a:p>
            <a:pPr marL="0" indent="0">
              <a:buNone/>
            </a:pP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n=7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=40</a:t>
            </a:r>
          </a:p>
          <a:p>
            <a:pPr marL="0" indent="0">
              <a:buNone/>
            </a:pP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n=8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=92</a:t>
            </a:r>
          </a:p>
          <a:p>
            <a:pPr marL="0" indent="0">
              <a:buNone/>
            </a:pP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n=9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=352</a:t>
            </a:r>
          </a:p>
          <a:p>
            <a:pPr marL="0" indent="0">
              <a:buNone/>
            </a:pP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n=10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=724</a:t>
            </a:r>
          </a:p>
          <a:p>
            <a:pPr marL="0" indent="0">
              <a:buNone/>
            </a:pP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n=11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=2680</a:t>
            </a:r>
          </a:p>
          <a:p>
            <a:pPr marL="0" indent="0">
              <a:buNone/>
            </a:pP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n=12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=14200</a:t>
            </a:r>
          </a:p>
          <a:p>
            <a:pPr marL="0" indent="0">
              <a:buNone/>
            </a:pP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n=13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=73712</a:t>
            </a:r>
          </a:p>
          <a:p>
            <a:pPr marL="0" indent="0">
              <a:buNone/>
            </a:pP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n=14 </a:t>
            </a:r>
            <a:r>
              <a:rPr lang="en-US" altLang="ko-KR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solution_count</a:t>
            </a:r>
            <a: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=365596</a:t>
            </a:r>
            <a:endParaRPr lang="ko-KR" altLang="en-US" sz="4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22</a:t>
            </a:fld>
            <a:endParaRPr lang="en-US" altLang="ko-KR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810" y="4248944"/>
            <a:ext cx="76200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124744"/>
            <a:ext cx="1143000" cy="470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55636" y="5858925"/>
            <a:ext cx="18517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 = 4          n = 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63885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0"/>
            <a:ext cx="6984826" cy="6892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55022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031"/>
            <a:ext cx="6597352" cy="683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15193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24744"/>
            <a:ext cx="321945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9505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32656"/>
            <a:ext cx="5305425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26164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62. </a:t>
            </a:r>
            <a:r>
              <a:rPr lang="ko-KR" altLang="en-US" sz="3200" dirty="0" smtClean="0"/>
              <a:t>에덴동산</a:t>
            </a:r>
            <a:r>
              <a:rPr lang="en-US" altLang="ko-KR" sz="3200" dirty="0" smtClean="0"/>
              <a:t>(Garden of Eden)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772816"/>
            <a:ext cx="7990656" cy="4328120"/>
          </a:xfrm>
        </p:spPr>
        <p:txBody>
          <a:bodyPr/>
          <a:lstStyle/>
          <a:p>
            <a:r>
              <a:rPr lang="ko-KR" altLang="en-US" sz="2000" dirty="0" err="1" smtClean="0"/>
              <a:t>셀룰러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오토마타는 공간과 시간이 모두 이산적이고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이산적인 값으로 구성된 유한 집합의 원소만을 </a:t>
            </a:r>
            <a:r>
              <a:rPr lang="ko-KR" altLang="en-US" sz="2000" dirty="0" err="1" smtClean="0"/>
              <a:t>물리량으로</a:t>
            </a:r>
            <a:r>
              <a:rPr lang="ko-KR" altLang="en-US" sz="2000" dirty="0" smtClean="0"/>
              <a:t> 가질 수 있는 </a:t>
            </a:r>
            <a:r>
              <a:rPr lang="ko-KR" altLang="en-US" sz="2000" dirty="0" err="1" smtClean="0"/>
              <a:t>물리계를</a:t>
            </a:r>
            <a:r>
              <a:rPr lang="ko-KR" altLang="en-US" sz="2000" dirty="0" smtClean="0"/>
              <a:t> 수학적으로 이상화시킨 것이다</a:t>
            </a:r>
            <a:r>
              <a:rPr lang="en-US" altLang="ko-KR" sz="2000" dirty="0" smtClean="0"/>
              <a:t>. </a:t>
            </a:r>
            <a:r>
              <a:rPr lang="ko-KR" altLang="en-US" sz="2000" dirty="0" err="1" smtClean="0"/>
              <a:t>셀룰러</a:t>
            </a:r>
            <a:r>
              <a:rPr lang="ko-KR" altLang="en-US" sz="2000" dirty="0" smtClean="0"/>
              <a:t> 오토마타는 이산적인 값의 격자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또는 배열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로 구성된다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오토마타의 상태는 격자 상의 각 위치에서의 변수 값에 의해 완벽하게 기술된다</a:t>
            </a:r>
            <a:r>
              <a:rPr lang="en-US" altLang="ko-KR" sz="2000" dirty="0" smtClean="0"/>
              <a:t>. </a:t>
            </a:r>
            <a:r>
              <a:rPr lang="ko-KR" altLang="en-US" sz="2000" dirty="0" err="1" smtClean="0"/>
              <a:t>셀룰러</a:t>
            </a:r>
            <a:r>
              <a:rPr lang="ko-KR" altLang="en-US" sz="2000" dirty="0" smtClean="0"/>
              <a:t> 오토마타는 시간이 지남에 따라 바뀌게 되는데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각 위치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셀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에서의 값은 이전 시간 단계에서 근처에 있던 셀의 변수 값을 바탕으로 결정된다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각 오토마타마다 그 전개를 정의해주는 일련의 규칙이 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대부분의 </a:t>
            </a:r>
            <a:r>
              <a:rPr lang="ko-KR" altLang="en-US" sz="2000" dirty="0" err="1" smtClean="0"/>
              <a:t>셀룰러</a:t>
            </a:r>
            <a:r>
              <a:rPr lang="ko-KR" altLang="en-US" sz="2000" dirty="0" smtClean="0"/>
              <a:t> 오토마타에는 절대 다다를 수 없는 구성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상태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이 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어떤 상태에 대해 어떤 전개 규칙을 적용해도 그러한 상태는 만들어질 수 없다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이런 상태를 에덴동산이라고 부른다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초기 상태가 아닌 이상 절대 그 상태로 갈 수가 없기 때문이다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예를 들어 모든 셀을 </a:t>
            </a:r>
            <a:r>
              <a:rPr lang="en-US" altLang="ko-KR" sz="2000" dirty="0" smtClean="0"/>
              <a:t>0</a:t>
            </a:r>
            <a:r>
              <a:rPr lang="ko-KR" altLang="en-US" sz="2000" dirty="0" smtClean="0"/>
              <a:t>으로 보내는 아주 간단한 규칙을 생각해보자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이런 오토마타에 대해서는 </a:t>
            </a:r>
            <a:r>
              <a:rPr lang="en-US" altLang="ko-KR" sz="2000" dirty="0" smtClean="0"/>
              <a:t>0</a:t>
            </a:r>
            <a:r>
              <a:rPr lang="ko-KR" altLang="en-US" sz="2000" dirty="0" smtClean="0"/>
              <a:t>이 아닌 셀은 모두 에덴동산 상태라고 할 수 있다</a:t>
            </a:r>
            <a:r>
              <a:rPr lang="en-US" altLang="ko-KR" sz="2000" dirty="0" smtClean="0"/>
              <a:t>.</a:t>
            </a:r>
            <a:endParaRPr lang="en-US" altLang="ko-KR" sz="18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8693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548680"/>
            <a:ext cx="7772400" cy="5547320"/>
          </a:xfrm>
        </p:spPr>
        <p:txBody>
          <a:bodyPr/>
          <a:lstStyle/>
          <a:p>
            <a:r>
              <a:rPr lang="ko-KR" altLang="en-US" sz="2000" dirty="0" smtClean="0"/>
              <a:t>일반적으로 어떤 상태가 주어졌을 때 그 상태의 조상을 찾는 것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아니면 그러한 조상이 없다는 것을 알아내는 것은 매우 어렵고 계산을 많이 필요로 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여기에서는 편의상 문제를 </a:t>
            </a:r>
            <a:r>
              <a:rPr lang="en-US" altLang="ko-KR" sz="2000" dirty="0" smtClean="0"/>
              <a:t>1</a:t>
            </a:r>
            <a:r>
              <a:rPr lang="ko-KR" altLang="en-US" sz="2000" dirty="0" smtClean="0"/>
              <a:t>차원 이진 유한 </a:t>
            </a:r>
            <a:r>
              <a:rPr lang="ko-KR" altLang="en-US" sz="2000" dirty="0" err="1" smtClean="0"/>
              <a:t>셀룰러</a:t>
            </a:r>
            <a:r>
              <a:rPr lang="ko-KR" altLang="en-US" sz="2000" dirty="0" smtClean="0"/>
              <a:t> 오토마타로 제한하기로 하자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즉 셀의 개수가 유한하며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셀은 선형적으로 배열되어 있고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그 상태는 </a:t>
            </a:r>
            <a:r>
              <a:rPr lang="en-US" altLang="ko-KR" sz="2000" dirty="0" smtClean="0"/>
              <a:t>‘0’ </a:t>
            </a:r>
            <a:r>
              <a:rPr lang="ko-KR" altLang="en-US" sz="2000" dirty="0" smtClean="0"/>
              <a:t>또는 </a:t>
            </a:r>
            <a:r>
              <a:rPr lang="en-US" altLang="ko-KR" sz="2000" dirty="0" smtClean="0"/>
              <a:t>‘1’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중 하나다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이 문제를 더 단순하게 만들기 위해 각 셀의 상태는 그 셀과 바로 왼쪽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바로 오른쪽에 있는 셀의 이전 상태에 의해서만 영향을 받는 것으로 하자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그리고 이 셀들은 원형으로 연결되어 있어서 마지막 셀 바로 옆에 </a:t>
            </a:r>
            <a:r>
              <a:rPr lang="ko-KR" altLang="en-US" sz="2000" dirty="0" err="1" smtClean="0"/>
              <a:t>첫번째</a:t>
            </a:r>
            <a:r>
              <a:rPr lang="ko-KR" altLang="en-US" sz="2000" dirty="0" smtClean="0"/>
              <a:t> 셀이 이어진다고 생각하자</a:t>
            </a:r>
            <a:r>
              <a:rPr lang="en-US" altLang="ko-KR" sz="20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735004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548680"/>
            <a:ext cx="7772400" cy="4114800"/>
          </a:xfrm>
        </p:spPr>
        <p:txBody>
          <a:bodyPr/>
          <a:lstStyle/>
          <a:p>
            <a:r>
              <a:rPr lang="ko-KR" altLang="en-US" sz="2000" dirty="0"/>
              <a:t>문제 정의</a:t>
            </a:r>
            <a:endParaRPr lang="en-US" altLang="ko-KR" sz="2000" dirty="0"/>
          </a:p>
          <a:p>
            <a:pPr lvl="1"/>
            <a:r>
              <a:rPr lang="ko-KR" altLang="en-US" sz="1800" dirty="0"/>
              <a:t>원형 이진 </a:t>
            </a:r>
            <a:r>
              <a:rPr lang="ko-KR" altLang="en-US" sz="1800" dirty="0" err="1"/>
              <a:t>셀룰러</a:t>
            </a:r>
            <a:r>
              <a:rPr lang="ko-KR" altLang="en-US" sz="1800" dirty="0"/>
              <a:t> 오토마타가 주어졌을 때</a:t>
            </a:r>
            <a:r>
              <a:rPr lang="en-US" altLang="ko-KR" sz="1800" dirty="0"/>
              <a:t>, </a:t>
            </a:r>
            <a:r>
              <a:rPr lang="ko-KR" altLang="en-US" sz="1800" dirty="0"/>
              <a:t>주어진 상태가 에덴동산인지 아니면 도달할 수 있는 상태인지 판단해야 한다</a:t>
            </a:r>
            <a:r>
              <a:rPr lang="en-US" altLang="ko-KR" sz="1800" dirty="0"/>
              <a:t>. </a:t>
            </a:r>
            <a:r>
              <a:rPr lang="ko-KR" altLang="en-US" sz="1800" dirty="0" err="1"/>
              <a:t>셀룰러</a:t>
            </a:r>
            <a:r>
              <a:rPr lang="ko-KR" altLang="en-US" sz="1800" dirty="0"/>
              <a:t> 오토마타는 전개 규칙을 통해 기술된다</a:t>
            </a:r>
            <a:r>
              <a:rPr lang="en-US" altLang="ko-KR" sz="1800" dirty="0"/>
              <a:t>. </a:t>
            </a:r>
            <a:r>
              <a:rPr lang="ko-KR" altLang="en-US" sz="1800" dirty="0"/>
              <a:t>예를 들어 아래의 표는 </a:t>
            </a:r>
            <a:r>
              <a:rPr lang="en-US" altLang="ko-KR" sz="1800" dirty="0"/>
              <a:t>Cell = XOR(Left, Right)</a:t>
            </a:r>
            <a:r>
              <a:rPr lang="ko-KR" altLang="en-US" sz="1800" dirty="0"/>
              <a:t>라는 오토마타에 대한 전개 규칙을 보여준다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ko-KR" altLang="en-US" sz="1800" dirty="0" smtClean="0"/>
              <a:t>이 문제에서 주어진 제약조건 하에서 만들 수 있는 서로 다른 오토마타의 개수는 총 </a:t>
            </a:r>
            <a:r>
              <a:rPr lang="en-US" altLang="ko-KR" sz="1800" dirty="0" smtClean="0"/>
              <a:t>256</a:t>
            </a:r>
            <a:r>
              <a:rPr lang="ko-KR" altLang="en-US" sz="1800" dirty="0" smtClean="0"/>
              <a:t>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새 상태 벡터를 구하고 그 벡터를 이진수로 표시하면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표에 나와 있는 식으로 각 오토마타에 대한 </a:t>
            </a:r>
            <a:r>
              <a:rPr lang="ko-KR" altLang="en-US" sz="1800" dirty="0" err="1" smtClean="0"/>
              <a:t>식별자를</a:t>
            </a:r>
            <a:r>
              <a:rPr lang="ko-KR" altLang="en-US" sz="1800" dirty="0" smtClean="0"/>
              <a:t> 만들 수 있다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이 예에서는 오토마타의 식별자가 </a:t>
            </a:r>
            <a:r>
              <a:rPr lang="en-US" altLang="ko-KR" sz="1800" dirty="0" smtClean="0"/>
              <a:t>90</a:t>
            </a:r>
            <a:r>
              <a:rPr lang="ko-KR" altLang="en-US" sz="1800" dirty="0" smtClean="0"/>
              <a:t>이며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동치 오토마타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모든 상태가 자신의 상태가 되는 것</a:t>
            </a:r>
            <a:r>
              <a:rPr lang="en-US" altLang="ko-KR" sz="1800" dirty="0" smtClean="0"/>
              <a:t>)</a:t>
            </a:r>
            <a:r>
              <a:rPr lang="ko-KR" altLang="en-US" sz="1800" dirty="0" smtClean="0"/>
              <a:t>의 </a:t>
            </a:r>
            <a:r>
              <a:rPr lang="ko-KR" altLang="en-US" sz="1800" dirty="0" err="1" smtClean="0"/>
              <a:t>식별자는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204</a:t>
            </a:r>
            <a:r>
              <a:rPr lang="ko-KR" altLang="en-US" sz="1800" dirty="0" smtClean="0"/>
              <a:t>다</a:t>
            </a:r>
            <a:r>
              <a:rPr lang="en-US" altLang="ko-KR" sz="1800" dirty="0" smtClean="0"/>
              <a:t>.</a:t>
            </a:r>
            <a:endParaRPr lang="ko-KR" altLang="en-US" sz="18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260889"/>
              </p:ext>
            </p:extLst>
          </p:nvPr>
        </p:nvGraphicFramePr>
        <p:xfrm>
          <a:off x="971600" y="3702976"/>
          <a:ext cx="604867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1512168"/>
                <a:gridCol w="1512168"/>
                <a:gridCol w="1512168"/>
              </a:tblGrid>
              <a:tr h="304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왼쪽</a:t>
                      </a:r>
                      <a:r>
                        <a:rPr lang="en-US" altLang="ko-KR" sz="1600" dirty="0" smtClean="0"/>
                        <a:t>[i-1]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셀</a:t>
                      </a:r>
                      <a:r>
                        <a:rPr lang="en-US" altLang="ko-KR" sz="1600" dirty="0" smtClean="0"/>
                        <a:t>[</a:t>
                      </a:r>
                      <a:r>
                        <a:rPr lang="en-US" altLang="ko-KR" sz="1600" dirty="0" err="1" smtClean="0"/>
                        <a:t>i</a:t>
                      </a:r>
                      <a:r>
                        <a:rPr lang="en-US" altLang="ko-KR" sz="1600" dirty="0" smtClean="0"/>
                        <a:t>]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오른쪽</a:t>
                      </a:r>
                      <a:r>
                        <a:rPr lang="en-US" altLang="ko-KR" sz="1600" dirty="0" smtClean="0"/>
                        <a:t>[i+1]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새 상태</a:t>
                      </a:r>
                      <a:endParaRPr lang="ko-KR" altLang="en-US" sz="1600" dirty="0"/>
                    </a:p>
                  </a:txBody>
                  <a:tcPr/>
                </a:tc>
              </a:tr>
              <a:tr h="304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</a:tr>
              <a:tr h="304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</a:tr>
              <a:tr h="304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</a:tr>
              <a:tr h="304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</a:tr>
              <a:tr h="304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</a:tr>
              <a:tr h="304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</a:tr>
              <a:tr h="304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</a:tr>
              <a:tr h="304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015294" y="4090271"/>
            <a:ext cx="20088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참고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dirty="0" smtClean="0">
                <a:solidFill>
                  <a:srgbClr val="FF0000"/>
                </a:solidFill>
              </a:rPr>
              <a:t> 90</a:t>
            </a:r>
            <a:r>
              <a:rPr lang="en-US" altLang="ko-KR" baseline="-25000" dirty="0" smtClean="0">
                <a:solidFill>
                  <a:srgbClr val="FF0000"/>
                </a:solidFill>
              </a:rPr>
              <a:t>10</a:t>
            </a:r>
            <a:r>
              <a:rPr lang="en-US" altLang="ko-KR" dirty="0" smtClean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= </a:t>
            </a:r>
            <a:r>
              <a:rPr lang="en-US" altLang="ko-KR" dirty="0" smtClean="0">
                <a:solidFill>
                  <a:srgbClr val="FF0000"/>
                </a:solidFill>
              </a:rPr>
              <a:t>01011010</a:t>
            </a:r>
            <a:r>
              <a:rPr lang="en-US" altLang="ko-KR" baseline="-25000" dirty="0" smtClean="0">
                <a:solidFill>
                  <a:srgbClr val="FF0000"/>
                </a:solidFill>
              </a:rPr>
              <a:t>2</a:t>
            </a:r>
            <a:endParaRPr lang="en-US" altLang="ko-KR" baseline="-25000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 smtClean="0">
                <a:solidFill>
                  <a:srgbClr val="FF0000"/>
                </a:solidFill>
              </a:rPr>
              <a:t>204</a:t>
            </a:r>
            <a:r>
              <a:rPr lang="en-US" altLang="ko-KR" baseline="-25000" dirty="0" smtClean="0">
                <a:solidFill>
                  <a:srgbClr val="FF0000"/>
                </a:solidFill>
              </a:rPr>
              <a:t>10</a:t>
            </a:r>
            <a:r>
              <a:rPr lang="en-US" altLang="ko-KR" dirty="0" smtClean="0">
                <a:solidFill>
                  <a:srgbClr val="FF0000"/>
                </a:solidFill>
              </a:rPr>
              <a:t> = 11001100</a:t>
            </a:r>
            <a:r>
              <a:rPr lang="en-US" altLang="ko-KR" baseline="-25000" dirty="0" smtClean="0">
                <a:solidFill>
                  <a:srgbClr val="FF0000"/>
                </a:solidFill>
              </a:rPr>
              <a:t>2</a:t>
            </a:r>
            <a:endParaRPr lang="en-US" altLang="ko-KR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3482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0" y="5085184"/>
            <a:ext cx="1187624" cy="135421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548680"/>
            <a:ext cx="7772400" cy="5547320"/>
          </a:xfrm>
        </p:spPr>
        <p:txBody>
          <a:bodyPr/>
          <a:lstStyle/>
          <a:p>
            <a:r>
              <a:rPr lang="ko-KR" altLang="en-US" sz="2000" dirty="0" smtClean="0"/>
              <a:t>입력</a:t>
            </a:r>
            <a:endParaRPr lang="en-US" altLang="ko-KR" sz="2000" dirty="0" smtClean="0"/>
          </a:p>
          <a:p>
            <a:pPr lvl="1"/>
            <a:r>
              <a:rPr lang="ko-KR" altLang="en-US" sz="1800" dirty="0" smtClean="0"/>
              <a:t>여러 테스트 케이스가 입력될 수 있다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한 줄에 하나씩의 케이스가 입력되며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거기에는 </a:t>
            </a:r>
            <a:r>
              <a:rPr lang="ko-KR" altLang="en-US" sz="1800" dirty="0" err="1" smtClean="0"/>
              <a:t>셀룰러</a:t>
            </a:r>
            <a:r>
              <a:rPr lang="ko-KR" altLang="en-US" sz="1800" dirty="0" smtClean="0"/>
              <a:t> 오토마타의 상태에 대한 내용이 기술되어 있다</a:t>
            </a:r>
            <a:r>
              <a:rPr lang="en-US" altLang="ko-KR" sz="1800" dirty="0" smtClean="0"/>
              <a:t>. </a:t>
            </a:r>
            <a:r>
              <a:rPr lang="ko-KR" altLang="en-US" sz="1800" dirty="0" err="1" smtClean="0"/>
              <a:t>첫번째</a:t>
            </a:r>
            <a:r>
              <a:rPr lang="ko-KR" altLang="en-US" sz="1800" dirty="0" smtClean="0"/>
              <a:t> 정수는 그 케이스에서 다룰 </a:t>
            </a:r>
            <a:r>
              <a:rPr lang="ko-KR" altLang="en-US" sz="1800" dirty="0" err="1" smtClean="0"/>
              <a:t>셀룰러</a:t>
            </a:r>
            <a:r>
              <a:rPr lang="ko-KR" altLang="en-US" sz="1800" dirty="0" smtClean="0"/>
              <a:t> 오토마타의 </a:t>
            </a:r>
            <a:r>
              <a:rPr lang="ko-KR" altLang="en-US" sz="1800" dirty="0" err="1" smtClean="0"/>
              <a:t>식별자다</a:t>
            </a:r>
            <a:r>
              <a:rPr lang="en-US" altLang="ko-KR" sz="1800" dirty="0" smtClean="0"/>
              <a:t>. </a:t>
            </a:r>
            <a:r>
              <a:rPr lang="ko-KR" altLang="en-US" sz="1800" dirty="0" err="1" smtClean="0"/>
              <a:t>두번째</a:t>
            </a:r>
            <a:r>
              <a:rPr lang="ko-KR" altLang="en-US" sz="1800" dirty="0" smtClean="0"/>
              <a:t> 항목은 그 테스트 케이스에 있는 셀의 개수를 나타내는 양의 정수 </a:t>
            </a:r>
            <a:r>
              <a:rPr lang="en-US" altLang="ko-KR" sz="1800" dirty="0" smtClean="0"/>
              <a:t>N(4</a:t>
            </a:r>
            <a:r>
              <a:rPr lang="en-US" altLang="ko-KR" sz="1800" dirty="0"/>
              <a:t> </a:t>
            </a:r>
            <a:r>
              <a:rPr lang="en-US" altLang="ko-KR" sz="1800" dirty="0" smtClean="0"/>
              <a:t>≤ N ≤ 32)</a:t>
            </a:r>
            <a:r>
              <a:rPr lang="ko-KR" altLang="en-US" sz="1800" dirty="0" smtClean="0"/>
              <a:t>이다</a:t>
            </a:r>
            <a:r>
              <a:rPr lang="en-US" altLang="ko-KR" sz="1800" dirty="0" smtClean="0"/>
              <a:t>. </a:t>
            </a:r>
            <a:r>
              <a:rPr lang="ko-KR" altLang="en-US" sz="1800" dirty="0" err="1" smtClean="0"/>
              <a:t>세번째</a:t>
            </a:r>
            <a:r>
              <a:rPr lang="ko-KR" altLang="en-US" sz="1800" dirty="0" smtClean="0"/>
              <a:t> 항목은 문자열로 표현된 상태로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정확하게 </a:t>
            </a:r>
            <a:r>
              <a:rPr lang="en-US" altLang="ko-KR" sz="1800" dirty="0" smtClean="0"/>
              <a:t>N</a:t>
            </a:r>
            <a:r>
              <a:rPr lang="ko-KR" altLang="en-US" sz="1800" dirty="0" smtClean="0"/>
              <a:t>개의 </a:t>
            </a:r>
            <a:r>
              <a:rPr lang="en-US" altLang="ko-KR" sz="1800" dirty="0" smtClean="0"/>
              <a:t>0</a:t>
            </a:r>
            <a:r>
              <a:rPr lang="ko-KR" altLang="en-US" sz="1800" dirty="0" smtClean="0"/>
              <a:t>과 </a:t>
            </a:r>
            <a:r>
              <a:rPr lang="en-US" altLang="ko-KR" sz="1800" dirty="0" smtClean="0"/>
              <a:t>1</a:t>
            </a:r>
            <a:r>
              <a:rPr lang="ko-KR" altLang="en-US" sz="1800" dirty="0" smtClean="0"/>
              <a:t>로 구성된다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프로그램에서는 파일 종료 문자가 나올 때까지 계속 입력을 받아들여야 한다</a:t>
            </a:r>
            <a:r>
              <a:rPr lang="en-US" altLang="ko-KR" sz="1800" dirty="0" smtClean="0"/>
              <a:t>.</a:t>
            </a:r>
          </a:p>
          <a:p>
            <a:r>
              <a:rPr lang="ko-KR" altLang="en-US" sz="2000" dirty="0" smtClean="0"/>
              <a:t>출력</a:t>
            </a:r>
            <a:endParaRPr lang="en-US" altLang="ko-KR" sz="2000" dirty="0" smtClean="0"/>
          </a:p>
          <a:p>
            <a:pPr lvl="1"/>
            <a:r>
              <a:rPr lang="ko-KR" altLang="en-US" sz="1800" dirty="0" smtClean="0"/>
              <a:t>입력 케이스가 에덴동산을 기술하는 것이면 </a:t>
            </a:r>
            <a:r>
              <a:rPr lang="en-US" altLang="ko-KR" sz="1800" dirty="0" smtClean="0"/>
              <a:t>GARDEN OF EDEN</a:t>
            </a:r>
            <a:r>
              <a:rPr lang="ko-KR" altLang="en-US" sz="1800" dirty="0" smtClean="0"/>
              <a:t>이라는 문자열을 출력한다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그렇지 않으면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즉 도달할 수 있는 상태이면</a:t>
            </a:r>
            <a:r>
              <a:rPr lang="en-US" altLang="ko-KR" sz="1800" dirty="0" smtClean="0"/>
              <a:t>, REACHABLE</a:t>
            </a:r>
            <a:r>
              <a:rPr lang="ko-KR" altLang="en-US" sz="1800" dirty="0" smtClean="0"/>
              <a:t>이라는 문자열을 출력해야 한다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ko-KR" altLang="en-US" sz="1800" dirty="0" smtClean="0"/>
              <a:t>각 테스트 케이스에 대한 결과는 한 줄에 하나씩 출력한다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85800" y="4725144"/>
            <a:ext cx="3598168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000" b="0" kern="0" dirty="0" smtClean="0"/>
              <a:t>입력 예</a:t>
            </a:r>
            <a:endParaRPr lang="en-US" altLang="ko-KR" sz="2000" b="0" kern="0" dirty="0" smtClean="0"/>
          </a:p>
          <a:p>
            <a:pPr marL="457200" lvl="1" indent="0">
              <a:buFontTx/>
              <a:buNone/>
            </a:pPr>
            <a:r>
              <a:rPr lang="en-US" altLang="ko-KR" sz="1800" b="0" kern="0" dirty="0" smtClean="0"/>
              <a:t>0 </a:t>
            </a:r>
            <a:r>
              <a:rPr lang="en-US" altLang="ko-KR" sz="1800" b="0" kern="0" dirty="0"/>
              <a:t>4 1111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204 5 10101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255 6 000000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154 16 1000000000000000</a:t>
            </a:r>
            <a:endParaRPr lang="en-US" altLang="ko-KR" sz="1800" b="0" kern="0" dirty="0" smtClean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5078288" y="4725144"/>
            <a:ext cx="3598168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000" b="0" kern="0" dirty="0" smtClean="0"/>
              <a:t>출력 예</a:t>
            </a:r>
            <a:endParaRPr lang="en-US" altLang="ko-KR" sz="2000" b="0" kern="0" dirty="0" smtClean="0"/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GARDEN OF EDEN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REACHABLE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GARDEN OF EDEN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GARDEN OF EDEN</a:t>
            </a:r>
            <a:endParaRPr lang="en-US" altLang="ko-KR" sz="1800" b="0" kern="0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-11870" y="5085184"/>
            <a:ext cx="124906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US" altLang="ko-KR" sz="1800" b="0" dirty="0">
                <a:solidFill>
                  <a:srgbClr val="FF0000"/>
                </a:solidFill>
                <a:latin typeface="+mn-lt"/>
              </a:rPr>
              <a:t>00000000</a:t>
            </a:r>
          </a:p>
          <a:p>
            <a:pPr>
              <a:spcBef>
                <a:spcPts val="432"/>
              </a:spcBef>
            </a:pPr>
            <a:r>
              <a:rPr lang="en-US" altLang="ko-KR" sz="1800" b="0" dirty="0">
                <a:solidFill>
                  <a:srgbClr val="FF0000"/>
                </a:solidFill>
                <a:latin typeface="+mn-lt"/>
              </a:rPr>
              <a:t>11001100</a:t>
            </a:r>
          </a:p>
          <a:p>
            <a:pPr>
              <a:spcBef>
                <a:spcPts val="432"/>
              </a:spcBef>
            </a:pPr>
            <a:r>
              <a:rPr lang="en-US" altLang="ko-KR" sz="1800" b="0" dirty="0">
                <a:solidFill>
                  <a:srgbClr val="FF0000"/>
                </a:solidFill>
                <a:latin typeface="+mn-lt"/>
              </a:rPr>
              <a:t>11111111</a:t>
            </a:r>
          </a:p>
          <a:p>
            <a:pPr>
              <a:spcBef>
                <a:spcPts val="432"/>
              </a:spcBef>
            </a:pPr>
            <a:r>
              <a:rPr lang="en-US" altLang="ko-KR" sz="1800" b="0" dirty="0">
                <a:solidFill>
                  <a:srgbClr val="FF0000"/>
                </a:solidFill>
                <a:latin typeface="+mn-lt"/>
              </a:rPr>
              <a:t>10011010</a:t>
            </a:r>
            <a:endParaRPr lang="ko-KR" altLang="en-US" sz="1800" b="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14286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548680"/>
            <a:ext cx="3598168" cy="2880320"/>
          </a:xfrm>
        </p:spPr>
        <p:txBody>
          <a:bodyPr/>
          <a:lstStyle/>
          <a:p>
            <a:r>
              <a:rPr lang="ko-KR" altLang="en-US" sz="2800" dirty="0" smtClean="0"/>
              <a:t>입력</a:t>
            </a:r>
            <a:r>
              <a:rPr lang="en-US" altLang="ko-KR" sz="2800" dirty="0" smtClean="0"/>
              <a:t>(XOR </a:t>
            </a:r>
            <a:r>
              <a:rPr lang="ko-KR" altLang="en-US" sz="2800" dirty="0" smtClean="0"/>
              <a:t>예제</a:t>
            </a:r>
            <a:r>
              <a:rPr lang="en-US" altLang="ko-KR" sz="2800" dirty="0" smtClean="0"/>
              <a:t>)</a:t>
            </a:r>
          </a:p>
          <a:p>
            <a:pPr marL="457200" lvl="1" indent="0">
              <a:buNone/>
            </a:pPr>
            <a:r>
              <a:rPr lang="en-US" altLang="ko-KR" sz="2400" dirty="0" smtClean="0"/>
              <a:t>90 </a:t>
            </a:r>
            <a:r>
              <a:rPr lang="en-US" altLang="ko-KR" sz="2400" dirty="0"/>
              <a:t>3 </a:t>
            </a:r>
            <a:r>
              <a:rPr lang="en-US" altLang="ko-KR" sz="2400" b="1" dirty="0"/>
              <a:t>101</a:t>
            </a:r>
          </a:p>
          <a:p>
            <a:pPr marL="457200" lvl="1" indent="0">
              <a:buNone/>
            </a:pPr>
            <a:r>
              <a:rPr lang="en-US" altLang="ko-KR" sz="2400" dirty="0"/>
              <a:t>90 3 </a:t>
            </a:r>
            <a:r>
              <a:rPr lang="en-US" altLang="ko-KR" sz="2400" b="1" dirty="0"/>
              <a:t>111</a:t>
            </a:r>
          </a:p>
          <a:p>
            <a:pPr marL="457200" lvl="1" indent="0">
              <a:buNone/>
            </a:pPr>
            <a:r>
              <a:rPr lang="en-US" altLang="ko-KR" sz="2400" dirty="0"/>
              <a:t>90 3 </a:t>
            </a:r>
            <a:r>
              <a:rPr lang="en-US" altLang="ko-KR" sz="2400" b="1" dirty="0" smtClean="0"/>
              <a:t>000</a:t>
            </a:r>
            <a:endParaRPr lang="en-US" altLang="ko-KR" sz="2400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31</a:t>
            </a:fld>
            <a:endParaRPr lang="en-US" altLang="ko-KR" dirty="0"/>
          </a:p>
        </p:txBody>
      </p:sp>
      <p:sp>
        <p:nvSpPr>
          <p:cNvPr id="5" name="TextBox 4"/>
          <p:cNvSpPr txBox="1"/>
          <p:nvPr/>
        </p:nvSpPr>
        <p:spPr>
          <a:xfrm>
            <a:off x="1187624" y="4312841"/>
            <a:ext cx="65594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 ...</a:t>
            </a:r>
          </a:p>
          <a:p>
            <a:r>
              <a:rPr lang="en-US" altLang="ko-KR" sz="2000" dirty="0" smtClean="0"/>
              <a:t>000</a:t>
            </a:r>
          </a:p>
          <a:p>
            <a:r>
              <a:rPr lang="en-US" altLang="ko-KR" sz="2000" dirty="0" smtClean="0"/>
              <a:t>000</a:t>
            </a:r>
          </a:p>
          <a:p>
            <a:r>
              <a:rPr lang="en-US" altLang="ko-KR" sz="2000" dirty="0" smtClean="0"/>
              <a:t>000</a:t>
            </a:r>
            <a:endParaRPr lang="ko-KR" alt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1979712" y="4005064"/>
            <a:ext cx="63671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 ...</a:t>
            </a:r>
          </a:p>
          <a:p>
            <a:r>
              <a:rPr lang="en-US" altLang="ko-KR" sz="2000" dirty="0" smtClean="0"/>
              <a:t>110</a:t>
            </a:r>
          </a:p>
          <a:p>
            <a:r>
              <a:rPr lang="en-US" altLang="ko-KR" sz="2000" dirty="0" smtClean="0"/>
              <a:t>110</a:t>
            </a:r>
          </a:p>
          <a:p>
            <a:r>
              <a:rPr lang="en-US" altLang="ko-KR" sz="2000" dirty="0" smtClean="0"/>
              <a:t>110</a:t>
            </a:r>
          </a:p>
          <a:p>
            <a:r>
              <a:rPr lang="en-US" altLang="ko-KR" sz="2000" dirty="0" smtClean="0"/>
              <a:t>001</a:t>
            </a:r>
            <a:endParaRPr lang="ko-KR" alt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2771800" y="4312836"/>
            <a:ext cx="6367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 ...</a:t>
            </a:r>
          </a:p>
          <a:p>
            <a:r>
              <a:rPr lang="en-US" altLang="ko-KR" sz="2000" dirty="0" smtClean="0"/>
              <a:t>101</a:t>
            </a:r>
            <a:endParaRPr lang="en-US" altLang="ko-KR" sz="2000" dirty="0"/>
          </a:p>
          <a:p>
            <a:r>
              <a:rPr lang="en-US" altLang="ko-KR" sz="2000" dirty="0" smtClean="0">
                <a:solidFill>
                  <a:srgbClr val="FF0000"/>
                </a:solidFill>
              </a:rPr>
              <a:t>101</a:t>
            </a:r>
          </a:p>
          <a:p>
            <a:r>
              <a:rPr lang="en-US" altLang="ko-KR" sz="2000" dirty="0" smtClean="0"/>
              <a:t>010</a:t>
            </a:r>
            <a:endParaRPr lang="ko-KR" alt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3635896" y="4312841"/>
            <a:ext cx="6367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 ...</a:t>
            </a:r>
          </a:p>
          <a:p>
            <a:r>
              <a:rPr lang="en-US" altLang="ko-KR" sz="2000" dirty="0" smtClean="0"/>
              <a:t>011</a:t>
            </a:r>
            <a:endParaRPr lang="en-US" altLang="ko-KR" sz="2000" dirty="0"/>
          </a:p>
          <a:p>
            <a:r>
              <a:rPr lang="en-US" altLang="ko-KR" sz="2000" dirty="0" smtClean="0"/>
              <a:t>011</a:t>
            </a:r>
          </a:p>
          <a:p>
            <a:r>
              <a:rPr lang="en-US" altLang="ko-KR" sz="2000" dirty="0" smtClean="0"/>
              <a:t>011</a:t>
            </a:r>
            <a:endParaRPr lang="ko-KR" altLang="en-US" sz="2000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 bwMode="auto">
          <a:xfrm>
            <a:off x="4576464" y="548680"/>
            <a:ext cx="3595936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800" b="0" kern="0" dirty="0" smtClean="0"/>
              <a:t>출력</a:t>
            </a:r>
            <a:endParaRPr lang="en-US" altLang="ko-KR" sz="2800" b="0" kern="0" dirty="0" smtClean="0"/>
          </a:p>
          <a:p>
            <a:pPr marL="457200" lvl="1" indent="0">
              <a:buFontTx/>
              <a:buNone/>
            </a:pPr>
            <a:r>
              <a:rPr lang="en-US" altLang="ko-KR" sz="2400" b="0" kern="0" dirty="0"/>
              <a:t>REACHABLE</a:t>
            </a:r>
          </a:p>
          <a:p>
            <a:pPr marL="457200" lvl="1" indent="0">
              <a:buFontTx/>
              <a:buNone/>
            </a:pPr>
            <a:r>
              <a:rPr lang="en-US" altLang="ko-KR" sz="2400" b="0" kern="0" dirty="0"/>
              <a:t>GARDEN OF EDEN</a:t>
            </a:r>
          </a:p>
          <a:p>
            <a:pPr marL="457200" lvl="1" indent="0">
              <a:buFontTx/>
              <a:buNone/>
            </a:pPr>
            <a:r>
              <a:rPr lang="en-US" altLang="ko-KR" sz="2400" b="0" kern="0" dirty="0"/>
              <a:t>REACHABLE</a:t>
            </a:r>
            <a:endParaRPr lang="ko-KR" altLang="en-US" sz="2800" b="0" kern="0" dirty="0"/>
          </a:p>
        </p:txBody>
      </p:sp>
      <p:sp>
        <p:nvSpPr>
          <p:cNvPr id="11" name="TextBox 10"/>
          <p:cNvSpPr txBox="1"/>
          <p:nvPr/>
        </p:nvSpPr>
        <p:spPr>
          <a:xfrm>
            <a:off x="4499992" y="4312841"/>
            <a:ext cx="6367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 ...</a:t>
            </a:r>
          </a:p>
          <a:p>
            <a:r>
              <a:rPr lang="en-US" altLang="ko-KR" sz="2000" dirty="0" smtClean="0"/>
              <a:t>110</a:t>
            </a:r>
          </a:p>
          <a:p>
            <a:r>
              <a:rPr lang="en-US" altLang="ko-KR" sz="2000" dirty="0" smtClean="0"/>
              <a:t>110</a:t>
            </a:r>
          </a:p>
          <a:p>
            <a:r>
              <a:rPr lang="en-US" altLang="ko-KR" sz="2000" dirty="0" smtClean="0"/>
              <a:t>100</a:t>
            </a:r>
            <a:endParaRPr lang="ko-KR" alt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5315535" y="4312840"/>
            <a:ext cx="6367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 ...</a:t>
            </a:r>
          </a:p>
          <a:p>
            <a:r>
              <a:rPr lang="en-US" altLang="ko-KR" sz="2000" dirty="0" smtClean="0"/>
              <a:t>101</a:t>
            </a:r>
          </a:p>
          <a:p>
            <a:r>
              <a:rPr lang="en-US" altLang="ko-KR" sz="2000" dirty="0" smtClean="0"/>
              <a:t>101</a:t>
            </a:r>
          </a:p>
          <a:p>
            <a:r>
              <a:rPr lang="en-US" altLang="ko-KR" sz="2000" dirty="0" smtClean="0"/>
              <a:t>101</a:t>
            </a:r>
            <a:endParaRPr lang="ko-KR" alt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6131078" y="4312837"/>
            <a:ext cx="6367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 ...</a:t>
            </a:r>
          </a:p>
          <a:p>
            <a:r>
              <a:rPr lang="en-US" altLang="ko-KR" sz="2000" dirty="0" smtClean="0"/>
              <a:t>110</a:t>
            </a:r>
          </a:p>
          <a:p>
            <a:r>
              <a:rPr lang="en-US" altLang="ko-KR" sz="2000" dirty="0" smtClean="0"/>
              <a:t>110</a:t>
            </a:r>
          </a:p>
          <a:p>
            <a:r>
              <a:rPr lang="en-US" altLang="ko-KR" sz="2000" dirty="0" smtClean="0"/>
              <a:t>110</a:t>
            </a:r>
            <a:endParaRPr lang="ko-KR" alt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6946621" y="4312838"/>
            <a:ext cx="6367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 ...</a:t>
            </a:r>
          </a:p>
          <a:p>
            <a:r>
              <a:rPr lang="en-US" altLang="ko-KR" sz="2000" dirty="0" smtClean="0"/>
              <a:t>000</a:t>
            </a:r>
          </a:p>
          <a:p>
            <a:r>
              <a:rPr lang="en-US" altLang="ko-KR" sz="2000" dirty="0" smtClean="0">
                <a:solidFill>
                  <a:srgbClr val="FF0000"/>
                </a:solidFill>
              </a:rPr>
              <a:t>000</a:t>
            </a:r>
          </a:p>
          <a:p>
            <a:r>
              <a:rPr lang="en-US" altLang="ko-KR" sz="2000" dirty="0" smtClean="0"/>
              <a:t>111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953409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62. </a:t>
            </a:r>
            <a:r>
              <a:rPr lang="ko-KR" altLang="en-US" sz="3200" dirty="0" smtClean="0"/>
              <a:t>힌트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772816"/>
            <a:ext cx="7772400" cy="4114800"/>
          </a:xfrm>
        </p:spPr>
        <p:txBody>
          <a:bodyPr/>
          <a:lstStyle/>
          <a:p>
            <a:r>
              <a:rPr lang="ko-KR" altLang="en-US" sz="1800" dirty="0"/>
              <a:t>먼저 입력으로 들어온 오토마타 </a:t>
            </a:r>
            <a:r>
              <a:rPr lang="ko-KR" altLang="en-US" sz="1800" dirty="0" err="1"/>
              <a:t>식별자를</a:t>
            </a:r>
            <a:r>
              <a:rPr lang="ko-KR" altLang="en-US" sz="1800" dirty="0"/>
              <a:t> 가지고 오토마타 출력 결과를 저장한다</a:t>
            </a:r>
            <a:r>
              <a:rPr lang="en-US" altLang="ko-KR" sz="1800" dirty="0"/>
              <a:t>. </a:t>
            </a:r>
            <a:r>
              <a:rPr lang="ko-KR" altLang="en-US" sz="1800" dirty="0"/>
              <a:t>이 정보를 바탕으로 입력으로 들어온 결과가 나올 수 있도록 이전 상태를 구성해본다</a:t>
            </a:r>
            <a:r>
              <a:rPr lang="en-US" altLang="ko-KR" sz="1800" dirty="0"/>
              <a:t>. </a:t>
            </a:r>
            <a:r>
              <a:rPr lang="ko-KR" altLang="en-US" sz="1800" dirty="0" smtClean="0"/>
              <a:t>만약 </a:t>
            </a:r>
            <a:r>
              <a:rPr lang="ko-KR" altLang="en-US" sz="1800" dirty="0"/>
              <a:t>이러한 상태가 나올 수 있으면 </a:t>
            </a:r>
            <a:r>
              <a:rPr lang="en-US" altLang="ko-KR" sz="1800" dirty="0"/>
              <a:t>REACHABLE</a:t>
            </a:r>
            <a:r>
              <a:rPr lang="ko-KR" altLang="en-US" sz="1800" dirty="0"/>
              <a:t>이고</a:t>
            </a:r>
            <a:r>
              <a:rPr lang="en-US" altLang="ko-KR" sz="1800" dirty="0"/>
              <a:t>, </a:t>
            </a:r>
            <a:r>
              <a:rPr lang="ko-KR" altLang="en-US" sz="1800" dirty="0"/>
              <a:t>나오지 않으면 </a:t>
            </a:r>
            <a:r>
              <a:rPr lang="en-US" altLang="ko-KR" sz="1800" dirty="0"/>
              <a:t>GARDEN OF EDEN</a:t>
            </a:r>
            <a:r>
              <a:rPr lang="ko-KR" altLang="en-US" sz="1800" dirty="0"/>
              <a:t>이 </a:t>
            </a:r>
            <a:r>
              <a:rPr lang="ko-KR" altLang="en-US" sz="1800" dirty="0" smtClean="0"/>
              <a:t>된다</a:t>
            </a:r>
            <a:r>
              <a:rPr lang="en-US" altLang="ko-KR" sz="1800" dirty="0"/>
              <a:t>. </a:t>
            </a:r>
            <a:r>
              <a:rPr lang="ko-KR" altLang="en-US" sz="1800" dirty="0"/>
              <a:t>백트래킹을 하는 방법은 다음과 같다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 smtClean="0"/>
              <a:t>먼저 </a:t>
            </a:r>
            <a:r>
              <a:rPr lang="en-US" altLang="ko-KR" sz="1800" dirty="0"/>
              <a:t>(</a:t>
            </a:r>
            <a:r>
              <a:rPr lang="en-US" altLang="ko-KR" sz="1800" dirty="0" err="1"/>
              <a:t>precell</a:t>
            </a:r>
            <a:r>
              <a:rPr lang="en-US" altLang="ko-KR" sz="1800" dirty="0"/>
              <a:t>[0], </a:t>
            </a:r>
            <a:r>
              <a:rPr lang="en-US" altLang="ko-KR" sz="1800" dirty="0" err="1"/>
              <a:t>precell</a:t>
            </a:r>
            <a:r>
              <a:rPr lang="en-US" altLang="ko-KR" sz="1800" dirty="0"/>
              <a:t>[1], </a:t>
            </a:r>
            <a:r>
              <a:rPr lang="en-US" altLang="ko-KR" sz="1800" dirty="0" err="1"/>
              <a:t>precell</a:t>
            </a:r>
            <a:r>
              <a:rPr lang="en-US" altLang="ko-KR" sz="1800" dirty="0"/>
              <a:t>[2]) =&gt; (cell[1])</a:t>
            </a:r>
            <a:r>
              <a:rPr lang="ko-KR" altLang="en-US" sz="1800" dirty="0"/>
              <a:t>이 되는 </a:t>
            </a:r>
            <a:r>
              <a:rPr lang="en-US" altLang="ko-KR" sz="1800" dirty="0" err="1"/>
              <a:t>precell</a:t>
            </a:r>
            <a:r>
              <a:rPr lang="en-US" altLang="ko-KR" sz="1800" dirty="0"/>
              <a:t> </a:t>
            </a:r>
            <a:r>
              <a:rPr lang="ko-KR" altLang="en-US" sz="1800" dirty="0"/>
              <a:t>값들을 </a:t>
            </a:r>
            <a:r>
              <a:rPr lang="ko-KR" altLang="en-US" sz="1800" dirty="0" smtClean="0"/>
              <a:t>찾아서 </a:t>
            </a:r>
            <a:r>
              <a:rPr lang="ko-KR" altLang="en-US" sz="1800" dirty="0"/>
              <a:t>저장한다</a:t>
            </a:r>
            <a:r>
              <a:rPr lang="en-US" altLang="ko-KR" sz="1800" dirty="0"/>
              <a:t>. </a:t>
            </a:r>
            <a:r>
              <a:rPr lang="ko-KR" altLang="en-US" sz="1800" dirty="0"/>
              <a:t>그 다음 </a:t>
            </a:r>
            <a:r>
              <a:rPr lang="en-US" altLang="ko-KR" sz="1800" dirty="0"/>
              <a:t>(</a:t>
            </a:r>
            <a:r>
              <a:rPr lang="en-US" altLang="ko-KR" sz="1800" dirty="0" err="1"/>
              <a:t>precell</a:t>
            </a:r>
            <a:r>
              <a:rPr lang="en-US" altLang="ko-KR" sz="1800" dirty="0"/>
              <a:t>[1], </a:t>
            </a:r>
            <a:r>
              <a:rPr lang="en-US" altLang="ko-KR" sz="1800" dirty="0" err="1"/>
              <a:t>precell</a:t>
            </a:r>
            <a:r>
              <a:rPr lang="en-US" altLang="ko-KR" sz="1800" dirty="0"/>
              <a:t>[2], </a:t>
            </a:r>
            <a:r>
              <a:rPr lang="en-US" altLang="ko-KR" sz="1800" dirty="0" err="1"/>
              <a:t>precell</a:t>
            </a:r>
            <a:r>
              <a:rPr lang="en-US" altLang="ko-KR" sz="1800" dirty="0"/>
              <a:t>[3]) =&gt; (cell[2])</a:t>
            </a:r>
            <a:r>
              <a:rPr lang="ko-KR" altLang="en-US" sz="1800" dirty="0"/>
              <a:t>가 되는 </a:t>
            </a:r>
            <a:r>
              <a:rPr lang="en-US" altLang="ko-KR" sz="1800" dirty="0" err="1"/>
              <a:t>precell</a:t>
            </a:r>
            <a:r>
              <a:rPr lang="en-US" altLang="ko-KR" sz="1800" dirty="0"/>
              <a:t>[3]</a:t>
            </a:r>
            <a:r>
              <a:rPr lang="ko-KR" altLang="en-US" sz="1800" dirty="0"/>
              <a:t>를 찾아 저장하는 식으로 진행하면 된다</a:t>
            </a:r>
            <a:r>
              <a:rPr lang="en-US" altLang="ko-KR" sz="1800" dirty="0"/>
              <a:t>. </a:t>
            </a:r>
            <a:r>
              <a:rPr lang="en-US" altLang="ko-KR" sz="1800" dirty="0" err="1"/>
              <a:t>precell</a:t>
            </a:r>
            <a:r>
              <a:rPr lang="en-US" altLang="ko-KR" sz="1800" dirty="0"/>
              <a:t>[1], </a:t>
            </a:r>
            <a:r>
              <a:rPr lang="en-US" altLang="ko-KR" sz="1800" dirty="0" err="1"/>
              <a:t>precell</a:t>
            </a:r>
            <a:r>
              <a:rPr lang="en-US" altLang="ko-KR" sz="1800" dirty="0"/>
              <a:t>[2]</a:t>
            </a:r>
            <a:r>
              <a:rPr lang="ko-KR" altLang="en-US" sz="1800" dirty="0"/>
              <a:t>는 이미 </a:t>
            </a:r>
            <a:r>
              <a:rPr lang="ko-KR" altLang="en-US" sz="1800" dirty="0" smtClean="0"/>
              <a:t>정해진 </a:t>
            </a:r>
            <a:r>
              <a:rPr lang="ko-KR" altLang="en-US" sz="1800" dirty="0"/>
              <a:t>값이므로 처음 </a:t>
            </a:r>
            <a:r>
              <a:rPr lang="en-US" altLang="ko-KR" sz="1800" dirty="0" err="1"/>
              <a:t>precell</a:t>
            </a:r>
            <a:r>
              <a:rPr lang="ko-KR" altLang="en-US" sz="1800" dirty="0"/>
              <a:t>을 정할 때를 제외하면 </a:t>
            </a:r>
            <a:r>
              <a:rPr lang="en-US" altLang="ko-KR" sz="1800" dirty="0"/>
              <a:t>2</a:t>
            </a:r>
            <a:r>
              <a:rPr lang="ko-KR" altLang="en-US" sz="1800" dirty="0"/>
              <a:t>가지 경우만 살펴보면 됨을 알 수 있다</a:t>
            </a:r>
            <a:r>
              <a:rPr lang="en-US" altLang="ko-KR" sz="1800" dirty="0"/>
              <a:t>. </a:t>
            </a:r>
            <a:r>
              <a:rPr lang="ko-KR" altLang="en-US" sz="1800" dirty="0"/>
              <a:t>최종적으로 </a:t>
            </a:r>
            <a:r>
              <a:rPr lang="en-US" altLang="ko-KR" sz="1800" dirty="0" err="1"/>
              <a:t>precell</a:t>
            </a:r>
            <a:r>
              <a:rPr lang="en-US" altLang="ko-KR" sz="1800" dirty="0"/>
              <a:t>[n]</a:t>
            </a:r>
            <a:r>
              <a:rPr lang="ko-KR" altLang="en-US" sz="1800" dirty="0"/>
              <a:t>까지 다 채웠을 경우 현재의 </a:t>
            </a:r>
            <a:r>
              <a:rPr lang="en-US" altLang="ko-KR" sz="1800" dirty="0" err="1"/>
              <a:t>precell</a:t>
            </a:r>
            <a:r>
              <a:rPr lang="ko-KR" altLang="en-US" sz="1800" dirty="0"/>
              <a:t>들로 </a:t>
            </a:r>
            <a:r>
              <a:rPr lang="en-US" altLang="ko-KR" sz="1800" dirty="0"/>
              <a:t>cell[1]</a:t>
            </a:r>
            <a:r>
              <a:rPr lang="ko-KR" altLang="en-US" sz="1800" dirty="0"/>
              <a:t>과 </a:t>
            </a:r>
            <a:r>
              <a:rPr lang="en-US" altLang="ko-KR" sz="1800" dirty="0"/>
              <a:t>cell[n]</a:t>
            </a:r>
            <a:r>
              <a:rPr lang="ko-KR" altLang="en-US" sz="1800" dirty="0"/>
              <a:t>이 되는지 확인한 후 잘 맞으면 </a:t>
            </a:r>
            <a:r>
              <a:rPr lang="en-US" altLang="ko-KR" sz="1800" dirty="0"/>
              <a:t>REACHABLE</a:t>
            </a:r>
            <a:r>
              <a:rPr lang="ko-KR" altLang="en-US" sz="1800" dirty="0"/>
              <a:t>이 되고 아닐 경우 다시 되돌아가서 </a:t>
            </a:r>
            <a:r>
              <a:rPr lang="ko-KR" altLang="en-US" sz="1800" dirty="0" smtClean="0"/>
              <a:t>다른 </a:t>
            </a:r>
            <a:r>
              <a:rPr lang="ko-KR" altLang="en-US" sz="1800" dirty="0"/>
              <a:t>경우에 대해서 확인하게 된다</a:t>
            </a:r>
            <a:r>
              <a:rPr lang="en-US" altLang="ko-KR" sz="1800" dirty="0" smtClean="0"/>
              <a:t>.</a:t>
            </a:r>
            <a:endParaRPr lang="en-US" altLang="ko-KR" sz="1800" dirty="0"/>
          </a:p>
          <a:p>
            <a:r>
              <a:rPr lang="ko-KR" altLang="en-US" sz="1800" dirty="0"/>
              <a:t>백트래킹이지만</a:t>
            </a:r>
            <a:r>
              <a:rPr lang="en-US" altLang="ko-KR" sz="1800" dirty="0"/>
              <a:t>, </a:t>
            </a:r>
            <a:r>
              <a:rPr lang="ko-KR" altLang="en-US" sz="1800" dirty="0"/>
              <a:t>각 단계에서 앞의 두 </a:t>
            </a:r>
            <a:r>
              <a:rPr lang="en-US" altLang="ko-KR" sz="1800" dirty="0" err="1"/>
              <a:t>precell</a:t>
            </a:r>
            <a:r>
              <a:rPr lang="ko-KR" altLang="en-US" sz="1800" dirty="0"/>
              <a:t>이 </a:t>
            </a:r>
            <a:r>
              <a:rPr lang="ko-KR" altLang="en-US" sz="1800" dirty="0" smtClean="0"/>
              <a:t>정해져 있고</a:t>
            </a:r>
            <a:r>
              <a:rPr lang="en-US" altLang="ko-KR" sz="1800" dirty="0"/>
              <a:t>, </a:t>
            </a:r>
            <a:r>
              <a:rPr lang="ko-KR" altLang="en-US" sz="1800" dirty="0"/>
              <a:t>남은 </a:t>
            </a:r>
            <a:r>
              <a:rPr lang="en-US" altLang="ko-KR" sz="1800" dirty="0" err="1"/>
              <a:t>precell</a:t>
            </a:r>
            <a:r>
              <a:rPr lang="ko-KR" altLang="en-US" sz="1800" dirty="0"/>
              <a:t>을 정해서 원하는 </a:t>
            </a:r>
            <a:r>
              <a:rPr lang="en-US" altLang="ko-KR" sz="1800" dirty="0"/>
              <a:t>cell</a:t>
            </a:r>
            <a:r>
              <a:rPr lang="ko-KR" altLang="en-US" sz="1800" dirty="0"/>
              <a:t>값을 얻는 방법을 찾고</a:t>
            </a:r>
            <a:r>
              <a:rPr lang="en-US" altLang="ko-KR" sz="1800" dirty="0"/>
              <a:t>, </a:t>
            </a:r>
            <a:r>
              <a:rPr lang="ko-KR" altLang="en-US" sz="1800" dirty="0"/>
              <a:t>없을 경우 더 이상 진행하지 않기 때문에 </a:t>
            </a:r>
            <a:r>
              <a:rPr lang="ko-KR" altLang="en-US" sz="1800" dirty="0" smtClean="0"/>
              <a:t>제한시간 </a:t>
            </a:r>
            <a:r>
              <a:rPr lang="ko-KR" altLang="en-US" sz="1800" dirty="0"/>
              <a:t>안에 결과가 나올 수 있다</a:t>
            </a:r>
            <a:r>
              <a:rPr lang="en-US" altLang="ko-KR" sz="1800" dirty="0" smtClean="0"/>
              <a:t>.</a:t>
            </a:r>
            <a:endParaRPr lang="en-US" altLang="ko-KR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057489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467544" y="188640"/>
            <a:ext cx="8568952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prob. 62: Garden of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Eden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include &lt;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define MAXN 32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n, identifier, possible;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static char automata[8],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precell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[MAXN], cell[MAXN + 1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back(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(a == n - 1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(automata[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precell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[a-1]*4 +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precell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[a]*2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precell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[0]] == cell[a] &amp;&amp;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automata[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precell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[a]*4 +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precell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[0]*2 + </a:t>
            </a:r>
            <a:endParaRPr lang="en-US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precell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[1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]] == cell[0])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possible = 1;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8359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467544" y="188640"/>
            <a:ext cx="8568952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precell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[a-1]*4 +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precell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[a]*2; </a:t>
            </a:r>
            <a:endParaRPr lang="en-US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precell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[a-1]*4 +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precell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[a]*2 + 1;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(automata[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== cell[a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precell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[a+1] 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% 2;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back(a + 1);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(possible) break;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main(void)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while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("%d %d %s", &amp;identifier, &amp;n, cell) != EOF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cell[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-= '0';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8;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automata[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identifier%2;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identifier /= 2;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3498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467544" y="188640"/>
            <a:ext cx="8568952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possible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0;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8;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(automata[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== cell[1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precell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[0] =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/4)%2;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precell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[1] =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/2)%2;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precell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[2] = i%2;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back(2);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if (possible) break;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if (possible)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("REACHABLE\n");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("GARDEN OF EDEN\n");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417373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59. </a:t>
            </a:r>
            <a:r>
              <a:rPr lang="ko-KR" altLang="en-US" sz="3200" dirty="0" smtClean="0"/>
              <a:t>줄</a:t>
            </a:r>
            <a:r>
              <a:rPr lang="en-US" altLang="ko-KR" sz="3200" dirty="0" smtClean="0"/>
              <a:t>(Queue)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328120"/>
          </a:xfrm>
        </p:spPr>
        <p:txBody>
          <a:bodyPr/>
          <a:lstStyle/>
          <a:p>
            <a:r>
              <a:rPr lang="en-US" altLang="ko-KR" sz="2000" dirty="0" smtClean="0"/>
              <a:t>N</a:t>
            </a:r>
            <a:r>
              <a:rPr lang="ko-KR" altLang="en-US" sz="2000" dirty="0" smtClean="0"/>
              <a:t>명의 서로 키가 다른 사람들이 줄지어 서 있는 경우를 생각하자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어떤 사람이 왼쪽을 볼 수 있으려면 왼쪽에 있는 모든 사람보다 키가 커야 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그렇지 않으면 시야가 가리기 때문이다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마찬가지로 오른쪽을 볼 수 있으려면 오른쪽에 있는 모든 사람보다 키가 커야 한다</a:t>
            </a:r>
            <a:r>
              <a:rPr lang="en-US" altLang="ko-KR" sz="2000" dirty="0" smtClean="0"/>
              <a:t>.</a:t>
            </a:r>
          </a:p>
          <a:p>
            <a:r>
              <a:rPr lang="ko-KR" altLang="en-US" sz="2000" dirty="0" smtClean="0"/>
              <a:t>줄 왼쪽에 있는 사람이 부메랑을 써서 줄 오른쪽에 있는 사람을 죽이는 살인 사건이 있어났다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그 줄에서 시야가 가리지 않고 왼쪽을 볼 수 있었던 사람의 수는 정확하게 </a:t>
            </a:r>
            <a:r>
              <a:rPr lang="en-US" altLang="ko-KR" sz="2000" dirty="0" smtClean="0"/>
              <a:t>P</a:t>
            </a:r>
            <a:r>
              <a:rPr lang="ko-KR" altLang="en-US" sz="2000" dirty="0" smtClean="0"/>
              <a:t>명이었고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시야가 가리지 않고 오른쪽을 볼 수 있었던 사람의 수는 정확하게 </a:t>
            </a:r>
            <a:r>
              <a:rPr lang="en-US" altLang="ko-KR" sz="2000" dirty="0" smtClean="0"/>
              <a:t>R</a:t>
            </a:r>
            <a:r>
              <a:rPr lang="ko-KR" altLang="en-US" sz="2000" dirty="0" smtClean="0"/>
              <a:t>명이었다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이 사람들은 이 사건의 증인이 될 수 있다</a:t>
            </a:r>
            <a:r>
              <a:rPr lang="en-US" altLang="ko-KR" sz="2000" dirty="0" smtClean="0"/>
              <a:t>.</a:t>
            </a:r>
          </a:p>
          <a:p>
            <a:r>
              <a:rPr lang="ko-KR" altLang="en-US" sz="2000" dirty="0" smtClean="0"/>
              <a:t>피고측으로부터 </a:t>
            </a:r>
            <a:r>
              <a:rPr lang="en-US" altLang="ko-KR" sz="2000" dirty="0" smtClean="0"/>
              <a:t>“P</a:t>
            </a:r>
            <a:r>
              <a:rPr lang="ko-KR" altLang="en-US" sz="2000" dirty="0" smtClean="0"/>
              <a:t>와 </a:t>
            </a:r>
            <a:r>
              <a:rPr lang="en-US" altLang="ko-KR" sz="2000" dirty="0" smtClean="0"/>
              <a:t>R</a:t>
            </a:r>
            <a:r>
              <a:rPr lang="ko-KR" altLang="en-US" sz="2000" dirty="0" smtClean="0"/>
              <a:t>이 주어졌을 때 사람들이 줄지어 서 있는 가능한 경우의 수를 판단하는 프로그램을 만들어달라</a:t>
            </a:r>
            <a:r>
              <a:rPr lang="en-US" altLang="ko-KR" sz="2000" dirty="0" smtClean="0"/>
              <a:t>”</a:t>
            </a:r>
            <a:r>
              <a:rPr lang="ko-KR" altLang="en-US" sz="2000" dirty="0" smtClean="0"/>
              <a:t>는 요청이 들어왔다</a:t>
            </a:r>
            <a:r>
              <a:rPr lang="en-US" altLang="ko-KR" sz="20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415312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332656"/>
            <a:ext cx="7772400" cy="4114800"/>
          </a:xfrm>
        </p:spPr>
        <p:txBody>
          <a:bodyPr/>
          <a:lstStyle/>
          <a:p>
            <a:r>
              <a:rPr lang="ko-KR" altLang="en-US" sz="2400" dirty="0" smtClean="0"/>
              <a:t>입력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입력은 </a:t>
            </a:r>
            <a:r>
              <a:rPr lang="en-US" altLang="ko-KR" sz="2000" dirty="0" smtClean="0"/>
              <a:t>T</a:t>
            </a:r>
            <a:r>
              <a:rPr lang="ko-KR" altLang="en-US" sz="2000" dirty="0" smtClean="0"/>
              <a:t>개의 테스트 케이스로 구성되며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입력 파일의 </a:t>
            </a:r>
            <a:r>
              <a:rPr lang="ko-KR" altLang="en-US" sz="2000" dirty="0" err="1" smtClean="0"/>
              <a:t>첫번째</a:t>
            </a:r>
            <a:r>
              <a:rPr lang="ko-KR" altLang="en-US" sz="2000" dirty="0" smtClean="0"/>
              <a:t> 줄에는 </a:t>
            </a:r>
            <a:r>
              <a:rPr lang="en-US" altLang="ko-KR" sz="2000" dirty="0" smtClean="0"/>
              <a:t>T(1</a:t>
            </a:r>
            <a:r>
              <a:rPr lang="en-US" altLang="ko-KR" sz="2000" dirty="0" smtClean="0">
                <a:latin typeface="굴림"/>
                <a:ea typeface="굴림"/>
              </a:rPr>
              <a:t>≤T≤10,000)</a:t>
            </a:r>
            <a:r>
              <a:rPr lang="ko-KR" altLang="en-US" sz="2000" dirty="0" smtClean="0">
                <a:latin typeface="굴림"/>
                <a:ea typeface="굴림"/>
              </a:rPr>
              <a:t>가 주어진다</a:t>
            </a:r>
            <a:r>
              <a:rPr lang="en-US" altLang="ko-KR" sz="2000" dirty="0" smtClean="0">
                <a:latin typeface="굴림"/>
                <a:ea typeface="굴림"/>
              </a:rPr>
              <a:t>. </a:t>
            </a:r>
            <a:r>
              <a:rPr lang="ko-KR" altLang="en-US" sz="2000" dirty="0" smtClean="0">
                <a:latin typeface="굴림"/>
                <a:ea typeface="굴림"/>
              </a:rPr>
              <a:t>각 테스트 케이스마다 세 개의 정수가 입력되며</a:t>
            </a:r>
            <a:r>
              <a:rPr lang="en-US" altLang="ko-KR" sz="2000" dirty="0" smtClean="0">
                <a:latin typeface="굴림"/>
                <a:ea typeface="굴림"/>
              </a:rPr>
              <a:t>, </a:t>
            </a:r>
            <a:r>
              <a:rPr lang="ko-KR" altLang="en-US" sz="2000" dirty="0" smtClean="0">
                <a:latin typeface="굴림"/>
                <a:ea typeface="굴림"/>
              </a:rPr>
              <a:t>한 테스트 케이스마다 한 줄씩이 입력된다</a:t>
            </a:r>
            <a:r>
              <a:rPr lang="en-US" altLang="ko-KR" sz="2000" dirty="0" smtClean="0">
                <a:latin typeface="굴림"/>
                <a:ea typeface="굴림"/>
              </a:rPr>
              <a:t>. </a:t>
            </a:r>
            <a:r>
              <a:rPr lang="ko-KR" altLang="en-US" sz="2000" dirty="0" err="1" smtClean="0">
                <a:latin typeface="굴림"/>
                <a:ea typeface="굴림"/>
              </a:rPr>
              <a:t>첫번째</a:t>
            </a:r>
            <a:r>
              <a:rPr lang="ko-KR" altLang="en-US" sz="2000" dirty="0" smtClean="0">
                <a:latin typeface="굴림"/>
                <a:ea typeface="굴림"/>
              </a:rPr>
              <a:t> 정수인 </a:t>
            </a:r>
            <a:r>
              <a:rPr lang="en-US" altLang="ko-KR" sz="2000" dirty="0" smtClean="0">
                <a:latin typeface="굴림"/>
                <a:ea typeface="굴림"/>
              </a:rPr>
              <a:t>N</a:t>
            </a:r>
            <a:r>
              <a:rPr lang="ko-KR" altLang="en-US" sz="2000" dirty="0" smtClean="0">
                <a:latin typeface="굴림"/>
                <a:ea typeface="굴림"/>
              </a:rPr>
              <a:t>은 그 줄에 있는 사람 수</a:t>
            </a:r>
            <a:r>
              <a:rPr lang="en-US" altLang="ko-KR" sz="2000" dirty="0" smtClean="0">
                <a:latin typeface="굴림"/>
                <a:ea typeface="굴림"/>
              </a:rPr>
              <a:t> </a:t>
            </a:r>
            <a:r>
              <a:rPr lang="en-US" altLang="ko-KR" sz="2000" dirty="0" smtClean="0"/>
              <a:t>(</a:t>
            </a:r>
            <a:r>
              <a:rPr lang="en-US" altLang="ko-KR" sz="2000" dirty="0"/>
              <a:t>1</a:t>
            </a:r>
            <a:r>
              <a:rPr lang="en-US" altLang="ko-KR" sz="2000" dirty="0" smtClean="0"/>
              <a:t>≤N≤10,000)</a:t>
            </a:r>
            <a:r>
              <a:rPr lang="ko-KR" altLang="en-US" sz="2000" dirty="0" smtClean="0"/>
              <a:t>를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나타낸다</a:t>
            </a:r>
            <a:r>
              <a:rPr lang="en-US" altLang="ko-KR" sz="2000" dirty="0" smtClean="0"/>
              <a:t>. </a:t>
            </a:r>
            <a:r>
              <a:rPr lang="ko-KR" altLang="en-US" sz="2000" dirty="0" err="1" smtClean="0"/>
              <a:t>두번째</a:t>
            </a:r>
            <a:r>
              <a:rPr lang="ko-KR" altLang="en-US" sz="2000" dirty="0" smtClean="0"/>
              <a:t> 정수는 왼쪽을 방해 받지 않고 볼 수 있었던 사람 수인 </a:t>
            </a:r>
            <a:r>
              <a:rPr lang="en-US" altLang="ko-KR" sz="2000" dirty="0" smtClean="0"/>
              <a:t>P</a:t>
            </a:r>
            <a:r>
              <a:rPr lang="ko-KR" altLang="en-US" sz="2000" dirty="0" smtClean="0"/>
              <a:t>를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세번째</a:t>
            </a:r>
            <a:r>
              <a:rPr lang="ko-KR" altLang="en-US" sz="2000" dirty="0" smtClean="0"/>
              <a:t> 정수는 오른쪽을 방해 받지 않고 볼 수 있었던 사람 수인 </a:t>
            </a:r>
            <a:r>
              <a:rPr lang="en-US" altLang="ko-KR" sz="2000" dirty="0" smtClean="0"/>
              <a:t>R</a:t>
            </a:r>
            <a:r>
              <a:rPr lang="ko-KR" altLang="en-US" sz="2000" dirty="0" smtClean="0"/>
              <a:t>을 나타낸다</a:t>
            </a:r>
            <a:r>
              <a:rPr lang="en-US" altLang="ko-KR" sz="2000" dirty="0" smtClean="0"/>
              <a:t>.</a:t>
            </a:r>
          </a:p>
          <a:p>
            <a:r>
              <a:rPr lang="ko-KR" altLang="en-US" sz="2400" dirty="0" smtClean="0"/>
              <a:t>출력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각 테스트 케이스에 대해 </a:t>
            </a:r>
            <a:r>
              <a:rPr lang="en-US" altLang="ko-KR" sz="2000" dirty="0" smtClean="0"/>
              <a:t>P</a:t>
            </a:r>
            <a:r>
              <a:rPr lang="ko-KR" altLang="en-US" sz="2000" dirty="0" smtClean="0"/>
              <a:t>명이 왼쪽을 볼 수 있고 </a:t>
            </a:r>
            <a:r>
              <a:rPr lang="en-US" altLang="ko-KR" sz="2000" dirty="0" smtClean="0"/>
              <a:t>R</a:t>
            </a:r>
            <a:r>
              <a:rPr lang="ko-KR" altLang="en-US" sz="2000" dirty="0" smtClean="0"/>
              <a:t>명이 오른쪽을 볼 수 있도록 </a:t>
            </a:r>
            <a:r>
              <a:rPr lang="en-US" altLang="ko-KR" sz="2000" dirty="0" smtClean="0"/>
              <a:t>N</a:t>
            </a:r>
            <a:r>
              <a:rPr lang="ko-KR" altLang="en-US" sz="2000" dirty="0" smtClean="0"/>
              <a:t>명을 한 줄로 세우는 경우의 수를 출력한다</a:t>
            </a:r>
            <a:r>
              <a:rPr lang="en-US" altLang="ko-KR" sz="2000" dirty="0" smtClean="0"/>
              <a:t>.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85800" y="4725144"/>
            <a:ext cx="3598168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kern="0" dirty="0" smtClean="0"/>
              <a:t>입력 예</a:t>
            </a:r>
            <a:endParaRPr lang="en-US" altLang="ko-KR" sz="2400" b="0" kern="0" dirty="0" smtClean="0"/>
          </a:p>
          <a:p>
            <a:pPr marL="457200" lvl="1" indent="0">
              <a:buFontTx/>
              <a:buNone/>
            </a:pPr>
            <a:r>
              <a:rPr lang="en-US" altLang="ko-KR" sz="2000" b="0" kern="0" dirty="0" smtClean="0"/>
              <a:t>3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/>
              <a:t>10 4 4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/>
              <a:t>11 3 1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/>
              <a:t>3 1 2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5078288" y="4725144"/>
            <a:ext cx="3598168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kern="0" dirty="0" smtClean="0"/>
              <a:t>출력 예</a:t>
            </a:r>
            <a:endParaRPr lang="en-US" altLang="ko-KR" sz="2400" b="0" kern="0" dirty="0" smtClean="0"/>
          </a:p>
          <a:p>
            <a:pPr marL="457200" lvl="1" indent="0">
              <a:buFontTx/>
              <a:buNone/>
            </a:pPr>
            <a:r>
              <a:rPr lang="en-US" altLang="ko-KR" sz="2000" b="0" kern="0" dirty="0" smtClean="0"/>
              <a:t>90720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/>
              <a:t>1026576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1</a:t>
            </a:r>
            <a:endParaRPr lang="en-US" altLang="ko-KR" sz="2000" b="0" kern="0" dirty="0" smtClean="0"/>
          </a:p>
        </p:txBody>
      </p:sp>
    </p:spTree>
    <p:extLst>
      <p:ext uri="{BB962C8B-B14F-4D97-AF65-F5344CB8AC3E}">
        <p14:creationId xmlns:p14="http://schemas.microsoft.com/office/powerpoint/2010/main" val="16736037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3310136" cy="5619328"/>
          </a:xfrm>
        </p:spPr>
        <p:txBody>
          <a:bodyPr/>
          <a:lstStyle/>
          <a:p>
            <a:r>
              <a:rPr lang="en-US" altLang="ko-KR" dirty="0" smtClean="0"/>
              <a:t>3 1 2 </a:t>
            </a:r>
            <a:r>
              <a:rPr lang="en-US" altLang="ko-KR" dirty="0"/>
              <a:t>→ </a:t>
            </a:r>
            <a:r>
              <a:rPr lang="en-US" altLang="ko-KR" dirty="0" smtClean="0"/>
              <a:t>1</a:t>
            </a:r>
          </a:p>
          <a:p>
            <a:pPr lvl="1"/>
            <a:r>
              <a:rPr lang="en-US" altLang="ko-KR" dirty="0" smtClean="0">
                <a:solidFill>
                  <a:srgbClr val="FF0000"/>
                </a:solidFill>
              </a:rPr>
              <a:t>3</a:t>
            </a:r>
            <a:r>
              <a:rPr lang="en-US" altLang="ko-KR" dirty="0" smtClean="0"/>
              <a:t> 1 2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4 </a:t>
            </a:r>
            <a:r>
              <a:rPr lang="en-US" altLang="ko-KR" dirty="0" smtClean="0"/>
              <a:t>1 2 </a:t>
            </a:r>
            <a:r>
              <a:rPr lang="en-US" altLang="ko-KR" dirty="0"/>
              <a:t>→ </a:t>
            </a:r>
            <a:r>
              <a:rPr lang="en-US" altLang="ko-KR" dirty="0" smtClean="0"/>
              <a:t>2</a:t>
            </a:r>
            <a:endParaRPr lang="en-US" altLang="ko-KR" dirty="0"/>
          </a:p>
          <a:p>
            <a:pPr lvl="1"/>
            <a:r>
              <a:rPr lang="en-US" altLang="ko-KR" dirty="0" smtClean="0">
                <a:solidFill>
                  <a:srgbClr val="FF0000"/>
                </a:solidFill>
              </a:rPr>
              <a:t>4</a:t>
            </a:r>
            <a:r>
              <a:rPr lang="en-US" altLang="ko-KR" dirty="0" smtClean="0"/>
              <a:t> 1 2 3</a:t>
            </a:r>
          </a:p>
          <a:p>
            <a:pPr lvl="1"/>
            <a:r>
              <a:rPr lang="en-US" altLang="ko-KR" dirty="0" smtClean="0">
                <a:solidFill>
                  <a:srgbClr val="FF0000"/>
                </a:solidFill>
              </a:rPr>
              <a:t>4</a:t>
            </a:r>
            <a:r>
              <a:rPr lang="en-US" altLang="ko-KR" dirty="0" smtClean="0"/>
              <a:t> 2 1 3</a:t>
            </a:r>
          </a:p>
          <a:p>
            <a:pPr lvl="1"/>
            <a:endParaRPr lang="en-US" altLang="ko-KR" dirty="0" smtClean="0"/>
          </a:p>
          <a:p>
            <a:r>
              <a:rPr lang="en-US" altLang="ko-KR" dirty="0" smtClean="0"/>
              <a:t>4 2 3 → 3</a:t>
            </a:r>
          </a:p>
          <a:p>
            <a:pPr lvl="1"/>
            <a:r>
              <a:rPr lang="en-US" altLang="ko-KR" dirty="0" smtClean="0"/>
              <a:t>1 </a:t>
            </a:r>
            <a:r>
              <a:rPr lang="en-US" altLang="ko-KR" dirty="0" smtClean="0">
                <a:solidFill>
                  <a:srgbClr val="FF0000"/>
                </a:solidFill>
              </a:rPr>
              <a:t>4</a:t>
            </a:r>
            <a:r>
              <a:rPr lang="en-US" altLang="ko-KR" dirty="0" smtClean="0"/>
              <a:t> 3 2</a:t>
            </a:r>
          </a:p>
          <a:p>
            <a:pPr lvl="1"/>
            <a:r>
              <a:rPr lang="en-US" altLang="ko-KR" dirty="0" smtClean="0"/>
              <a:t>3 </a:t>
            </a:r>
            <a:r>
              <a:rPr lang="en-US" altLang="ko-KR" dirty="0" smtClean="0">
                <a:solidFill>
                  <a:srgbClr val="FF0000"/>
                </a:solidFill>
              </a:rPr>
              <a:t>4</a:t>
            </a:r>
            <a:r>
              <a:rPr lang="en-US" altLang="ko-KR" dirty="0" smtClean="0"/>
              <a:t> 2 1</a:t>
            </a:r>
          </a:p>
          <a:p>
            <a:pPr lvl="1"/>
            <a:r>
              <a:rPr lang="en-US" altLang="ko-KR" dirty="0" smtClean="0"/>
              <a:t>2 </a:t>
            </a:r>
            <a:r>
              <a:rPr lang="en-US" altLang="ko-KR" dirty="0" smtClean="0">
                <a:solidFill>
                  <a:srgbClr val="FF0000"/>
                </a:solidFill>
              </a:rPr>
              <a:t>4</a:t>
            </a:r>
            <a:r>
              <a:rPr lang="en-US" altLang="ko-KR" dirty="0" smtClean="0"/>
              <a:t> 3 1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4862264" y="473968"/>
            <a:ext cx="3310136" cy="561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b="0" kern="0" dirty="0" smtClean="0"/>
              <a:t>4 2 2 → 6</a:t>
            </a:r>
          </a:p>
          <a:p>
            <a:pPr lvl="1"/>
            <a:r>
              <a:rPr lang="en-US" altLang="ko-KR" b="0" kern="0" dirty="0" smtClean="0"/>
              <a:t>1 </a:t>
            </a:r>
            <a:r>
              <a:rPr lang="en-US" altLang="ko-KR" b="0" kern="0" dirty="0" smtClean="0">
                <a:solidFill>
                  <a:srgbClr val="FF0000"/>
                </a:solidFill>
              </a:rPr>
              <a:t>4</a:t>
            </a:r>
            <a:r>
              <a:rPr lang="en-US" altLang="ko-KR" b="0" kern="0" dirty="0" smtClean="0"/>
              <a:t> 2 3</a:t>
            </a:r>
          </a:p>
          <a:p>
            <a:pPr lvl="1"/>
            <a:r>
              <a:rPr lang="en-US" altLang="ko-KR" b="0" kern="0" dirty="0" smtClean="0"/>
              <a:t>2 </a:t>
            </a:r>
            <a:r>
              <a:rPr lang="en-US" altLang="ko-KR" b="0" kern="0" dirty="0" smtClean="0">
                <a:solidFill>
                  <a:srgbClr val="FF0000"/>
                </a:solidFill>
              </a:rPr>
              <a:t>4</a:t>
            </a:r>
            <a:r>
              <a:rPr lang="en-US" altLang="ko-KR" b="0" kern="0" dirty="0" smtClean="0"/>
              <a:t> 1 3</a:t>
            </a:r>
          </a:p>
          <a:p>
            <a:pPr lvl="1"/>
            <a:r>
              <a:rPr lang="en-US" altLang="ko-KR" b="0" kern="0" dirty="0" smtClean="0"/>
              <a:t>3 </a:t>
            </a:r>
            <a:r>
              <a:rPr lang="en-US" altLang="ko-KR" b="0" kern="0" dirty="0" smtClean="0">
                <a:solidFill>
                  <a:srgbClr val="FF0000"/>
                </a:solidFill>
              </a:rPr>
              <a:t>4</a:t>
            </a:r>
            <a:r>
              <a:rPr lang="en-US" altLang="ko-KR" b="0" kern="0" dirty="0" smtClean="0"/>
              <a:t> 1 2</a:t>
            </a:r>
          </a:p>
          <a:p>
            <a:pPr lvl="1"/>
            <a:r>
              <a:rPr lang="en-US" altLang="ko-KR" b="0" kern="0" dirty="0" smtClean="0"/>
              <a:t>2 1 </a:t>
            </a:r>
            <a:r>
              <a:rPr lang="en-US" altLang="ko-KR" b="0" kern="0" dirty="0" smtClean="0">
                <a:solidFill>
                  <a:srgbClr val="FF0000"/>
                </a:solidFill>
              </a:rPr>
              <a:t>4</a:t>
            </a:r>
            <a:r>
              <a:rPr lang="en-US" altLang="ko-KR" b="0" kern="0" dirty="0" smtClean="0"/>
              <a:t> 3</a:t>
            </a:r>
          </a:p>
          <a:p>
            <a:pPr lvl="1"/>
            <a:r>
              <a:rPr lang="en-US" altLang="ko-KR" b="0" kern="0" dirty="0" smtClean="0"/>
              <a:t>3 1 </a:t>
            </a:r>
            <a:r>
              <a:rPr lang="en-US" altLang="ko-KR" b="0" kern="0" dirty="0" smtClean="0">
                <a:solidFill>
                  <a:srgbClr val="FF0000"/>
                </a:solidFill>
              </a:rPr>
              <a:t>4</a:t>
            </a:r>
            <a:r>
              <a:rPr lang="en-US" altLang="ko-KR" b="0" kern="0" dirty="0" smtClean="0"/>
              <a:t> 2</a:t>
            </a:r>
          </a:p>
          <a:p>
            <a:pPr lvl="1"/>
            <a:r>
              <a:rPr lang="en-US" altLang="ko-KR" b="0" kern="0" dirty="0" smtClean="0"/>
              <a:t>3 2 </a:t>
            </a:r>
            <a:r>
              <a:rPr lang="en-US" altLang="ko-KR" b="0" kern="0" dirty="0" smtClean="0">
                <a:solidFill>
                  <a:srgbClr val="FF0000"/>
                </a:solidFill>
              </a:rPr>
              <a:t>4</a:t>
            </a:r>
            <a:r>
              <a:rPr lang="en-US" altLang="ko-KR" b="0" kern="0" dirty="0" smtClean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898328358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59. </a:t>
            </a:r>
            <a:r>
              <a:rPr lang="ko-KR" altLang="en-US" sz="3200" dirty="0" smtClean="0"/>
              <a:t>힌트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직접 백트래킹으로 보이는 사람들만 세운 후 나머지 사람들을 더 큰 사람들 사이사이에 넣는 </a:t>
            </a:r>
            <a:r>
              <a:rPr lang="ko-KR" altLang="en-US" sz="2000" dirty="0" smtClean="0"/>
              <a:t>방법으로 </a:t>
            </a:r>
            <a:r>
              <a:rPr lang="ko-KR" altLang="en-US" sz="2000" dirty="0"/>
              <a:t>해를 구할 수도 있으나</a:t>
            </a:r>
            <a:r>
              <a:rPr lang="en-US" altLang="ko-KR" sz="2000" dirty="0"/>
              <a:t>, </a:t>
            </a:r>
            <a:r>
              <a:rPr lang="ko-KR" altLang="en-US" sz="2000" dirty="0"/>
              <a:t>이렇게 하면 제한시간 안에 결과를 구하기가 쉽지 않다</a:t>
            </a:r>
            <a:r>
              <a:rPr lang="en-US" altLang="ko-KR" sz="2000" dirty="0"/>
              <a:t>. </a:t>
            </a:r>
            <a:r>
              <a:rPr lang="ko-KR" altLang="en-US" sz="2000" dirty="0" smtClean="0"/>
              <a:t>백트래킹이 </a:t>
            </a:r>
            <a:r>
              <a:rPr lang="ko-KR" altLang="en-US" sz="2000" dirty="0"/>
              <a:t>아닌 분할 정복으로 이 문제를 해결할 수 있기 때문에 이 방법을 소개한다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 smtClean="0"/>
              <a:t>이 </a:t>
            </a:r>
            <a:r>
              <a:rPr lang="ko-KR" altLang="en-US" sz="2000" dirty="0"/>
              <a:t>문제에서 가장 중요한 점은 키가 제일 큰 사람의 왼쪽에 </a:t>
            </a:r>
            <a:r>
              <a:rPr lang="ko-KR" altLang="en-US" sz="2000" dirty="0" smtClean="0"/>
              <a:t>최소한 </a:t>
            </a:r>
            <a:r>
              <a:rPr lang="en-US" altLang="ko-KR" sz="2000" dirty="0" smtClean="0"/>
              <a:t>p-1</a:t>
            </a:r>
            <a:r>
              <a:rPr lang="ko-KR" altLang="en-US" sz="2000" dirty="0"/>
              <a:t>명이 있어야 하고</a:t>
            </a:r>
            <a:r>
              <a:rPr lang="en-US" altLang="ko-KR" sz="2000" dirty="0"/>
              <a:t>, </a:t>
            </a:r>
            <a:r>
              <a:rPr lang="ko-KR" altLang="en-US" sz="2000" dirty="0"/>
              <a:t>그 </a:t>
            </a:r>
            <a:r>
              <a:rPr lang="ko-KR" altLang="en-US" sz="2000" dirty="0" smtClean="0"/>
              <a:t>오른쪽으로는 최소한 </a:t>
            </a:r>
            <a:r>
              <a:rPr lang="en-US" altLang="ko-KR" sz="2000" dirty="0" smtClean="0"/>
              <a:t>r-1</a:t>
            </a:r>
            <a:r>
              <a:rPr lang="ko-KR" altLang="en-US" sz="2000" dirty="0"/>
              <a:t>명이 있어야 한다는 것이다</a:t>
            </a:r>
            <a:r>
              <a:rPr lang="en-US" altLang="ko-KR" sz="2000" dirty="0"/>
              <a:t>(</a:t>
            </a:r>
            <a:r>
              <a:rPr lang="ko-KR" altLang="en-US" sz="2000" dirty="0"/>
              <a:t>키가 제일 큰 사람의 반대쪽은 보이지 않는다</a:t>
            </a:r>
            <a:r>
              <a:rPr lang="en-US" altLang="ko-KR" sz="2000" dirty="0"/>
              <a:t>). </a:t>
            </a:r>
            <a:r>
              <a:rPr lang="ko-KR" altLang="en-US" sz="2000" dirty="0"/>
              <a:t>이렇게 해서 </a:t>
            </a:r>
            <a:r>
              <a:rPr lang="en-US" altLang="ko-KR" sz="2000" dirty="0" smtClean="0"/>
              <a:t>p-1</a:t>
            </a:r>
            <a:r>
              <a:rPr lang="ko-KR" altLang="en-US" sz="2000" dirty="0"/>
              <a:t>부터 </a:t>
            </a:r>
            <a:r>
              <a:rPr lang="en-US" altLang="ko-KR" sz="2000" dirty="0"/>
              <a:t>n-r</a:t>
            </a:r>
            <a:r>
              <a:rPr lang="ko-KR" altLang="en-US" sz="2000" dirty="0"/>
              <a:t>까지 가장 키가 큰 사람이 있다고 가정하고 왼쪽과 오른쪽으로 나누어서 경우의 수를 </a:t>
            </a:r>
            <a:r>
              <a:rPr lang="ko-KR" altLang="en-US" sz="2000" dirty="0" smtClean="0"/>
              <a:t>각각 </a:t>
            </a:r>
            <a:r>
              <a:rPr lang="ko-KR" altLang="en-US" sz="2000" dirty="0"/>
              <a:t>구할 수가 있고</a:t>
            </a:r>
            <a:r>
              <a:rPr lang="en-US" altLang="ko-KR" sz="2000" dirty="0"/>
              <a:t>, </a:t>
            </a:r>
            <a:r>
              <a:rPr lang="ko-KR" altLang="en-US" sz="2000" dirty="0"/>
              <a:t>이 경우에서 </a:t>
            </a:r>
            <a:r>
              <a:rPr lang="ko-KR" altLang="en-US" sz="2000" dirty="0" err="1"/>
              <a:t>순열수와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조합수를</a:t>
            </a:r>
            <a:r>
              <a:rPr lang="ko-KR" altLang="en-US" sz="2000" dirty="0"/>
              <a:t> 적절하게 곱해주면서 최종 해를 구할 수 </a:t>
            </a:r>
            <a:r>
              <a:rPr lang="ko-KR" altLang="en-US" sz="2000" dirty="0" smtClean="0"/>
              <a:t>있다</a:t>
            </a:r>
            <a:r>
              <a:rPr lang="en-US" altLang="ko-KR" sz="2000" dirty="0" smtClean="0"/>
              <a:t>. </a:t>
            </a:r>
            <a:r>
              <a:rPr lang="ko-KR" altLang="en-US" sz="2000" dirty="0"/>
              <a:t>자세한 내용은 직접 소스를 보면 알 수 있을 것이다</a:t>
            </a:r>
            <a:r>
              <a:rPr lang="en-US" altLang="ko-KR" sz="200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319745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76672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prob. 59: Queue</a:t>
            </a:r>
          </a:p>
          <a:p>
            <a:pPr marL="0" indent="0">
              <a:buNone/>
            </a:pPr>
            <a:endParaRPr lang="sv-SE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ko-KR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조합수를</a:t>
            </a: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구하는 함수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r)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long t=1;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r + 1;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&lt;= n;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 *=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&lt;= n - r;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 /=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t;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507295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76672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ko-KR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순열수를</a:t>
            </a: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구하는 함수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long perm(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long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t = 1;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&lt;= n;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 *=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t;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long visit(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y)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n: </a:t>
            </a: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나눠진 부분에 있는 사람 수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k: </a:t>
            </a: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이 부분에서 보여야 하는 사람 수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s: </a:t>
            </a: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왼쪽인지 오른쪽인지 구분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x, y: </a:t>
            </a: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나눠진 부분의 왼쪽 끝과 오른쪽 끝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long t=0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9545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42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04664"/>
            <a:ext cx="8352928" cy="6453336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ko-KR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이 부분에서 보여야 하는 사람 수가 없으면</a:t>
            </a:r>
          </a:p>
          <a:p>
            <a:pPr marL="0" indent="0">
              <a:buNone/>
            </a:pP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if (k == 0)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(n == 0) // </a:t>
            </a: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남는 사람 수가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이면 만족</a:t>
            </a:r>
          </a:p>
          <a:p>
            <a:pPr marL="0" indent="0">
              <a:buNone/>
            </a:pP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return 1;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0;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(s == 0) // </a:t>
            </a: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왼쪽 부분</a:t>
            </a:r>
          </a:p>
          <a:p>
            <a:pPr marL="0" indent="0">
              <a:buNone/>
            </a:pP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x + k - 1;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y;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 += visit(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 x, k - 1, 0, x,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* </a:t>
            </a:r>
            <a:endParaRPr lang="en-US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combi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(n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- 1,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 x) * perm(y -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- 1);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else // </a:t>
            </a: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오른쪽 부분</a:t>
            </a:r>
          </a:p>
          <a:p>
            <a:pPr marL="0" indent="0">
              <a:buNone/>
            </a:pP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x;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y - k + 1;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 += visit(n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 x) - 1, k - 1, 1,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+ 1, y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*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combi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(n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- 1,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 x) * perm(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 x);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t;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67412" y="1484784"/>
            <a:ext cx="4785284" cy="122495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lvl="0" eaLnBrk="0" hangingPunct="0">
              <a:spcBef>
                <a:spcPct val="20000"/>
              </a:spcBef>
            </a:pPr>
            <a:r>
              <a:rPr lang="en-US" altLang="ko-KR" b="0" kern="0" dirty="0">
                <a:solidFill>
                  <a:srgbClr val="000000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// n: </a:t>
            </a:r>
            <a:r>
              <a:rPr lang="ko-KR" altLang="en-US" b="0" kern="0" dirty="0">
                <a:solidFill>
                  <a:srgbClr val="000000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나눠진 부분에 있는 사람 수</a:t>
            </a:r>
          </a:p>
          <a:p>
            <a:pPr lvl="0" eaLnBrk="0" hangingPunct="0">
              <a:spcBef>
                <a:spcPct val="20000"/>
              </a:spcBef>
            </a:pPr>
            <a:r>
              <a:rPr lang="en-US" altLang="ko-KR" b="0" kern="0" dirty="0">
                <a:solidFill>
                  <a:srgbClr val="000000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// k: </a:t>
            </a:r>
            <a:r>
              <a:rPr lang="ko-KR" altLang="en-US" b="0" kern="0" dirty="0">
                <a:solidFill>
                  <a:srgbClr val="000000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이 부분에서 보여야 하는 사람 수</a:t>
            </a:r>
          </a:p>
          <a:p>
            <a:pPr lvl="0" eaLnBrk="0" hangingPunct="0">
              <a:spcBef>
                <a:spcPct val="20000"/>
              </a:spcBef>
            </a:pPr>
            <a:r>
              <a:rPr lang="en-US" altLang="ko-KR" b="0" kern="0" dirty="0">
                <a:solidFill>
                  <a:srgbClr val="000000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// s: </a:t>
            </a:r>
            <a:r>
              <a:rPr lang="ko-KR" altLang="en-US" b="0" kern="0" dirty="0">
                <a:solidFill>
                  <a:srgbClr val="000000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왼쪽인지 오른쪽인지 구분</a:t>
            </a:r>
          </a:p>
          <a:p>
            <a:pPr lvl="0" eaLnBrk="0" hangingPunct="0">
              <a:spcBef>
                <a:spcPct val="20000"/>
              </a:spcBef>
            </a:pPr>
            <a:r>
              <a:rPr lang="en-US" altLang="ko-KR" b="0" kern="0" dirty="0">
                <a:solidFill>
                  <a:srgbClr val="000000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// x, y: </a:t>
            </a:r>
            <a:r>
              <a:rPr lang="ko-KR" altLang="en-US" b="0" kern="0" dirty="0">
                <a:solidFill>
                  <a:srgbClr val="000000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나눠진 부분의 왼쪽 끝과 오른쪽 </a:t>
            </a:r>
            <a:r>
              <a:rPr lang="ko-KR" altLang="en-US" b="0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끝</a:t>
            </a:r>
            <a:endParaRPr lang="ko-KR" altLang="en-US" b="0" kern="0" dirty="0">
              <a:solidFill>
                <a:srgbClr val="000000"/>
              </a:solidFill>
              <a:latin typeface="Courier New" panose="02070309020205020404" pitchFamily="49" charset="0"/>
              <a:ea typeface="굴림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132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04664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main(void)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n, p, r,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long t;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 = 0;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("%d %d %d", &amp;n, &amp;p, &amp;r);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p - 1;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&lt;=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 -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 += visit(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p - 1, </a:t>
            </a:r>
            <a:r>
              <a:rPr lang="en-US" altLang="ko-KR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0,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visit(n -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- 1, r - 1, </a:t>
            </a:r>
            <a:r>
              <a:rPr lang="en-US" altLang="ko-KR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+ 1, n) * </a:t>
            </a:r>
            <a:endParaRPr lang="en-US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combi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(n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- 1,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 - 1 </a:t>
            </a:r>
            <a:r>
              <a:rPr lang="ko-KR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부터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– r </a:t>
            </a:r>
            <a:r>
              <a:rPr lang="ko-KR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까지 </a:t>
            </a: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돌면서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ko-KR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명과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ko-KR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명이</a:t>
            </a:r>
            <a:endParaRPr lang="en-US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ko-KR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보이는 조건을 </a:t>
            </a: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만족하는 </a:t>
            </a:r>
            <a:r>
              <a:rPr lang="ko-KR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경우의 수에</a:t>
            </a:r>
            <a:endParaRPr lang="en-US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ko-KR" alt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(n-1)C(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를 곱한다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("%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\n", t);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87299" y="3697287"/>
            <a:ext cx="23855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ko-KR" sz="1400" b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ko-KR" altLang="en-US" sz="1400" b="0" dirty="0">
                <a:latin typeface="Courier New" panose="02070309020205020404" pitchFamily="49" charset="0"/>
                <a:cs typeface="Courier New" panose="02070309020205020404" pitchFamily="49" charset="0"/>
              </a:rPr>
              <a:t>은 </a:t>
            </a:r>
            <a:r>
              <a:rPr lang="ko-KR" altLang="en-US" sz="14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왼쪽</a:t>
            </a:r>
            <a:r>
              <a:rPr lang="en-US" altLang="ko-KR" sz="14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b="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ko-KR" altLang="en-US" sz="1400" b="0" dirty="0">
                <a:latin typeface="Courier New" panose="02070309020205020404" pitchFamily="49" charset="0"/>
                <a:cs typeface="Courier New" panose="02070309020205020404" pitchFamily="49" charset="0"/>
              </a:rPr>
              <a:t>은 </a:t>
            </a:r>
            <a:r>
              <a:rPr lang="ko-KR" altLang="en-US" sz="14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오른쪽</a:t>
            </a:r>
            <a:endParaRPr lang="en-US" altLang="ko-KR" sz="14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39952" y="116632"/>
            <a:ext cx="512191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ko-KR" b="0" dirty="0">
                <a:latin typeface="Courier New" panose="02070309020205020404" pitchFamily="49" charset="0"/>
                <a:cs typeface="Courier New" panose="02070309020205020404" pitchFamily="49" charset="0"/>
              </a:rPr>
              <a:t>when i = p - 1:</a:t>
            </a:r>
          </a:p>
          <a:p>
            <a:r>
              <a:rPr lang="pt-BR" altLang="ko-KR" b="0" dirty="0">
                <a:latin typeface="Courier New" panose="02070309020205020404" pitchFamily="49" charset="0"/>
                <a:cs typeface="Courier New" panose="02070309020205020404" pitchFamily="49" charset="0"/>
              </a:rPr>
              <a:t>t += visit(p - 1, p - 1, </a:t>
            </a:r>
            <a:r>
              <a:rPr lang="pt-BR" altLang="ko-KR" b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pt-BR" altLang="ko-KR" b="0" dirty="0">
                <a:latin typeface="Courier New" panose="02070309020205020404" pitchFamily="49" charset="0"/>
                <a:cs typeface="Courier New" panose="02070309020205020404" pitchFamily="49" charset="0"/>
              </a:rPr>
              <a:t>, 0, p - 1) * </a:t>
            </a:r>
            <a:endParaRPr lang="pt-BR" altLang="ko-KR" b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altLang="ko-KR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ko-KR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visit(n </a:t>
            </a:r>
            <a:r>
              <a:rPr lang="pt-BR" altLang="ko-KR" b="0" dirty="0">
                <a:latin typeface="Courier New" panose="02070309020205020404" pitchFamily="49" charset="0"/>
                <a:cs typeface="Courier New" panose="02070309020205020404" pitchFamily="49" charset="0"/>
              </a:rPr>
              <a:t>- p, r - 1, </a:t>
            </a:r>
            <a:r>
              <a:rPr lang="pt-BR" altLang="ko-KR" b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pt-BR" altLang="ko-KR" b="0" dirty="0">
                <a:latin typeface="Courier New" panose="02070309020205020404" pitchFamily="49" charset="0"/>
                <a:cs typeface="Courier New" panose="02070309020205020404" pitchFamily="49" charset="0"/>
              </a:rPr>
              <a:t>, p, n</a:t>
            </a:r>
            <a:r>
              <a:rPr lang="pt-BR" altLang="ko-KR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pt-BR" altLang="ko-KR" b="0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endParaRPr lang="pt-BR" altLang="ko-KR" b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altLang="ko-KR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ko-KR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combi(n </a:t>
            </a:r>
            <a:r>
              <a:rPr lang="pt-BR" altLang="ko-KR" b="0" dirty="0">
                <a:latin typeface="Courier New" panose="02070309020205020404" pitchFamily="49" charset="0"/>
                <a:cs typeface="Courier New" panose="02070309020205020404" pitchFamily="49" charset="0"/>
              </a:rPr>
              <a:t>- 1, p - 1);</a:t>
            </a:r>
            <a:endParaRPr lang="ko-KR" altLang="en-US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4857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61. </a:t>
            </a:r>
            <a:r>
              <a:rPr lang="ko-KR" altLang="en-US" sz="3200" dirty="0" smtClean="0"/>
              <a:t>줄다리기</a:t>
            </a:r>
            <a:r>
              <a:rPr lang="en-US" altLang="ko-KR" sz="3200" dirty="0" smtClean="0"/>
              <a:t>(Tug of War)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772816"/>
            <a:ext cx="7990656" cy="4328120"/>
          </a:xfrm>
        </p:spPr>
        <p:txBody>
          <a:bodyPr/>
          <a:lstStyle/>
          <a:p>
            <a:r>
              <a:rPr lang="ko-KR" altLang="en-US" sz="2000" dirty="0" smtClean="0"/>
              <a:t>줄다리기는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두 편에 있는 사람들이 서로 반대 방향으로 밧줄을 잡아당기는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힘을 겨루는 시합이다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자기편 쪽으로 밧줄을 끌어오는 데 성공한 편이 경기에 이기게 된다</a:t>
            </a:r>
            <a:r>
              <a:rPr lang="en-US" altLang="ko-KR" sz="2000" dirty="0" smtClean="0"/>
              <a:t>.</a:t>
            </a:r>
          </a:p>
          <a:p>
            <a:r>
              <a:rPr lang="ko-KR" altLang="en-US" sz="2000" dirty="0" smtClean="0"/>
              <a:t>사무실 야유회에서 줄다리기를 하기로 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야유회에 참가한 사람들을 두 편으로 공평하게 나눈다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모든 사람들이 둘 중 한 편에 참여해야 하며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두 편의 사람 수는 한 명이 넘게 차이가 나면 안 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그리고 양 편에 속한 사람들 체중의 총합 차를 최소한으로 줄여야 한다</a:t>
            </a:r>
            <a:r>
              <a:rPr lang="en-US" altLang="ko-KR" sz="2000" dirty="0" smtClean="0"/>
              <a:t>.</a:t>
            </a:r>
          </a:p>
          <a:p>
            <a:r>
              <a:rPr lang="ko-KR" altLang="en-US" sz="2000" dirty="0" smtClean="0"/>
              <a:t>입력</a:t>
            </a:r>
            <a:endParaRPr lang="en-US" altLang="ko-KR" sz="2000" dirty="0" smtClean="0"/>
          </a:p>
          <a:p>
            <a:pPr lvl="1"/>
            <a:r>
              <a:rPr lang="ko-KR" altLang="en-US" sz="1800" dirty="0" err="1" smtClean="0"/>
              <a:t>첫번째</a:t>
            </a:r>
            <a:r>
              <a:rPr lang="ko-KR" altLang="en-US" sz="1800" dirty="0" smtClean="0"/>
              <a:t> 줄에는 테스트 케이스의 수가 입력되고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그 다음 줄은 </a:t>
            </a:r>
            <a:r>
              <a:rPr lang="ko-KR" altLang="en-US" sz="1800" dirty="0" err="1" smtClean="0"/>
              <a:t>빈줄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각 케이스의 </a:t>
            </a:r>
            <a:r>
              <a:rPr lang="ko-KR" altLang="en-US" sz="1800" dirty="0" err="1" smtClean="0"/>
              <a:t>첫번째</a:t>
            </a:r>
            <a:r>
              <a:rPr lang="ko-KR" altLang="en-US" sz="1800" dirty="0" smtClean="0"/>
              <a:t> 줄에는 야유회에 참가한 사람의 수인 </a:t>
            </a:r>
            <a:r>
              <a:rPr lang="en-US" altLang="ko-KR" sz="1800" dirty="0" smtClean="0"/>
              <a:t>n</a:t>
            </a:r>
            <a:r>
              <a:rPr lang="ko-KR" altLang="en-US" sz="1800" dirty="0" smtClean="0"/>
              <a:t>이 입력됨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그 밑으로 </a:t>
            </a:r>
            <a:r>
              <a:rPr lang="en-US" altLang="ko-KR" sz="1800" dirty="0" smtClean="0"/>
              <a:t>n</a:t>
            </a:r>
            <a:r>
              <a:rPr lang="ko-KR" altLang="en-US" sz="1800" dirty="0" smtClean="0"/>
              <a:t>줄에 걸쳐서 사람들의 체중이 입력 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체중은 </a:t>
            </a:r>
            <a:r>
              <a:rPr lang="en-US" altLang="ko-KR" sz="1800" dirty="0" smtClean="0"/>
              <a:t>1 ≤ </a:t>
            </a:r>
            <a:r>
              <a:rPr lang="ko-KR" altLang="en-US" sz="1800" dirty="0" smtClean="0"/>
              <a:t>체중 </a:t>
            </a:r>
            <a:r>
              <a:rPr lang="en-US" altLang="ko-KR" sz="1800" dirty="0" smtClean="0"/>
              <a:t>≤ 450</a:t>
            </a:r>
            <a:r>
              <a:rPr lang="ko-KR" altLang="en-US" sz="1800" dirty="0" smtClean="0"/>
              <a:t>인 정수</a:t>
            </a:r>
            <a:r>
              <a:rPr lang="en-US" altLang="ko-KR" sz="1800" dirty="0" smtClean="0"/>
              <a:t>)</a:t>
            </a:r>
          </a:p>
          <a:p>
            <a:pPr lvl="1"/>
            <a:r>
              <a:rPr lang="ko-KR" altLang="en-US" sz="1800" dirty="0" smtClean="0"/>
              <a:t>총 사람수는 최대 </a:t>
            </a:r>
            <a:r>
              <a:rPr lang="en-US" altLang="ko-KR" sz="1800" dirty="0" smtClean="0"/>
              <a:t>100</a:t>
            </a:r>
            <a:r>
              <a:rPr lang="ko-KR" altLang="en-US" sz="1800" dirty="0" smtClean="0"/>
              <a:t>명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서로 다른 테스트 케이스 사이에는 빈 줄이 하나씩 입력됨</a:t>
            </a:r>
            <a:endParaRPr lang="en-US" altLang="ko-KR" sz="18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558305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2592288"/>
          </a:xfrm>
        </p:spPr>
        <p:txBody>
          <a:bodyPr/>
          <a:lstStyle/>
          <a:p>
            <a:r>
              <a:rPr lang="ko-KR" altLang="en-US" sz="2000" dirty="0" smtClean="0"/>
              <a:t>출력</a:t>
            </a:r>
            <a:endParaRPr lang="en-US" altLang="ko-KR" sz="2000" dirty="0" smtClean="0"/>
          </a:p>
          <a:p>
            <a:pPr lvl="1"/>
            <a:r>
              <a:rPr lang="ko-KR" altLang="en-US" sz="1800" dirty="0" smtClean="0"/>
              <a:t>각 테스트 케이스마다 한 줄씩의 결과를 출력하며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각 줄마다 두 개씩의 정수가 출력됨</a:t>
            </a:r>
            <a:endParaRPr lang="en-US" altLang="ko-KR" sz="1800" dirty="0" smtClean="0"/>
          </a:p>
          <a:p>
            <a:pPr lvl="2"/>
            <a:r>
              <a:rPr lang="ko-KR" altLang="en-US" sz="1800" dirty="0" err="1" smtClean="0"/>
              <a:t>첫번째</a:t>
            </a:r>
            <a:r>
              <a:rPr lang="ko-KR" altLang="en-US" sz="1800" dirty="0" smtClean="0"/>
              <a:t> 수는 왼편에 속한 사람들의 체중의 총합</a:t>
            </a:r>
            <a:endParaRPr lang="en-US" altLang="ko-KR" sz="1800" dirty="0" smtClean="0"/>
          </a:p>
          <a:p>
            <a:pPr lvl="2"/>
            <a:r>
              <a:rPr lang="ko-KR" altLang="en-US" sz="1800" dirty="0" smtClean="0"/>
              <a:t>다른 수는 다른 편에 속한 사람들의 체중의 총합</a:t>
            </a:r>
            <a:endParaRPr lang="en-US" altLang="ko-KR" sz="1800" dirty="0" smtClean="0"/>
          </a:p>
          <a:p>
            <a:pPr lvl="2"/>
            <a:r>
              <a:rPr lang="ko-KR" altLang="en-US" sz="1800" dirty="0" smtClean="0"/>
              <a:t>이 두 값이 서로 다르면 작은 값을 먼저 출력</a:t>
            </a:r>
            <a:endParaRPr lang="en-US" altLang="ko-KR" sz="1600" dirty="0" smtClean="0"/>
          </a:p>
          <a:p>
            <a:pPr lvl="1"/>
            <a:r>
              <a:rPr lang="ko-KR" altLang="en-US" sz="1800" dirty="0" smtClean="0"/>
              <a:t>두 개의 서로 다른 케이스에 대한 결과는 빈 줄로 구분</a:t>
            </a:r>
            <a:endParaRPr lang="en-US" altLang="ko-KR" sz="1800" dirty="0" smtClean="0"/>
          </a:p>
          <a:p>
            <a:pPr lvl="1"/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45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85800" y="3356992"/>
            <a:ext cx="3598168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000" b="0" kern="0" dirty="0" smtClean="0"/>
              <a:t>입력 예</a:t>
            </a:r>
            <a:endParaRPr lang="en-US" altLang="ko-KR" sz="2000" b="0" kern="0" dirty="0" smtClean="0"/>
          </a:p>
          <a:p>
            <a:pPr marL="457200" lvl="1" indent="0">
              <a:buFontTx/>
              <a:buNone/>
            </a:pPr>
            <a:r>
              <a:rPr lang="en-US" altLang="ko-KR" sz="2000" b="0" kern="0" dirty="0" smtClean="0"/>
              <a:t>1</a:t>
            </a:r>
          </a:p>
          <a:p>
            <a:pPr marL="457200" lvl="1" indent="0">
              <a:buFontTx/>
              <a:buNone/>
            </a:pPr>
            <a:endParaRPr lang="en-US" altLang="ko-KR" sz="2000" b="0" kern="0" dirty="0"/>
          </a:p>
          <a:p>
            <a:pPr marL="457200" lvl="1" indent="0">
              <a:buFontTx/>
              <a:buNone/>
            </a:pPr>
            <a:r>
              <a:rPr lang="en-US" altLang="ko-KR" sz="2000" b="0" kern="0" dirty="0" smtClean="0"/>
              <a:t>3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/>
              <a:t>100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/>
              <a:t>90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/>
              <a:t>200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5078288" y="3356992"/>
            <a:ext cx="3598168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000" b="0" kern="0" dirty="0" smtClean="0"/>
              <a:t>출력 예</a:t>
            </a:r>
            <a:endParaRPr lang="en-US" altLang="ko-KR" sz="2000" b="0" kern="0" dirty="0" smtClean="0"/>
          </a:p>
          <a:p>
            <a:pPr marL="457200" lvl="1" indent="0">
              <a:buFontTx/>
              <a:buNone/>
            </a:pPr>
            <a:r>
              <a:rPr lang="en-US" altLang="ko-KR" sz="2000" b="0" kern="0" dirty="0" smtClean="0"/>
              <a:t>190 200</a:t>
            </a:r>
          </a:p>
        </p:txBody>
      </p:sp>
    </p:spTree>
    <p:extLst>
      <p:ext uri="{BB962C8B-B14F-4D97-AF65-F5344CB8AC3E}">
        <p14:creationId xmlns:p14="http://schemas.microsoft.com/office/powerpoint/2010/main" val="39114402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61. </a:t>
            </a:r>
            <a:r>
              <a:rPr lang="ko-KR" altLang="en-US" sz="3200" dirty="0" smtClean="0"/>
              <a:t>힌트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 smtClean="0"/>
              <a:t>백트래킹으로 </a:t>
            </a:r>
            <a:r>
              <a:rPr lang="ko-KR" altLang="en-US" sz="2400" dirty="0"/>
              <a:t>풀려면 너무 시간이 많이 걸리므로 </a:t>
            </a:r>
            <a:r>
              <a:rPr lang="ko-KR" altLang="en-US" sz="2400" dirty="0" err="1"/>
              <a:t>점화식을</a:t>
            </a:r>
            <a:r>
              <a:rPr lang="ko-KR" altLang="en-US" sz="2400" dirty="0"/>
              <a:t> 세워서 해결하도록 한다</a:t>
            </a:r>
            <a:r>
              <a:rPr lang="en-US" altLang="ko-KR" sz="2400" dirty="0"/>
              <a:t>.</a:t>
            </a:r>
          </a:p>
          <a:p>
            <a:pPr lvl="1"/>
            <a:endParaRPr lang="en-US" altLang="ko-KR" sz="1800" dirty="0" smtClean="0"/>
          </a:p>
          <a:p>
            <a:pPr lvl="1"/>
            <a:r>
              <a:rPr lang="en-US" altLang="ko-KR" sz="2000" dirty="0" smtClean="0"/>
              <a:t>C[</a:t>
            </a:r>
            <a:r>
              <a:rPr lang="en-US" altLang="ko-KR" sz="2000" dirty="0" err="1" smtClean="0"/>
              <a:t>i</a:t>
            </a:r>
            <a:r>
              <a:rPr lang="en-US" altLang="ko-KR" sz="2000" dirty="0"/>
              <a:t>][j]</a:t>
            </a:r>
            <a:r>
              <a:rPr lang="ko-KR" altLang="en-US" sz="2000" dirty="0"/>
              <a:t>를 </a:t>
            </a:r>
            <a:r>
              <a:rPr lang="en-US" altLang="ko-KR" sz="2000" dirty="0" err="1"/>
              <a:t>i</a:t>
            </a:r>
            <a:r>
              <a:rPr lang="ko-KR" altLang="en-US" sz="2000" dirty="0"/>
              <a:t>명의 사람으로 </a:t>
            </a:r>
            <a:r>
              <a:rPr lang="en-US" altLang="ko-KR" sz="2000" dirty="0"/>
              <a:t>j</a:t>
            </a:r>
            <a:r>
              <a:rPr lang="ko-KR" altLang="en-US" sz="2000" dirty="0"/>
              <a:t>의 체중을 만들 수 있으면 </a:t>
            </a:r>
            <a:r>
              <a:rPr lang="en-US" altLang="ko-KR" sz="2000" dirty="0"/>
              <a:t>1, </a:t>
            </a:r>
            <a:r>
              <a:rPr lang="ko-KR" altLang="en-US" sz="2000" dirty="0"/>
              <a:t>불가능하면 </a:t>
            </a:r>
            <a:r>
              <a:rPr lang="en-US" altLang="ko-KR" sz="2000" dirty="0"/>
              <a:t>0</a:t>
            </a:r>
            <a:r>
              <a:rPr lang="ko-KR" altLang="en-US" sz="2000" dirty="0"/>
              <a:t>이라고 하고</a:t>
            </a:r>
            <a:r>
              <a:rPr lang="en-US" altLang="ko-KR" sz="2000" dirty="0"/>
              <a:t>, Wi</a:t>
            </a:r>
            <a:r>
              <a:rPr lang="ko-KR" altLang="en-US" sz="2000" dirty="0"/>
              <a:t>를 </a:t>
            </a:r>
            <a:r>
              <a:rPr lang="en-US" altLang="ko-KR" sz="2000" dirty="0" err="1"/>
              <a:t>i</a:t>
            </a:r>
            <a:r>
              <a:rPr lang="ko-KR" altLang="en-US" sz="2000" dirty="0"/>
              <a:t>번 사람의 몸무게라고 하면 다음과 같다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2000" dirty="0" smtClean="0"/>
              <a:t>C[</a:t>
            </a:r>
            <a:r>
              <a:rPr lang="en-US" altLang="ko-KR" sz="2000" dirty="0" err="1" smtClean="0"/>
              <a:t>i</a:t>
            </a:r>
            <a:r>
              <a:rPr lang="en-US" altLang="ko-KR" sz="2000" dirty="0"/>
              <a:t>][j] = C[i-1][j-Wi</a:t>
            </a:r>
            <a:r>
              <a:rPr lang="en-US" altLang="ko-KR" sz="2000" dirty="0" smtClean="0"/>
              <a:t>]</a:t>
            </a:r>
          </a:p>
          <a:p>
            <a:pPr lvl="1"/>
            <a:endParaRPr lang="en-US" altLang="ko-KR" sz="2000" dirty="0"/>
          </a:p>
          <a:p>
            <a:r>
              <a:rPr lang="ko-KR" altLang="en-US" sz="2400" dirty="0" smtClean="0"/>
              <a:t>이 </a:t>
            </a:r>
            <a:r>
              <a:rPr lang="ko-KR" altLang="en-US" sz="2400" dirty="0"/>
              <a:t>문제에서는 사람의 수가 </a:t>
            </a:r>
            <a:r>
              <a:rPr lang="en-US" altLang="ko-KR" sz="2400" dirty="0"/>
              <a:t>1</a:t>
            </a:r>
            <a:r>
              <a:rPr lang="ko-KR" altLang="en-US" sz="2400" dirty="0"/>
              <a:t>명 이내로 차이가 나야 되므로 만들 수 있는 모든 </a:t>
            </a:r>
            <a:r>
              <a:rPr lang="ko-KR" altLang="en-US" sz="2400" dirty="0" smtClean="0"/>
              <a:t>몸무게에 </a:t>
            </a:r>
            <a:r>
              <a:rPr lang="ko-KR" altLang="en-US" sz="2400" dirty="0"/>
              <a:t>대해 사람 수가 한 명 이내로 차이가 나는지 검사해야 된다</a:t>
            </a:r>
            <a:r>
              <a:rPr lang="en-US" altLang="ko-KR" sz="240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24718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47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prob. 61. Tug of War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include &lt;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char c[45000][101],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[45000][101];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[45000],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[100];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static double sum, sumd2, sol;</a:t>
            </a:r>
          </a:p>
          <a:p>
            <a:pPr marL="0" indent="0">
              <a:buNone/>
            </a:pPr>
            <a:endParaRPr lang="en-US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input(void)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j;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&amp;n);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45000;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(j = 0; j &lt; n; j++)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][j] 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][j] = 0;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45000;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0;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594420" y="188640"/>
            <a:ext cx="254268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버그가 있는 정답 소스 코드임</a:t>
            </a:r>
            <a:r>
              <a:rPr lang="en-US" altLang="ko-KR" sz="1200" dirty="0" smtClean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200" dirty="0" smtClean="0">
                <a:solidFill>
                  <a:srgbClr val="FF0000"/>
                </a:solidFill>
              </a:rPr>
              <a:t>아래와 같은 입력에 대해 오류 발생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r>
              <a:rPr lang="ko-KR" altLang="en-US" sz="1200" dirty="0" smtClean="0">
                <a:solidFill>
                  <a:srgbClr val="FF0000"/>
                </a:solidFill>
              </a:rPr>
              <a:t>입력</a:t>
            </a:r>
            <a:r>
              <a:rPr lang="en-US" altLang="ko-KR" sz="1200" dirty="0" smtClean="0">
                <a:solidFill>
                  <a:srgbClr val="FF0000"/>
                </a:solidFill>
              </a:rPr>
              <a:t>:</a:t>
            </a:r>
          </a:p>
          <a:p>
            <a:r>
              <a:rPr lang="en-US" altLang="ko-KR" sz="1200" dirty="0" smtClean="0">
                <a:solidFill>
                  <a:srgbClr val="FF0000"/>
                </a:solidFill>
              </a:rPr>
              <a:t>1</a:t>
            </a:r>
          </a:p>
          <a:p>
            <a:endParaRPr lang="en-US" altLang="ko-KR" sz="1200" dirty="0" smtClean="0">
              <a:solidFill>
                <a:srgbClr val="FF0000"/>
              </a:solidFill>
            </a:endParaRPr>
          </a:p>
          <a:p>
            <a:r>
              <a:rPr lang="en-US" altLang="ko-KR" sz="1200" dirty="0" smtClean="0">
                <a:solidFill>
                  <a:srgbClr val="FF0000"/>
                </a:solidFill>
              </a:rPr>
              <a:t>4</a:t>
            </a:r>
            <a:endParaRPr lang="ko-KR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301</a:t>
            </a:r>
            <a:endParaRPr lang="ko-KR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419</a:t>
            </a:r>
            <a:endParaRPr lang="ko-KR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349</a:t>
            </a:r>
            <a:endParaRPr lang="ko-KR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 smtClean="0">
                <a:solidFill>
                  <a:srgbClr val="FF0000"/>
                </a:solidFill>
              </a:rPr>
              <a:t>56</a:t>
            </a:r>
          </a:p>
          <a:p>
            <a:endParaRPr lang="en-US" altLang="ko-KR" sz="1200" dirty="0" smtClean="0">
              <a:solidFill>
                <a:srgbClr val="FF0000"/>
              </a:solidFill>
            </a:endParaRPr>
          </a:p>
          <a:p>
            <a:r>
              <a:rPr lang="ko-KR" altLang="en-US" sz="1200" dirty="0" smtClean="0">
                <a:solidFill>
                  <a:srgbClr val="FF0000"/>
                </a:solidFill>
              </a:rPr>
              <a:t>출</a:t>
            </a:r>
            <a:r>
              <a:rPr lang="ko-KR" altLang="en-US" sz="1200" dirty="0">
                <a:solidFill>
                  <a:srgbClr val="FF0000"/>
                </a:solidFill>
              </a:rPr>
              <a:t>력</a:t>
            </a:r>
            <a:endParaRPr lang="ko-KR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 smtClean="0">
                <a:solidFill>
                  <a:srgbClr val="FF0000"/>
                </a:solidFill>
              </a:rPr>
              <a:t>정답</a:t>
            </a:r>
            <a:r>
              <a:rPr lang="en-US" altLang="ko-KR" sz="1200" dirty="0" smtClean="0">
                <a:solidFill>
                  <a:srgbClr val="FF0000"/>
                </a:solidFill>
              </a:rPr>
              <a:t>: </a:t>
            </a:r>
            <a:r>
              <a:rPr lang="en-US" altLang="ko-KR" sz="1200" dirty="0">
                <a:solidFill>
                  <a:srgbClr val="FF0000"/>
                </a:solidFill>
              </a:rPr>
              <a:t>475 </a:t>
            </a:r>
            <a:r>
              <a:rPr lang="en-US" altLang="ko-KR" sz="1200" dirty="0" smtClean="0">
                <a:solidFill>
                  <a:srgbClr val="FF0000"/>
                </a:solidFill>
              </a:rPr>
              <a:t>650</a:t>
            </a:r>
          </a:p>
          <a:p>
            <a:r>
              <a:rPr lang="ko-KR" altLang="en-US" sz="1200" dirty="0" smtClean="0">
                <a:solidFill>
                  <a:srgbClr val="FF0000"/>
                </a:solidFill>
              </a:rPr>
              <a:t>오답</a:t>
            </a:r>
            <a:r>
              <a:rPr lang="en-US" altLang="ko-KR" sz="1200" dirty="0" smtClean="0">
                <a:solidFill>
                  <a:srgbClr val="FF0000"/>
                </a:solidFill>
              </a:rPr>
              <a:t>: </a:t>
            </a:r>
            <a:r>
              <a:rPr lang="en-US" altLang="ko-KR" sz="1200" dirty="0">
                <a:solidFill>
                  <a:srgbClr val="FF0000"/>
                </a:solidFill>
              </a:rPr>
              <a:t>523 602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6194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48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260648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double abs(double a)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(a &lt; 0)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-a;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a;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void dynamic(void)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j, k, l;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sum = 0;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sum = sum + (double)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sumd2 = sum / (double)2.0;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sol = sumd2;</a:t>
            </a:r>
          </a:p>
        </p:txBody>
      </p:sp>
    </p:spTree>
    <p:extLst>
      <p:ext uri="{BB962C8B-B14F-4D97-AF65-F5344CB8AC3E}">
        <p14:creationId xmlns:p14="http://schemas.microsoft.com/office/powerpoint/2010/main" val="28319755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49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8064896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[0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1;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&lt;= sumd2;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(j = 0; j &lt;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]; j++)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for (k = 0; k &lt; n; k++)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if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i+inp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[k]][c[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][j] + 1] == 0)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if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== 1 &amp;&amp; c[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][j] &lt; n/2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[k]][c[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][j] + 1] = 1;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c[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[k]][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[k]]]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][j] + 1;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[k]]++;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if (c[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][j] + 1 == n/2 &amp;&amp; </a:t>
            </a:r>
            <a:endParaRPr lang="en-US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abs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[k]) - sumd2) &lt; sol)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sol = abs(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[k] - sumd2);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}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6194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50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04664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t;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&amp;t);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t;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input();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dynamic();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 0)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("\n");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("%d %d\n",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)(sumd2 - sol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(sumd2 + sol));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46194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참고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4721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/>
              <a:t>DP[</a:t>
            </a:r>
            <a:r>
              <a:rPr lang="ko-KR" altLang="ko-KR" sz="1800" dirty="0"/>
              <a:t>전체인원수</a:t>
            </a:r>
            <a:r>
              <a:rPr lang="en-US" altLang="ko-KR" sz="1800" dirty="0"/>
              <a:t>=N][</a:t>
            </a:r>
            <a:r>
              <a:rPr lang="ko-KR" altLang="ko-KR" sz="1800" dirty="0"/>
              <a:t>전체인원의 몸무게 총합</a:t>
            </a:r>
            <a:r>
              <a:rPr lang="en-US" altLang="ko-KR" sz="1800" dirty="0"/>
              <a:t>=W] </a:t>
            </a:r>
            <a:r>
              <a:rPr lang="ko-KR" altLang="ko-KR" sz="1800" dirty="0"/>
              <a:t>테이블을 만들고</a:t>
            </a:r>
            <a:r>
              <a:rPr lang="en-US" altLang="ko-KR" sz="1800" dirty="0"/>
              <a:t>,</a:t>
            </a:r>
            <a:endParaRPr lang="ko-KR" altLang="ko-KR" sz="1800" dirty="0"/>
          </a:p>
          <a:p>
            <a:pPr marL="0" indent="0">
              <a:buNone/>
            </a:pPr>
            <a:r>
              <a:rPr lang="en-US" altLang="ko-KR" sz="1800" dirty="0"/>
              <a:t>for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 = [1 ~ N] # (N </a:t>
            </a:r>
            <a:r>
              <a:rPr lang="ko-KR" altLang="ko-KR" sz="1800" dirty="0"/>
              <a:t>포함</a:t>
            </a:r>
            <a:r>
              <a:rPr lang="en-US" altLang="ko-KR" sz="1800" dirty="0"/>
              <a:t>) </a:t>
            </a:r>
            <a:r>
              <a:rPr lang="ko-KR" altLang="ko-KR" sz="1800" dirty="0"/>
              <a:t>모든 참가자에 대해서</a:t>
            </a:r>
          </a:p>
          <a:p>
            <a:pPr marL="0" indent="0">
              <a:buNone/>
            </a:pPr>
            <a:r>
              <a:rPr lang="en-US" altLang="ko-KR" sz="1800" dirty="0"/>
              <a:t>    DP[</a:t>
            </a:r>
            <a:r>
              <a:rPr lang="en-US" altLang="ko-KR" sz="1800" dirty="0" err="1"/>
              <a:t>i</a:t>
            </a:r>
            <a:r>
              <a:rPr lang="en-US" altLang="ko-KR" sz="1800" dirty="0"/>
              <a:t>][ </a:t>
            </a:r>
            <a:r>
              <a:rPr lang="en-US" altLang="ko-KR" sz="1800" dirty="0" err="1"/>
              <a:t>W_i</a:t>
            </a:r>
            <a:r>
              <a:rPr lang="en-US" altLang="ko-KR" sz="1800" dirty="0"/>
              <a:t> ] = 1 </a:t>
            </a:r>
            <a:endParaRPr lang="ko-KR" altLang="ko-KR" sz="1800" dirty="0"/>
          </a:p>
          <a:p>
            <a:pPr marL="0" indent="0">
              <a:buNone/>
            </a:pPr>
            <a:r>
              <a:rPr lang="en-US" altLang="ko-KR" sz="1800" dirty="0"/>
              <a:t>    for w = [1 ~ W] # (W </a:t>
            </a:r>
            <a:r>
              <a:rPr lang="ko-KR" altLang="ko-KR" sz="1800" dirty="0"/>
              <a:t>포함</a:t>
            </a:r>
            <a:r>
              <a:rPr lang="en-US" altLang="ko-KR" sz="1800" dirty="0"/>
              <a:t>)  # </a:t>
            </a:r>
            <a:r>
              <a:rPr lang="ko-KR" altLang="ko-KR" sz="1800" dirty="0"/>
              <a:t>나올 수 있는 모든 몸무게의 총합</a:t>
            </a:r>
          </a:p>
          <a:p>
            <a:pPr marL="0" indent="0">
              <a:buNone/>
            </a:pPr>
            <a:r>
              <a:rPr lang="en-US" altLang="ko-KR" sz="1800" dirty="0"/>
              <a:t>        if(DP[</a:t>
            </a:r>
            <a:r>
              <a:rPr lang="en-US" altLang="ko-KR" sz="1800" dirty="0" err="1"/>
              <a:t>i</a:t>
            </a:r>
            <a:r>
              <a:rPr lang="en-US" altLang="ko-KR" sz="1800" dirty="0"/>
              <a:t> - 1][ w - </a:t>
            </a:r>
            <a:r>
              <a:rPr lang="en-US" altLang="ko-KR" sz="1800" dirty="0" err="1"/>
              <a:t>W_i</a:t>
            </a:r>
            <a:r>
              <a:rPr lang="en-US" altLang="ko-KR" sz="1800" dirty="0"/>
              <a:t> ] &gt; 0)  # </a:t>
            </a:r>
            <a:r>
              <a:rPr lang="ko-KR" altLang="ko-KR" sz="1800" dirty="0"/>
              <a:t>현재 참가자를 제외하고</a:t>
            </a:r>
            <a:r>
              <a:rPr lang="en-US" altLang="ko-KR" sz="1800" dirty="0"/>
              <a:t>, </a:t>
            </a:r>
            <a:r>
              <a:rPr lang="ko-KR" altLang="ko-KR" sz="1800" dirty="0"/>
              <a:t>몸무게</a:t>
            </a:r>
            <a:r>
              <a:rPr lang="en-US" altLang="ko-KR" sz="1800" dirty="0"/>
              <a:t> w</a:t>
            </a:r>
            <a:r>
              <a:rPr lang="ko-KR" altLang="ko-KR" sz="1800" dirty="0"/>
              <a:t>를 만들 수 있었다면</a:t>
            </a:r>
            <a:r>
              <a:rPr lang="en-US" altLang="ko-KR" sz="1800" dirty="0"/>
              <a:t>,</a:t>
            </a:r>
            <a:endParaRPr lang="ko-KR" altLang="ko-KR" sz="1800" dirty="0"/>
          </a:p>
          <a:p>
            <a:pPr marL="0" indent="0">
              <a:buNone/>
            </a:pPr>
            <a:r>
              <a:rPr lang="en-US" altLang="ko-KR" sz="1800" dirty="0"/>
              <a:t>        DP[</a:t>
            </a:r>
            <a:r>
              <a:rPr lang="en-US" altLang="ko-KR" sz="1800" dirty="0" err="1"/>
              <a:t>i</a:t>
            </a:r>
            <a:r>
              <a:rPr lang="en-US" altLang="ko-KR" sz="1800" dirty="0"/>
              <a:t>][w] = DP[</a:t>
            </a:r>
            <a:r>
              <a:rPr lang="en-US" altLang="ko-KR" sz="1800" dirty="0" err="1"/>
              <a:t>i</a:t>
            </a:r>
            <a:r>
              <a:rPr lang="en-US" altLang="ko-KR" sz="1800" dirty="0"/>
              <a:t>][w - </a:t>
            </a:r>
            <a:r>
              <a:rPr lang="en-US" altLang="ko-KR" sz="1800" dirty="0" err="1"/>
              <a:t>W_i</a:t>
            </a:r>
            <a:r>
              <a:rPr lang="en-US" altLang="ko-KR" sz="1800" dirty="0"/>
              <a:t>] + 1  # </a:t>
            </a:r>
            <a:r>
              <a:rPr lang="ko-KR" altLang="ko-KR" sz="1800" dirty="0"/>
              <a:t>몸무게</a:t>
            </a:r>
            <a:r>
              <a:rPr lang="en-US" altLang="ko-KR" sz="1800" dirty="0"/>
              <a:t> </a:t>
            </a:r>
            <a:r>
              <a:rPr lang="en-US" altLang="ko-KR" sz="1800" dirty="0" err="1"/>
              <a:t>W_i</a:t>
            </a:r>
            <a:r>
              <a:rPr lang="ko-KR" altLang="ko-KR" sz="1800" dirty="0" err="1"/>
              <a:t>를</a:t>
            </a:r>
            <a:r>
              <a:rPr lang="ko-KR" altLang="ko-KR" sz="1800" dirty="0"/>
              <a:t> 더한</a:t>
            </a:r>
            <a:r>
              <a:rPr lang="en-US" altLang="ko-KR" sz="1800" dirty="0"/>
              <a:t> w + </a:t>
            </a:r>
            <a:r>
              <a:rPr lang="en-US" altLang="ko-KR" sz="1800" dirty="0" err="1"/>
              <a:t>W_i</a:t>
            </a:r>
            <a:r>
              <a:rPr lang="ko-KR" altLang="ko-KR" sz="1800" dirty="0"/>
              <a:t>도 만들 수 있고</a:t>
            </a:r>
            <a:r>
              <a:rPr lang="en-US" altLang="ko-KR" sz="1800" dirty="0"/>
              <a:t>, </a:t>
            </a:r>
            <a:r>
              <a:rPr lang="ko-KR" altLang="ko-KR" sz="1800" dirty="0"/>
              <a:t>이 몸무게를 만든 사람의 수는</a:t>
            </a:r>
            <a:r>
              <a:rPr lang="en-US" altLang="ko-KR" sz="1800" dirty="0"/>
              <a:t> w - </a:t>
            </a:r>
            <a:r>
              <a:rPr lang="en-US" altLang="ko-KR" sz="1800" dirty="0" err="1"/>
              <a:t>W_i</a:t>
            </a:r>
            <a:r>
              <a:rPr lang="en-US" altLang="ko-KR" sz="1800" dirty="0"/>
              <a:t> </a:t>
            </a:r>
            <a:r>
              <a:rPr lang="ko-KR" altLang="ko-KR" sz="1800" dirty="0"/>
              <a:t>몸무게를 만든 사람 수</a:t>
            </a:r>
            <a:r>
              <a:rPr lang="en-US" altLang="ko-KR" sz="1800" dirty="0"/>
              <a:t> + 1</a:t>
            </a:r>
            <a:r>
              <a:rPr lang="ko-KR" altLang="ko-KR" sz="1800" dirty="0"/>
              <a:t>이다</a:t>
            </a:r>
            <a:r>
              <a:rPr lang="en-US" altLang="ko-KR" sz="1800" dirty="0"/>
              <a:t>.</a:t>
            </a:r>
            <a:endParaRPr lang="ko-KR" altLang="ko-KR" sz="1800" dirty="0"/>
          </a:p>
          <a:p>
            <a:pPr marL="0" indent="0">
              <a:buNone/>
            </a:pPr>
            <a:r>
              <a:rPr lang="en-US" altLang="ko-KR" sz="1800" dirty="0"/>
              <a:t> </a:t>
            </a:r>
            <a:endParaRPr lang="ko-KR" altLang="ko-KR" sz="1800" dirty="0"/>
          </a:p>
          <a:p>
            <a:pPr marL="0" indent="0">
              <a:buNone/>
            </a:pPr>
            <a:r>
              <a:rPr lang="en-US" altLang="ko-KR" sz="1800" dirty="0"/>
              <a:t>for w = [1 ~ W] # </a:t>
            </a:r>
            <a:r>
              <a:rPr lang="ko-KR" altLang="ko-KR" sz="1800" dirty="0"/>
              <a:t>만들 수 있는 모든 몸무게에 대해서</a:t>
            </a:r>
          </a:p>
          <a:p>
            <a:pPr marL="0" indent="0">
              <a:buNone/>
            </a:pPr>
            <a:r>
              <a:rPr lang="en-US" altLang="ko-KR" sz="1800" dirty="0"/>
              <a:t>   if(DP[N][ w ] == N / 2) # </a:t>
            </a:r>
            <a:r>
              <a:rPr lang="ko-KR" altLang="ko-KR" sz="1800" dirty="0"/>
              <a:t>이 몸무게를 절반의 인원 혹은</a:t>
            </a:r>
            <a:r>
              <a:rPr lang="en-US" altLang="ko-KR" sz="1800" dirty="0"/>
              <a:t> +- 1</a:t>
            </a:r>
            <a:r>
              <a:rPr lang="ko-KR" altLang="ko-KR" sz="1800" dirty="0"/>
              <a:t>명 차이로 만들 수 있으면</a:t>
            </a:r>
          </a:p>
          <a:p>
            <a:pPr marL="0" indent="0">
              <a:buNone/>
            </a:pPr>
            <a:r>
              <a:rPr lang="en-US" altLang="ko-KR" sz="1800" dirty="0"/>
              <a:t>       w</a:t>
            </a:r>
            <a:r>
              <a:rPr lang="ko-KR" altLang="ko-KR" sz="1800" dirty="0"/>
              <a:t>와</a:t>
            </a:r>
            <a:r>
              <a:rPr lang="en-US" altLang="ko-KR" sz="1800" dirty="0"/>
              <a:t> total - w </a:t>
            </a:r>
            <a:r>
              <a:rPr lang="ko-KR" altLang="ko-KR" sz="1800" dirty="0"/>
              <a:t>몸무게의 차이가 가장 작은 것을 구함</a:t>
            </a:r>
          </a:p>
          <a:p>
            <a:pPr marL="0" indent="0">
              <a:buNone/>
            </a:pP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243938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9645</TotalTime>
  <Words>4223</Words>
  <Application>Microsoft Office PowerPoint</Application>
  <PresentationFormat>화면 슬라이드 쇼(4:3)</PresentationFormat>
  <Paragraphs>678</Paragraphs>
  <Slides>51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2" baseType="lpstr">
      <vt:lpstr>기본 디자인</vt:lpstr>
      <vt:lpstr>제 8장 백트래킹</vt:lpstr>
      <vt:lpstr>PowerPoint 프레젠테이션</vt:lpstr>
      <vt:lpstr>서론</vt:lpstr>
      <vt:lpstr>백트래킹(Backtracking)</vt:lpstr>
      <vt:lpstr>PowerPoint 프레젠테이션</vt:lpstr>
      <vt:lpstr>Implementation</vt:lpstr>
      <vt:lpstr>PowerPoint 프레젠테이션</vt:lpstr>
      <vt:lpstr>Application-Specific Routines</vt:lpstr>
      <vt:lpstr>PowerPoint 프레젠테이션</vt:lpstr>
      <vt:lpstr>Constructing All Subsets</vt:lpstr>
      <vt:lpstr>PowerPoint 프레젠테이션</vt:lpstr>
      <vt:lpstr>PowerPoint 프레젠테이션</vt:lpstr>
      <vt:lpstr>Constructing All Permutations</vt:lpstr>
      <vt:lpstr>PowerPoint 프레젠테이션</vt:lpstr>
      <vt:lpstr>PowerPoint 프레젠테이션</vt:lpstr>
      <vt:lpstr>PowerPoint 프레젠테이션</vt:lpstr>
      <vt:lpstr>The Eight-Queens Problem</vt:lpstr>
      <vt:lpstr>PowerPoint 프레젠테이션</vt:lpstr>
      <vt:lpstr>PowerPoint 프레젠테이션</vt:lpstr>
      <vt:lpstr>Implementation</vt:lpstr>
      <vt:lpstr>PowerPoint 프레젠테이션</vt:lpstr>
      <vt:lpstr>Finding the Queens</vt:lpstr>
      <vt:lpstr>PowerPoint 프레젠테이션</vt:lpstr>
      <vt:lpstr>PowerPoint 프레젠테이션</vt:lpstr>
      <vt:lpstr>PowerPoint 프레젠테이션</vt:lpstr>
      <vt:lpstr>PowerPoint 프레젠테이션</vt:lpstr>
      <vt:lpstr>문제 62. 에덴동산(Garden of Eden)</vt:lpstr>
      <vt:lpstr>PowerPoint 프레젠테이션</vt:lpstr>
      <vt:lpstr>PowerPoint 프레젠테이션</vt:lpstr>
      <vt:lpstr>PowerPoint 프레젠테이션</vt:lpstr>
      <vt:lpstr>PowerPoint 프레젠테이션</vt:lpstr>
      <vt:lpstr>문제 62. 힌트</vt:lpstr>
      <vt:lpstr>PowerPoint 프레젠테이션</vt:lpstr>
      <vt:lpstr>PowerPoint 프레젠테이션</vt:lpstr>
      <vt:lpstr>PowerPoint 프레젠테이션</vt:lpstr>
      <vt:lpstr>문제 59. 줄(Queue)</vt:lpstr>
      <vt:lpstr>PowerPoint 프레젠테이션</vt:lpstr>
      <vt:lpstr>PowerPoint 프레젠테이션</vt:lpstr>
      <vt:lpstr>문제 59. 힌트</vt:lpstr>
      <vt:lpstr>PowerPoint 프레젠테이션</vt:lpstr>
      <vt:lpstr>PowerPoint 프레젠테이션</vt:lpstr>
      <vt:lpstr>PowerPoint 프레젠테이션</vt:lpstr>
      <vt:lpstr>PowerPoint 프레젠테이션</vt:lpstr>
      <vt:lpstr>문제 61. 줄다리기(Tug of War)</vt:lpstr>
      <vt:lpstr>PowerPoint 프레젠테이션</vt:lpstr>
      <vt:lpstr>문제 61. 힌트</vt:lpstr>
      <vt:lpstr>PowerPoint 프레젠테이션</vt:lpstr>
      <vt:lpstr>PowerPoint 프레젠테이션</vt:lpstr>
      <vt:lpstr>PowerPoint 프레젠테이션</vt:lpstr>
      <vt:lpstr>PowerPoint 프레젠테이션</vt:lpstr>
      <vt:lpstr>참고</vt:lpstr>
    </vt:vector>
  </TitlesOfParts>
  <Company>design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inje</dc:creator>
  <cp:lastModifiedBy>하진영</cp:lastModifiedBy>
  <cp:revision>497</cp:revision>
  <dcterms:created xsi:type="dcterms:W3CDTF">2003-02-22T04:47:49Z</dcterms:created>
  <dcterms:modified xsi:type="dcterms:W3CDTF">2017-11-06T06:01:17Z</dcterms:modified>
</cp:coreProperties>
</file>