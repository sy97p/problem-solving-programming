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1" r:id="rId2"/>
    <p:sldId id="358" r:id="rId3"/>
    <p:sldId id="398" r:id="rId4"/>
    <p:sldId id="395" r:id="rId5"/>
    <p:sldId id="396" r:id="rId6"/>
    <p:sldId id="446" r:id="rId7"/>
    <p:sldId id="438" r:id="rId8"/>
    <p:sldId id="449" r:id="rId9"/>
    <p:sldId id="450" r:id="rId10"/>
    <p:sldId id="447" r:id="rId11"/>
    <p:sldId id="448" r:id="rId12"/>
    <p:sldId id="445" r:id="rId13"/>
    <p:sldId id="439" r:id="rId14"/>
    <p:sldId id="443" r:id="rId15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7ACCB7"/>
    <a:srgbClr val="7BB0E5"/>
    <a:srgbClr val="0066FF"/>
    <a:srgbClr val="89B2DB"/>
    <a:srgbClr val="3D81C5"/>
    <a:srgbClr val="B4B4B4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3" d="100"/>
          <a:sy n="123" d="100"/>
        </p:scale>
        <p:origin x="1344" y="108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kangwon.goorm.io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611188" y="2209800"/>
            <a:ext cx="79216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4800" b="0" dirty="0" smtClean="0">
                <a:solidFill>
                  <a:srgbClr val="70A9E2"/>
                </a:solidFill>
                <a:latin typeface="산돌명조 M" pitchFamily="18" charset="-127"/>
                <a:ea typeface="산돌명조 M" pitchFamily="18" charset="-127"/>
              </a:rPr>
              <a:t>문제해결프로그래밍 </a:t>
            </a:r>
            <a:r>
              <a:rPr lang="ko-KR" altLang="en-US" sz="4800" b="0" dirty="0">
                <a:solidFill>
                  <a:srgbClr val="70A9E2"/>
                </a:solidFill>
                <a:latin typeface="산돌명조 M" pitchFamily="18" charset="-127"/>
                <a:ea typeface="산돌명조 M" pitchFamily="18" charset="-127"/>
              </a:rPr>
              <a:t>소개</a:t>
            </a:r>
          </a:p>
        </p:txBody>
      </p:sp>
      <p:sp>
        <p:nvSpPr>
          <p:cNvPr id="2051" name="Oval 3"/>
          <p:cNvSpPr>
            <a:spLocks noChangeArrowheads="1"/>
          </p:cNvSpPr>
          <p:nvPr/>
        </p:nvSpPr>
        <p:spPr bwMode="auto">
          <a:xfrm>
            <a:off x="4495800" y="3200400"/>
            <a:ext cx="125413" cy="125413"/>
          </a:xfrm>
          <a:prstGeom prst="ellipse">
            <a:avLst/>
          </a:prstGeom>
          <a:solidFill>
            <a:srgbClr val="70A9E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0" y="3048000"/>
            <a:ext cx="9144000" cy="0"/>
          </a:xfrm>
          <a:prstGeom prst="line">
            <a:avLst/>
          </a:prstGeom>
          <a:noFill/>
          <a:ln w="9525">
            <a:solidFill>
              <a:srgbClr val="70A9E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027988" y="6165850"/>
            <a:ext cx="647700" cy="5032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11560" y="4221088"/>
            <a:ext cx="79216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3600" b="0" dirty="0" smtClean="0">
                <a:solidFill>
                  <a:srgbClr val="70A9E2"/>
                </a:solidFill>
                <a:latin typeface="산돌명조 M" pitchFamily="18" charset="-127"/>
                <a:ea typeface="산돌명조 M" pitchFamily="18" charset="-127"/>
              </a:rPr>
              <a:t>강원대학교</a:t>
            </a:r>
            <a:endParaRPr lang="en-US" altLang="ko-KR" sz="3600" b="0" dirty="0" smtClean="0">
              <a:solidFill>
                <a:srgbClr val="70A9E2"/>
              </a:solidFill>
              <a:latin typeface="산돌명조 M" pitchFamily="18" charset="-127"/>
              <a:ea typeface="산돌명조 M" pitchFamily="18" charset="-127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3600" b="0" dirty="0" smtClean="0">
                <a:solidFill>
                  <a:srgbClr val="70A9E2"/>
                </a:solidFill>
                <a:latin typeface="산돌명조 M" pitchFamily="18" charset="-127"/>
                <a:ea typeface="산돌명조 M" pitchFamily="18" charset="-127"/>
              </a:rPr>
              <a:t>하진</a:t>
            </a:r>
            <a:r>
              <a:rPr lang="ko-KR" altLang="en-US" sz="3600" b="0" dirty="0">
                <a:solidFill>
                  <a:srgbClr val="70A9E2"/>
                </a:solidFill>
                <a:latin typeface="산돌명조 M" pitchFamily="18" charset="-127"/>
                <a:ea typeface="산돌명조 M" pitchFamily="18" charset="-127"/>
              </a:rPr>
              <a:t>영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1026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1027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76" name="Rectangle 1028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77" name="Rectangle 1029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78" name="Text Box 1030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강의계획 </a:t>
            </a:r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990600"/>
            <a:ext cx="7905750" cy="685800"/>
          </a:xfrm>
        </p:spPr>
        <p:txBody>
          <a:bodyPr/>
          <a:lstStyle/>
          <a:p>
            <a:pPr algn="l" eaLnBrk="1" hangingPunct="1"/>
            <a:r>
              <a:rPr lang="en-US" altLang="ko-KR" sz="2000" dirty="0" smtClean="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 dirty="0" smtClean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latin typeface="HY헤드라인M" pitchFamily="18" charset="-127"/>
                <a:ea typeface="HY헤드라인M" pitchFamily="18" charset="-127"/>
              </a:rPr>
              <a:t>개요 </a:t>
            </a:r>
          </a:p>
        </p:txBody>
      </p:sp>
      <p:sp>
        <p:nvSpPr>
          <p:cNvPr id="3080" name="Text Box 1134"/>
          <p:cNvSpPr txBox="1">
            <a:spLocks noChangeArrowheads="1"/>
          </p:cNvSpPr>
          <p:nvPr/>
        </p:nvSpPr>
        <p:spPr bwMode="auto">
          <a:xfrm>
            <a:off x="1258888" y="1557338"/>
            <a:ext cx="7581900" cy="1967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ko-KR" altLang="en-US" b="0" dirty="0"/>
              <a:t>자료 구조 및 실습의 연계 과목으로 기본적인 자료 구조를 바탕으로 응용 문제를 해결하기 위한 심층적인 자료 구조를 학습하며</a:t>
            </a:r>
            <a:r>
              <a:rPr lang="en-US" altLang="ko-KR" b="0" dirty="0"/>
              <a:t>, </a:t>
            </a:r>
            <a:r>
              <a:rPr lang="ko-KR" altLang="en-US" b="0" dirty="0"/>
              <a:t>실습 및 과제를 통하여 고급 프로그래밍 능력을 배양한다</a:t>
            </a:r>
            <a:r>
              <a:rPr lang="en-US" altLang="ko-KR" b="0" dirty="0"/>
              <a:t>. </a:t>
            </a:r>
            <a:r>
              <a:rPr lang="ko-KR" altLang="en-US" b="0" dirty="0"/>
              <a:t>주제별 문제에 대해 해결할 수 있는 능력을 배양함으로써 프로그래밍 실력을 향상시킨다</a:t>
            </a:r>
            <a:r>
              <a:rPr lang="en-US" altLang="ko-KR" b="0" dirty="0"/>
              <a:t>. </a:t>
            </a:r>
            <a:r>
              <a:rPr lang="ko-KR" altLang="en-US" b="0" dirty="0"/>
              <a:t>기본 자료구조부터 문자열 처리</a:t>
            </a:r>
            <a:r>
              <a:rPr lang="en-US" altLang="ko-KR" b="0" dirty="0"/>
              <a:t>, </a:t>
            </a:r>
            <a:r>
              <a:rPr lang="ko-KR" altLang="en-US" b="0" dirty="0"/>
              <a:t>정렬</a:t>
            </a:r>
            <a:r>
              <a:rPr lang="en-US" altLang="ko-KR" b="0" dirty="0"/>
              <a:t>, </a:t>
            </a:r>
            <a:r>
              <a:rPr lang="ko-KR" altLang="en-US" b="0" dirty="0" err="1"/>
              <a:t>백트랙킹</a:t>
            </a:r>
            <a:r>
              <a:rPr lang="en-US" altLang="ko-KR" b="0" dirty="0"/>
              <a:t>, </a:t>
            </a:r>
            <a:r>
              <a:rPr lang="ko-KR" altLang="en-US" b="0" dirty="0"/>
              <a:t>그래프 알고리즘</a:t>
            </a:r>
            <a:r>
              <a:rPr lang="en-US" altLang="ko-KR" b="0" dirty="0"/>
              <a:t>, </a:t>
            </a:r>
            <a:r>
              <a:rPr lang="ko-KR" altLang="en-US" b="0" dirty="0"/>
              <a:t>동적 프로그래밍 등 다양한 주제에 관련된 문제 해결 능력을 키운다</a:t>
            </a:r>
            <a:r>
              <a:rPr lang="en-US" altLang="ko-KR" b="0" dirty="0"/>
              <a:t>.</a:t>
            </a:r>
          </a:p>
        </p:txBody>
      </p:sp>
      <p:sp>
        <p:nvSpPr>
          <p:cNvPr id="3081" name="Rectangle 1138"/>
          <p:cNvSpPr>
            <a:spLocks noChangeArrowheads="1"/>
          </p:cNvSpPr>
          <p:nvPr/>
        </p:nvSpPr>
        <p:spPr bwMode="auto">
          <a:xfrm>
            <a:off x="900113" y="3570991"/>
            <a:ext cx="7905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 sz="2000" b="0" dirty="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 b="0" dirty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b="0" dirty="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rPr>
              <a:t>교재 및 참고문헌 </a:t>
            </a:r>
          </a:p>
        </p:txBody>
      </p:sp>
      <p:sp>
        <p:nvSpPr>
          <p:cNvPr id="3082" name="Text Box 1139"/>
          <p:cNvSpPr txBox="1">
            <a:spLocks noChangeArrowheads="1"/>
          </p:cNvSpPr>
          <p:nvPr/>
        </p:nvSpPr>
        <p:spPr bwMode="auto">
          <a:xfrm>
            <a:off x="1255713" y="4182179"/>
            <a:ext cx="50444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ko-KR" altLang="en-US" b="0" dirty="0"/>
              <a:t>교재</a:t>
            </a:r>
            <a:r>
              <a:rPr lang="en-US" altLang="ko-KR" b="0" dirty="0"/>
              <a:t>:</a:t>
            </a:r>
          </a:p>
          <a:p>
            <a:pPr eaLnBrk="1" hangingPunct="1"/>
            <a:r>
              <a:rPr lang="en-US" altLang="ko-KR" b="0" dirty="0"/>
              <a:t>  </a:t>
            </a:r>
            <a:r>
              <a:rPr lang="en-US" altLang="ko-KR" b="0" dirty="0" smtClean="0"/>
              <a:t>* </a:t>
            </a:r>
            <a:r>
              <a:rPr lang="ko-KR" altLang="en-US" b="0" dirty="0" err="1"/>
              <a:t>스티븐</a:t>
            </a:r>
            <a:r>
              <a:rPr lang="ko-KR" altLang="en-US" b="0" dirty="0"/>
              <a:t> 스키에나</a:t>
            </a:r>
            <a:r>
              <a:rPr lang="en-US" altLang="ko-KR" b="0" dirty="0"/>
              <a:t>, </a:t>
            </a:r>
            <a:r>
              <a:rPr lang="ko-KR" altLang="en-US" b="0" dirty="0"/>
              <a:t>미구엘 </a:t>
            </a:r>
            <a:r>
              <a:rPr lang="ko-KR" altLang="en-US" b="0" dirty="0" err="1"/>
              <a:t>레비야</a:t>
            </a:r>
            <a:r>
              <a:rPr lang="ko-KR" altLang="en-US" b="0" dirty="0"/>
              <a:t> 저</a:t>
            </a:r>
            <a:r>
              <a:rPr lang="en-US" altLang="ko-KR" b="0" dirty="0"/>
              <a:t>, </a:t>
            </a:r>
            <a:r>
              <a:rPr lang="ko-KR" altLang="en-US" b="0" dirty="0"/>
              <a:t>서환수 역</a:t>
            </a:r>
            <a:r>
              <a:rPr lang="en-US" altLang="ko-KR" b="0" dirty="0"/>
              <a:t>, </a:t>
            </a:r>
            <a:r>
              <a:rPr lang="ko-KR" altLang="en-US" b="0" dirty="0"/>
              <a:t>알고리즘 트레이닝 북 </a:t>
            </a:r>
            <a:r>
              <a:rPr lang="en-US" altLang="ko-KR" b="0" dirty="0"/>
              <a:t>(Programming Challenges), </a:t>
            </a:r>
            <a:r>
              <a:rPr lang="ko-KR" altLang="en-US" b="0" dirty="0" err="1"/>
              <a:t>한빛미디어</a:t>
            </a:r>
            <a:r>
              <a:rPr lang="en-US" altLang="ko-KR" b="0" dirty="0"/>
              <a:t>, 2014.5 (10</a:t>
            </a:r>
            <a:r>
              <a:rPr lang="ko-KR" altLang="en-US" b="0" dirty="0"/>
              <a:t>쇄</a:t>
            </a:r>
            <a:r>
              <a:rPr lang="en-US" altLang="ko-KR" b="0" dirty="0"/>
              <a:t>)</a:t>
            </a:r>
          </a:p>
        </p:txBody>
      </p:sp>
      <p:sp>
        <p:nvSpPr>
          <p:cNvPr id="3083" name="Rectangle 1140"/>
          <p:cNvSpPr>
            <a:spLocks noChangeArrowheads="1"/>
          </p:cNvSpPr>
          <p:nvPr/>
        </p:nvSpPr>
        <p:spPr bwMode="auto">
          <a:xfrm>
            <a:off x="914400" y="5438775"/>
            <a:ext cx="7905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ko-KR" sz="2000" b="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 b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b="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rPr>
              <a:t>담당교수 및 강의자료실 </a:t>
            </a:r>
          </a:p>
        </p:txBody>
      </p:sp>
      <p:sp>
        <p:nvSpPr>
          <p:cNvPr id="3084" name="Text Box 1141"/>
          <p:cNvSpPr txBox="1">
            <a:spLocks noChangeArrowheads="1"/>
          </p:cNvSpPr>
          <p:nvPr/>
        </p:nvSpPr>
        <p:spPr bwMode="auto">
          <a:xfrm>
            <a:off x="1258888" y="6124575"/>
            <a:ext cx="75819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ko-KR" altLang="en-US" b="0" dirty="0"/>
              <a:t>하진영</a:t>
            </a:r>
            <a:r>
              <a:rPr lang="en-US" altLang="ko-KR" b="0" dirty="0"/>
              <a:t>, jyha@kangwon.ac.kr, 250-6386, </a:t>
            </a:r>
            <a:r>
              <a:rPr lang="ko-KR" altLang="en-US" b="0" dirty="0"/>
              <a:t>공</a:t>
            </a:r>
            <a:r>
              <a:rPr lang="en-US" altLang="ko-KR" b="0" dirty="0"/>
              <a:t>6-406</a:t>
            </a:r>
          </a:p>
          <a:p>
            <a:pPr eaLnBrk="1" hangingPunct="1"/>
            <a:r>
              <a:rPr lang="en-US" altLang="ko-KR" b="0" dirty="0"/>
              <a:t>http</a:t>
            </a:r>
            <a:r>
              <a:rPr lang="en-US" altLang="ko-KR" b="0" dirty="0" smtClean="0"/>
              <a:t>://eruri.kangwon.ac.kr</a:t>
            </a:r>
            <a:endParaRPr lang="en-US" altLang="ko-KR" b="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541" y="3525056"/>
            <a:ext cx="2270199" cy="3064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수업 운영 방식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4105" name="Rectangle 61"/>
          <p:cNvSpPr>
            <a:spLocks noChangeArrowheads="1"/>
          </p:cNvSpPr>
          <p:nvPr/>
        </p:nvSpPr>
        <p:spPr bwMode="auto">
          <a:xfrm>
            <a:off x="0" y="1617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4106" name="Rectangle 1031"/>
          <p:cNvSpPr txBox="1">
            <a:spLocks noChangeArrowheads="1"/>
          </p:cNvSpPr>
          <p:nvPr/>
        </p:nvSpPr>
        <p:spPr bwMode="auto">
          <a:xfrm>
            <a:off x="900113" y="981075"/>
            <a:ext cx="7905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en-US" altLang="ko-KR" sz="200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선수과목 및 지식</a:t>
            </a:r>
            <a:r>
              <a:rPr lang="ko-KR" altLang="en-US" sz="200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</a:p>
        </p:txBody>
      </p:sp>
      <p:sp>
        <p:nvSpPr>
          <p:cNvPr id="4107" name="Text Box 1139"/>
          <p:cNvSpPr txBox="1">
            <a:spLocks noChangeArrowheads="1"/>
          </p:cNvSpPr>
          <p:nvPr/>
        </p:nvSpPr>
        <p:spPr bwMode="auto">
          <a:xfrm>
            <a:off x="1255713" y="1727200"/>
            <a:ext cx="78882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en-US" altLang="ko-KR" sz="1800" b="0" dirty="0"/>
              <a:t>C/C++ </a:t>
            </a:r>
            <a:r>
              <a:rPr lang="ko-KR" altLang="en-US" sz="1800" b="0" dirty="0"/>
              <a:t>또는 자바 프로그래밍</a:t>
            </a:r>
          </a:p>
          <a:p>
            <a:pPr eaLnBrk="1" hangingPunct="1"/>
            <a:r>
              <a:rPr lang="ko-KR" altLang="en-US" sz="1800" b="0" dirty="0"/>
              <a:t>자료구조 및 실습</a:t>
            </a:r>
            <a:endParaRPr lang="en-US" altLang="ko-KR" sz="1800" b="0" dirty="0"/>
          </a:p>
        </p:txBody>
      </p:sp>
      <p:sp>
        <p:nvSpPr>
          <p:cNvPr id="4108" name="Rectangle 1031"/>
          <p:cNvSpPr txBox="1">
            <a:spLocks noChangeArrowheads="1"/>
          </p:cNvSpPr>
          <p:nvPr/>
        </p:nvSpPr>
        <p:spPr bwMode="auto">
          <a:xfrm>
            <a:off x="900113" y="2527300"/>
            <a:ext cx="7905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 dirty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 smtClean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실습사이트</a:t>
            </a:r>
            <a:endParaRPr lang="ko-KR" altLang="en-US" sz="2000" dirty="0">
              <a:solidFill>
                <a:schemeClr val="tx2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109" name="Text Box 1139"/>
          <p:cNvSpPr txBox="1">
            <a:spLocks noChangeArrowheads="1"/>
          </p:cNvSpPr>
          <p:nvPr/>
        </p:nvSpPr>
        <p:spPr bwMode="auto">
          <a:xfrm>
            <a:off x="1255713" y="3109749"/>
            <a:ext cx="78882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en-US" altLang="ko-KR" sz="1800" b="0" dirty="0" smtClean="0"/>
              <a:t>https://kangwon.goorm.io (</a:t>
            </a:r>
            <a:r>
              <a:rPr lang="ko-KR" altLang="en-US" sz="1800" dirty="0" smtClean="0"/>
              <a:t>크롬 </a:t>
            </a:r>
            <a:r>
              <a:rPr lang="ko-KR" altLang="en-US" sz="1800" dirty="0" smtClean="0"/>
              <a:t>권장</a:t>
            </a:r>
            <a:r>
              <a:rPr lang="en-US" altLang="ko-KR" sz="1800" b="0" dirty="0" smtClean="0"/>
              <a:t>)</a:t>
            </a:r>
            <a:endParaRPr lang="en-US" altLang="ko-KR" sz="1800" b="0" dirty="0"/>
          </a:p>
        </p:txBody>
      </p:sp>
      <p:sp>
        <p:nvSpPr>
          <p:cNvPr id="4110" name="Rectangle 1031"/>
          <p:cNvSpPr txBox="1">
            <a:spLocks noChangeArrowheads="1"/>
          </p:cNvSpPr>
          <p:nvPr/>
        </p:nvSpPr>
        <p:spPr bwMode="auto">
          <a:xfrm>
            <a:off x="900113" y="3573016"/>
            <a:ext cx="79057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en-US" altLang="ko-KR" sz="2000" dirty="0">
                <a:solidFill>
                  <a:srgbClr val="5F5F5F"/>
                </a:solidFill>
                <a:latin typeface="HY헤드라인M" pitchFamily="18" charset="-127"/>
                <a:ea typeface="HY헤드라인M" pitchFamily="18" charset="-127"/>
              </a:rPr>
              <a:t>■</a:t>
            </a:r>
            <a:r>
              <a:rPr lang="en-US" altLang="ko-KR" sz="2000" dirty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2000" dirty="0">
                <a:solidFill>
                  <a:srgbClr val="010000"/>
                </a:solidFill>
                <a:latin typeface="HY헤드라인M" pitchFamily="18" charset="-127"/>
                <a:ea typeface="HY헤드라인M" pitchFamily="18" charset="-127"/>
              </a:rPr>
              <a:t>평가</a:t>
            </a:r>
            <a:r>
              <a:rPr lang="ko-KR" altLang="en-US" sz="2000" dirty="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</a:p>
        </p:txBody>
      </p:sp>
      <p:sp>
        <p:nvSpPr>
          <p:cNvPr id="4111" name="Text Box 1139"/>
          <p:cNvSpPr txBox="1">
            <a:spLocks noChangeArrowheads="1"/>
          </p:cNvSpPr>
          <p:nvPr/>
        </p:nvSpPr>
        <p:spPr bwMode="auto">
          <a:xfrm>
            <a:off x="1267925" y="4141726"/>
            <a:ext cx="78882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eaLnBrk="1" hangingPunct="1"/>
            <a:r>
              <a:rPr lang="ko-KR" altLang="en-US" sz="1800" b="0" dirty="0"/>
              <a:t>중간고사 </a:t>
            </a:r>
            <a:r>
              <a:rPr lang="en-US" altLang="ko-KR" sz="1800" b="0" dirty="0" smtClean="0"/>
              <a:t> 10</a:t>
            </a:r>
            <a:r>
              <a:rPr lang="en-US" altLang="ko-KR" sz="1800" b="0" dirty="0"/>
              <a:t>%, </a:t>
            </a:r>
            <a:r>
              <a:rPr lang="ko-KR" altLang="en-US" sz="1800" b="0" dirty="0"/>
              <a:t>기말고사 </a:t>
            </a:r>
            <a:r>
              <a:rPr lang="en-US" altLang="ko-KR" sz="1800" b="0" dirty="0" smtClean="0"/>
              <a:t>10</a:t>
            </a:r>
            <a:r>
              <a:rPr lang="en-US" altLang="ko-KR" sz="1800" b="0" dirty="0"/>
              <a:t>%, </a:t>
            </a:r>
            <a:r>
              <a:rPr lang="ko-KR" altLang="en-US" sz="1800" b="0" dirty="0" smtClean="0"/>
              <a:t>과제 </a:t>
            </a:r>
            <a:r>
              <a:rPr lang="en-US" altLang="ko-KR" sz="1800" b="0" dirty="0" smtClean="0"/>
              <a:t>70</a:t>
            </a:r>
            <a:r>
              <a:rPr lang="en-US" altLang="ko-KR" sz="1800" b="0" dirty="0"/>
              <a:t>%, </a:t>
            </a:r>
            <a:r>
              <a:rPr lang="ko-KR" altLang="en-US" sz="1800" b="0" dirty="0"/>
              <a:t>출석 </a:t>
            </a:r>
            <a:r>
              <a:rPr lang="en-US" altLang="ko-KR" sz="1800" b="0" dirty="0"/>
              <a:t>10</a:t>
            </a:r>
            <a:r>
              <a:rPr lang="en-US" altLang="ko-KR" sz="1800" b="0" dirty="0" smtClean="0"/>
              <a:t>%</a:t>
            </a:r>
          </a:p>
          <a:p>
            <a:pPr eaLnBrk="1" hangingPunct="1"/>
            <a:endParaRPr lang="en-US" altLang="ko-KR" sz="1800" b="0" dirty="0" smtClean="0"/>
          </a:p>
          <a:p>
            <a:pPr eaLnBrk="1" hangingPunct="1"/>
            <a:r>
              <a:rPr lang="ko-KR" altLang="en-US" sz="1800" b="0" dirty="0"/>
              <a:t>매주 실습 과제를 평가하여 성적을 부여한다</a:t>
            </a:r>
            <a:r>
              <a:rPr lang="en-US" altLang="ko-KR" sz="1800" b="0" dirty="0"/>
              <a:t>. </a:t>
            </a:r>
            <a:r>
              <a:rPr lang="ko-KR" altLang="en-US" sz="1800" b="0" dirty="0" err="1"/>
              <a:t>주차별</a:t>
            </a:r>
            <a:r>
              <a:rPr lang="ko-KR" altLang="en-US" sz="1800" b="0" dirty="0"/>
              <a:t> 주제에 대해 </a:t>
            </a:r>
            <a:r>
              <a:rPr lang="en-US" altLang="ko-KR" sz="1800" b="0" dirty="0"/>
              <a:t>2</a:t>
            </a:r>
            <a:r>
              <a:rPr lang="ko-KR" altLang="en-US" sz="1800" b="0" dirty="0"/>
              <a:t>시간의 이론 강의가 있고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이론 강의 때 주제에 대한 설명과 프로그래밍 문제 해결 방식을 배운다</a:t>
            </a:r>
            <a:r>
              <a:rPr lang="en-US" altLang="ko-KR" sz="1800" b="0" dirty="0"/>
              <a:t>. 2</a:t>
            </a:r>
            <a:r>
              <a:rPr lang="ko-KR" altLang="en-US" sz="1800" b="0" dirty="0"/>
              <a:t>시간의 실습 시간에는 기초 문제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이론 강의 예제의 변형 문제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심화 문제가 주어지고 매 주마다 </a:t>
            </a:r>
            <a:r>
              <a:rPr lang="en-US" altLang="ko-KR" sz="1800" b="0" dirty="0" smtClean="0"/>
              <a:t>2~3</a:t>
            </a:r>
            <a:r>
              <a:rPr lang="ko-KR" altLang="en-US" sz="1800" b="0" dirty="0"/>
              <a:t>문제에 대한 프로그래밍 소스코드를 제출하여 평가하게 된다</a:t>
            </a:r>
            <a:r>
              <a:rPr lang="en-US" altLang="ko-KR" sz="1800" b="0" dirty="0" smtClean="0"/>
              <a:t>.</a:t>
            </a:r>
          </a:p>
          <a:p>
            <a:pPr eaLnBrk="1" hangingPunct="1"/>
            <a:r>
              <a:rPr lang="en-US" altLang="ko-KR" sz="1800" b="0" dirty="0" smtClean="0">
                <a:solidFill>
                  <a:srgbClr val="FF0000"/>
                </a:solidFill>
              </a:rPr>
              <a:t>(</a:t>
            </a:r>
            <a:r>
              <a:rPr lang="ko-KR" altLang="en-US" sz="1800" b="0" dirty="0" smtClean="0">
                <a:solidFill>
                  <a:srgbClr val="FF0000"/>
                </a:solidFill>
              </a:rPr>
              <a:t>표절 탐지 시스템을 사용하여 표절이 적발되면 처음에는 </a:t>
            </a:r>
            <a:r>
              <a:rPr lang="en-US" altLang="ko-KR" sz="1800" b="0" dirty="0" smtClean="0">
                <a:solidFill>
                  <a:srgbClr val="FF0000"/>
                </a:solidFill>
              </a:rPr>
              <a:t>0</a:t>
            </a:r>
            <a:r>
              <a:rPr lang="ko-KR" altLang="en-US" sz="1800" b="0" dirty="0" smtClean="0">
                <a:solidFill>
                  <a:srgbClr val="FF0000"/>
                </a:solidFill>
              </a:rPr>
              <a:t>점 처리</a:t>
            </a:r>
            <a:r>
              <a:rPr lang="en-US" altLang="ko-KR" sz="1800" b="0" dirty="0" smtClean="0">
                <a:solidFill>
                  <a:srgbClr val="FF0000"/>
                </a:solidFill>
              </a:rPr>
              <a:t>, 2</a:t>
            </a:r>
            <a:r>
              <a:rPr lang="ko-KR" altLang="en-US" sz="1800" b="0" dirty="0" smtClean="0">
                <a:solidFill>
                  <a:srgbClr val="FF0000"/>
                </a:solidFill>
              </a:rPr>
              <a:t>회 적발 시 </a:t>
            </a:r>
            <a:r>
              <a:rPr lang="en-US" altLang="ko-KR" sz="1800" b="0" dirty="0" smtClean="0">
                <a:solidFill>
                  <a:srgbClr val="FF0000"/>
                </a:solidFill>
              </a:rPr>
              <a:t>F)</a:t>
            </a:r>
            <a:endParaRPr lang="en-US" altLang="ko-KR" sz="1800" b="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217037" name="Group 9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82141"/>
              </p:ext>
            </p:extLst>
          </p:nvPr>
        </p:nvGraphicFramePr>
        <p:xfrm>
          <a:off x="1116013" y="1154113"/>
          <a:ext cx="7561263" cy="5395913"/>
        </p:xfrm>
        <a:graphic>
          <a:graphicData uri="http://schemas.openxmlformats.org/drawingml/2006/table">
            <a:tbl>
              <a:tblPr/>
              <a:tblGrid>
                <a:gridCol w="809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9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교과목 소개 및 실습 환경 점검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2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3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11, 12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문자열</a:t>
                      </a:r>
                      <a:r>
                        <a:rPr lang="en-US" altLang="ko-KR" sz="1600" b="1" dirty="0" smtClean="0">
                          <a:effectLst/>
                        </a:rPr>
                        <a:t>1</a:t>
                      </a:r>
                      <a:r>
                        <a:rPr lang="ko-KR" altLang="en-US" sz="1600" b="1" dirty="0" smtClean="0">
                          <a:effectLst/>
                        </a:rPr>
                        <a:t> </a:t>
                      </a:r>
                      <a:endParaRPr lang="en-US" altLang="ko-KR" sz="1600" dirty="0" smtClean="0">
                        <a:effectLst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17, 18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5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문자열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20, 21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6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25, 29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7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조합론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41, 46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8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중간 고사</a:t>
                      </a:r>
                      <a:endParaRPr kumimoji="1" lang="ko-K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~6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필기시험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7064510" y="6343479"/>
            <a:ext cx="1905000" cy="457200"/>
          </a:xfrm>
        </p:spPr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6153" name="Rectangle 61"/>
          <p:cNvSpPr>
            <a:spLocks noChangeArrowheads="1"/>
          </p:cNvSpPr>
          <p:nvPr/>
        </p:nvSpPr>
        <p:spPr bwMode="auto">
          <a:xfrm>
            <a:off x="0" y="1617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265459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877650"/>
              </p:ext>
            </p:extLst>
          </p:nvPr>
        </p:nvGraphicFramePr>
        <p:xfrm>
          <a:off x="1116013" y="1135063"/>
          <a:ext cx="7632699" cy="5084762"/>
        </p:xfrm>
        <a:graphic>
          <a:graphicData uri="http://schemas.openxmlformats.org/drawingml/2006/table">
            <a:tbl>
              <a:tblPr/>
              <a:tblGrid>
                <a:gridCol w="809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9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10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59</a:t>
                      </a: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61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11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그래프 순회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65, 71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12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그래프 알고리즘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73, 74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13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effectLst/>
                        </a:rPr>
                        <a:t>동적 프로그래밍</a:t>
                      </a:r>
                      <a:r>
                        <a:rPr lang="en-US" altLang="ko-KR" sz="1600" b="1" dirty="0" smtClean="0"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83, 84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동적 프로그래밍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86, 87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기말고사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~11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필기시험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바탕" pitchFamily="18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78904" y="116632"/>
            <a:ext cx="7772400" cy="1143000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구름</a:t>
            </a:r>
            <a:r>
              <a:rPr lang="en-US" altLang="ko-KR" b="1" dirty="0" smtClean="0"/>
              <a:t>EDU </a:t>
            </a:r>
            <a:r>
              <a:rPr lang="ko-KR" altLang="en-US" b="1" dirty="0" smtClean="0"/>
              <a:t>시스템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271381"/>
            <a:ext cx="7558608" cy="4114800"/>
          </a:xfrm>
        </p:spPr>
        <p:txBody>
          <a:bodyPr>
            <a:noAutofit/>
          </a:bodyPr>
          <a:lstStyle/>
          <a:p>
            <a:r>
              <a:rPr lang="ko-KR" altLang="en-US" sz="2000" dirty="0" smtClean="0"/>
              <a:t>구름</a:t>
            </a:r>
            <a:r>
              <a:rPr lang="en-US" altLang="ko-KR" sz="2000" dirty="0" smtClean="0"/>
              <a:t>EDU </a:t>
            </a:r>
            <a:r>
              <a:rPr lang="ko-KR" altLang="en-US" sz="2000" dirty="0" smtClean="0"/>
              <a:t>도움말을 참고하여 회원 가입 및 수강 신청</a:t>
            </a:r>
            <a:endParaRPr lang="en-US" altLang="ko-KR" sz="2000" dirty="0"/>
          </a:p>
          <a:p>
            <a:pPr lvl="1"/>
            <a:r>
              <a:rPr lang="en-US" altLang="ko-KR" sz="1600" dirty="0"/>
              <a:t>https://help.goorm.io/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92" y="2069696"/>
            <a:ext cx="7805903" cy="4758748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 bwMode="auto">
          <a:xfrm>
            <a:off x="4355976" y="5589240"/>
            <a:ext cx="1152128" cy="432048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81617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260648"/>
            <a:ext cx="7700392" cy="2088232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실습 사이트 주소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구글 크롬 </a:t>
            </a:r>
            <a:r>
              <a:rPr lang="ko-KR" altLang="en-US" sz="2400" dirty="0" err="1" smtClean="0"/>
              <a:t>웹브라우저</a:t>
            </a:r>
            <a:r>
              <a:rPr lang="ko-KR" altLang="en-US" sz="2400" dirty="0" smtClean="0"/>
              <a:t> 권장</a:t>
            </a:r>
            <a:r>
              <a:rPr lang="en-US" altLang="ko-KR" sz="2400" dirty="0" smtClean="0"/>
              <a:t>)</a:t>
            </a:r>
          </a:p>
          <a:p>
            <a:pPr lvl="1"/>
            <a:r>
              <a:rPr lang="en-US" altLang="ko-KR" sz="2000" dirty="0">
                <a:hlinkClick r:id="rId2"/>
              </a:rPr>
              <a:t>http://kangwon.goorm.io</a:t>
            </a:r>
            <a:r>
              <a:rPr lang="en-US" altLang="ko-KR" sz="2000" dirty="0" smtClean="0">
                <a:hlinkClick r:id="rId2"/>
              </a:rPr>
              <a:t>/</a:t>
            </a:r>
            <a:endParaRPr lang="en-US" altLang="ko-KR" sz="2000" dirty="0" smtClean="0"/>
          </a:p>
          <a:p>
            <a:r>
              <a:rPr lang="ko-KR" altLang="en-US" sz="2400" dirty="0" smtClean="0"/>
              <a:t>분반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문제해결프로그래밍</a:t>
            </a:r>
            <a:r>
              <a:rPr lang="en-US" altLang="ko-KR" sz="2000" dirty="0" smtClean="0"/>
              <a:t>(1</a:t>
            </a:r>
            <a:r>
              <a:rPr lang="ko-KR" altLang="en-US" sz="2000" dirty="0" smtClean="0"/>
              <a:t>분반 </a:t>
            </a:r>
            <a:r>
              <a:rPr lang="en-US" altLang="ko-KR" sz="2000" dirty="0" smtClean="0"/>
              <a:t>– </a:t>
            </a:r>
            <a:r>
              <a:rPr lang="ko-KR" altLang="en-US" sz="2000" dirty="0" smtClean="0"/>
              <a:t>담당교수 하진영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690" y="1988840"/>
            <a:ext cx="6756237" cy="452412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 bwMode="auto">
          <a:xfrm>
            <a:off x="2843808" y="5085184"/>
            <a:ext cx="1152128" cy="1427776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0105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42" y="692696"/>
            <a:ext cx="9135897" cy="59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517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08504" cy="58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338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" y="764704"/>
            <a:ext cx="9146106" cy="544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636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84784"/>
            <a:ext cx="8466188" cy="3312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552" y="868825"/>
            <a:ext cx="7249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주차 부터 테스트케이스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번은 문제 설명에 나와 있는 예제이므로 배점이 </a:t>
            </a:r>
            <a:r>
              <a:rPr lang="en-US" altLang="ko-KR" dirty="0" smtClean="0"/>
              <a:t>0%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7668344" y="2636912"/>
            <a:ext cx="504056" cy="36004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759361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코드 채점 </a:t>
            </a:r>
            <a:r>
              <a:rPr lang="ko-KR" altLang="en-US" b="1" dirty="0" smtClean="0"/>
              <a:t>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문제마다 채점용 </a:t>
            </a:r>
            <a:r>
              <a:rPr lang="en-US" altLang="ko-KR" sz="2400" dirty="0"/>
              <a:t>input/output</a:t>
            </a:r>
            <a:r>
              <a:rPr lang="ko-KR" altLang="en-US" sz="2400" dirty="0"/>
              <a:t>이 여러 개 있어서</a:t>
            </a:r>
            <a:r>
              <a:rPr lang="en-US" altLang="ko-KR" sz="2400" dirty="0"/>
              <a:t>, </a:t>
            </a:r>
            <a:r>
              <a:rPr lang="ko-KR" altLang="en-US" sz="2400" dirty="0"/>
              <a:t>각 </a:t>
            </a:r>
            <a:r>
              <a:rPr lang="en-US" altLang="ko-KR" sz="2400" dirty="0"/>
              <a:t>input</a:t>
            </a:r>
            <a:r>
              <a:rPr lang="ko-KR" altLang="en-US" sz="2400" dirty="0"/>
              <a:t>을 프로그램에 넣었을 때 올바른 </a:t>
            </a:r>
            <a:r>
              <a:rPr lang="en-US" altLang="ko-KR" sz="2400" dirty="0"/>
              <a:t>output</a:t>
            </a:r>
            <a:r>
              <a:rPr lang="ko-KR" altLang="en-US" sz="2400" dirty="0"/>
              <a:t>이 나오면 점수를 얻을 수 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프로그램이 컴파일이 안 되거나</a:t>
            </a:r>
            <a:r>
              <a:rPr lang="en-US" altLang="ko-KR" sz="2400" dirty="0"/>
              <a:t>, runtime error</a:t>
            </a:r>
            <a:r>
              <a:rPr lang="ko-KR" altLang="en-US" sz="2400" dirty="0"/>
              <a:t>가 뜨거나</a:t>
            </a:r>
            <a:r>
              <a:rPr lang="en-US" altLang="ko-KR" sz="2400" dirty="0"/>
              <a:t>, output</a:t>
            </a:r>
            <a:r>
              <a:rPr lang="ko-KR" altLang="en-US" sz="2400" dirty="0"/>
              <a:t>의 형식이 잘못되었거나 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16</a:t>
            </a:r>
            <a:r>
              <a:rPr lang="ko-KR" altLang="en-US" sz="2400" dirty="0"/>
              <a:t>진수를 </a:t>
            </a:r>
            <a:r>
              <a:rPr lang="en-US" altLang="ko-KR" sz="2400" dirty="0"/>
              <a:t>0xAB</a:t>
            </a:r>
            <a:r>
              <a:rPr lang="ko-KR" altLang="en-US" sz="2400" dirty="0"/>
              <a:t>처럼 출력해야 하는데 그냥 </a:t>
            </a:r>
            <a:r>
              <a:rPr lang="en-US" altLang="ko-KR" sz="2400" dirty="0"/>
              <a:t>AB</a:t>
            </a:r>
            <a:r>
              <a:rPr lang="ko-KR" altLang="en-US" sz="2400" dirty="0"/>
              <a:t>로 출력</a:t>
            </a:r>
            <a:r>
              <a:rPr lang="en-US" altLang="ko-KR" sz="2400" dirty="0"/>
              <a:t>), </a:t>
            </a:r>
            <a:r>
              <a:rPr lang="ko-KR" altLang="en-US" sz="2400" dirty="0"/>
              <a:t>실행하는 데 시간이 너무 오래 걸리면 </a:t>
            </a:r>
            <a:r>
              <a:rPr lang="en-US" altLang="ko-KR" sz="2400" dirty="0"/>
              <a:t>0</a:t>
            </a:r>
            <a:r>
              <a:rPr lang="ko-KR" altLang="en-US" sz="2400" dirty="0"/>
              <a:t>점이다</a:t>
            </a:r>
            <a:r>
              <a:rPr lang="en-US" altLang="ko-KR" sz="2400" dirty="0" smtClean="0"/>
              <a:t>.</a:t>
            </a:r>
          </a:p>
          <a:p>
            <a:pPr lvl="1"/>
            <a:r>
              <a:rPr lang="en-US" altLang="ko-KR" sz="2000" dirty="0" smtClean="0"/>
              <a:t>C/C++</a:t>
            </a:r>
            <a:r>
              <a:rPr lang="ko-KR" altLang="en-US" sz="2000" dirty="0" smtClean="0"/>
              <a:t>은 </a:t>
            </a:r>
            <a:r>
              <a:rPr lang="en-US" altLang="ko-KR" sz="2000" dirty="0" smtClean="0"/>
              <a:t>1</a:t>
            </a:r>
            <a:r>
              <a:rPr lang="ko-KR" altLang="en-US" sz="2000" dirty="0" smtClean="0"/>
              <a:t>초</a:t>
            </a:r>
            <a:r>
              <a:rPr lang="en-US" altLang="ko-KR" sz="2000" dirty="0" smtClean="0"/>
              <a:t>, Java</a:t>
            </a:r>
            <a:r>
              <a:rPr lang="ko-KR" altLang="en-US" sz="2000" dirty="0" smtClean="0"/>
              <a:t>는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초 시간 제한</a:t>
            </a:r>
            <a:endParaRPr lang="en-US" altLang="ko-KR" sz="2000" dirty="0"/>
          </a:p>
          <a:p>
            <a:r>
              <a:rPr lang="ko-KR" altLang="en-US" sz="2400" b="1" dirty="0"/>
              <a:t>코드를 여러 번 제출했다면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최종</a:t>
            </a:r>
            <a:r>
              <a:rPr lang="ko-KR" altLang="en-US" sz="2400" b="1" dirty="0" smtClean="0"/>
              <a:t> </a:t>
            </a:r>
            <a:r>
              <a:rPr lang="ko-KR" altLang="en-US" sz="2400" b="1" dirty="0"/>
              <a:t>제출할 </a:t>
            </a:r>
            <a:r>
              <a:rPr lang="ko-KR" altLang="en-US" sz="2400" b="1" dirty="0" smtClean="0"/>
              <a:t>것으로 성적이 반영된다</a:t>
            </a:r>
            <a:r>
              <a:rPr lang="en-US" altLang="ko-KR" sz="2400" b="1" dirty="0" smtClean="0"/>
              <a:t>.</a:t>
            </a:r>
            <a:endParaRPr lang="en-US" altLang="ko-KR" sz="2400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3254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늦게 냈을 때의 점수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 smtClean="0"/>
              <a:t>실습 </a:t>
            </a:r>
            <a:r>
              <a:rPr lang="ko-KR" altLang="en-US" sz="2400" dirty="0"/>
              <a:t>시간인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시간 </a:t>
            </a:r>
            <a:r>
              <a:rPr lang="en-US" altLang="ko-KR" sz="2400" dirty="0" smtClean="0"/>
              <a:t>50</a:t>
            </a:r>
            <a:r>
              <a:rPr lang="ko-KR" altLang="en-US" sz="2400" dirty="0" smtClean="0"/>
              <a:t>분 안에 </a:t>
            </a:r>
            <a:r>
              <a:rPr lang="ko-KR" altLang="en-US" sz="2400" dirty="0"/>
              <a:t>제출하면 </a:t>
            </a:r>
            <a:r>
              <a:rPr lang="ko-KR" altLang="en-US" sz="2400" dirty="0" smtClean="0"/>
              <a:t>성적 </a:t>
            </a:r>
            <a:r>
              <a:rPr lang="en-US" altLang="ko-KR" sz="2400" dirty="0" smtClean="0"/>
              <a:t>100% </a:t>
            </a:r>
            <a:r>
              <a:rPr lang="ko-KR" altLang="en-US" sz="2400" dirty="0" smtClean="0"/>
              <a:t>반영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r>
              <a:rPr lang="ko-KR" altLang="en-US" sz="2400" dirty="0"/>
              <a:t>실습이 끝나고 나서 </a:t>
            </a:r>
            <a:r>
              <a:rPr lang="en-US" altLang="ko-KR" sz="2400" dirty="0"/>
              <a:t>24</a:t>
            </a:r>
            <a:r>
              <a:rPr lang="ko-KR" altLang="en-US" sz="2400" dirty="0"/>
              <a:t>시간 안에 제출하면 점수의 </a:t>
            </a:r>
            <a:r>
              <a:rPr lang="en-US" altLang="ko-KR" sz="2400" dirty="0"/>
              <a:t>10%</a:t>
            </a:r>
            <a:r>
              <a:rPr lang="ko-KR" altLang="en-US" sz="2400" dirty="0"/>
              <a:t>가 깎이고</a:t>
            </a:r>
            <a:r>
              <a:rPr lang="en-US" altLang="ko-KR" sz="2400" dirty="0"/>
              <a:t>, 48</a:t>
            </a:r>
            <a:r>
              <a:rPr lang="ko-KR" altLang="en-US" sz="2400" dirty="0"/>
              <a:t>시간 안에 제출하면 점수의 </a:t>
            </a:r>
            <a:r>
              <a:rPr lang="en-US" altLang="ko-KR" sz="2400" dirty="0"/>
              <a:t>20%</a:t>
            </a:r>
            <a:r>
              <a:rPr lang="ko-KR" altLang="en-US" sz="2400" dirty="0"/>
              <a:t>가 깎이고</a:t>
            </a:r>
            <a:r>
              <a:rPr lang="en-US" altLang="ko-KR" sz="2400" dirty="0"/>
              <a:t>, ... (</a:t>
            </a:r>
            <a:r>
              <a:rPr lang="ko-KR" altLang="en-US" sz="2400" dirty="0"/>
              <a:t>이하 생략</a:t>
            </a:r>
            <a:r>
              <a:rPr lang="en-US" altLang="ko-KR" sz="2400" dirty="0"/>
              <a:t>). </a:t>
            </a:r>
            <a:r>
              <a:rPr lang="ko-KR" altLang="en-US" sz="2400" dirty="0"/>
              <a:t>따라서 </a:t>
            </a:r>
            <a:r>
              <a:rPr lang="en-US" altLang="ko-KR" sz="2400" dirty="0"/>
              <a:t>10</a:t>
            </a:r>
            <a:r>
              <a:rPr lang="ko-KR" altLang="en-US" sz="2400" dirty="0"/>
              <a:t>일 후에는 </a:t>
            </a:r>
            <a:r>
              <a:rPr lang="ko-KR" altLang="en-US" sz="2400" dirty="0" smtClean="0"/>
              <a:t>코드도 제출하지 못하고 점수를 </a:t>
            </a:r>
            <a:r>
              <a:rPr lang="ko-KR" altLang="en-US" sz="2400" dirty="0"/>
              <a:t>받을 </a:t>
            </a:r>
            <a:r>
              <a:rPr lang="ko-KR" altLang="en-US" sz="2400" dirty="0" smtClean="0"/>
              <a:t>수도 </a:t>
            </a:r>
            <a:r>
              <a:rPr lang="ko-KR" altLang="en-US" sz="2400" dirty="0"/>
              <a:t>없다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한 문제를 늦게 제출해도 먼저 제출한 다른 문제들의 점수에는 영향이 없다</a:t>
            </a:r>
            <a:r>
              <a:rPr lang="en-US" altLang="ko-KR" sz="24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6009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운영 지침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실습 시간 중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스마트폰 </a:t>
            </a:r>
            <a:r>
              <a:rPr lang="ko-KR" altLang="en-US" sz="2000" dirty="0"/>
              <a:t>사용 </a:t>
            </a:r>
            <a:r>
              <a:rPr lang="ko-KR" altLang="en-US" sz="2000" dirty="0" smtClean="0"/>
              <a:t>금지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PC</a:t>
            </a:r>
            <a:r>
              <a:rPr lang="ko-KR" altLang="en-US" sz="2000" dirty="0"/>
              <a:t>를 통한 어떤 형태의 외부 접촉도 금지 </a:t>
            </a:r>
            <a:r>
              <a:rPr lang="en-US" altLang="ko-KR" sz="2000" dirty="0" smtClean="0"/>
              <a:t>(USB</a:t>
            </a:r>
            <a:r>
              <a:rPr lang="ko-KR" altLang="en-US" sz="2000" dirty="0" smtClean="0"/>
              <a:t>메모리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이메일</a:t>
            </a:r>
            <a:r>
              <a:rPr lang="en-US" altLang="ko-KR" sz="2000" dirty="0"/>
              <a:t>, </a:t>
            </a:r>
            <a:r>
              <a:rPr lang="ko-KR" altLang="en-US" sz="2000" dirty="0"/>
              <a:t>메신저</a:t>
            </a:r>
            <a:r>
              <a:rPr lang="en-US" altLang="ko-KR" sz="2000" dirty="0"/>
              <a:t>, </a:t>
            </a:r>
            <a:r>
              <a:rPr lang="en-US" altLang="ko-KR" sz="2000" dirty="0" smtClean="0"/>
              <a:t>SNS, </a:t>
            </a:r>
            <a:r>
              <a:rPr lang="ko-KR" altLang="en-US" sz="2000" dirty="0" err="1" smtClean="0"/>
              <a:t>클라우드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기타 등등 금지</a:t>
            </a:r>
            <a:r>
              <a:rPr lang="en-US" altLang="ko-KR" sz="2000" dirty="0"/>
              <a:t>. </a:t>
            </a:r>
            <a:r>
              <a:rPr lang="ko-KR" altLang="en-US" sz="2000" dirty="0"/>
              <a:t>인터넷 </a:t>
            </a:r>
            <a:r>
              <a:rPr lang="ko-KR" altLang="en-US" sz="2000" dirty="0" smtClean="0"/>
              <a:t>검색도 금지</a:t>
            </a:r>
            <a:r>
              <a:rPr lang="en-US" altLang="ko-KR" sz="2000" dirty="0" smtClean="0"/>
              <a:t>)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000" dirty="0" smtClean="0"/>
              <a:t>실습 시간이 끝난 이후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소스코드 표절을 제외한 모든 것 가능</a:t>
            </a:r>
            <a:endParaRPr lang="en-US" altLang="ko-KR" sz="20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69461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6114</TotalTime>
  <Words>660</Words>
  <Application>Microsoft Office PowerPoint</Application>
  <PresentationFormat>화면 슬라이드 쇼(4:3)</PresentationFormat>
  <Paragraphs>127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HY헤드라인M</vt:lpstr>
      <vt:lpstr>굴림</vt:lpstr>
      <vt:lpstr>굴림체</vt:lpstr>
      <vt:lpstr>바탕</vt:lpstr>
      <vt:lpstr>산돌명조 M</vt:lpstr>
      <vt:lpstr>기본 디자인</vt:lpstr>
      <vt:lpstr>PowerPoint 프레젠테이션</vt:lpstr>
      <vt:lpstr>■ 개요 </vt:lpstr>
      <vt:lpstr>PowerPoint 프레젠테이션</vt:lpstr>
      <vt:lpstr>PowerPoint 프레젠테이션</vt:lpstr>
      <vt:lpstr>PowerPoint 프레젠테이션</vt:lpstr>
      <vt:lpstr>구름EDU 시스템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코드 채점 방식</vt:lpstr>
      <vt:lpstr>늦게 냈을 때의 점수</vt:lpstr>
      <vt:lpstr>실습 운영 지침</vt:lpstr>
    </vt:vector>
  </TitlesOfParts>
  <Company>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 진영</cp:lastModifiedBy>
  <cp:revision>321</cp:revision>
  <dcterms:created xsi:type="dcterms:W3CDTF">2003-02-22T04:47:49Z</dcterms:created>
  <dcterms:modified xsi:type="dcterms:W3CDTF">2019-09-03T06:39:28Z</dcterms:modified>
</cp:coreProperties>
</file>