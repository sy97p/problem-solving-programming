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434" r:id="rId2"/>
    <p:sldId id="457" r:id="rId3"/>
    <p:sldId id="437" r:id="rId4"/>
    <p:sldId id="485" r:id="rId5"/>
    <p:sldId id="515" r:id="rId6"/>
    <p:sldId id="486" r:id="rId7"/>
    <p:sldId id="458" r:id="rId8"/>
    <p:sldId id="489" r:id="rId9"/>
    <p:sldId id="459" r:id="rId10"/>
    <p:sldId id="487" r:id="rId11"/>
    <p:sldId id="490" r:id="rId12"/>
    <p:sldId id="488" r:id="rId13"/>
    <p:sldId id="491" r:id="rId14"/>
    <p:sldId id="492" r:id="rId15"/>
    <p:sldId id="493" r:id="rId16"/>
    <p:sldId id="494" r:id="rId17"/>
    <p:sldId id="508" r:id="rId18"/>
    <p:sldId id="509" r:id="rId19"/>
    <p:sldId id="514" r:id="rId20"/>
    <p:sldId id="510" r:id="rId21"/>
    <p:sldId id="513" r:id="rId22"/>
    <p:sldId id="511" r:id="rId23"/>
    <p:sldId id="512" r:id="rId24"/>
    <p:sldId id="495" r:id="rId25"/>
    <p:sldId id="503" r:id="rId26"/>
    <p:sldId id="496" r:id="rId27"/>
    <p:sldId id="497" r:id="rId28"/>
    <p:sldId id="504" r:id="rId29"/>
    <p:sldId id="507" r:id="rId30"/>
    <p:sldId id="505" r:id="rId31"/>
    <p:sldId id="506" r:id="rId32"/>
    <p:sldId id="498" r:id="rId33"/>
    <p:sldId id="499" r:id="rId34"/>
    <p:sldId id="500" r:id="rId35"/>
    <p:sldId id="501" r:id="rId36"/>
    <p:sldId id="502" r:id="rId37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B0E5"/>
    <a:srgbClr val="7ACCB7"/>
    <a:srgbClr val="FFCC00"/>
    <a:srgbClr val="0066FF"/>
    <a:srgbClr val="89B2DB"/>
    <a:srgbClr val="3D81C5"/>
    <a:srgbClr val="B4B4B4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1" d="100"/>
          <a:sy n="121" d="100"/>
        </p:scale>
        <p:origin x="-1320" y="-9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3</a:t>
            </a:r>
            <a:r>
              <a:rPr lang="ko-KR" altLang="en-US" dirty="0" smtClean="0"/>
              <a:t>장 문자열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217037" name="Group 9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14493"/>
              </p:ext>
            </p:extLst>
          </p:nvPr>
        </p:nvGraphicFramePr>
        <p:xfrm>
          <a:off x="1116013" y="1154113"/>
          <a:ext cx="7561263" cy="5395913"/>
        </p:xfrm>
        <a:graphic>
          <a:graphicData uri="http://schemas.openxmlformats.org/drawingml/2006/table">
            <a:tbl>
              <a:tblPr/>
              <a:tblGrid>
                <a:gridCol w="809652"/>
                <a:gridCol w="3079082"/>
                <a:gridCol w="2160311"/>
                <a:gridCol w="1512218"/>
              </a:tblGrid>
              <a:tr h="518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74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교과목 소개 및 실습 환경 점검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27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2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3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11, 12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4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문자열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17, 18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문자열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20, 21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6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25, 29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7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조합론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41, 46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8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중간 고사</a:t>
                      </a:r>
                      <a:endParaRPr kumimoji="1" lang="ko-K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문자 코드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문자 코드</a:t>
            </a:r>
            <a:r>
              <a:rPr lang="en-US" altLang="ko-KR" sz="2000" dirty="0" smtClean="0"/>
              <a:t>:</a:t>
            </a:r>
            <a:r>
              <a:rPr lang="ko-KR" altLang="en-US" sz="2000" dirty="0" smtClean="0"/>
              <a:t> 특정 문자 체계를 구성하는 기호와 숫자를 대응시켜 놓은 것</a:t>
            </a:r>
            <a:endParaRPr lang="en-US" altLang="ko-KR" sz="2000" dirty="0" smtClean="0"/>
          </a:p>
          <a:p>
            <a:r>
              <a:rPr lang="en-US" altLang="ko-KR" sz="2000" dirty="0" smtClean="0"/>
              <a:t>ASCII (American Standard Code for Information Interchange)</a:t>
            </a:r>
          </a:p>
          <a:p>
            <a:pPr lvl="1"/>
            <a:r>
              <a:rPr lang="ko-KR" altLang="en-US" sz="1600" dirty="0" smtClean="0"/>
              <a:t>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바이트로 구성된 문자 코드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2</a:t>
            </a:r>
            <a:r>
              <a:rPr lang="en-US" altLang="ko-KR" sz="1600" baseline="30000" dirty="0" smtClean="0"/>
              <a:t>7</a:t>
            </a:r>
            <a:r>
              <a:rPr lang="en-US" altLang="ko-KR" sz="1600" dirty="0" smtClean="0"/>
              <a:t> = 128</a:t>
            </a:r>
            <a:r>
              <a:rPr lang="ko-KR" altLang="en-US" sz="1600" dirty="0" smtClean="0"/>
              <a:t>개의 글자 정의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최상위 비트는 항상 </a:t>
            </a:r>
            <a:r>
              <a:rPr lang="en-US" altLang="ko-KR" sz="1600" dirty="0" smtClean="0"/>
              <a:t>0</a:t>
            </a:r>
            <a:r>
              <a:rPr lang="en-US" altLang="ko-KR" sz="1600" dirty="0" smtClean="0"/>
              <a:t>). </a:t>
            </a:r>
            <a:r>
              <a:rPr lang="ko-KR" altLang="en-US" sz="1600" dirty="0" smtClean="0"/>
              <a:t>확장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아스키코드는 </a:t>
            </a:r>
            <a:r>
              <a:rPr lang="en-US" altLang="ko-KR" sz="1600" dirty="0" smtClean="0"/>
              <a:t>128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255</a:t>
            </a:r>
            <a:r>
              <a:rPr lang="ko-KR" altLang="en-US" sz="1600" dirty="0" smtClean="0"/>
              <a:t>까지 추가 글자 정의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출력할 수 없는 문자는 맨 앞 세 비트가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이거나 맨 오른쪽 일곱 개의 비트가 모두 </a:t>
            </a:r>
            <a:r>
              <a:rPr lang="en-US" altLang="ko-KR" sz="1600" dirty="0" smtClean="0"/>
              <a:t>1</a:t>
            </a:r>
          </a:p>
          <a:p>
            <a:pPr lvl="1"/>
            <a:r>
              <a:rPr lang="ko-KR" altLang="en-US" sz="1600" dirty="0" smtClean="0"/>
              <a:t>대문자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소문자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숫자는 모두 순서대로 배열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코드 순으로 정렬 </a:t>
            </a:r>
            <a:r>
              <a:rPr lang="en-US" altLang="ko-KR" sz="1600" dirty="0" smtClean="0">
                <a:sym typeface="Wingdings" panose="05000000000000000000" pitchFamily="2" charset="2"/>
              </a:rPr>
              <a:t></a:t>
            </a:r>
            <a:r>
              <a:rPr lang="ko-KR" altLang="en-US" sz="1600" dirty="0" smtClean="0"/>
              <a:t>알파벳 순으로 정렬</a:t>
            </a:r>
            <a:endParaRPr lang="en-US" altLang="ko-KR" sz="1600" dirty="0" smtClean="0"/>
          </a:p>
          <a:p>
            <a:pPr lvl="1"/>
            <a:r>
              <a:rPr lang="ko-KR" altLang="en-US" sz="1600" dirty="0" err="1" smtClean="0"/>
              <a:t>줄바꿈</a:t>
            </a:r>
            <a:r>
              <a:rPr lang="ko-KR" altLang="en-US" sz="1600" dirty="0" smtClean="0"/>
              <a:t> 문자</a:t>
            </a:r>
            <a:r>
              <a:rPr lang="en-US" altLang="ko-KR" sz="1600" dirty="0" smtClean="0"/>
              <a:t>(LF 10), </a:t>
            </a:r>
            <a:r>
              <a:rPr lang="ko-KR" altLang="en-US" sz="1600" dirty="0" err="1" smtClean="0"/>
              <a:t>캐리지</a:t>
            </a:r>
            <a:r>
              <a:rPr lang="ko-KR" altLang="en-US" sz="1600" dirty="0" smtClean="0"/>
              <a:t> 리턴</a:t>
            </a:r>
            <a:r>
              <a:rPr lang="en-US" altLang="ko-KR" sz="1600" dirty="0" smtClean="0"/>
              <a:t>(CR 13) : </a:t>
            </a:r>
            <a:r>
              <a:rPr lang="ko-KR" altLang="en-US" sz="1600" dirty="0" smtClean="0"/>
              <a:t>유닉스와 윈도우에서 다르게 사용</a:t>
            </a:r>
            <a:endParaRPr lang="en-US" altLang="ko-KR" sz="1600" dirty="0" smtClean="0"/>
          </a:p>
          <a:p>
            <a:r>
              <a:rPr lang="ko-KR" altLang="en-US" sz="2000" dirty="0" smtClean="0"/>
              <a:t>유니코드</a:t>
            </a:r>
            <a:endParaRPr lang="en-US" altLang="ko-KR" sz="2000" dirty="0" smtClean="0"/>
          </a:p>
          <a:p>
            <a:pPr lvl="1"/>
            <a:r>
              <a:rPr lang="en-US" altLang="ko-KR" sz="1600" dirty="0" smtClean="0"/>
              <a:t>2~3 </a:t>
            </a:r>
            <a:r>
              <a:rPr lang="ko-KR" altLang="en-US" sz="1600" dirty="0" smtClean="0"/>
              <a:t>바이트로 전세계 모든 문자 표현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ASCII</a:t>
            </a:r>
            <a:r>
              <a:rPr lang="ko-KR" altLang="en-US" sz="1600" dirty="0" smtClean="0"/>
              <a:t>코드 포함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상위 비트들이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이면 텍스트는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바이트가 아닌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바이트 문자로 간주</a:t>
            </a:r>
            <a:r>
              <a:rPr lang="en-US" altLang="ko-KR" sz="1600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1026" name="Picture 2" descr="http://postfiles6.naver.net/data32/2008/4/2/277/ascii_lbiryu.jpg?type=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3751"/>
            <a:ext cx="4968552" cy="680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5536" y="764704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ASCII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097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822602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334189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392" y="0"/>
            <a:ext cx="454172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7504" y="1412776"/>
            <a:ext cx="3201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Unicode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http</a:t>
            </a:r>
            <a:r>
              <a:rPr lang="en-US" altLang="ko-KR" dirty="0"/>
              <a:t>://www.unicode.org/charts/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7353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문자열 표현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916832"/>
            <a:ext cx="7772400" cy="4114800"/>
          </a:xfrm>
        </p:spPr>
        <p:txBody>
          <a:bodyPr/>
          <a:lstStyle/>
          <a:p>
            <a:r>
              <a:rPr lang="ko-KR" altLang="en-US" sz="2800" dirty="0" smtClean="0"/>
              <a:t>널 종료 배열</a:t>
            </a:r>
            <a:endParaRPr lang="en-US" altLang="ko-KR" sz="2800" dirty="0" smtClean="0"/>
          </a:p>
          <a:p>
            <a:pPr lvl="1"/>
            <a:r>
              <a:rPr lang="en-US" altLang="ko-KR" sz="2400" dirty="0" smtClean="0"/>
              <a:t>C/C++</a:t>
            </a:r>
            <a:r>
              <a:rPr lang="ko-KR" altLang="en-US" sz="2400" dirty="0" smtClean="0"/>
              <a:t>에서는 문자열을 문자의 배열로 처리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문자열은 널 문자 </a:t>
            </a:r>
            <a:r>
              <a:rPr lang="en-US" altLang="ko-KR" sz="2400" dirty="0" smtClean="0"/>
              <a:t>(‘\0’)</a:t>
            </a:r>
            <a:r>
              <a:rPr lang="ko-KR" altLang="en-US" sz="2400" dirty="0" smtClean="0"/>
              <a:t>으로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종료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인덱스로 개별 문자 접근 용이</a:t>
            </a:r>
            <a:endParaRPr lang="en-US" altLang="ko-KR" sz="2400" dirty="0" smtClean="0"/>
          </a:p>
          <a:p>
            <a:r>
              <a:rPr lang="ko-KR" altLang="en-US" sz="2800" dirty="0" smtClean="0"/>
              <a:t>배열</a:t>
            </a:r>
            <a:r>
              <a:rPr lang="en-US" altLang="ko-KR" sz="2800" dirty="0" smtClean="0"/>
              <a:t>+</a:t>
            </a:r>
            <a:r>
              <a:rPr lang="ko-KR" altLang="en-US" sz="2800" dirty="0" smtClean="0"/>
              <a:t>길이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배열의 </a:t>
            </a:r>
            <a:r>
              <a:rPr lang="ko-KR" altLang="en-US" sz="2400" dirty="0" smtClean="0"/>
              <a:t>첫 번째 </a:t>
            </a:r>
            <a:r>
              <a:rPr lang="ko-KR" altLang="en-US" sz="2400" dirty="0" smtClean="0"/>
              <a:t>위치에 문자열의 길이 저장</a:t>
            </a:r>
            <a:endParaRPr lang="en-US" altLang="ko-KR" sz="2400" dirty="0" smtClean="0"/>
          </a:p>
          <a:p>
            <a:r>
              <a:rPr lang="ko-KR" altLang="en-US" sz="2800" dirty="0" smtClean="0"/>
              <a:t>문자 연결 리스트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한 바이트 문자마다 몇 바이트짜리 포인터를 덧붙이는 문제로 거의 사용되지 않음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문자열 내에 부분 문자열을 자주 추가할 때 용이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074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ko-KR" altLang="en-US" sz="2400" dirty="0" smtClean="0"/>
              <a:t>어떤 표현 방법을 선택할까</a:t>
            </a:r>
            <a:r>
              <a:rPr lang="en-US" altLang="ko-KR" sz="2400" dirty="0" smtClean="0"/>
              <a:t>?</a:t>
            </a:r>
          </a:p>
          <a:p>
            <a:pPr lvl="1"/>
            <a:r>
              <a:rPr lang="ko-KR" altLang="en-US" sz="2000" dirty="0" smtClean="0"/>
              <a:t>가장 공간을 적게 차지하는 자료 구조는</a:t>
            </a:r>
            <a:r>
              <a:rPr lang="en-US" altLang="ko-KR" sz="2000" dirty="0" smtClean="0"/>
              <a:t>? </a:t>
            </a:r>
            <a:r>
              <a:rPr lang="ko-KR" altLang="en-US" sz="2000" dirty="0" smtClean="0"/>
              <a:t>문자열의 크기에 따라 결과가 어떻게 달라질까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표현할 수 있는 문자열의 내용에 영향을 끼치는 자료 구조는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임의의 </a:t>
            </a:r>
            <a:r>
              <a:rPr lang="en-US" altLang="ko-KR" sz="2000" dirty="0" err="1" smtClean="0"/>
              <a:t>i</a:t>
            </a:r>
            <a:r>
              <a:rPr lang="ko-KR" altLang="en-US" sz="2000" dirty="0" smtClean="0"/>
              <a:t>번째 문자에 접근하는 시간이 모두 동일한 자료 구조는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임의의 </a:t>
            </a:r>
            <a:r>
              <a:rPr lang="en-US" altLang="ko-KR" sz="2000" dirty="0" err="1" smtClean="0"/>
              <a:t>i</a:t>
            </a:r>
            <a:r>
              <a:rPr lang="ko-KR" altLang="en-US" sz="2000" dirty="0" smtClean="0"/>
              <a:t>번째 문자가 실제로 문자열 안에 들어 있는지 효율적으로 확인해서 경계를 벗어나는 오류를 피할 수 있게 해주는 자료 구조는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임의의 </a:t>
            </a:r>
            <a:r>
              <a:rPr lang="en-US" altLang="ko-KR" sz="2000" dirty="0" err="1" smtClean="0"/>
              <a:t>i</a:t>
            </a:r>
            <a:r>
              <a:rPr lang="ko-KR" altLang="en-US" sz="2000" dirty="0" smtClean="0"/>
              <a:t>번째 위치에 대해 문자를 삭제하거나 삽입하는 작업을 효율적으로 처리할 수 있는 자료 구조는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en-US" altLang="ko-KR" sz="2000" dirty="0" smtClean="0"/>
              <a:t>MS </a:t>
            </a:r>
            <a:r>
              <a:rPr lang="ko-KR" altLang="en-US" sz="2000" dirty="0" smtClean="0"/>
              <a:t>윈도우의 파일 이름과 같이 최대 </a:t>
            </a:r>
            <a:r>
              <a:rPr lang="en-US" altLang="ko-KR" sz="2000" dirty="0" smtClean="0"/>
              <a:t>255</a:t>
            </a:r>
            <a:r>
              <a:rPr lang="ko-KR" altLang="en-US" sz="2000" dirty="0" smtClean="0"/>
              <a:t>글자 같은 식으로 사용자가 쓸 수 있는 문자열의 길이에 제한이 있는 경우에는 어떤 자료 구조를 쓰는 것이 좋을까</a:t>
            </a:r>
            <a:r>
              <a:rPr lang="en-US" altLang="ko-KR" sz="2000" dirty="0" smtClean="0"/>
              <a:t>?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3224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237312"/>
          </a:xfrm>
        </p:spPr>
        <p:txBody>
          <a:bodyPr/>
          <a:lstStyle/>
          <a:p>
            <a:r>
              <a:rPr lang="en-US" altLang="ko-KR" sz="2000" dirty="0" smtClean="0"/>
              <a:t>C/C++</a:t>
            </a:r>
          </a:p>
          <a:p>
            <a:pPr lvl="1"/>
            <a:r>
              <a:rPr lang="en-US" altLang="ko-KR" sz="1600" dirty="0" smtClean="0"/>
              <a:t>char </a:t>
            </a:r>
            <a:r>
              <a:rPr lang="ko-KR" altLang="en-US" sz="1600" dirty="0" smtClean="0"/>
              <a:t>형식을 대부분 </a:t>
            </a:r>
            <a:r>
              <a:rPr lang="en-US" altLang="ko-KR" sz="1600" dirty="0" smtClean="0"/>
              <a:t>8</a:t>
            </a:r>
            <a:r>
              <a:rPr lang="ko-KR" altLang="en-US" sz="1600" dirty="0" smtClean="0"/>
              <a:t>비트인 것으로 간주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Windows</a:t>
            </a:r>
            <a:r>
              <a:rPr lang="ko-KR" altLang="en-US" sz="1600" dirty="0" smtClean="0"/>
              <a:t>에서는 </a:t>
            </a:r>
            <a:r>
              <a:rPr lang="en-US" altLang="ko-KR" sz="1600" dirty="0" smtClean="0"/>
              <a:t>16</a:t>
            </a:r>
            <a:r>
              <a:rPr lang="ko-KR" altLang="en-US" sz="1600" dirty="0" smtClean="0"/>
              <a:t>비트 문자를 위해 </a:t>
            </a:r>
            <a:r>
              <a:rPr lang="en-US" altLang="ko-KR" sz="1600" dirty="0" err="1" smtClean="0"/>
              <a:t>wchar_t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자료형</a:t>
            </a:r>
            <a:r>
              <a:rPr lang="ko-KR" altLang="en-US" sz="1600" dirty="0" smtClean="0"/>
              <a:t> 지원</a:t>
            </a:r>
            <a:endParaRPr lang="en-US" altLang="ko-KR" sz="1600" dirty="0" smtClean="0"/>
          </a:p>
          <a:p>
            <a:r>
              <a:rPr lang="en-US" altLang="ko-KR" sz="2000" dirty="0" smtClean="0"/>
              <a:t>Java</a:t>
            </a:r>
          </a:p>
          <a:p>
            <a:pPr lvl="1"/>
            <a:r>
              <a:rPr lang="ko-KR" altLang="en-US" sz="1600" dirty="0" smtClean="0"/>
              <a:t>처음부터 </a:t>
            </a:r>
            <a:r>
              <a:rPr lang="en-US" altLang="ko-KR" sz="1600" dirty="0" smtClean="0"/>
              <a:t>char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바이트</a:t>
            </a:r>
            <a:r>
              <a:rPr lang="en-US" altLang="ko-KR" sz="1600" dirty="0" smtClean="0"/>
              <a:t>(16</a:t>
            </a:r>
            <a:r>
              <a:rPr lang="ko-KR" altLang="en-US" sz="1600" dirty="0" smtClean="0"/>
              <a:t>비트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로 정의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ASCII/ISO Latin-1 </a:t>
            </a:r>
            <a:r>
              <a:rPr lang="ko-KR" altLang="en-US" sz="1600" dirty="0" smtClean="0"/>
              <a:t>텍스트를 다룰 때에는 상위 바이트에선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만 들어감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 dirty="0"/>
          </a:p>
        </p:txBody>
      </p:sp>
      <p:pic>
        <p:nvPicPr>
          <p:cNvPr id="3074" name="Picture 2" descr="http://blogfiles.naver.net/20140826_151/hnraaa_1409040011789Au6Qi_PNG/ch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92105"/>
            <a:ext cx="5400600" cy="436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37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865779"/>
              </p:ext>
            </p:extLst>
          </p:nvPr>
        </p:nvGraphicFramePr>
        <p:xfrm>
          <a:off x="755576" y="332656"/>
          <a:ext cx="77724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856"/>
                <a:gridCol w="698254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자바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코드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pr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public static void main(String[] </a:t>
                      </a: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char ch1 = 'A';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char ch2 = '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';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char ch3 = 65;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char ch4 = 54620; // 0XD55C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(ch1);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(ch2);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(ch3);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(ch4);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>
                    <a:solidFill>
                      <a:srgbClr val="7AC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  <a:p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  <a:p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</a:t>
                      </a:r>
                    </a:p>
                  </a:txBody>
                  <a:tcPr>
                    <a:solidFill>
                      <a:srgbClr val="7ACCB7"/>
                    </a:solidFill>
                  </a:tcPr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34957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Pattern Matching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The simplest algorithm to search for the pattern string </a:t>
            </a:r>
            <a:r>
              <a:rPr lang="en-US" altLang="ko-KR" sz="2800" i="1" dirty="0"/>
              <a:t>p</a:t>
            </a:r>
            <a:r>
              <a:rPr lang="en-US" altLang="ko-KR" sz="2800" dirty="0"/>
              <a:t> </a:t>
            </a:r>
            <a:r>
              <a:rPr lang="en-US" altLang="ko-KR" sz="2800" dirty="0" smtClean="0"/>
              <a:t>in text </a:t>
            </a:r>
            <a:r>
              <a:rPr lang="en-US" altLang="ko-KR" sz="2800" i="1" dirty="0"/>
              <a:t>t</a:t>
            </a:r>
            <a:r>
              <a:rPr lang="en-US" altLang="ko-KR" sz="2800" dirty="0"/>
              <a:t> overlays the pattern string on the text, and </a:t>
            </a:r>
            <a:r>
              <a:rPr lang="en-US" altLang="ko-KR" sz="2800" dirty="0" smtClean="0"/>
              <a:t>checks whether </a:t>
            </a:r>
            <a:r>
              <a:rPr lang="en-US" altLang="ko-KR" sz="2800" dirty="0"/>
              <a:t>every pattern character matches the </a:t>
            </a:r>
            <a:r>
              <a:rPr lang="en-US" altLang="ko-KR" sz="2800" dirty="0" smtClean="0"/>
              <a:t>corresponding text </a:t>
            </a:r>
            <a:r>
              <a:rPr lang="en-US" altLang="ko-KR" sz="2800" dirty="0"/>
              <a:t>character:</a:t>
            </a:r>
            <a:endParaRPr lang="en-US" altLang="ko-KR" sz="2800" dirty="0" smtClean="0"/>
          </a:p>
          <a:p>
            <a:r>
              <a:rPr lang="en-US" altLang="ko-KR" sz="2800" dirty="0" smtClean="0"/>
              <a:t>This </a:t>
            </a:r>
            <a:r>
              <a:rPr lang="en-US" altLang="ko-KR" sz="2800" dirty="0"/>
              <a:t>algorithm runs in O(|</a:t>
            </a:r>
            <a:r>
              <a:rPr lang="en-US" altLang="ko-KR" sz="2800" i="1" dirty="0"/>
              <a:t>p</a:t>
            </a:r>
            <a:r>
              <a:rPr lang="en-US" altLang="ko-KR" sz="2800" dirty="0"/>
              <a:t>| × </a:t>
            </a:r>
            <a:r>
              <a:rPr lang="en-US" altLang="ko-KR" sz="2800" dirty="0" smtClean="0"/>
              <a:t>|</a:t>
            </a:r>
            <a:r>
              <a:rPr lang="en-US" altLang="ko-KR" sz="2800" i="1" dirty="0" smtClean="0"/>
              <a:t>t</a:t>
            </a:r>
            <a:r>
              <a:rPr lang="en-US" altLang="ko-KR" sz="2800" dirty="0" smtClean="0"/>
              <a:t>|) </a:t>
            </a:r>
            <a:r>
              <a:rPr lang="en-US" altLang="ko-KR" sz="2800" dirty="0"/>
              <a:t>time. More </a:t>
            </a:r>
            <a:r>
              <a:rPr lang="en-US" altLang="ko-KR" sz="2800" dirty="0" smtClean="0"/>
              <a:t>complicated but </a:t>
            </a:r>
            <a:r>
              <a:rPr lang="en-US" altLang="ko-KR" sz="2800" dirty="0"/>
              <a:t>efficient </a:t>
            </a:r>
            <a:r>
              <a:rPr lang="en-US" altLang="ko-KR" sz="2800" i="1" dirty="0"/>
              <a:t>linear-time </a:t>
            </a:r>
            <a:r>
              <a:rPr lang="en-US" altLang="ko-KR" sz="2800" dirty="0"/>
              <a:t>algorithms exist for substring </a:t>
            </a:r>
            <a:r>
              <a:rPr lang="en-US" altLang="ko-KR" sz="2800" dirty="0" smtClean="0"/>
              <a:t>pattern matching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44669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/* Return position of the first occurrence of pattern</a:t>
            </a:r>
          </a:p>
          <a:p>
            <a:pPr marL="0" indent="0">
              <a:buNone/>
            </a:pPr>
            <a:r>
              <a:rPr lang="en-US" altLang="ko-KR" sz="1800" dirty="0"/>
              <a:t>p in the text t, and -1 if it does not occur.</a:t>
            </a:r>
          </a:p>
          <a:p>
            <a:pPr marL="0" indent="0">
              <a:buNone/>
            </a:pPr>
            <a:r>
              <a:rPr lang="en-US" altLang="ko-KR" sz="1800" dirty="0"/>
              <a:t>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findmatch</a:t>
            </a:r>
            <a:r>
              <a:rPr lang="en-US" altLang="ko-KR" sz="1800" dirty="0"/>
              <a:t>(char *p, char *t)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</a:t>
            </a:r>
            <a:r>
              <a:rPr lang="en-US" altLang="ko-KR" sz="1800" dirty="0" err="1"/>
              <a:t>i,j</a:t>
            </a:r>
            <a:r>
              <a:rPr lang="en-US" altLang="ko-KR" sz="1800" dirty="0"/>
              <a:t>; </a:t>
            </a:r>
            <a:r>
              <a:rPr lang="en-US" altLang="ko-KR" sz="1800" dirty="0" smtClean="0"/>
              <a:t>		/* </a:t>
            </a:r>
            <a:r>
              <a:rPr lang="en-US" altLang="ko-KR" sz="1800" dirty="0"/>
              <a:t>counters */</a:t>
            </a:r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</a:t>
            </a:r>
            <a:r>
              <a:rPr lang="en-US" altLang="ko-KR" sz="1800" dirty="0" err="1"/>
              <a:t>plen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tlen</a:t>
            </a:r>
            <a:r>
              <a:rPr lang="en-US" altLang="ko-KR" sz="1800" dirty="0"/>
              <a:t>; </a:t>
            </a:r>
            <a:r>
              <a:rPr lang="en-US" altLang="ko-KR" sz="1800" dirty="0" smtClean="0"/>
              <a:t>	/* </a:t>
            </a:r>
            <a:r>
              <a:rPr lang="en-US" altLang="ko-KR" sz="1800" dirty="0"/>
              <a:t>string lengths */</a:t>
            </a:r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plen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= </a:t>
            </a:r>
            <a:r>
              <a:rPr lang="en-US" altLang="ko-KR" sz="1800" dirty="0" err="1"/>
              <a:t>strlen</a:t>
            </a:r>
            <a:r>
              <a:rPr lang="en-US" altLang="ko-KR" sz="1800" dirty="0"/>
              <a:t>(p);</a:t>
            </a:r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tlen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= </a:t>
            </a:r>
            <a:r>
              <a:rPr lang="en-US" altLang="ko-KR" sz="1800" dirty="0" err="1"/>
              <a:t>strlen</a:t>
            </a:r>
            <a:r>
              <a:rPr lang="en-US" altLang="ko-KR" sz="1800" dirty="0"/>
              <a:t>(t);</a:t>
            </a:r>
          </a:p>
          <a:p>
            <a:pPr marL="0" indent="0">
              <a:buNone/>
            </a:pPr>
            <a:r>
              <a:rPr lang="en-US" altLang="ko-KR" sz="1800" dirty="0" smtClean="0"/>
              <a:t>	for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=0;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&lt;=(</a:t>
            </a:r>
            <a:r>
              <a:rPr lang="en-US" altLang="ko-KR" sz="1800" dirty="0" err="1"/>
              <a:t>tlen-plen</a:t>
            </a:r>
            <a:r>
              <a:rPr lang="en-US" altLang="ko-KR" sz="1800" dirty="0"/>
              <a:t>);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=i+1) {</a:t>
            </a:r>
          </a:p>
          <a:p>
            <a:pPr marL="0" indent="0">
              <a:buNone/>
            </a:pPr>
            <a:r>
              <a:rPr lang="en-US" altLang="ko-KR" sz="1800" dirty="0" smtClean="0"/>
              <a:t>		j=0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 smtClean="0"/>
              <a:t>		while </a:t>
            </a:r>
            <a:r>
              <a:rPr lang="en-US" altLang="ko-KR" sz="1800" dirty="0"/>
              <a:t>((j&lt;</a:t>
            </a:r>
            <a:r>
              <a:rPr lang="en-US" altLang="ko-KR" sz="1800" dirty="0" err="1"/>
              <a:t>plen</a:t>
            </a:r>
            <a:r>
              <a:rPr lang="en-US" altLang="ko-KR" sz="1800" dirty="0"/>
              <a:t>) &amp;&amp; (t[</a:t>
            </a:r>
            <a:r>
              <a:rPr lang="en-US" altLang="ko-KR" sz="1800" dirty="0" err="1"/>
              <a:t>i+j</a:t>
            </a:r>
            <a:r>
              <a:rPr lang="en-US" altLang="ko-KR" sz="1800" dirty="0"/>
              <a:t>]==p[j]))</a:t>
            </a:r>
          </a:p>
          <a:p>
            <a:pPr marL="0" indent="0">
              <a:buNone/>
            </a:pPr>
            <a:r>
              <a:rPr lang="en-US" altLang="ko-KR" sz="1800" dirty="0" smtClean="0"/>
              <a:t>			j </a:t>
            </a:r>
            <a:r>
              <a:rPr lang="en-US" altLang="ko-KR" sz="1800" dirty="0"/>
              <a:t>= j+1;</a:t>
            </a:r>
          </a:p>
          <a:p>
            <a:pPr marL="0" indent="0">
              <a:buNone/>
            </a:pPr>
            <a:r>
              <a:rPr lang="en-US" altLang="ko-KR" sz="1800" dirty="0" smtClean="0"/>
              <a:t>		if </a:t>
            </a:r>
            <a:r>
              <a:rPr lang="en-US" altLang="ko-KR" sz="1800" dirty="0"/>
              <a:t>(j == </a:t>
            </a:r>
            <a:r>
              <a:rPr lang="en-US" altLang="ko-KR" sz="1800" dirty="0" err="1"/>
              <a:t>plen</a:t>
            </a:r>
            <a:r>
              <a:rPr lang="en-US" altLang="ko-KR" sz="1800" dirty="0"/>
              <a:t>) return(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);</a:t>
            </a:r>
          </a:p>
          <a:p>
            <a:pPr marL="0" indent="0">
              <a:buNone/>
            </a:pPr>
            <a:r>
              <a:rPr lang="en-US" altLang="ko-KR" sz="1800" dirty="0" smtClean="0"/>
              <a:t>	}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	return</a:t>
            </a:r>
            <a:r>
              <a:rPr lang="en-US" altLang="ko-KR" sz="1800" dirty="0"/>
              <a:t>(-1);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45092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 String Library Functions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The C language </a:t>
            </a:r>
            <a:r>
              <a:rPr lang="en-US" altLang="ko-KR" sz="2000" i="1" dirty="0"/>
              <a:t>character </a:t>
            </a:r>
            <a:r>
              <a:rPr lang="en-US" altLang="ko-KR" sz="2000" dirty="0"/>
              <a:t>library </a:t>
            </a:r>
            <a:r>
              <a:rPr lang="en-US" altLang="ko-KR" sz="2000" dirty="0" err="1"/>
              <a:t>ctype.h</a:t>
            </a:r>
            <a:r>
              <a:rPr lang="en-US" altLang="ko-KR" sz="2000" dirty="0"/>
              <a:t> contains several</a:t>
            </a:r>
          </a:p>
          <a:p>
            <a:pPr marL="0" indent="0">
              <a:buNone/>
            </a:pPr>
            <a:r>
              <a:rPr lang="en-US" altLang="ko-KR" sz="2000" dirty="0"/>
              <a:t>simple tests and manipulations on character codes. As with</a:t>
            </a:r>
          </a:p>
          <a:p>
            <a:pPr marL="0" indent="0">
              <a:buNone/>
            </a:pPr>
            <a:r>
              <a:rPr lang="en-US" altLang="ko-KR" sz="2000" dirty="0"/>
              <a:t>all C predicates, true is defined as any non-zero quantity, and</a:t>
            </a:r>
          </a:p>
          <a:p>
            <a:pPr marL="0" indent="0">
              <a:buNone/>
            </a:pPr>
            <a:r>
              <a:rPr lang="en-US" altLang="ko-KR" sz="2000" dirty="0"/>
              <a:t>false as zero.</a:t>
            </a:r>
          </a:p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ctype.h</a:t>
            </a:r>
            <a:r>
              <a:rPr lang="en-US" altLang="ko-KR" sz="1800" dirty="0"/>
              <a:t>&gt; /* include the character library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isalpha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either upper or lower case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isupper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upper case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islower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lower case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isdigit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a numerical digit (0-9)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ispunct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a punctuation symbol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isxdigit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a hexadecimal digit (0-9,A-F)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isprint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true if c is any printable character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toupper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convert c to upper case -- no error checking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tolower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c); /* convert c to lower case -- no error checking */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399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 smtClean="0"/>
              <a:t>string </a:t>
            </a:r>
            <a:r>
              <a:rPr lang="ko-KR" altLang="en-US" sz="2800" dirty="0" smtClean="0"/>
              <a:t>라이브러리</a:t>
            </a:r>
            <a:r>
              <a:rPr lang="en-US" altLang="ko-KR" sz="2800" dirty="0" smtClean="0"/>
              <a:t>(</a:t>
            </a:r>
            <a:r>
              <a:rPr lang="en-US" altLang="ko-KR" sz="2800" dirty="0" err="1" smtClean="0"/>
              <a:t>string.h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에 있는 함수들</a:t>
            </a:r>
            <a:endParaRPr lang="en-US" altLang="ko-KR" sz="28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#</a:t>
            </a:r>
            <a:r>
              <a:rPr lang="en-US" altLang="ko-KR" sz="1800" dirty="0"/>
              <a:t>include &lt;</a:t>
            </a:r>
            <a:r>
              <a:rPr lang="en-US" altLang="ko-KR" sz="1800" dirty="0" err="1"/>
              <a:t>string.h</a:t>
            </a:r>
            <a:r>
              <a:rPr lang="en-US" altLang="ko-KR" sz="1800" dirty="0"/>
              <a:t>&gt; /* include the string library */</a:t>
            </a:r>
          </a:p>
          <a:p>
            <a:pPr marL="0" indent="0">
              <a:buNone/>
            </a:pPr>
            <a:r>
              <a:rPr lang="en-US" altLang="ko-KR" sz="1800" dirty="0"/>
              <a:t>char *</a:t>
            </a:r>
            <a:r>
              <a:rPr lang="en-US" altLang="ko-KR" sz="1800" dirty="0" err="1"/>
              <a:t>strcat</a:t>
            </a:r>
            <a:r>
              <a:rPr lang="en-US" altLang="ko-KR" sz="1800" dirty="0"/>
              <a:t>(char *</a:t>
            </a:r>
            <a:r>
              <a:rPr lang="en-US" altLang="ko-KR" sz="1800" dirty="0" err="1"/>
              <a:t>dst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); /* concatenation */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strcmp</a:t>
            </a:r>
            <a:r>
              <a:rPr lang="en-US" altLang="ko-KR" sz="1800" dirty="0"/>
              <a:t>(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*s1,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*s2); /* is s1 == s2? */</a:t>
            </a:r>
          </a:p>
          <a:p>
            <a:pPr marL="0" indent="0">
              <a:buNone/>
            </a:pPr>
            <a:r>
              <a:rPr lang="en-US" altLang="ko-KR" sz="1800" dirty="0"/>
              <a:t>char *</a:t>
            </a:r>
            <a:r>
              <a:rPr lang="en-US" altLang="ko-KR" sz="1800" dirty="0" err="1"/>
              <a:t>strcpy</a:t>
            </a:r>
            <a:r>
              <a:rPr lang="en-US" altLang="ko-KR" sz="1800" dirty="0"/>
              <a:t>(char *</a:t>
            </a:r>
            <a:r>
              <a:rPr lang="en-US" altLang="ko-KR" sz="1800" dirty="0" err="1"/>
              <a:t>dst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); /* copy 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 to </a:t>
            </a:r>
            <a:r>
              <a:rPr lang="en-US" altLang="ko-KR" sz="1800" dirty="0" err="1"/>
              <a:t>dist</a:t>
            </a:r>
            <a:r>
              <a:rPr lang="en-US" altLang="ko-KR" sz="1800" dirty="0"/>
              <a:t> */</a:t>
            </a:r>
          </a:p>
          <a:p>
            <a:pPr marL="0" indent="0">
              <a:buNone/>
            </a:pPr>
            <a:r>
              <a:rPr lang="en-US" altLang="ko-KR" sz="1800" dirty="0" err="1"/>
              <a:t>size_t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strlen</a:t>
            </a:r>
            <a:r>
              <a:rPr lang="en-US" altLang="ko-KR" sz="1800" dirty="0"/>
              <a:t>(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*s); /* length of string </a:t>
            </a:r>
            <a:r>
              <a:rPr lang="en-US" altLang="ko-KR" sz="1800" dirty="0" smtClean="0"/>
              <a:t>*/</a:t>
            </a:r>
          </a:p>
          <a:p>
            <a:pPr marL="0" indent="0">
              <a:buNone/>
            </a:pPr>
            <a:r>
              <a:rPr lang="en-US" altLang="ko-KR" sz="1800" dirty="0"/>
              <a:t>char *</a:t>
            </a:r>
            <a:r>
              <a:rPr lang="en-US" altLang="ko-KR" sz="1800" dirty="0" err="1" smtClean="0"/>
              <a:t>strchr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const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char *s1, 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c); </a:t>
            </a:r>
            <a:r>
              <a:rPr lang="en-US" altLang="ko-KR" sz="1800" dirty="0"/>
              <a:t>/* search for </a:t>
            </a:r>
            <a:r>
              <a:rPr lang="en-US" altLang="ko-KR" sz="1800" dirty="0" smtClean="0"/>
              <a:t>c </a:t>
            </a:r>
            <a:r>
              <a:rPr lang="en-US" altLang="ko-KR" sz="1800" dirty="0"/>
              <a:t>in s1 */</a:t>
            </a:r>
          </a:p>
          <a:p>
            <a:pPr marL="0" indent="0">
              <a:buNone/>
            </a:pPr>
            <a:r>
              <a:rPr lang="en-US" altLang="ko-KR" sz="1800" dirty="0" smtClean="0"/>
              <a:t>char </a:t>
            </a:r>
            <a:r>
              <a:rPr lang="en-US" altLang="ko-KR" sz="1800" dirty="0"/>
              <a:t>*</a:t>
            </a:r>
            <a:r>
              <a:rPr lang="en-US" altLang="ko-KR" sz="1800" dirty="0" err="1"/>
              <a:t>strstr</a:t>
            </a:r>
            <a:r>
              <a:rPr lang="en-US" altLang="ko-KR" sz="1800" dirty="0"/>
              <a:t>(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*s1,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*s2); /* search for s2 in s1 */</a:t>
            </a:r>
          </a:p>
          <a:p>
            <a:pPr marL="0" indent="0">
              <a:buNone/>
            </a:pPr>
            <a:r>
              <a:rPr lang="en-US" altLang="ko-KR" sz="1800" dirty="0"/>
              <a:t>char *</a:t>
            </a:r>
            <a:r>
              <a:rPr lang="en-US" altLang="ko-KR" sz="1800" dirty="0" err="1"/>
              <a:t>strtok</a:t>
            </a:r>
            <a:r>
              <a:rPr lang="en-US" altLang="ko-KR" sz="1800" dirty="0"/>
              <a:t>(char *s1,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char </a:t>
            </a:r>
            <a:r>
              <a:rPr lang="en-US" altLang="ko-KR" sz="1800" dirty="0" smtClean="0"/>
              <a:t>*</a:t>
            </a:r>
            <a:r>
              <a:rPr lang="en-US" altLang="ko-KR" sz="1800" dirty="0" err="1" smtClean="0"/>
              <a:t>delim</a:t>
            </a:r>
            <a:r>
              <a:rPr lang="en-US" altLang="ko-KR" sz="1800" dirty="0" smtClean="0"/>
              <a:t>); </a:t>
            </a:r>
            <a:r>
              <a:rPr lang="en-US" altLang="ko-KR" sz="1800" dirty="0"/>
              <a:t>/*  </a:t>
            </a:r>
            <a:r>
              <a:rPr lang="en-US" altLang="ko-KR" sz="1800" dirty="0" smtClean="0"/>
              <a:t>break s1 </a:t>
            </a:r>
            <a:r>
              <a:rPr lang="en-US" altLang="ko-KR" sz="1800" dirty="0"/>
              <a:t>into a sequence of </a:t>
            </a:r>
            <a:r>
              <a:rPr lang="en-US" altLang="ko-KR" sz="1800" dirty="0" smtClean="0"/>
              <a:t>zero or more nonempty tokens using </a:t>
            </a:r>
            <a:r>
              <a:rPr lang="en-US" altLang="ko-KR" sz="1800" dirty="0" err="1" smtClean="0"/>
              <a:t>delim</a:t>
            </a:r>
            <a:r>
              <a:rPr lang="en-US" altLang="ko-KR" sz="1800" dirty="0" smtClean="0"/>
              <a:t> as delimiter */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89599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C++ String Library Functions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smtClean="0"/>
              <a:t>C++</a:t>
            </a:r>
            <a:r>
              <a:rPr lang="ko-KR" altLang="en-US" sz="2400" dirty="0" smtClean="0"/>
              <a:t>에서는 </a:t>
            </a:r>
            <a:r>
              <a:rPr lang="en-US" altLang="ko-KR" sz="2400" dirty="0" smtClean="0"/>
              <a:t>C </a:t>
            </a:r>
            <a:r>
              <a:rPr lang="ko-KR" altLang="en-US" sz="2400" dirty="0" smtClean="0"/>
              <a:t>스타일의 문자열 외에도 여러 가지 </a:t>
            </a:r>
            <a:r>
              <a:rPr lang="ko-KR" altLang="en-US" sz="2400" dirty="0" err="1" smtClean="0"/>
              <a:t>메소드가</a:t>
            </a:r>
            <a:r>
              <a:rPr lang="ko-KR" altLang="en-US" sz="2400" dirty="0" smtClean="0"/>
              <a:t> 들어 있는 문자열 클래스 제공</a:t>
            </a:r>
            <a:endParaRPr lang="en-US" altLang="ko-KR" sz="24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string</a:t>
            </a:r>
            <a:r>
              <a:rPr lang="en-US" altLang="ko-KR" sz="1800" dirty="0"/>
              <a:t>::size() /* string length */</a:t>
            </a:r>
          </a:p>
          <a:p>
            <a:pPr marL="0" indent="0">
              <a:buNone/>
            </a:pPr>
            <a:r>
              <a:rPr lang="en-US" altLang="ko-KR" sz="1800" dirty="0"/>
              <a:t>string::empty() /* is it empty */</a:t>
            </a:r>
          </a:p>
          <a:p>
            <a:pPr marL="0" indent="0">
              <a:buNone/>
            </a:pPr>
            <a:r>
              <a:rPr lang="en-US" altLang="ko-KR" sz="1800" dirty="0"/>
              <a:t>string::</a:t>
            </a:r>
            <a:r>
              <a:rPr lang="en-US" altLang="ko-KR" sz="1800" dirty="0" err="1"/>
              <a:t>c_str</a:t>
            </a:r>
            <a:r>
              <a:rPr lang="en-US" altLang="ko-KR" sz="1800" dirty="0"/>
              <a:t>() /* return a pointer to a C style string */</a:t>
            </a:r>
          </a:p>
          <a:p>
            <a:pPr marL="0" indent="0">
              <a:buNone/>
            </a:pPr>
            <a:r>
              <a:rPr lang="en-US" altLang="ko-KR" sz="1800" dirty="0"/>
              <a:t>string::operator [](</a:t>
            </a:r>
            <a:r>
              <a:rPr lang="en-US" altLang="ko-KR" sz="1800" dirty="0" err="1"/>
              <a:t>size_type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 /* access the </a:t>
            </a:r>
            <a:r>
              <a:rPr lang="en-US" altLang="ko-KR" sz="1800" dirty="0" err="1"/>
              <a:t>ith</a:t>
            </a:r>
            <a:r>
              <a:rPr lang="en-US" altLang="ko-KR" sz="1800" dirty="0"/>
              <a:t> character */</a:t>
            </a:r>
          </a:p>
          <a:p>
            <a:pPr marL="0" indent="0">
              <a:buNone/>
            </a:pPr>
            <a:r>
              <a:rPr lang="en-US" altLang="ko-KR" sz="1800" dirty="0"/>
              <a:t>string::append(s) /* append to string */</a:t>
            </a:r>
          </a:p>
          <a:p>
            <a:pPr marL="0" indent="0">
              <a:buNone/>
            </a:pPr>
            <a:r>
              <a:rPr lang="en-US" altLang="ko-KR" sz="1800" dirty="0"/>
              <a:t>string::erase(</a:t>
            </a:r>
            <a:r>
              <a:rPr lang="en-US" altLang="ko-KR" sz="1800" dirty="0" err="1"/>
              <a:t>n,m</a:t>
            </a:r>
            <a:r>
              <a:rPr lang="en-US" altLang="ko-KR" sz="1800" dirty="0"/>
              <a:t>) /* delete a run of characters */</a:t>
            </a:r>
          </a:p>
          <a:p>
            <a:pPr marL="0" indent="0">
              <a:buNone/>
            </a:pPr>
            <a:r>
              <a:rPr lang="en-US" altLang="ko-KR" sz="1800" dirty="0"/>
              <a:t>string::insert(</a:t>
            </a:r>
            <a:r>
              <a:rPr lang="en-US" altLang="ko-KR" sz="1800" dirty="0" err="1"/>
              <a:t>size_type</a:t>
            </a:r>
            <a:r>
              <a:rPr lang="en-US" altLang="ko-KR" sz="1800" dirty="0"/>
              <a:t> n, </a:t>
            </a:r>
            <a:r>
              <a:rPr lang="en-US" altLang="ko-KR" sz="1800" dirty="0" err="1"/>
              <a:t>const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string&amp;s</a:t>
            </a:r>
            <a:r>
              <a:rPr lang="en-US" altLang="ko-KR" sz="1800" dirty="0"/>
              <a:t>) /* insert string s at n */</a:t>
            </a:r>
          </a:p>
          <a:p>
            <a:pPr marL="0" indent="0">
              <a:buNone/>
            </a:pPr>
            <a:r>
              <a:rPr lang="en-US" altLang="ko-KR" sz="1800" dirty="0"/>
              <a:t>string::find(s)</a:t>
            </a:r>
          </a:p>
          <a:p>
            <a:pPr marL="0" indent="0">
              <a:buNone/>
            </a:pPr>
            <a:r>
              <a:rPr lang="en-US" altLang="ko-KR" sz="1800" dirty="0"/>
              <a:t>string::</a:t>
            </a:r>
            <a:r>
              <a:rPr lang="en-US" altLang="ko-KR" sz="1800" dirty="0" err="1"/>
              <a:t>rfind</a:t>
            </a:r>
            <a:r>
              <a:rPr lang="en-US" altLang="ko-KR" sz="1800" dirty="0"/>
              <a:t>(s) /* search left or right for the given string */</a:t>
            </a:r>
          </a:p>
          <a:p>
            <a:pPr marL="0" indent="0">
              <a:buNone/>
            </a:pPr>
            <a:r>
              <a:rPr lang="en-US" altLang="ko-KR" sz="1800" dirty="0"/>
              <a:t>string::first()</a:t>
            </a:r>
          </a:p>
          <a:p>
            <a:pPr marL="0" indent="0">
              <a:buNone/>
            </a:pPr>
            <a:r>
              <a:rPr lang="en-US" altLang="ko-KR" sz="1800" dirty="0"/>
              <a:t>string::last() /* get characters, also there are iterators */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48749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Java String Objects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Java strings are first-class objects deriving either from </a:t>
            </a:r>
            <a:r>
              <a:rPr lang="en-US" altLang="ko-KR" sz="2400" dirty="0" smtClean="0"/>
              <a:t>the </a:t>
            </a:r>
            <a:r>
              <a:rPr lang="en-US" altLang="ko-KR" sz="2400" b="1" dirty="0" smtClean="0"/>
              <a:t>String</a:t>
            </a:r>
            <a:r>
              <a:rPr lang="en-US" altLang="ko-KR" sz="2400" dirty="0" smtClean="0"/>
              <a:t> </a:t>
            </a:r>
            <a:r>
              <a:rPr lang="en-US" altLang="ko-KR" sz="2400" dirty="0"/>
              <a:t>class or the </a:t>
            </a:r>
            <a:r>
              <a:rPr lang="en-US" altLang="ko-KR" sz="2400" b="1" dirty="0" err="1"/>
              <a:t>StringBuffer</a:t>
            </a:r>
            <a:r>
              <a:rPr lang="en-US" altLang="ko-KR" sz="2400" dirty="0"/>
              <a:t> class. The </a:t>
            </a:r>
            <a:r>
              <a:rPr lang="en-US" altLang="ko-KR" sz="2400" dirty="0" smtClean="0"/>
              <a:t>String class </a:t>
            </a:r>
            <a:r>
              <a:rPr lang="en-US" altLang="ko-KR" sz="2400" dirty="0"/>
              <a:t>is for static strings which do not change, </a:t>
            </a:r>
            <a:r>
              <a:rPr lang="en-US" altLang="ko-KR" sz="2400" dirty="0" smtClean="0"/>
              <a:t>while </a:t>
            </a:r>
            <a:r>
              <a:rPr lang="en-US" altLang="ko-KR" sz="2400" dirty="0" err="1" smtClean="0"/>
              <a:t>StringBuffer</a:t>
            </a:r>
            <a:r>
              <a:rPr lang="en-US" altLang="ko-KR" sz="2400" dirty="0" smtClean="0"/>
              <a:t> </a:t>
            </a:r>
            <a:r>
              <a:rPr lang="en-US" altLang="ko-KR" sz="2400" dirty="0"/>
              <a:t>is designed for dynamic </a:t>
            </a:r>
            <a:r>
              <a:rPr lang="en-US" altLang="ko-KR" sz="2400" dirty="0" smtClean="0"/>
              <a:t>strings. Recall </a:t>
            </a:r>
            <a:r>
              <a:rPr lang="en-US" altLang="ko-KR" sz="2400" dirty="0"/>
              <a:t>that Java was designed to support Unicode, so </a:t>
            </a:r>
            <a:r>
              <a:rPr lang="en-US" altLang="ko-KR" sz="2400" dirty="0" smtClean="0"/>
              <a:t>its characters </a:t>
            </a:r>
            <a:r>
              <a:rPr lang="en-US" altLang="ko-KR" sz="2400" dirty="0"/>
              <a:t>are 16-bit </a:t>
            </a:r>
            <a:r>
              <a:rPr lang="en-US" altLang="ko-KR" sz="2400" dirty="0" smtClean="0"/>
              <a:t>entities. The </a:t>
            </a:r>
            <a:r>
              <a:rPr lang="en-US" altLang="ko-KR" sz="2400" dirty="0" err="1"/>
              <a:t>java.text</a:t>
            </a:r>
            <a:r>
              <a:rPr lang="en-US" altLang="ko-KR" sz="2400" dirty="0"/>
              <a:t> package contains more advanced </a:t>
            </a:r>
            <a:r>
              <a:rPr lang="en-US" altLang="ko-KR" sz="2400" dirty="0" smtClean="0"/>
              <a:t>operations on </a:t>
            </a:r>
            <a:r>
              <a:rPr lang="en-US" altLang="ko-KR" sz="2400" dirty="0"/>
              <a:t>strings, including routines to parse dates and </a:t>
            </a:r>
            <a:r>
              <a:rPr lang="en-US" altLang="ko-KR" sz="2400" dirty="0" smtClean="0"/>
              <a:t>other structured </a:t>
            </a:r>
            <a:r>
              <a:rPr lang="en-US" altLang="ko-KR" sz="2400" dirty="0"/>
              <a:t>text.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98260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7" y="908720"/>
            <a:ext cx="59245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5924550" cy="416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528" y="245913"/>
            <a:ext cx="3493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Java String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번 생성된 후 변경 불가능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3597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6672"/>
            <a:ext cx="7479959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95941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20688"/>
            <a:ext cx="7776864" cy="506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09470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323528" y="245913"/>
            <a:ext cx="3964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Java </a:t>
            </a:r>
            <a:r>
              <a:rPr lang="en-US" altLang="ko-KR" dirty="0" err="1" smtClean="0"/>
              <a:t>StringBuffer</a:t>
            </a:r>
            <a:r>
              <a:rPr lang="en-US" altLang="ko-KR" dirty="0" smtClean="0"/>
              <a:t>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생성 후 문자열 값을 바꿀 수 있음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980728"/>
            <a:ext cx="6460953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04" y="2708920"/>
            <a:ext cx="6537366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117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05818"/>
            <a:ext cx="8827456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7424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323528" y="245913"/>
            <a:ext cx="4071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Java </a:t>
            </a:r>
            <a:r>
              <a:rPr lang="en-US" altLang="ko-KR" dirty="0" err="1" smtClean="0"/>
              <a:t>StringTokenizer</a:t>
            </a:r>
            <a:r>
              <a:rPr lang="en-US" altLang="ko-KR" dirty="0" smtClean="0"/>
              <a:t>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문자열을 분리하기 위해 사용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String Class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split()</a:t>
            </a:r>
            <a:r>
              <a:rPr lang="ko-KR" altLang="en-US" dirty="0" smtClean="0"/>
              <a:t>와 같은 기능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196751"/>
            <a:ext cx="7351841" cy="2311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04" y="3789040"/>
            <a:ext cx="7376429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47424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773832"/>
            <a:ext cx="6718042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857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17. WERTYU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/>
              <a:t>타이핑을 하다 보면 키보드에서 양손을 모두 원래 위치보다 오른쪽으로 한 칸 이동한 상태에서 키를 눌러서 오타가 나는 경우가 종종 있음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예</a:t>
            </a:r>
            <a:r>
              <a:rPr lang="en-US" altLang="ko-KR" sz="2000" dirty="0" smtClean="0"/>
              <a:t>) ‘Q’</a:t>
            </a:r>
            <a:r>
              <a:rPr lang="ko-KR" altLang="en-US" sz="2000" dirty="0" smtClean="0"/>
              <a:t>는 </a:t>
            </a:r>
            <a:r>
              <a:rPr lang="en-US" altLang="ko-KR" sz="2000" dirty="0" smtClean="0"/>
              <a:t>‘W’, ‘J’</a:t>
            </a:r>
            <a:r>
              <a:rPr lang="ko-KR" altLang="en-US" sz="2000" dirty="0" smtClean="0"/>
              <a:t>는 </a:t>
            </a:r>
            <a:r>
              <a:rPr lang="en-US" altLang="ko-KR" sz="2000" dirty="0" smtClean="0"/>
              <a:t>‘K’</a:t>
            </a:r>
            <a:r>
              <a:rPr lang="ko-KR" altLang="en-US" sz="2000" dirty="0" smtClean="0"/>
              <a:t>로 입력</a:t>
            </a:r>
            <a:endParaRPr lang="en-US" altLang="ko-KR" sz="2000" dirty="0" smtClean="0"/>
          </a:p>
          <a:p>
            <a:r>
              <a:rPr lang="ko-KR" altLang="en-US" sz="2400" dirty="0" smtClean="0"/>
              <a:t>입력된 메시지를 원래 메시지로 복구</a:t>
            </a:r>
            <a:endParaRPr lang="en-US" altLang="ko-KR" sz="2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221088"/>
            <a:ext cx="6804248" cy="23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531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3096344"/>
          </a:xfrm>
        </p:spPr>
        <p:txBody>
          <a:bodyPr/>
          <a:lstStyle/>
          <a:p>
            <a:r>
              <a:rPr lang="ko-KR" altLang="en-US" sz="2400" dirty="0"/>
              <a:t>입력</a:t>
            </a:r>
            <a:endParaRPr lang="en-US" altLang="ko-KR" sz="2400" dirty="0"/>
          </a:p>
          <a:p>
            <a:pPr lvl="1"/>
            <a:r>
              <a:rPr lang="ko-KR" altLang="en-US" sz="2000" dirty="0"/>
              <a:t>입력은 여러 줄의 텍스트로 구성</a:t>
            </a:r>
            <a:endParaRPr lang="en-US" altLang="ko-KR" sz="2000" dirty="0"/>
          </a:p>
          <a:p>
            <a:pPr lvl="1"/>
            <a:r>
              <a:rPr lang="ko-KR" altLang="en-US" sz="2000" dirty="0"/>
              <a:t>각 줄에는 숫자</a:t>
            </a:r>
            <a:r>
              <a:rPr lang="en-US" altLang="ko-KR" sz="2000" dirty="0"/>
              <a:t>, </a:t>
            </a:r>
            <a:r>
              <a:rPr lang="ko-KR" altLang="en-US" sz="2000" dirty="0"/>
              <a:t>스페이스</a:t>
            </a:r>
            <a:r>
              <a:rPr lang="en-US" altLang="ko-KR" sz="2000" dirty="0"/>
              <a:t>, </a:t>
            </a:r>
            <a:r>
              <a:rPr lang="ko-KR" altLang="en-US" sz="2000" dirty="0"/>
              <a:t>대문자</a:t>
            </a:r>
            <a:r>
              <a:rPr lang="en-US" altLang="ko-KR" sz="2000" dirty="0"/>
              <a:t>(‘Q’, ‘A’, ‘Z’ </a:t>
            </a:r>
            <a:r>
              <a:rPr lang="ko-KR" altLang="en-US" sz="2000" dirty="0"/>
              <a:t>제외</a:t>
            </a:r>
            <a:r>
              <a:rPr lang="en-US" altLang="ko-KR" sz="2000" dirty="0"/>
              <a:t>), </a:t>
            </a:r>
            <a:r>
              <a:rPr lang="ko-KR" altLang="en-US" sz="2000" dirty="0"/>
              <a:t>위에 나와 있는 구두 기호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역따옴표</a:t>
            </a:r>
            <a:r>
              <a:rPr lang="ko-KR" altLang="en-US" sz="2000" dirty="0"/>
              <a:t> </a:t>
            </a:r>
            <a:r>
              <a:rPr lang="en-US" altLang="ko-KR" sz="2000" dirty="0"/>
              <a:t>` </a:t>
            </a:r>
            <a:r>
              <a:rPr lang="ko-KR" altLang="en-US" sz="2000" dirty="0"/>
              <a:t>제외</a:t>
            </a:r>
            <a:r>
              <a:rPr lang="en-US" altLang="ko-KR" sz="2000" dirty="0"/>
              <a:t>) </a:t>
            </a:r>
            <a:r>
              <a:rPr lang="ko-KR" altLang="en-US" sz="2000" dirty="0"/>
              <a:t>포함</a:t>
            </a:r>
            <a:endParaRPr lang="en-US" altLang="ko-KR" sz="2000" dirty="0"/>
          </a:p>
          <a:p>
            <a:pPr lvl="1"/>
            <a:r>
              <a:rPr lang="ko-KR" altLang="en-US" sz="2000" dirty="0"/>
              <a:t>단어에 붙어 있는 키</a:t>
            </a:r>
            <a:r>
              <a:rPr lang="en-US" altLang="ko-KR" sz="2000" dirty="0"/>
              <a:t>(Tab, </a:t>
            </a:r>
            <a:r>
              <a:rPr lang="en-US" altLang="ko-KR" sz="2000" dirty="0" err="1"/>
              <a:t>BackSp</a:t>
            </a:r>
            <a:r>
              <a:rPr lang="en-US" altLang="ko-KR" sz="2000" dirty="0"/>
              <a:t>, Control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는 입력에 포함되지 않음</a:t>
            </a:r>
            <a:endParaRPr lang="en-US" altLang="ko-KR" sz="2000" dirty="0"/>
          </a:p>
          <a:p>
            <a:r>
              <a:rPr lang="ko-KR" altLang="en-US" sz="2400" dirty="0" smtClean="0"/>
              <a:t>출력</a:t>
            </a:r>
            <a:endParaRPr lang="en-US" altLang="ko-KR" sz="2400" dirty="0"/>
          </a:p>
          <a:p>
            <a:pPr lvl="1"/>
            <a:r>
              <a:rPr lang="en-US" altLang="ko-KR" sz="2000" dirty="0"/>
              <a:t>QWERTY </a:t>
            </a:r>
            <a:r>
              <a:rPr lang="ko-KR" altLang="en-US" sz="2000" dirty="0"/>
              <a:t>키보드를 기준으로 하여 각 글자나 기호를 바로 왼쪽에 있는 키에 해당하는 글자나 기호로 변경</a:t>
            </a:r>
            <a:r>
              <a:rPr lang="en-US" altLang="ko-KR" sz="2000" dirty="0"/>
              <a:t>, </a:t>
            </a:r>
            <a:r>
              <a:rPr lang="ko-KR" altLang="en-US" sz="2000" dirty="0"/>
              <a:t>스페이스는 그대로 </a:t>
            </a:r>
            <a:r>
              <a:rPr lang="ko-KR" altLang="en-US" sz="2000" dirty="0" smtClean="0"/>
              <a:t>둠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교재 </a:t>
            </a:r>
            <a:r>
              <a:rPr lang="en-US" altLang="ko-KR" sz="2000" dirty="0" smtClean="0"/>
              <a:t>p. 96 </a:t>
            </a:r>
            <a:r>
              <a:rPr lang="ko-KR" altLang="en-US" sz="2000" dirty="0" smtClean="0"/>
              <a:t>그림 참조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4221088"/>
            <a:ext cx="4370955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dirty="0" smtClean="0"/>
              <a:t>입력 예</a:t>
            </a:r>
            <a:endParaRPr lang="en-US" altLang="ko-KR" sz="2400" b="0" dirty="0" smtClean="0"/>
          </a:p>
          <a:p>
            <a:pPr marL="457200" lvl="1" indent="0">
              <a:buNone/>
            </a:pPr>
            <a:r>
              <a:rPr lang="en-US" altLang="ko-KR" sz="2000" b="0" dirty="0" smtClean="0"/>
              <a:t>O S, GOMR YPFSU/</a:t>
            </a:r>
            <a:endParaRPr lang="en-US" altLang="ko-KR" sz="2000" b="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54523" y="4221088"/>
            <a:ext cx="347791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dirty="0" smtClean="0"/>
              <a:t>출력 예</a:t>
            </a:r>
            <a:endParaRPr lang="en-US" altLang="ko-KR" sz="2400" b="0" dirty="0" smtClean="0"/>
          </a:p>
          <a:p>
            <a:pPr marL="457200" lvl="1" indent="0">
              <a:buNone/>
            </a:pPr>
            <a:r>
              <a:rPr lang="en-US" altLang="ko-KR" sz="2000" b="0" dirty="0" smtClean="0"/>
              <a:t>I AM FINE TODAY.</a:t>
            </a: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0371644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// prob. 17: WERTYU</a:t>
            </a:r>
          </a:p>
          <a:p>
            <a:pPr marL="0" indent="0">
              <a:buNone/>
            </a:pPr>
            <a:r>
              <a:rPr lang="en-US" altLang="ko-KR" sz="1800" dirty="0" smtClean="0"/>
              <a:t>#</a:t>
            </a:r>
            <a:r>
              <a:rPr lang="en-US" altLang="ko-KR" sz="1800" dirty="0"/>
              <a:t>include &lt;</a:t>
            </a:r>
            <a:r>
              <a:rPr lang="en-US" altLang="ko-KR" sz="1800" dirty="0" err="1"/>
              <a:t>stdio.h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string.h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#define LINES_NUM 4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err="1"/>
              <a:t>const</a:t>
            </a:r>
            <a:r>
              <a:rPr lang="en-US" altLang="ko-KR" sz="1800" dirty="0"/>
              <a:t> char* lines[LINES_NUM] = {"`1234567890-=", "QWERTYUIOP[]\\", "ASDFGHJKL;", "ZXCVBNM,./"};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void main()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while (!</a:t>
            </a:r>
            <a:r>
              <a:rPr lang="en-US" altLang="ko-KR" sz="1800" dirty="0" err="1"/>
              <a:t>feof</a:t>
            </a:r>
            <a:r>
              <a:rPr lang="en-US" altLang="ko-KR" sz="1800" dirty="0"/>
              <a:t>(</a:t>
            </a:r>
            <a:r>
              <a:rPr lang="en-US" altLang="ko-KR" sz="1800" dirty="0" err="1"/>
              <a:t>stdin</a:t>
            </a:r>
            <a:r>
              <a:rPr lang="en-US" altLang="ko-KR" sz="1800" dirty="0"/>
              <a:t>))</a:t>
            </a:r>
          </a:p>
          <a:p>
            <a:pPr marL="0" indent="0">
              <a:buNone/>
            </a:pPr>
            <a:r>
              <a:rPr lang="en-US" altLang="ko-KR" sz="1800" dirty="0"/>
              <a:t>    {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char temp[500];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        if (!</a:t>
            </a:r>
            <a:r>
              <a:rPr lang="en-US" altLang="ko-KR" sz="1800" dirty="0" err="1" smtClean="0"/>
              <a:t>fgets</a:t>
            </a:r>
            <a:r>
              <a:rPr lang="en-US" altLang="ko-KR" sz="1800" dirty="0" smtClean="0"/>
              <a:t>(temp, 500, </a:t>
            </a:r>
            <a:r>
              <a:rPr lang="en-US" altLang="ko-KR" sz="1800" dirty="0" err="1" smtClean="0"/>
              <a:t>stdin</a:t>
            </a:r>
            <a:r>
              <a:rPr lang="en-US" altLang="ko-KR" sz="1800" dirty="0" smtClean="0"/>
              <a:t>)) //</a:t>
            </a:r>
            <a:r>
              <a:rPr lang="en-US" altLang="ko-KR" sz="1800" dirty="0"/>
              <a:t> if (!gets(temp</a:t>
            </a:r>
            <a:r>
              <a:rPr lang="en-US" altLang="ko-KR" sz="1800" dirty="0" smtClean="0"/>
              <a:t>)) </a:t>
            </a:r>
            <a:r>
              <a:rPr lang="ko-KR" altLang="en-US" sz="1800" dirty="0" smtClean="0"/>
              <a:t>대신 사용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            </a:t>
            </a:r>
            <a:r>
              <a:rPr lang="en-US" altLang="ko-KR" sz="1800" dirty="0"/>
              <a:t>break;</a:t>
            </a:r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50729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/>
              <a:t>        </a:t>
            </a:r>
            <a:r>
              <a:rPr lang="en-US" altLang="ko-KR" sz="1800" dirty="0"/>
              <a:t>for 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= 0;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&lt; 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)</a:t>
            </a:r>
            <a:r>
              <a:rPr lang="en-US" altLang="ko-KR" sz="1800" dirty="0" err="1"/>
              <a:t>strlen</a:t>
            </a:r>
            <a:r>
              <a:rPr lang="en-US" altLang="ko-KR" sz="1800" dirty="0"/>
              <a:t>(temp);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++)</a:t>
            </a:r>
          </a:p>
          <a:p>
            <a:pPr marL="0" indent="0">
              <a:buNone/>
            </a:pPr>
            <a:r>
              <a:rPr lang="en-US" altLang="ko-KR" sz="1800" dirty="0"/>
              <a:t>        {</a:t>
            </a:r>
          </a:p>
          <a:p>
            <a:pPr marL="0" indent="0">
              <a:buNone/>
            </a:pPr>
            <a:r>
              <a:rPr lang="en-US" altLang="ko-KR" sz="1800" dirty="0"/>
              <a:t>        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j;</a:t>
            </a:r>
          </a:p>
          <a:p>
            <a:pPr marL="0" indent="0">
              <a:buNone/>
            </a:pPr>
            <a:r>
              <a:rPr lang="en-US" altLang="ko-KR" sz="1800" dirty="0"/>
              <a:t>        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decode_ok</a:t>
            </a:r>
            <a:r>
              <a:rPr lang="en-US" altLang="ko-KR" sz="1800" dirty="0"/>
              <a:t> = 0;</a:t>
            </a:r>
          </a:p>
          <a:p>
            <a:pPr marL="0" indent="0">
              <a:buNone/>
            </a:pPr>
            <a:r>
              <a:rPr lang="en-US" altLang="ko-KR" sz="1800" dirty="0"/>
              <a:t>            for (j = 0; j &lt; LINES_NUM; j++)</a:t>
            </a:r>
          </a:p>
          <a:p>
            <a:pPr marL="0" indent="0">
              <a:buNone/>
            </a:pPr>
            <a:r>
              <a:rPr lang="en-US" altLang="ko-KR" sz="1800" dirty="0"/>
              <a:t>            {</a:t>
            </a:r>
          </a:p>
          <a:p>
            <a:pPr marL="0" indent="0">
              <a:buNone/>
            </a:pPr>
            <a:r>
              <a:rPr lang="en-US" altLang="ko-KR" sz="1800" dirty="0"/>
              <a:t>                if (</a:t>
            </a:r>
            <a:r>
              <a:rPr lang="en-US" altLang="ko-KR" sz="1800" dirty="0" err="1"/>
              <a:t>strchr</a:t>
            </a:r>
            <a:r>
              <a:rPr lang="en-US" altLang="ko-KR" sz="1800" dirty="0"/>
              <a:t>(lines[j], temp[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]))</a:t>
            </a:r>
          </a:p>
          <a:p>
            <a:pPr marL="0" indent="0">
              <a:buNone/>
            </a:pPr>
            <a:r>
              <a:rPr lang="en-US" altLang="ko-KR" sz="1800" dirty="0"/>
              <a:t>                {</a:t>
            </a:r>
          </a:p>
          <a:p>
            <a:pPr marL="0" indent="0">
              <a:buNone/>
            </a:pPr>
            <a:r>
              <a:rPr lang="en-US" altLang="ko-KR" sz="1800" dirty="0"/>
              <a:t>                   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("%c", *(</a:t>
            </a:r>
            <a:r>
              <a:rPr lang="en-US" altLang="ko-KR" sz="1800" dirty="0" err="1"/>
              <a:t>strrchr</a:t>
            </a:r>
            <a:r>
              <a:rPr lang="en-US" altLang="ko-KR" sz="1800" dirty="0"/>
              <a:t>(lines[j], temp[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]) - 1));</a:t>
            </a:r>
          </a:p>
          <a:p>
            <a:pPr marL="0" indent="0">
              <a:buNone/>
            </a:pPr>
            <a:r>
              <a:rPr lang="en-US" altLang="ko-KR" sz="1800" dirty="0"/>
              <a:t>                    </a:t>
            </a:r>
            <a:r>
              <a:rPr lang="en-US" altLang="ko-KR" sz="1800" dirty="0" err="1"/>
              <a:t>decode_ok</a:t>
            </a:r>
            <a:r>
              <a:rPr lang="en-US" altLang="ko-KR" sz="1800" dirty="0"/>
              <a:t> = 1;</a:t>
            </a:r>
          </a:p>
          <a:p>
            <a:pPr marL="0" indent="0">
              <a:buNone/>
            </a:pPr>
            <a:r>
              <a:rPr lang="en-US" altLang="ko-KR" sz="1800" dirty="0"/>
              <a:t>                }</a:t>
            </a:r>
          </a:p>
          <a:p>
            <a:pPr marL="0" indent="0">
              <a:buNone/>
            </a:pPr>
            <a:r>
              <a:rPr lang="en-US" altLang="ko-KR" sz="1800" dirty="0"/>
              <a:t>            }</a:t>
            </a:r>
          </a:p>
          <a:p>
            <a:pPr marL="0" indent="0">
              <a:buNone/>
            </a:pPr>
            <a:r>
              <a:rPr lang="en-US" altLang="ko-KR" sz="1800" dirty="0"/>
              <a:t>            if (!</a:t>
            </a:r>
            <a:r>
              <a:rPr lang="en-US" altLang="ko-KR" sz="1800" dirty="0" err="1"/>
              <a:t>decode_ok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              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 ");</a:t>
            </a:r>
          </a:p>
          <a:p>
            <a:pPr marL="0" indent="0">
              <a:buNone/>
            </a:pPr>
            <a:r>
              <a:rPr lang="en-US" altLang="ko-KR" sz="1800" dirty="0"/>
              <a:t>        }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("\n");</a:t>
            </a:r>
          </a:p>
          <a:p>
            <a:pPr marL="0" indent="0">
              <a:buNone/>
            </a:pPr>
            <a:r>
              <a:rPr lang="en-US" altLang="ko-KR" sz="1800" dirty="0"/>
              <a:t>    }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0954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18. </a:t>
            </a:r>
            <a:r>
              <a:rPr lang="ko-KR" altLang="en-US" dirty="0" err="1" smtClean="0"/>
              <a:t>월도르프를</a:t>
            </a:r>
            <a:r>
              <a:rPr lang="ko-KR" altLang="en-US" dirty="0" smtClean="0"/>
              <a:t> 찾아라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글자들로 이루어진 </a:t>
            </a:r>
            <a:r>
              <a:rPr lang="en-US" altLang="ko-KR" sz="2000" dirty="0" smtClean="0"/>
              <a:t>m x n </a:t>
            </a:r>
            <a:r>
              <a:rPr lang="ko-KR" altLang="en-US" sz="2000" dirty="0" err="1" smtClean="0"/>
              <a:t>그리드와</a:t>
            </a:r>
            <a:r>
              <a:rPr lang="ko-KR" altLang="en-US" sz="2000" dirty="0" smtClean="0"/>
              <a:t> 단어 목록이 주어졌을 때 </a:t>
            </a:r>
            <a:r>
              <a:rPr lang="ko-KR" altLang="en-US" sz="2000" dirty="0" err="1" smtClean="0"/>
              <a:t>그리드에서</a:t>
            </a:r>
            <a:r>
              <a:rPr lang="ko-KR" altLang="en-US" sz="2000" dirty="0" smtClean="0"/>
              <a:t> 단어를 찾을 수 있는 위치를 구하라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err="1" smtClean="0"/>
              <a:t>그리드에서</a:t>
            </a:r>
            <a:r>
              <a:rPr lang="ko-KR" altLang="en-US" sz="2000" dirty="0" smtClean="0"/>
              <a:t> 한 줄로 연결된 글자들만 단어에 매치될 수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대소문자는 구분하지 않는다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또한 단어를 </a:t>
            </a:r>
            <a:r>
              <a:rPr lang="ko-KR" altLang="en-US" sz="2000" dirty="0" err="1" smtClean="0"/>
              <a:t>매치시킬</a:t>
            </a:r>
            <a:r>
              <a:rPr lang="ko-KR" altLang="en-US" sz="2000" dirty="0" smtClean="0"/>
              <a:t> 때 수평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수직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대각선으로 총 여덟 개의 방향으로 </a:t>
            </a:r>
            <a:r>
              <a:rPr lang="ko-KR" altLang="en-US" sz="2000" dirty="0" err="1" smtClean="0"/>
              <a:t>매치시킬</a:t>
            </a:r>
            <a:r>
              <a:rPr lang="ko-KR" altLang="en-US" sz="2000" dirty="0" smtClean="0"/>
              <a:t> 수 있다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첫 번째 </a:t>
            </a:r>
            <a:r>
              <a:rPr lang="ko-KR" altLang="en-US" sz="1800" dirty="0" smtClean="0"/>
              <a:t>줄에는 케이스의 수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양의 정수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sz="1800" dirty="0" smtClean="0"/>
              <a:t>두 번째 </a:t>
            </a:r>
            <a:r>
              <a:rPr lang="ko-KR" altLang="en-US" sz="1800" dirty="0" smtClean="0"/>
              <a:t>줄은 빈칸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두 개의 다른 케이스 사이에도 빈칸 줄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sz="1800" dirty="0" smtClean="0"/>
              <a:t>각 케이스는 한 쌍의 정수 </a:t>
            </a:r>
            <a:r>
              <a:rPr lang="en-US" altLang="ko-KR" sz="1800" dirty="0" smtClean="0"/>
              <a:t>m(</a:t>
            </a:r>
            <a:r>
              <a:rPr lang="ko-KR" altLang="en-US" sz="1800" dirty="0" smtClean="0"/>
              <a:t>행</a:t>
            </a:r>
            <a:r>
              <a:rPr lang="en-US" altLang="ko-KR" sz="1800" dirty="0" smtClean="0"/>
              <a:t>, 1~50)</a:t>
            </a:r>
            <a:r>
              <a:rPr lang="ko-KR" altLang="en-US" sz="1800" dirty="0" smtClean="0"/>
              <a:t>과 </a:t>
            </a:r>
            <a:r>
              <a:rPr lang="en-US" altLang="ko-KR" sz="1800" dirty="0" smtClean="0"/>
              <a:t>n(</a:t>
            </a:r>
            <a:r>
              <a:rPr lang="ko-KR" altLang="en-US" sz="1800" dirty="0" smtClean="0"/>
              <a:t>열</a:t>
            </a:r>
            <a:r>
              <a:rPr lang="en-US" altLang="ko-KR" sz="1800" dirty="0" smtClean="0"/>
              <a:t>, 1~50)</a:t>
            </a:r>
          </a:p>
          <a:p>
            <a:pPr lvl="2"/>
            <a:r>
              <a:rPr lang="en-US" altLang="ko-KR" sz="1800" dirty="0" smtClean="0"/>
              <a:t>m x n </a:t>
            </a:r>
            <a:r>
              <a:rPr lang="ko-KR" altLang="en-US" sz="1800" dirty="0" smtClean="0"/>
              <a:t>개의 글자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대소문자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sz="1800" dirty="0" err="1" smtClean="0"/>
              <a:t>그리드</a:t>
            </a:r>
            <a:r>
              <a:rPr lang="ko-KR" altLang="en-US" sz="1800" dirty="0" smtClean="0"/>
              <a:t> 다음 줄에는 정수 </a:t>
            </a:r>
            <a:r>
              <a:rPr lang="en-US" altLang="ko-KR" sz="1800" dirty="0" smtClean="0"/>
              <a:t>k(</a:t>
            </a:r>
            <a:r>
              <a:rPr lang="ko-KR" altLang="en-US" sz="1800" dirty="0" smtClean="0"/>
              <a:t>검색할 단어 수</a:t>
            </a:r>
            <a:r>
              <a:rPr lang="en-US" altLang="ko-KR" sz="1800" dirty="0" smtClean="0"/>
              <a:t>, 1~20)</a:t>
            </a:r>
          </a:p>
          <a:p>
            <a:pPr lvl="1"/>
            <a:r>
              <a:rPr lang="en-US" altLang="ko-KR" sz="1800" dirty="0" smtClean="0"/>
              <a:t>k </a:t>
            </a:r>
            <a:r>
              <a:rPr lang="ko-KR" altLang="en-US" sz="1800" dirty="0" smtClean="0"/>
              <a:t>줄에 검색할 단어가 한 줄에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개씩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대소문자만 가능</a:t>
            </a:r>
            <a:r>
              <a:rPr lang="en-US" altLang="ko-KR" sz="1800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064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20688"/>
            <a:ext cx="7772400" cy="5475312"/>
          </a:xfrm>
        </p:spPr>
        <p:txBody>
          <a:bodyPr/>
          <a:lstStyle/>
          <a:p>
            <a:r>
              <a:rPr lang="ko-KR" altLang="en-US" sz="2400" dirty="0" smtClean="0"/>
              <a:t>출력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각 테스트 케이스마다 각 단어에 대해 </a:t>
            </a:r>
            <a:r>
              <a:rPr lang="ko-KR" altLang="en-US" sz="2000" dirty="0" err="1" smtClean="0"/>
              <a:t>그리드에서</a:t>
            </a:r>
            <a:r>
              <a:rPr lang="ko-KR" altLang="en-US" sz="2000" dirty="0" smtClean="0"/>
              <a:t> 그 단어가 있는 위치를 나타내는 한 쌍의 정수 출력</a:t>
            </a:r>
            <a:endParaRPr lang="en-US" altLang="ko-KR" sz="2000" dirty="0" smtClean="0"/>
          </a:p>
          <a:p>
            <a:pPr lvl="2"/>
            <a:r>
              <a:rPr lang="ko-KR" altLang="en-US" sz="1600" dirty="0" smtClean="0"/>
              <a:t>두 정수 사이에는 스페이스가 한 개 들어감</a:t>
            </a:r>
            <a:endParaRPr lang="en-US" altLang="ko-KR" sz="1600" dirty="0" smtClean="0"/>
          </a:p>
          <a:p>
            <a:pPr lvl="2"/>
            <a:r>
              <a:rPr lang="ko-KR" altLang="en-US" sz="1600" dirty="0" smtClean="0"/>
              <a:t>첫 번째 </a:t>
            </a:r>
            <a:r>
              <a:rPr lang="ko-KR" altLang="en-US" sz="1600" dirty="0" smtClean="0"/>
              <a:t>정수는 주어진 단어의 </a:t>
            </a:r>
            <a:r>
              <a:rPr lang="ko-KR" altLang="en-US" sz="1600" dirty="0" smtClean="0"/>
              <a:t>첫 번째 </a:t>
            </a:r>
            <a:r>
              <a:rPr lang="ko-KR" altLang="en-US" sz="1600" dirty="0" smtClean="0"/>
              <a:t>글자를 찾을 수 있는 행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맨 윗줄은 </a:t>
            </a:r>
            <a:r>
              <a:rPr lang="en-US" altLang="ko-KR" sz="1600" dirty="0" smtClean="0"/>
              <a:t>1, </a:t>
            </a:r>
            <a:r>
              <a:rPr lang="ko-KR" altLang="en-US" sz="1600" dirty="0" smtClean="0"/>
              <a:t>맨 아랫줄은 </a:t>
            </a:r>
            <a:r>
              <a:rPr lang="en-US" altLang="ko-KR" sz="1600" dirty="0" smtClean="0"/>
              <a:t>m)</a:t>
            </a:r>
          </a:p>
          <a:p>
            <a:pPr lvl="2"/>
            <a:r>
              <a:rPr lang="ko-KR" altLang="en-US" sz="1600" dirty="0" smtClean="0"/>
              <a:t>두 번째 </a:t>
            </a:r>
            <a:r>
              <a:rPr lang="ko-KR" altLang="en-US" sz="1600" dirty="0" smtClean="0"/>
              <a:t>정수는 주어진 단어의 </a:t>
            </a:r>
            <a:r>
              <a:rPr lang="ko-KR" altLang="en-US" sz="1600" dirty="0" smtClean="0"/>
              <a:t>첫 번째 </a:t>
            </a:r>
            <a:r>
              <a:rPr lang="ko-KR" altLang="en-US" sz="1600" dirty="0" smtClean="0"/>
              <a:t>글자를 찾을 수 있는 열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맨 왼쪽 열은 </a:t>
            </a:r>
            <a:r>
              <a:rPr lang="en-US" altLang="ko-KR" sz="1600" dirty="0" smtClean="0"/>
              <a:t>1, </a:t>
            </a:r>
            <a:r>
              <a:rPr lang="ko-KR" altLang="en-US" sz="1600" dirty="0" smtClean="0"/>
              <a:t>맨 오른쪽 열은 </a:t>
            </a:r>
            <a:r>
              <a:rPr lang="en-US" altLang="ko-KR" sz="1600" dirty="0" smtClean="0"/>
              <a:t>n)</a:t>
            </a:r>
          </a:p>
          <a:p>
            <a:pPr lvl="1"/>
            <a:r>
              <a:rPr lang="ko-KR" altLang="en-US" sz="2000" dirty="0" smtClean="0"/>
              <a:t>단어가</a:t>
            </a:r>
            <a:r>
              <a:rPr lang="en-US" altLang="ko-KR" sz="2000" dirty="0" smtClean="0"/>
              <a:t> </a:t>
            </a:r>
            <a:r>
              <a:rPr lang="ko-KR" altLang="en-US" sz="2000" dirty="0" err="1" smtClean="0"/>
              <a:t>그리드에</a:t>
            </a:r>
            <a:r>
              <a:rPr lang="ko-KR" altLang="en-US" sz="2000" dirty="0" smtClean="0"/>
              <a:t> 두 번 이상 등장하면 가장 위쪽에 있는 단어의 위치 출력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같은 줄에 같은 단어가 두 번 이상 나오면 그 중에 가장 왼쪽에 있는 단어의 위치 출력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모든 단어는 </a:t>
            </a:r>
            <a:r>
              <a:rPr lang="ko-KR" altLang="en-US" sz="2000" dirty="0" err="1" smtClean="0"/>
              <a:t>그리드에</a:t>
            </a:r>
            <a:r>
              <a:rPr lang="ko-KR" altLang="en-US" sz="2000" dirty="0" smtClean="0"/>
              <a:t> 한 번 이상 등장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두 개의 서로 다른 케이스에 대한 출력 결과 사이에는 빈 줄을 하나 출력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92234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404664"/>
            <a:ext cx="437095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dirty="0" smtClean="0"/>
              <a:t>입력 예</a:t>
            </a:r>
            <a:endParaRPr lang="en-US" altLang="ko-KR" sz="2400" b="0" dirty="0" smtClean="0"/>
          </a:p>
          <a:p>
            <a:pPr marL="457200" lvl="1" indent="0">
              <a:buNone/>
            </a:pPr>
            <a:r>
              <a:rPr lang="en-US" altLang="ko-KR" sz="2000" b="0" dirty="0" smtClean="0"/>
              <a:t>1</a:t>
            </a:r>
          </a:p>
          <a:p>
            <a:pPr marL="457200" lvl="1" indent="0">
              <a:buNone/>
            </a:pPr>
            <a:endParaRPr lang="en-US" altLang="ko-KR" sz="2000" b="0" dirty="0"/>
          </a:p>
          <a:p>
            <a:pPr marL="457200" lvl="1" indent="0">
              <a:buNone/>
            </a:pPr>
            <a:r>
              <a:rPr lang="en-US" altLang="ko-KR" sz="2000" b="0" dirty="0" smtClean="0"/>
              <a:t>8 11</a:t>
            </a: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cDEFGhigg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ko-KR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ko-KR" sz="2000" b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alDork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ko-KR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ko-KR" sz="2000" b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ldORm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ko-KR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ko-KR" sz="2000" b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gsrc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oAr</a:t>
            </a:r>
            <a:r>
              <a:rPr lang="en-US" altLang="ko-KR" sz="2000" b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eyv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Klcbqw</a:t>
            </a:r>
            <a:r>
              <a:rPr lang="en-US" altLang="ko-KR" sz="2000" b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2000" b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trEBGad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en-US" altLang="ko-KR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yUiqlxcnBj</a:t>
            </a:r>
            <a:r>
              <a:rPr lang="en-US" altLang="ko-KR" sz="20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en-US" altLang="ko-KR" sz="2000" b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2000" b="0" dirty="0"/>
              <a:t>4</a:t>
            </a:r>
          </a:p>
          <a:p>
            <a:pPr marL="457200" lvl="1" indent="0">
              <a:buNone/>
            </a:pPr>
            <a:r>
              <a:rPr lang="en-US" altLang="ko-KR" sz="2000" b="0" dirty="0">
                <a:solidFill>
                  <a:srgbClr val="FF0000"/>
                </a:solidFill>
              </a:rPr>
              <a:t>Waldorf</a:t>
            </a:r>
          </a:p>
          <a:p>
            <a:pPr marL="457200" lvl="1" indent="0">
              <a:buNone/>
            </a:pPr>
            <a:r>
              <a:rPr lang="en-US" altLang="ko-KR" sz="2000" b="0" dirty="0">
                <a:solidFill>
                  <a:srgbClr val="7030A0"/>
                </a:solidFill>
              </a:rPr>
              <a:t>Bambi</a:t>
            </a:r>
          </a:p>
          <a:p>
            <a:pPr marL="457200" lvl="1" indent="0">
              <a:buNone/>
            </a:pPr>
            <a:r>
              <a:rPr lang="en-US" altLang="ko-KR" sz="2000" b="0" dirty="0">
                <a:solidFill>
                  <a:schemeClr val="accent2"/>
                </a:solidFill>
              </a:rPr>
              <a:t>betty</a:t>
            </a:r>
          </a:p>
          <a:p>
            <a:pPr marL="457200" lvl="1" indent="0">
              <a:buNone/>
            </a:pPr>
            <a:r>
              <a:rPr lang="en-US" altLang="ko-KR" sz="2000" b="0" dirty="0" err="1">
                <a:solidFill>
                  <a:schemeClr val="accent1">
                    <a:lumMod val="75000"/>
                  </a:schemeClr>
                </a:solidFill>
              </a:rPr>
              <a:t>Dagbert</a:t>
            </a:r>
            <a:endParaRPr lang="en-US" altLang="ko-KR" sz="2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54523" y="404664"/>
            <a:ext cx="3477917" cy="220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dirty="0" smtClean="0"/>
              <a:t>출력 예</a:t>
            </a:r>
            <a:endParaRPr lang="en-US" altLang="ko-KR" sz="2400" b="0" dirty="0" smtClean="0"/>
          </a:p>
          <a:p>
            <a:pPr marL="457200" lvl="1" indent="0">
              <a:buNone/>
            </a:pPr>
            <a:r>
              <a:rPr lang="en-US" altLang="ko-KR" sz="2000" b="0" dirty="0" smtClean="0">
                <a:solidFill>
                  <a:srgbClr val="FF0000"/>
                </a:solidFill>
              </a:rPr>
              <a:t>2 5</a:t>
            </a:r>
          </a:p>
          <a:p>
            <a:pPr marL="457200" lvl="1" indent="0">
              <a:buNone/>
            </a:pPr>
            <a:r>
              <a:rPr lang="en-US" altLang="ko-KR" sz="2000" b="0" dirty="0" smtClean="0">
                <a:solidFill>
                  <a:srgbClr val="7030A0"/>
                </a:solidFill>
              </a:rPr>
              <a:t>2 3</a:t>
            </a:r>
          </a:p>
          <a:p>
            <a:pPr marL="457200" lvl="1" indent="0">
              <a:buNone/>
            </a:pPr>
            <a:r>
              <a:rPr lang="en-US" altLang="ko-KR" sz="2000" b="0" dirty="0" smtClean="0">
                <a:solidFill>
                  <a:schemeClr val="accent2"/>
                </a:solidFill>
              </a:rPr>
              <a:t>1 2</a:t>
            </a:r>
          </a:p>
          <a:p>
            <a:pPr marL="457200" lvl="1" indent="0">
              <a:buNone/>
            </a:pPr>
            <a:r>
              <a:rPr lang="en-US" altLang="ko-KR" sz="2000" b="0" dirty="0" smtClean="0">
                <a:solidFill>
                  <a:schemeClr val="accent1">
                    <a:lumMod val="75000"/>
                  </a:schemeClr>
                </a:solidFill>
              </a:rPr>
              <a:t>7 8</a:t>
            </a:r>
            <a:endParaRPr lang="ko-KR" altLang="en-US" sz="2000" b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3290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18 </a:t>
            </a:r>
            <a:r>
              <a:rPr lang="ko-KR" altLang="en-US" dirty="0" smtClean="0"/>
              <a:t>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 문제도 이해하기 쉽고 입출력 모두 간단하다</a:t>
            </a:r>
            <a:r>
              <a:rPr lang="en-US" altLang="ko-KR" sz="2400" dirty="0"/>
              <a:t>. </a:t>
            </a:r>
            <a:r>
              <a:rPr lang="ko-KR" altLang="en-US" sz="2400" dirty="0"/>
              <a:t>핵심적인 부분은 모두 </a:t>
            </a:r>
            <a:r>
              <a:rPr lang="en-US" altLang="ko-KR" sz="2400" dirty="0" err="1"/>
              <a:t>find_match</a:t>
            </a:r>
            <a:r>
              <a:rPr lang="en-US" altLang="ko-KR" sz="2400" dirty="0"/>
              <a:t>() </a:t>
            </a:r>
            <a:r>
              <a:rPr lang="ko-KR" altLang="en-US" sz="2400" dirty="0"/>
              <a:t>함수에 있다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 smtClean="0"/>
          </a:p>
          <a:p>
            <a:r>
              <a:rPr lang="ko-KR" altLang="en-US" sz="2400" dirty="0" err="1" smtClean="0"/>
              <a:t>그리드에서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단어를 검색하는 방향은 모두 </a:t>
            </a:r>
            <a:r>
              <a:rPr lang="en-US" altLang="ko-KR" sz="2400" dirty="0"/>
              <a:t>8</a:t>
            </a:r>
            <a:r>
              <a:rPr lang="ko-KR" altLang="en-US" sz="2400" dirty="0"/>
              <a:t>가지가 가능하므로 </a:t>
            </a:r>
            <a:r>
              <a:rPr lang="en-US" altLang="ko-KR" sz="2400" dirty="0"/>
              <a:t>di, </a:t>
            </a:r>
            <a:r>
              <a:rPr lang="en-US" altLang="ko-KR" sz="2400" dirty="0" err="1"/>
              <a:t>dj</a:t>
            </a:r>
            <a:r>
              <a:rPr lang="en-US" altLang="ko-KR" sz="2400" dirty="0"/>
              <a:t> </a:t>
            </a:r>
            <a:r>
              <a:rPr lang="ko-KR" altLang="en-US" sz="2400" dirty="0"/>
              <a:t>배열을 만들어 </a:t>
            </a:r>
            <a:r>
              <a:rPr lang="ko-KR" altLang="en-US" sz="2400" dirty="0" err="1"/>
              <a:t>방향별</a:t>
            </a:r>
            <a:r>
              <a:rPr lang="ko-KR" altLang="en-US" sz="2400" dirty="0"/>
              <a:t>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, j </a:t>
            </a:r>
            <a:r>
              <a:rPr lang="ko-KR" altLang="en-US" sz="2400" dirty="0"/>
              <a:t>증가분을 미리 </a:t>
            </a:r>
            <a:r>
              <a:rPr lang="ko-KR" altLang="en-US" sz="2400" dirty="0" smtClean="0"/>
              <a:t>저장해두었다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47798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// prob18: Where's </a:t>
            </a:r>
            <a:r>
              <a:rPr lang="en-US" altLang="ko-KR" sz="1800" dirty="0" err="1"/>
              <a:t>Waldort</a:t>
            </a:r>
            <a:r>
              <a:rPr lang="en-US" altLang="ko-KR" sz="1800" dirty="0"/>
              <a:t>?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stdio.h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string.h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#define MAX_M 50</a:t>
            </a:r>
          </a:p>
          <a:p>
            <a:pPr marL="0" indent="0">
              <a:buNone/>
            </a:pPr>
            <a:r>
              <a:rPr lang="en-US" altLang="ko-KR" sz="1800" dirty="0"/>
              <a:t>#define MAX_N 50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static char a[MAX_M][MAX_N];</a:t>
            </a:r>
          </a:p>
          <a:p>
            <a:pPr marL="0" indent="0">
              <a:buNone/>
            </a:pPr>
            <a:r>
              <a:rPr lang="en-US" altLang="ko-KR" sz="1800" dirty="0"/>
              <a:t>static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m, n;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// </a:t>
            </a:r>
            <a:r>
              <a:rPr lang="ko-KR" altLang="en-US" sz="1800" dirty="0"/>
              <a:t>위치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j)</a:t>
            </a:r>
            <a:r>
              <a:rPr lang="ko-KR" altLang="en-US" sz="1800" dirty="0"/>
              <a:t>부터 시작하여 </a:t>
            </a:r>
            <a:r>
              <a:rPr lang="en-US" altLang="ko-KR" sz="1800" dirty="0"/>
              <a:t>8</a:t>
            </a:r>
            <a:r>
              <a:rPr lang="ko-KR" altLang="en-US" sz="1800" dirty="0"/>
              <a:t>방향으로 단어 </a:t>
            </a:r>
            <a:r>
              <a:rPr lang="en-US" altLang="ko-KR" sz="1800" dirty="0"/>
              <a:t>word</a:t>
            </a:r>
            <a:r>
              <a:rPr lang="ko-KR" altLang="en-US" sz="1800" dirty="0"/>
              <a:t>를 찾는다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find_match</a:t>
            </a:r>
            <a:r>
              <a:rPr lang="en-US" altLang="ko-KR" sz="1800" dirty="0"/>
              <a:t>(char word[],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start_i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start_j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// 8</a:t>
            </a:r>
            <a:r>
              <a:rPr lang="ko-KR" altLang="en-US" sz="1800" dirty="0"/>
              <a:t>방향에 대한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 </a:t>
            </a:r>
            <a:r>
              <a:rPr lang="ko-KR" altLang="en-US" sz="1800" dirty="0"/>
              <a:t>증가분을 기록해둔다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/>
              <a:t>static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di[8] = {-1, -1, -1, 0, 1, 1, 1, 0};</a:t>
            </a:r>
          </a:p>
          <a:p>
            <a:pPr marL="0" indent="0">
              <a:buNone/>
            </a:pPr>
            <a:r>
              <a:rPr lang="en-US" altLang="ko-KR" sz="1800" dirty="0"/>
              <a:t>    static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dj</a:t>
            </a:r>
            <a:r>
              <a:rPr lang="en-US" altLang="ko-KR" sz="1800" dirty="0"/>
              <a:t>[8] = {-1, 0, 1, 1, 1, 0, -1, -1};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j, t, 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327450"/>
              </p:ext>
            </p:extLst>
          </p:nvPr>
        </p:nvGraphicFramePr>
        <p:xfrm>
          <a:off x="6393341" y="1556792"/>
          <a:ext cx="1548429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/>
                <a:gridCol w="504056"/>
                <a:gridCol w="540317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64088" y="1484784"/>
            <a:ext cx="963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(-1, -1)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(-1,   0)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(-1,   1)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53381" y="2710824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(0,  1)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21305" y="1149455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(0, -1)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28755" y="1484784"/>
            <a:ext cx="837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(1, -1)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(1,   0)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(1,   1)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27025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/>
              <a:t>    </a:t>
            </a:r>
            <a:r>
              <a:rPr lang="en-US" altLang="ko-KR" sz="1800" dirty="0"/>
              <a:t>for (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 = 0; 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 &lt; 8; 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++) {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start_i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j = </a:t>
            </a:r>
            <a:r>
              <a:rPr lang="en-US" altLang="ko-KR" sz="1800" dirty="0" err="1"/>
              <a:t>start_j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t = 0;</a:t>
            </a:r>
          </a:p>
          <a:p>
            <a:pPr marL="0" indent="0">
              <a:buNone/>
            </a:pPr>
            <a:r>
              <a:rPr lang="en-US" altLang="ko-KR" sz="1800" dirty="0"/>
              <a:t>        while 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&gt;= 0 &amp;&amp;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&lt; m &amp;&amp; j &gt;= 0 &amp;&amp; j &lt; n</a:t>
            </a:r>
          </a:p>
          <a:p>
            <a:pPr marL="0" indent="0">
              <a:buNone/>
            </a:pPr>
            <a:r>
              <a:rPr lang="en-US" altLang="ko-KR" sz="1800" dirty="0"/>
              <a:t>            &amp;&amp; word[t] != '\0' &amp;&amp; word[t] == a[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][j]) {</a:t>
            </a:r>
          </a:p>
          <a:p>
            <a:pPr marL="0" indent="0">
              <a:buNone/>
            </a:pPr>
            <a:r>
              <a:rPr lang="en-US" altLang="ko-KR" sz="1800" dirty="0"/>
              <a:t>           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+= di[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];</a:t>
            </a:r>
          </a:p>
          <a:p>
            <a:pPr marL="0" indent="0">
              <a:buNone/>
            </a:pPr>
            <a:r>
              <a:rPr lang="en-US" altLang="ko-KR" sz="1800" dirty="0"/>
              <a:t>            j += </a:t>
            </a:r>
            <a:r>
              <a:rPr lang="en-US" altLang="ko-KR" sz="1800" dirty="0" err="1"/>
              <a:t>dj</a:t>
            </a:r>
            <a:r>
              <a:rPr lang="en-US" altLang="ko-KR" sz="1800" dirty="0"/>
              <a:t>[</a:t>
            </a:r>
            <a:r>
              <a:rPr lang="en-US" altLang="ko-KR" sz="1800" dirty="0" err="1"/>
              <a:t>dir</a:t>
            </a:r>
            <a:r>
              <a:rPr lang="en-US" altLang="ko-KR" sz="1800" dirty="0"/>
              <a:t>];</a:t>
            </a:r>
          </a:p>
          <a:p>
            <a:pPr marL="0" indent="0">
              <a:buNone/>
            </a:pPr>
            <a:r>
              <a:rPr lang="en-US" altLang="ko-KR" sz="1800" dirty="0"/>
              <a:t>            t++;</a:t>
            </a:r>
          </a:p>
          <a:p>
            <a:pPr marL="0" indent="0">
              <a:buNone/>
            </a:pPr>
            <a:r>
              <a:rPr lang="en-US" altLang="ko-KR" sz="1800" dirty="0"/>
              <a:t>        }</a:t>
            </a:r>
          </a:p>
          <a:p>
            <a:pPr marL="0" indent="0">
              <a:buNone/>
            </a:pPr>
            <a:r>
              <a:rPr lang="en-US" altLang="ko-KR" sz="1800" dirty="0"/>
              <a:t>        if (word[t] == '\0')</a:t>
            </a:r>
          </a:p>
          <a:p>
            <a:pPr marL="0" indent="0">
              <a:buNone/>
            </a:pPr>
            <a:r>
              <a:rPr lang="en-US" altLang="ko-KR" sz="1800" dirty="0"/>
              <a:t>            return 1;</a:t>
            </a:r>
          </a:p>
          <a:p>
            <a:pPr marL="0" indent="0">
              <a:buNone/>
            </a:pPr>
            <a:r>
              <a:rPr lang="en-US" altLang="ko-KR" sz="1800" dirty="0"/>
              <a:t>    }</a:t>
            </a:r>
          </a:p>
          <a:p>
            <a:pPr marL="0" indent="0">
              <a:buNone/>
            </a:pPr>
            <a:r>
              <a:rPr lang="en-US" altLang="ko-KR" sz="1800" dirty="0"/>
              <a:t>    return 0;</a:t>
            </a:r>
          </a:p>
          <a:p>
            <a:pPr marL="0" indent="0">
              <a:buNone/>
            </a:pPr>
            <a:r>
              <a:rPr lang="en-US" altLang="ko-KR" sz="1800" dirty="0" smtClean="0"/>
              <a:t>}</a:t>
            </a:r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2563779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700" dirty="0"/>
              <a:t>void main(void)</a:t>
            </a:r>
          </a:p>
          <a:p>
            <a:pPr marL="0" indent="0">
              <a:buNone/>
            </a:pPr>
            <a:r>
              <a:rPr lang="en-US" altLang="ko-KR" sz="1700" dirty="0"/>
              <a:t>{</a:t>
            </a:r>
          </a:p>
          <a:p>
            <a:pPr marL="0" indent="0">
              <a:buNone/>
            </a:pPr>
            <a:r>
              <a:rPr lang="en-US" altLang="ko-KR" sz="1700" dirty="0"/>
              <a:t>    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num_cases</a:t>
            </a:r>
            <a:r>
              <a:rPr lang="en-US" altLang="ko-KR" sz="1700" dirty="0"/>
              <a:t>, t,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, j, k;</a:t>
            </a:r>
          </a:p>
          <a:p>
            <a:pPr marL="0" indent="0">
              <a:buNone/>
            </a:pPr>
            <a:r>
              <a:rPr lang="en-US" altLang="ko-KR" sz="1700" dirty="0"/>
              <a:t>    char line[256], word[256];</a:t>
            </a:r>
          </a:p>
          <a:p>
            <a:pPr marL="0" indent="0">
              <a:buNone/>
            </a:pPr>
            <a:r>
              <a:rPr lang="en-US" altLang="ko-KR" sz="1700" dirty="0" smtClean="0"/>
              <a:t>    </a:t>
            </a:r>
            <a:r>
              <a:rPr lang="en-US" altLang="ko-KR" sz="1700" dirty="0" err="1"/>
              <a:t>scanf</a:t>
            </a:r>
            <a:r>
              <a:rPr lang="en-US" altLang="ko-KR" sz="1700" dirty="0"/>
              <a:t>("%d", &amp;</a:t>
            </a:r>
            <a:r>
              <a:rPr lang="en-US" altLang="ko-KR" sz="1700" dirty="0" err="1"/>
              <a:t>num_cases</a:t>
            </a:r>
            <a:r>
              <a:rPr lang="en-US" altLang="ko-KR" sz="1700" dirty="0"/>
              <a:t>);</a:t>
            </a:r>
          </a:p>
          <a:p>
            <a:pPr marL="0" indent="0">
              <a:buNone/>
            </a:pPr>
            <a:r>
              <a:rPr lang="en-US" altLang="ko-KR" sz="1700" dirty="0"/>
              <a:t>    for (t = 0; t &lt; </a:t>
            </a:r>
            <a:r>
              <a:rPr lang="en-US" altLang="ko-KR" sz="1700" dirty="0" err="1"/>
              <a:t>num_cases</a:t>
            </a:r>
            <a:r>
              <a:rPr lang="en-US" altLang="ko-KR" sz="1700" dirty="0"/>
              <a:t>; t++) {</a:t>
            </a:r>
          </a:p>
          <a:p>
            <a:pPr marL="0" indent="0">
              <a:buNone/>
            </a:pPr>
            <a:r>
              <a:rPr lang="en-US" altLang="ko-KR" sz="1700" dirty="0"/>
              <a:t>        if (t &gt; 0)</a:t>
            </a:r>
          </a:p>
          <a:p>
            <a:pPr marL="0" indent="0">
              <a:buNone/>
            </a:pPr>
            <a:r>
              <a:rPr lang="en-US" altLang="ko-KR" sz="1700" dirty="0"/>
              <a:t>            </a:t>
            </a:r>
            <a:r>
              <a:rPr lang="en-US" altLang="ko-KR" sz="1700" dirty="0" err="1"/>
              <a:t>putchar</a:t>
            </a:r>
            <a:r>
              <a:rPr lang="en-US" altLang="ko-KR" sz="1700" dirty="0"/>
              <a:t>('\n');</a:t>
            </a:r>
          </a:p>
          <a:p>
            <a:pPr marL="0" indent="0">
              <a:buNone/>
            </a:pPr>
            <a:r>
              <a:rPr lang="en-US" altLang="ko-KR" sz="1700" dirty="0"/>
              <a:t>        </a:t>
            </a:r>
            <a:r>
              <a:rPr lang="en-US" altLang="ko-KR" sz="1700" dirty="0" err="1" smtClean="0"/>
              <a:t>fgets</a:t>
            </a:r>
            <a:r>
              <a:rPr lang="en-US" altLang="ko-KR" sz="1700" dirty="0" smtClean="0"/>
              <a:t>(line, 256, </a:t>
            </a:r>
            <a:r>
              <a:rPr lang="en-US" altLang="ko-KR" sz="1700" dirty="0" err="1" smtClean="0"/>
              <a:t>stdin</a:t>
            </a:r>
            <a:r>
              <a:rPr lang="en-US" altLang="ko-KR" sz="1700" dirty="0" smtClean="0"/>
              <a:t>); // gets(line</a:t>
            </a:r>
            <a:r>
              <a:rPr lang="en-US" altLang="ko-KR" sz="1700" dirty="0"/>
              <a:t>);</a:t>
            </a:r>
          </a:p>
          <a:p>
            <a:pPr marL="0" indent="0">
              <a:buNone/>
            </a:pPr>
            <a:r>
              <a:rPr lang="en-US" altLang="ko-KR" sz="1700" dirty="0" smtClean="0"/>
              <a:t>        </a:t>
            </a:r>
            <a:r>
              <a:rPr lang="en-US" altLang="ko-KR" sz="1700" dirty="0"/>
              <a:t>// </a:t>
            </a:r>
            <a:r>
              <a:rPr lang="ko-KR" altLang="en-US" sz="1700" dirty="0" err="1"/>
              <a:t>그리드를</a:t>
            </a:r>
            <a:r>
              <a:rPr lang="ko-KR" altLang="en-US" sz="1700" dirty="0"/>
              <a:t> </a:t>
            </a:r>
            <a:r>
              <a:rPr lang="ko-KR" altLang="en-US" sz="1700" dirty="0" smtClean="0"/>
              <a:t>읽어 들인다</a:t>
            </a:r>
            <a:endParaRPr lang="ko-KR" altLang="en-US" sz="1700" dirty="0"/>
          </a:p>
          <a:p>
            <a:pPr marL="0" indent="0">
              <a:buNone/>
            </a:pPr>
            <a:r>
              <a:rPr lang="ko-KR" altLang="en-US" sz="1700" dirty="0"/>
              <a:t>        </a:t>
            </a:r>
            <a:r>
              <a:rPr lang="en-US" altLang="ko-KR" sz="1700" dirty="0" err="1"/>
              <a:t>scanf</a:t>
            </a:r>
            <a:r>
              <a:rPr lang="en-US" altLang="ko-KR" sz="1700" dirty="0"/>
              <a:t>("%d %d", &amp;m, &amp;n);</a:t>
            </a:r>
          </a:p>
          <a:p>
            <a:pPr marL="0" indent="0">
              <a:buNone/>
            </a:pPr>
            <a:r>
              <a:rPr lang="en-US" altLang="ko-KR" sz="1700" dirty="0"/>
              <a:t>        </a:t>
            </a:r>
            <a:r>
              <a:rPr lang="en-US" altLang="ko-KR" sz="1700" dirty="0" err="1" smtClean="0"/>
              <a:t>fgets</a:t>
            </a:r>
            <a:r>
              <a:rPr lang="en-US" altLang="ko-KR" sz="1700" dirty="0" smtClean="0"/>
              <a:t>(line, 256, </a:t>
            </a:r>
            <a:r>
              <a:rPr lang="en-US" altLang="ko-KR" sz="1700" dirty="0" err="1" smtClean="0"/>
              <a:t>stdin</a:t>
            </a:r>
            <a:r>
              <a:rPr lang="en-US" altLang="ko-KR" sz="1700" dirty="0" smtClean="0"/>
              <a:t>); // gets(line);</a:t>
            </a:r>
          </a:p>
          <a:p>
            <a:pPr marL="0" indent="0">
              <a:buNone/>
            </a:pPr>
            <a:r>
              <a:rPr lang="en-US" altLang="ko-KR" sz="1700" dirty="0"/>
              <a:t> </a:t>
            </a:r>
            <a:r>
              <a:rPr lang="en-US" altLang="ko-KR" sz="1700" dirty="0" smtClean="0"/>
              <a:t>       for </a:t>
            </a:r>
            <a:r>
              <a:rPr lang="en-US" altLang="ko-KR" sz="1700" dirty="0"/>
              <a:t>(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= 0;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&lt; m;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++) {</a:t>
            </a:r>
          </a:p>
          <a:p>
            <a:pPr marL="0" indent="0">
              <a:buNone/>
            </a:pPr>
            <a:r>
              <a:rPr lang="en-US" altLang="ko-KR" sz="1700" dirty="0"/>
              <a:t>            for (j = 0; j &lt; n; j++) {</a:t>
            </a:r>
          </a:p>
          <a:p>
            <a:pPr marL="0" indent="0">
              <a:buNone/>
            </a:pPr>
            <a:r>
              <a:rPr lang="en-US" altLang="ko-KR" sz="1700" dirty="0"/>
              <a:t>                a[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][j] = </a:t>
            </a:r>
            <a:r>
              <a:rPr lang="en-US" altLang="ko-KR" sz="1700" dirty="0" err="1"/>
              <a:t>getchar</a:t>
            </a:r>
            <a:r>
              <a:rPr lang="en-US" altLang="ko-KR" sz="1700" dirty="0"/>
              <a:t>();</a:t>
            </a:r>
          </a:p>
          <a:p>
            <a:pPr marL="0" indent="0">
              <a:buNone/>
            </a:pPr>
            <a:r>
              <a:rPr lang="en-US" altLang="ko-KR" sz="1700" dirty="0"/>
              <a:t>                if (a[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][j] &gt;= 'A' &amp;&amp; a[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][j] &lt;= 'Z')</a:t>
            </a:r>
          </a:p>
          <a:p>
            <a:pPr marL="0" indent="0">
              <a:buNone/>
            </a:pPr>
            <a:r>
              <a:rPr lang="en-US" altLang="ko-KR" sz="1700" dirty="0"/>
              <a:t>                    a[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][j] += ('a' - 'A');</a:t>
            </a:r>
          </a:p>
          <a:p>
            <a:pPr marL="0" indent="0">
              <a:buNone/>
            </a:pPr>
            <a:r>
              <a:rPr lang="en-US" altLang="ko-KR" sz="1700" dirty="0"/>
              <a:t>            }</a:t>
            </a:r>
          </a:p>
          <a:p>
            <a:pPr marL="0" indent="0">
              <a:buNone/>
            </a:pPr>
            <a:r>
              <a:rPr lang="en-US" altLang="ko-KR" sz="1700" dirty="0"/>
              <a:t> </a:t>
            </a:r>
            <a:r>
              <a:rPr lang="en-US" altLang="ko-KR" sz="1700" dirty="0" smtClean="0"/>
              <a:t>           </a:t>
            </a:r>
            <a:r>
              <a:rPr lang="en-US" altLang="ko-KR" sz="1700" dirty="0" err="1" smtClean="0"/>
              <a:t>fgets</a:t>
            </a:r>
            <a:r>
              <a:rPr lang="en-US" altLang="ko-KR" sz="1700" dirty="0" smtClean="0"/>
              <a:t>(line, 256, </a:t>
            </a:r>
            <a:r>
              <a:rPr lang="en-US" altLang="ko-KR" sz="1700" dirty="0" err="1" smtClean="0"/>
              <a:t>stdin</a:t>
            </a:r>
            <a:r>
              <a:rPr lang="en-US" altLang="ko-KR" sz="1700" dirty="0" smtClean="0"/>
              <a:t>); // gets(line</a:t>
            </a:r>
            <a:r>
              <a:rPr lang="en-US" altLang="ko-KR" sz="1700" dirty="0"/>
              <a:t>);</a:t>
            </a:r>
          </a:p>
          <a:p>
            <a:pPr marL="0" indent="0">
              <a:buNone/>
            </a:pPr>
            <a:r>
              <a:rPr lang="en-US" altLang="ko-KR" sz="17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8996510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700" dirty="0"/>
              <a:t> </a:t>
            </a:r>
            <a:r>
              <a:rPr lang="ko-KR" altLang="en-US" sz="1700" dirty="0" smtClean="0"/>
              <a:t>       </a:t>
            </a:r>
            <a:r>
              <a:rPr lang="en-US" altLang="ko-KR" sz="1700" dirty="0" smtClean="0"/>
              <a:t>// </a:t>
            </a:r>
            <a:r>
              <a:rPr lang="ko-KR" altLang="en-US" sz="1700" dirty="0"/>
              <a:t>단어들을 입력 받아 검색한다</a:t>
            </a:r>
          </a:p>
          <a:p>
            <a:pPr marL="0" indent="0">
              <a:buNone/>
            </a:pPr>
            <a:r>
              <a:rPr lang="ko-KR" altLang="en-US" sz="1700" dirty="0"/>
              <a:t>        </a:t>
            </a:r>
            <a:r>
              <a:rPr lang="en-US" altLang="ko-KR" sz="1700" dirty="0" err="1"/>
              <a:t>scanf</a:t>
            </a:r>
            <a:r>
              <a:rPr lang="en-US" altLang="ko-KR" sz="1700" dirty="0"/>
              <a:t>("%d", &amp;k);</a:t>
            </a:r>
          </a:p>
          <a:p>
            <a:pPr marL="0" indent="0">
              <a:buNone/>
            </a:pPr>
            <a:r>
              <a:rPr lang="en-US" altLang="ko-KR" sz="1700" dirty="0"/>
              <a:t>        </a:t>
            </a:r>
            <a:r>
              <a:rPr lang="en-US" altLang="ko-KR" sz="1700" dirty="0" err="1" smtClean="0"/>
              <a:t>fgets</a:t>
            </a:r>
            <a:r>
              <a:rPr lang="en-US" altLang="ko-KR" sz="1700" dirty="0" smtClean="0"/>
              <a:t>(line, 256, </a:t>
            </a:r>
            <a:r>
              <a:rPr lang="en-US" altLang="ko-KR" sz="1700" dirty="0" err="1" smtClean="0"/>
              <a:t>stdin</a:t>
            </a:r>
            <a:r>
              <a:rPr lang="en-US" altLang="ko-KR" sz="1700" dirty="0" smtClean="0"/>
              <a:t>); // gets(line</a:t>
            </a:r>
            <a:r>
              <a:rPr lang="en-US" altLang="ko-KR" sz="1700" dirty="0"/>
              <a:t>);</a:t>
            </a:r>
          </a:p>
          <a:p>
            <a:pPr marL="0" indent="0">
              <a:buNone/>
            </a:pPr>
            <a:r>
              <a:rPr lang="en-US" altLang="ko-KR" sz="1700" dirty="0"/>
              <a:t>        while (k-- &gt; 0) {</a:t>
            </a:r>
          </a:p>
          <a:p>
            <a:pPr marL="0" indent="0">
              <a:buNone/>
            </a:pPr>
            <a:r>
              <a:rPr lang="en-US" altLang="ko-KR" sz="1700" dirty="0"/>
              <a:t>            </a:t>
            </a:r>
            <a:r>
              <a:rPr lang="en-US" altLang="ko-KR" sz="1700" dirty="0" err="1" smtClean="0"/>
              <a:t>fgets</a:t>
            </a:r>
            <a:r>
              <a:rPr lang="en-US" altLang="ko-KR" sz="1700" dirty="0" smtClean="0"/>
              <a:t>(word, 256, </a:t>
            </a:r>
            <a:r>
              <a:rPr lang="en-US" altLang="ko-KR" sz="1700" dirty="0" err="1" smtClean="0"/>
              <a:t>stdin</a:t>
            </a:r>
            <a:r>
              <a:rPr lang="en-US" altLang="ko-KR" sz="1700" dirty="0" smtClean="0"/>
              <a:t>); // gets(word);</a:t>
            </a:r>
          </a:p>
          <a:p>
            <a:pPr marL="0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smtClean="0"/>
              <a:t>word[</a:t>
            </a:r>
            <a:r>
              <a:rPr lang="en-US" altLang="ko-KR" sz="1700" dirty="0" err="1" smtClean="0"/>
              <a:t>strlen</a:t>
            </a:r>
            <a:r>
              <a:rPr lang="en-US" altLang="ko-KR" sz="1700" dirty="0" smtClean="0"/>
              <a:t>(word)-1] = </a:t>
            </a:r>
            <a:r>
              <a:rPr lang="en-US" altLang="ko-KR" sz="1700" dirty="0"/>
              <a:t>'</a:t>
            </a:r>
            <a:r>
              <a:rPr lang="en-US" altLang="ko-KR" sz="1700" dirty="0" smtClean="0"/>
              <a:t>\0</a:t>
            </a:r>
            <a:r>
              <a:rPr lang="en-US" altLang="ko-KR" sz="1700" dirty="0"/>
              <a:t>'</a:t>
            </a:r>
            <a:r>
              <a:rPr lang="en-US" altLang="ko-KR" sz="1700" dirty="0" smtClean="0"/>
              <a:t>; // </a:t>
            </a:r>
            <a:r>
              <a:rPr lang="ko-KR" altLang="en-US" sz="1700" dirty="0" smtClean="0"/>
              <a:t>마지막 </a:t>
            </a:r>
            <a:r>
              <a:rPr lang="en-US" altLang="ko-KR" sz="1700" dirty="0" smtClean="0"/>
              <a:t>newline </a:t>
            </a:r>
            <a:r>
              <a:rPr lang="ko-KR" altLang="en-US" sz="1700" dirty="0" smtClean="0"/>
              <a:t>제거</a:t>
            </a:r>
            <a:endParaRPr lang="en-US" altLang="ko-KR" sz="1700" dirty="0"/>
          </a:p>
          <a:p>
            <a:pPr marL="0" indent="0">
              <a:buNone/>
            </a:pPr>
            <a:r>
              <a:rPr lang="en-US" altLang="ko-KR" sz="1700" dirty="0"/>
              <a:t>            for (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= 0;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&lt; </a:t>
            </a:r>
            <a:r>
              <a:rPr lang="en-US" altLang="ko-KR" sz="1700" dirty="0" err="1"/>
              <a:t>strlen</a:t>
            </a:r>
            <a:r>
              <a:rPr lang="en-US" altLang="ko-KR" sz="1700" dirty="0"/>
              <a:t>(word);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++)</a:t>
            </a:r>
          </a:p>
          <a:p>
            <a:pPr marL="0" indent="0">
              <a:buNone/>
            </a:pPr>
            <a:r>
              <a:rPr lang="en-US" altLang="ko-KR" sz="1700" dirty="0"/>
              <a:t>                if (word[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 &gt;= 'A' &amp;&amp; word[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 &lt;= 'Z')</a:t>
            </a:r>
          </a:p>
          <a:p>
            <a:pPr marL="0" indent="0">
              <a:buNone/>
            </a:pPr>
            <a:r>
              <a:rPr lang="en-US" altLang="ko-KR" sz="1700" dirty="0"/>
              <a:t>                    word[</a:t>
            </a:r>
            <a:r>
              <a:rPr lang="en-US" altLang="ko-KR" sz="1700" dirty="0" err="1"/>
              <a:t>i</a:t>
            </a:r>
            <a:r>
              <a:rPr lang="en-US" altLang="ko-KR" sz="1700" dirty="0"/>
              <a:t>] += ('a' - 'A</a:t>
            </a:r>
            <a:r>
              <a:rPr lang="en-US" altLang="ko-KR" sz="1700" dirty="0" smtClean="0"/>
              <a:t>'); // </a:t>
            </a:r>
            <a:r>
              <a:rPr lang="ko-KR" altLang="en-US" sz="1700" dirty="0" smtClean="0"/>
              <a:t>대문자를 소문자로 변경</a:t>
            </a:r>
            <a:endParaRPr lang="en-US" altLang="ko-KR" sz="1700" dirty="0"/>
          </a:p>
          <a:p>
            <a:pPr marL="0" indent="0">
              <a:buNone/>
            </a:pPr>
            <a:r>
              <a:rPr lang="en-US" altLang="ko-KR" sz="1700" dirty="0"/>
              <a:t>            for (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= 0;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&lt; m;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++)</a:t>
            </a:r>
          </a:p>
          <a:p>
            <a:pPr marL="0" indent="0">
              <a:buNone/>
            </a:pPr>
            <a:r>
              <a:rPr lang="en-US" altLang="ko-KR" sz="1700" dirty="0"/>
              <a:t>                for (j = 0; j &lt; n; j++)</a:t>
            </a:r>
          </a:p>
          <a:p>
            <a:pPr marL="0" indent="0">
              <a:buNone/>
            </a:pPr>
            <a:r>
              <a:rPr lang="en-US" altLang="ko-KR" sz="1700" dirty="0"/>
              <a:t>                    if (</a:t>
            </a:r>
            <a:r>
              <a:rPr lang="en-US" altLang="ko-KR" sz="1700" dirty="0" err="1"/>
              <a:t>find_match</a:t>
            </a:r>
            <a:r>
              <a:rPr lang="en-US" altLang="ko-KR" sz="1700" dirty="0"/>
              <a:t>(word,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, j)) {</a:t>
            </a:r>
          </a:p>
          <a:p>
            <a:pPr marL="0" indent="0">
              <a:buNone/>
            </a:pPr>
            <a:r>
              <a:rPr lang="en-US" altLang="ko-KR" sz="1700" dirty="0"/>
              <a:t>                        </a:t>
            </a:r>
            <a:r>
              <a:rPr lang="en-US" altLang="ko-KR" sz="1700" dirty="0" err="1"/>
              <a:t>printf</a:t>
            </a:r>
            <a:r>
              <a:rPr lang="en-US" altLang="ko-KR" sz="1700" dirty="0"/>
              <a:t>("%d %d\n", </a:t>
            </a:r>
            <a:r>
              <a:rPr lang="en-US" altLang="ko-KR" sz="1700" dirty="0" err="1"/>
              <a:t>i</a:t>
            </a:r>
            <a:r>
              <a:rPr lang="en-US" altLang="ko-KR" sz="1700" dirty="0"/>
              <a:t> + 1, j + 1);</a:t>
            </a:r>
          </a:p>
          <a:p>
            <a:pPr marL="0" indent="0">
              <a:buNone/>
            </a:pPr>
            <a:r>
              <a:rPr lang="en-US" altLang="ko-KR" sz="1700" dirty="0"/>
              <a:t>                        </a:t>
            </a:r>
            <a:r>
              <a:rPr lang="en-US" altLang="ko-KR" sz="1700" dirty="0" err="1"/>
              <a:t>goto</a:t>
            </a:r>
            <a:r>
              <a:rPr lang="en-US" altLang="ko-KR" sz="1700" dirty="0"/>
              <a:t> </a:t>
            </a:r>
            <a:r>
              <a:rPr lang="en-US" altLang="ko-KR" sz="1700" dirty="0" err="1"/>
              <a:t>end_of_loop_i</a:t>
            </a:r>
            <a:r>
              <a:rPr lang="en-US" altLang="ko-KR" sz="1700" dirty="0"/>
              <a:t>;</a:t>
            </a:r>
          </a:p>
          <a:p>
            <a:pPr marL="0" indent="0">
              <a:buNone/>
            </a:pPr>
            <a:r>
              <a:rPr lang="en-US" altLang="ko-KR" sz="1700" dirty="0"/>
              <a:t>                    }</a:t>
            </a:r>
          </a:p>
          <a:p>
            <a:pPr marL="0" indent="0">
              <a:buNone/>
            </a:pPr>
            <a:r>
              <a:rPr lang="en-US" altLang="ko-KR" sz="1700" dirty="0"/>
              <a:t>    </a:t>
            </a:r>
            <a:r>
              <a:rPr lang="en-US" altLang="ko-KR" sz="1700" dirty="0" err="1"/>
              <a:t>end_of_loop_i</a:t>
            </a:r>
            <a:r>
              <a:rPr lang="en-US" altLang="ko-KR" sz="1700" dirty="0"/>
              <a:t>:</a:t>
            </a:r>
          </a:p>
          <a:p>
            <a:pPr marL="0" indent="0">
              <a:buNone/>
            </a:pPr>
            <a:r>
              <a:rPr lang="en-US" altLang="ko-KR" sz="1700" dirty="0"/>
              <a:t>            ;</a:t>
            </a:r>
          </a:p>
          <a:p>
            <a:pPr marL="0" indent="0">
              <a:buNone/>
            </a:pPr>
            <a:r>
              <a:rPr lang="en-US" altLang="ko-KR" sz="1700" dirty="0"/>
              <a:t>        }</a:t>
            </a:r>
          </a:p>
          <a:p>
            <a:pPr marL="0" indent="0">
              <a:buNone/>
            </a:pPr>
            <a:r>
              <a:rPr lang="en-US" altLang="ko-KR" sz="1700" dirty="0"/>
              <a:t>    }</a:t>
            </a:r>
          </a:p>
          <a:p>
            <a:pPr marL="0" indent="0">
              <a:buNone/>
            </a:pPr>
            <a:r>
              <a:rPr lang="en-US" altLang="ko-KR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0163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Linux</a:t>
            </a:r>
            <a:r>
              <a:rPr lang="ko-KR" altLang="en-US" dirty="0" smtClean="0"/>
              <a:t>에서의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dirty="0" smtClean="0"/>
              <a:t>$ </a:t>
            </a:r>
            <a:r>
              <a:rPr lang="en-US" altLang="ko-KR" sz="1800" dirty="0"/>
              <a:t>cat prob18.input</a:t>
            </a:r>
          </a:p>
          <a:p>
            <a:pPr marL="0" indent="0">
              <a:buNone/>
            </a:pPr>
            <a:r>
              <a:rPr lang="en-US" altLang="ko-KR" sz="1800" dirty="0"/>
              <a:t>1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8 11</a:t>
            </a:r>
          </a:p>
          <a:p>
            <a:pPr marL="0" indent="0">
              <a:buNone/>
            </a:pPr>
            <a:r>
              <a:rPr lang="en-US" altLang="ko-KR" sz="1800" dirty="0" err="1" smtClean="0"/>
              <a:t>abcDEFGhigg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err="1"/>
              <a:t>hEbkWalDork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 smtClean="0"/>
              <a:t>중략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err="1" smtClean="0"/>
              <a:t>Dagbert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$ </a:t>
            </a:r>
            <a:r>
              <a:rPr lang="en-US" altLang="ko-KR" sz="1800" dirty="0" err="1" smtClean="0"/>
              <a:t>a.out</a:t>
            </a:r>
            <a:r>
              <a:rPr lang="en-US" altLang="ko-KR" sz="1800" dirty="0" smtClean="0"/>
              <a:t> &lt; </a:t>
            </a:r>
            <a:r>
              <a:rPr lang="en-US" altLang="ko-KR" sz="1800" dirty="0"/>
              <a:t>prob18.input</a:t>
            </a:r>
          </a:p>
          <a:p>
            <a:pPr marL="0" indent="0">
              <a:buNone/>
            </a:pPr>
            <a:r>
              <a:rPr lang="en-US" altLang="ko-KR" sz="1800" dirty="0"/>
              <a:t>2 5</a:t>
            </a:r>
          </a:p>
          <a:p>
            <a:pPr marL="0" indent="0">
              <a:buNone/>
            </a:pPr>
            <a:r>
              <a:rPr lang="en-US" altLang="ko-KR" sz="1800" dirty="0"/>
              <a:t>2 3</a:t>
            </a:r>
          </a:p>
          <a:p>
            <a:pPr marL="0" indent="0">
              <a:buNone/>
            </a:pPr>
            <a:r>
              <a:rPr lang="en-US" altLang="ko-KR" sz="1800" dirty="0"/>
              <a:t>1 2</a:t>
            </a:r>
          </a:p>
          <a:p>
            <a:pPr marL="0" indent="0">
              <a:buNone/>
            </a:pPr>
            <a:r>
              <a:rPr lang="en-US" altLang="ko-KR" sz="1800" dirty="0"/>
              <a:t>7 </a:t>
            </a:r>
            <a:r>
              <a:rPr lang="en-US" altLang="ko-KR" sz="1800" dirty="0" smtClean="0"/>
              <a:t>8</a:t>
            </a: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3346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10110</TotalTime>
  <Words>2314</Words>
  <Application>Microsoft Office PowerPoint</Application>
  <PresentationFormat>화면 슬라이드 쇼(4:3)</PresentationFormat>
  <Paragraphs>402</Paragraphs>
  <Slides>36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기본 디자인</vt:lpstr>
      <vt:lpstr>제 3장 문자열(1)</vt:lpstr>
      <vt:lpstr>PowerPoint 프레젠테이션</vt:lpstr>
      <vt:lpstr>문자 코드</vt:lpstr>
      <vt:lpstr>PowerPoint 프레젠테이션</vt:lpstr>
      <vt:lpstr>PowerPoint 프레젠테이션</vt:lpstr>
      <vt:lpstr>PowerPoint 프레젠테이션</vt:lpstr>
      <vt:lpstr>문자열 표현 방법</vt:lpstr>
      <vt:lpstr>PowerPoint 프레젠테이션</vt:lpstr>
      <vt:lpstr>PowerPoint 프레젠테이션</vt:lpstr>
      <vt:lpstr>PowerPoint 프레젠테이션</vt:lpstr>
      <vt:lpstr>Pattern Matching</vt:lpstr>
      <vt:lpstr>PowerPoint 프레젠테이션</vt:lpstr>
      <vt:lpstr>C String Library Functions</vt:lpstr>
      <vt:lpstr>PowerPoint 프레젠테이션</vt:lpstr>
      <vt:lpstr>C++ String Library Functions</vt:lpstr>
      <vt:lpstr>Java String Objects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문제 17. WERTYU</vt:lpstr>
      <vt:lpstr>PowerPoint 프레젠테이션</vt:lpstr>
      <vt:lpstr>PowerPoint 프레젠테이션</vt:lpstr>
      <vt:lpstr>PowerPoint 프레젠테이션</vt:lpstr>
      <vt:lpstr>문제 18. 월도르프를 찾아라</vt:lpstr>
      <vt:lpstr>PowerPoint 프레젠테이션</vt:lpstr>
      <vt:lpstr>PowerPoint 프레젠테이션</vt:lpstr>
      <vt:lpstr>문제 18 힌트</vt:lpstr>
      <vt:lpstr>PowerPoint 프레젠테이션</vt:lpstr>
      <vt:lpstr>PowerPoint 프레젠테이션</vt:lpstr>
      <vt:lpstr>PowerPoint 프레젠테이션</vt:lpstr>
      <vt:lpstr>PowerPoint 프레젠테이션</vt:lpstr>
      <vt:lpstr>Linux에서의 실행</vt:lpstr>
    </vt:vector>
  </TitlesOfParts>
  <Company>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하진영</cp:lastModifiedBy>
  <cp:revision>378</cp:revision>
  <dcterms:created xsi:type="dcterms:W3CDTF">2003-02-22T04:47:49Z</dcterms:created>
  <dcterms:modified xsi:type="dcterms:W3CDTF">2017-09-25T04:54:10Z</dcterms:modified>
</cp:coreProperties>
</file>