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handoutMasterIdLst>
    <p:handoutMasterId r:id="rId33"/>
  </p:handoutMasterIdLst>
  <p:sldIdLst>
    <p:sldId id="434" r:id="rId2"/>
    <p:sldId id="457" r:id="rId3"/>
    <p:sldId id="437" r:id="rId4"/>
    <p:sldId id="509" r:id="rId5"/>
    <p:sldId id="508" r:id="rId6"/>
    <p:sldId id="510" r:id="rId7"/>
    <p:sldId id="515" r:id="rId8"/>
    <p:sldId id="516" r:id="rId9"/>
    <p:sldId id="511" r:id="rId10"/>
    <p:sldId id="513" r:id="rId11"/>
    <p:sldId id="525" r:id="rId12"/>
    <p:sldId id="514" r:id="rId13"/>
    <p:sldId id="524" r:id="rId14"/>
    <p:sldId id="523" r:id="rId15"/>
    <p:sldId id="495" r:id="rId16"/>
    <p:sldId id="503" r:id="rId17"/>
    <p:sldId id="517" r:id="rId18"/>
    <p:sldId id="518" r:id="rId19"/>
    <p:sldId id="496" r:id="rId20"/>
    <p:sldId id="497" r:id="rId21"/>
    <p:sldId id="519" r:id="rId22"/>
    <p:sldId id="504" r:id="rId23"/>
    <p:sldId id="520" r:id="rId24"/>
    <p:sldId id="521" r:id="rId25"/>
    <p:sldId id="522" r:id="rId26"/>
    <p:sldId id="506" r:id="rId27"/>
    <p:sldId id="498" r:id="rId28"/>
    <p:sldId id="499" r:id="rId29"/>
    <p:sldId id="500" r:id="rId30"/>
    <p:sldId id="501" r:id="rId31"/>
  </p:sldIdLst>
  <p:sldSz cx="9144000" cy="6858000" type="screen4x3"/>
  <p:notesSz cx="6858000" cy="9574213"/>
  <p:defaultTextStyle>
    <a:defPPr>
      <a:defRPr lang="ko-KR"/>
    </a:defPPr>
    <a:lvl1pPr algn="l" rtl="0" fontAlgn="base" latinLnBrk="1">
      <a:spcBef>
        <a:spcPct val="0"/>
      </a:spcBef>
      <a:spcAft>
        <a:spcPct val="0"/>
      </a:spcAft>
      <a:defRPr kumimoji="1" sz="1600" b="1" kern="1200">
        <a:solidFill>
          <a:schemeClr val="tx1"/>
        </a:solidFill>
        <a:latin typeface="바탕" pitchFamily="18" charset="-127"/>
        <a:ea typeface="바탕" pitchFamily="18" charset="-127"/>
        <a:cs typeface="+mn-cs"/>
      </a:defRPr>
    </a:lvl1pPr>
    <a:lvl2pPr marL="457200" algn="l" rtl="0" fontAlgn="base" latinLnBrk="1">
      <a:spcBef>
        <a:spcPct val="0"/>
      </a:spcBef>
      <a:spcAft>
        <a:spcPct val="0"/>
      </a:spcAft>
      <a:defRPr kumimoji="1" sz="1600" b="1" kern="1200">
        <a:solidFill>
          <a:schemeClr val="tx1"/>
        </a:solidFill>
        <a:latin typeface="바탕" pitchFamily="18" charset="-127"/>
        <a:ea typeface="바탕" pitchFamily="18" charset="-127"/>
        <a:cs typeface="+mn-cs"/>
      </a:defRPr>
    </a:lvl2pPr>
    <a:lvl3pPr marL="914400" algn="l" rtl="0" fontAlgn="base" latinLnBrk="1">
      <a:spcBef>
        <a:spcPct val="0"/>
      </a:spcBef>
      <a:spcAft>
        <a:spcPct val="0"/>
      </a:spcAft>
      <a:defRPr kumimoji="1" sz="1600" b="1" kern="1200">
        <a:solidFill>
          <a:schemeClr val="tx1"/>
        </a:solidFill>
        <a:latin typeface="바탕" pitchFamily="18" charset="-127"/>
        <a:ea typeface="바탕" pitchFamily="18" charset="-127"/>
        <a:cs typeface="+mn-cs"/>
      </a:defRPr>
    </a:lvl3pPr>
    <a:lvl4pPr marL="1371600" algn="l" rtl="0" fontAlgn="base" latinLnBrk="1">
      <a:spcBef>
        <a:spcPct val="0"/>
      </a:spcBef>
      <a:spcAft>
        <a:spcPct val="0"/>
      </a:spcAft>
      <a:defRPr kumimoji="1" sz="1600" b="1" kern="1200">
        <a:solidFill>
          <a:schemeClr val="tx1"/>
        </a:solidFill>
        <a:latin typeface="바탕" pitchFamily="18" charset="-127"/>
        <a:ea typeface="바탕" pitchFamily="18" charset="-127"/>
        <a:cs typeface="+mn-cs"/>
      </a:defRPr>
    </a:lvl4pPr>
    <a:lvl5pPr marL="1828800" algn="l" rtl="0" fontAlgn="base" latinLnBrk="1">
      <a:spcBef>
        <a:spcPct val="0"/>
      </a:spcBef>
      <a:spcAft>
        <a:spcPct val="0"/>
      </a:spcAft>
      <a:defRPr kumimoji="1" sz="1600" b="1" kern="1200">
        <a:solidFill>
          <a:schemeClr val="tx1"/>
        </a:solidFill>
        <a:latin typeface="바탕" pitchFamily="18" charset="-127"/>
        <a:ea typeface="바탕" pitchFamily="18" charset="-127"/>
        <a:cs typeface="+mn-cs"/>
      </a:defRPr>
    </a:lvl5pPr>
    <a:lvl6pPr marL="2286000" algn="l" defTabSz="914400" rtl="0" eaLnBrk="1" latinLnBrk="1" hangingPunct="1">
      <a:defRPr kumimoji="1" sz="1600" b="1" kern="1200">
        <a:solidFill>
          <a:schemeClr val="tx1"/>
        </a:solidFill>
        <a:latin typeface="바탕" pitchFamily="18" charset="-127"/>
        <a:ea typeface="바탕" pitchFamily="18" charset="-127"/>
        <a:cs typeface="+mn-cs"/>
      </a:defRPr>
    </a:lvl6pPr>
    <a:lvl7pPr marL="2743200" algn="l" defTabSz="914400" rtl="0" eaLnBrk="1" latinLnBrk="1" hangingPunct="1">
      <a:defRPr kumimoji="1" sz="1600" b="1" kern="1200">
        <a:solidFill>
          <a:schemeClr val="tx1"/>
        </a:solidFill>
        <a:latin typeface="바탕" pitchFamily="18" charset="-127"/>
        <a:ea typeface="바탕" pitchFamily="18" charset="-127"/>
        <a:cs typeface="+mn-cs"/>
      </a:defRPr>
    </a:lvl7pPr>
    <a:lvl8pPr marL="3200400" algn="l" defTabSz="914400" rtl="0" eaLnBrk="1" latinLnBrk="1" hangingPunct="1">
      <a:defRPr kumimoji="1" sz="1600" b="1" kern="1200">
        <a:solidFill>
          <a:schemeClr val="tx1"/>
        </a:solidFill>
        <a:latin typeface="바탕" pitchFamily="18" charset="-127"/>
        <a:ea typeface="바탕" pitchFamily="18" charset="-127"/>
        <a:cs typeface="+mn-cs"/>
      </a:defRPr>
    </a:lvl8pPr>
    <a:lvl9pPr marL="3657600" algn="l" defTabSz="914400" rtl="0" eaLnBrk="1" latinLnBrk="1" hangingPunct="1">
      <a:defRPr kumimoji="1" sz="1600" b="1" kern="1200">
        <a:solidFill>
          <a:schemeClr val="tx1"/>
        </a:solidFill>
        <a:latin typeface="바탕" pitchFamily="18" charset="-127"/>
        <a:ea typeface="바탕" pitchFamily="18" charset="-127"/>
        <a:cs typeface="+mn-cs"/>
      </a:defRPr>
    </a:lvl9pPr>
  </p:defaultTextStyle>
  <p:extLst>
    <p:ext uri="{EFAFB233-063F-42B5-8137-9DF3F51BA10A}">
      <p15:sldGuideLst xmlns:p15="http://schemas.microsoft.com/office/powerpoint/2012/main">
        <p15:guide id="1" orient="horz" pos="2160">
          <p15:clr>
            <a:srgbClr val="A4A3A4"/>
          </p15:clr>
        </p15:guide>
        <p15:guide id="2" pos="51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CCB7"/>
    <a:srgbClr val="FFCC00"/>
    <a:srgbClr val="7BB0E5"/>
    <a:srgbClr val="0066FF"/>
    <a:srgbClr val="89B2DB"/>
    <a:srgbClr val="3D81C5"/>
    <a:srgbClr val="B4B4B4"/>
    <a:srgbClr val="8FB6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29" autoAdjust="0"/>
    <p:restoredTop sz="94003" autoAdjust="0"/>
  </p:normalViewPr>
  <p:slideViewPr>
    <p:cSldViewPr>
      <p:cViewPr varScale="1">
        <p:scale>
          <a:sx n="124" d="100"/>
          <a:sy n="124" d="100"/>
        </p:scale>
        <p:origin x="1314" y="102"/>
      </p:cViewPr>
      <p:guideLst>
        <p:guide orient="horz" pos="2160"/>
        <p:guide pos="5184"/>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atin typeface="굴림" pitchFamily="50" charset="-127"/>
                <a:ea typeface="굴림" pitchFamily="50" charset="-127"/>
              </a:defRPr>
            </a:lvl1pPr>
          </a:lstStyle>
          <a:p>
            <a:pPr>
              <a:defRPr/>
            </a:pPr>
            <a:endParaRPr lang="en-US" altLang="ko-KR"/>
          </a:p>
        </p:txBody>
      </p:sp>
      <p:sp>
        <p:nvSpPr>
          <p:cNvPr id="64515" name="Rectangle 3"/>
          <p:cNvSpPr>
            <a:spLocks noGrp="1" noChangeArrowheads="1"/>
          </p:cNvSpPr>
          <p:nvPr>
            <p:ph type="dt" sz="quarter" idx="1"/>
          </p:nvPr>
        </p:nvSpPr>
        <p:spPr bwMode="auto">
          <a:xfrm>
            <a:off x="3886200" y="0"/>
            <a:ext cx="2971800"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atin typeface="굴림" pitchFamily="50" charset="-127"/>
                <a:ea typeface="굴림" pitchFamily="50" charset="-127"/>
              </a:defRPr>
            </a:lvl1pPr>
          </a:lstStyle>
          <a:p>
            <a:pPr>
              <a:defRPr/>
            </a:pPr>
            <a:endParaRPr lang="en-US" altLang="ko-KR"/>
          </a:p>
        </p:txBody>
      </p:sp>
      <p:sp>
        <p:nvSpPr>
          <p:cNvPr id="64516" name="Rectangle 4"/>
          <p:cNvSpPr>
            <a:spLocks noGrp="1" noChangeArrowheads="1"/>
          </p:cNvSpPr>
          <p:nvPr>
            <p:ph type="ftr" sz="quarter" idx="2"/>
          </p:nvPr>
        </p:nvSpPr>
        <p:spPr bwMode="auto">
          <a:xfrm>
            <a:off x="0" y="9094788"/>
            <a:ext cx="29718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atin typeface="굴림" pitchFamily="50" charset="-127"/>
                <a:ea typeface="굴림" pitchFamily="50" charset="-127"/>
              </a:defRPr>
            </a:lvl1pPr>
          </a:lstStyle>
          <a:p>
            <a:pPr>
              <a:defRPr/>
            </a:pPr>
            <a:endParaRPr lang="en-US" altLang="ko-KR"/>
          </a:p>
        </p:txBody>
      </p:sp>
      <p:sp>
        <p:nvSpPr>
          <p:cNvPr id="64517" name="Rectangle 5"/>
          <p:cNvSpPr>
            <a:spLocks noGrp="1" noChangeArrowheads="1"/>
          </p:cNvSpPr>
          <p:nvPr>
            <p:ph type="sldNum" sz="quarter" idx="3"/>
          </p:nvPr>
        </p:nvSpPr>
        <p:spPr bwMode="auto">
          <a:xfrm>
            <a:off x="3886200" y="9094788"/>
            <a:ext cx="29718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atin typeface="굴림" pitchFamily="50" charset="-127"/>
                <a:ea typeface="굴림" pitchFamily="50" charset="-127"/>
              </a:defRPr>
            </a:lvl1pPr>
          </a:lstStyle>
          <a:p>
            <a:pPr>
              <a:defRPr/>
            </a:pPr>
            <a:fld id="{D2C0A8F9-D868-4AAD-9DD5-4BFC86FA08E1}" type="slidenum">
              <a:rPr lang="en-US" altLang="ko-KR"/>
              <a:pPr>
                <a:defRPr/>
              </a:pPr>
              <a:t>‹#›</a:t>
            </a:fld>
            <a:endParaRPr lang="en-US" altLang="ko-KR"/>
          </a:p>
        </p:txBody>
      </p:sp>
    </p:spTree>
    <p:extLst>
      <p:ext uri="{BB962C8B-B14F-4D97-AF65-F5344CB8AC3E}">
        <p14:creationId xmlns:p14="http://schemas.microsoft.com/office/powerpoint/2010/main" val="7255476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atin typeface="굴림" pitchFamily="50" charset="-127"/>
                <a:ea typeface="굴림" pitchFamily="50" charset="-127"/>
              </a:defRPr>
            </a:lvl1pPr>
          </a:lstStyle>
          <a:p>
            <a:pPr>
              <a:defRPr/>
            </a:pPr>
            <a:endParaRPr lang="en-US" altLang="ko-KR"/>
          </a:p>
        </p:txBody>
      </p:sp>
      <p:sp>
        <p:nvSpPr>
          <p:cNvPr id="31747" name="Rectangle 3"/>
          <p:cNvSpPr>
            <a:spLocks noGrp="1" noChangeArrowheads="1"/>
          </p:cNvSpPr>
          <p:nvPr>
            <p:ph type="dt" idx="1"/>
          </p:nvPr>
        </p:nvSpPr>
        <p:spPr bwMode="auto">
          <a:xfrm>
            <a:off x="3886200" y="0"/>
            <a:ext cx="2971800"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atin typeface="굴림" pitchFamily="50" charset="-127"/>
                <a:ea typeface="굴림" pitchFamily="50" charset="-127"/>
              </a:defRPr>
            </a:lvl1pPr>
          </a:lstStyle>
          <a:p>
            <a:pPr>
              <a:defRPr/>
            </a:pPr>
            <a:endParaRPr lang="en-US" altLang="ko-KR"/>
          </a:p>
        </p:txBody>
      </p:sp>
      <p:sp>
        <p:nvSpPr>
          <p:cNvPr id="24580" name="Rectangle 4"/>
          <p:cNvSpPr>
            <a:spLocks noGrp="1" noRot="1" noChangeAspect="1" noChangeArrowheads="1" noTextEdit="1"/>
          </p:cNvSpPr>
          <p:nvPr>
            <p:ph type="sldImg" idx="2"/>
          </p:nvPr>
        </p:nvSpPr>
        <p:spPr bwMode="auto">
          <a:xfrm>
            <a:off x="1038225" y="719138"/>
            <a:ext cx="4783138" cy="35877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914400" y="4548188"/>
            <a:ext cx="5029200" cy="430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p>
        </p:txBody>
      </p:sp>
      <p:sp>
        <p:nvSpPr>
          <p:cNvPr id="31750" name="Rectangle 6"/>
          <p:cNvSpPr>
            <a:spLocks noGrp="1" noChangeArrowheads="1"/>
          </p:cNvSpPr>
          <p:nvPr>
            <p:ph type="ftr" sz="quarter" idx="4"/>
          </p:nvPr>
        </p:nvSpPr>
        <p:spPr bwMode="auto">
          <a:xfrm>
            <a:off x="0" y="9094788"/>
            <a:ext cx="29718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atin typeface="굴림" pitchFamily="50" charset="-127"/>
                <a:ea typeface="굴림" pitchFamily="50" charset="-127"/>
              </a:defRPr>
            </a:lvl1pPr>
          </a:lstStyle>
          <a:p>
            <a:pPr>
              <a:defRPr/>
            </a:pPr>
            <a:endParaRPr lang="en-US" altLang="ko-KR"/>
          </a:p>
        </p:txBody>
      </p:sp>
      <p:sp>
        <p:nvSpPr>
          <p:cNvPr id="31751" name="Rectangle 7"/>
          <p:cNvSpPr>
            <a:spLocks noGrp="1" noChangeArrowheads="1"/>
          </p:cNvSpPr>
          <p:nvPr>
            <p:ph type="sldNum" sz="quarter" idx="5"/>
          </p:nvPr>
        </p:nvSpPr>
        <p:spPr bwMode="auto">
          <a:xfrm>
            <a:off x="3886200" y="9094788"/>
            <a:ext cx="29718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atin typeface="굴림" pitchFamily="50" charset="-127"/>
                <a:ea typeface="굴림" pitchFamily="50" charset="-127"/>
              </a:defRPr>
            </a:lvl1pPr>
          </a:lstStyle>
          <a:p>
            <a:pPr>
              <a:defRPr/>
            </a:pPr>
            <a:fld id="{5F62EA2C-6A7B-4AE4-9565-91AC0F95E9C0}" type="slidenum">
              <a:rPr lang="en-US" altLang="ko-KR"/>
              <a:pPr>
                <a:defRPr/>
              </a:pPr>
              <a:t>‹#›</a:t>
            </a:fld>
            <a:endParaRPr lang="en-US" altLang="ko-KR"/>
          </a:p>
        </p:txBody>
      </p:sp>
    </p:spTree>
    <p:extLst>
      <p:ext uri="{BB962C8B-B14F-4D97-AF65-F5344CB8AC3E}">
        <p14:creationId xmlns:p14="http://schemas.microsoft.com/office/powerpoint/2010/main" val="150286962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FB87832E-844D-470C-8C0F-12EE8280A2CA}" type="slidenum">
              <a:rPr lang="en-US" altLang="ko-KR"/>
              <a:pPr>
                <a:defRPr/>
              </a:pPr>
              <a:t>‹#›</a:t>
            </a:fld>
            <a:endParaRPr lang="en-US" altLang="ko-KR"/>
          </a:p>
        </p:txBody>
      </p:sp>
    </p:spTree>
    <p:extLst>
      <p:ext uri="{BB962C8B-B14F-4D97-AF65-F5344CB8AC3E}">
        <p14:creationId xmlns:p14="http://schemas.microsoft.com/office/powerpoint/2010/main" val="259902175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9EFA3A84-ADC4-40BE-9831-816FDDEFB539}" type="slidenum">
              <a:rPr lang="en-US" altLang="ko-KR"/>
              <a:pPr>
                <a:defRPr/>
              </a:pPr>
              <a:t>‹#›</a:t>
            </a:fld>
            <a:endParaRPr lang="en-US" altLang="ko-KR"/>
          </a:p>
        </p:txBody>
      </p:sp>
    </p:spTree>
    <p:extLst>
      <p:ext uri="{BB962C8B-B14F-4D97-AF65-F5344CB8AC3E}">
        <p14:creationId xmlns:p14="http://schemas.microsoft.com/office/powerpoint/2010/main" val="55236531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0F00D486-035F-41F5-9170-0500B9C707A8}" type="slidenum">
              <a:rPr lang="en-US" altLang="ko-KR"/>
              <a:pPr>
                <a:defRPr/>
              </a:pPr>
              <a:t>‹#›</a:t>
            </a:fld>
            <a:endParaRPr lang="en-US" altLang="ko-KR"/>
          </a:p>
        </p:txBody>
      </p:sp>
    </p:spTree>
    <p:extLst>
      <p:ext uri="{BB962C8B-B14F-4D97-AF65-F5344CB8AC3E}">
        <p14:creationId xmlns:p14="http://schemas.microsoft.com/office/powerpoint/2010/main" val="142593866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3C17A648-85B3-4977-8B2A-E12A6F17348F}" type="slidenum">
              <a:rPr lang="en-US" altLang="ko-KR"/>
              <a:pPr>
                <a:defRPr/>
              </a:pPr>
              <a:t>‹#›</a:t>
            </a:fld>
            <a:endParaRPr lang="en-US" altLang="ko-KR"/>
          </a:p>
        </p:txBody>
      </p:sp>
    </p:spTree>
    <p:extLst>
      <p:ext uri="{BB962C8B-B14F-4D97-AF65-F5344CB8AC3E}">
        <p14:creationId xmlns:p14="http://schemas.microsoft.com/office/powerpoint/2010/main" val="327130685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pPr>
              <a:defRPr/>
            </a:pPr>
            <a:fld id="{8CCF8AA5-3C2C-4A68-83B0-B42998F3D2C6}" type="slidenum">
              <a:rPr lang="en-US" altLang="ko-KR"/>
              <a:pPr>
                <a:defRPr/>
              </a:pPr>
              <a:t>‹#›</a:t>
            </a:fld>
            <a:endParaRPr lang="en-US" altLang="ko-KR"/>
          </a:p>
        </p:txBody>
      </p:sp>
    </p:spTree>
    <p:extLst>
      <p:ext uri="{BB962C8B-B14F-4D97-AF65-F5344CB8AC3E}">
        <p14:creationId xmlns:p14="http://schemas.microsoft.com/office/powerpoint/2010/main" val="39244800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pPr>
              <a:defRPr/>
            </a:pPr>
            <a:fld id="{D11C486B-732A-410C-8533-00AA0C15C6BF}" type="slidenum">
              <a:rPr lang="en-US" altLang="ko-KR"/>
              <a:pPr>
                <a:defRPr/>
              </a:pPr>
              <a:t>‹#›</a:t>
            </a:fld>
            <a:endParaRPr lang="en-US" altLang="ko-KR"/>
          </a:p>
        </p:txBody>
      </p:sp>
    </p:spTree>
    <p:extLst>
      <p:ext uri="{BB962C8B-B14F-4D97-AF65-F5344CB8AC3E}">
        <p14:creationId xmlns:p14="http://schemas.microsoft.com/office/powerpoint/2010/main" val="276654208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pPr>
              <a:defRPr/>
            </a:pPr>
            <a:fld id="{F7FAE050-7BCF-4ADD-864F-F96DD2DFD225}" type="slidenum">
              <a:rPr lang="en-US" altLang="ko-KR"/>
              <a:pPr>
                <a:defRPr/>
              </a:pPr>
              <a:t>‹#›</a:t>
            </a:fld>
            <a:endParaRPr lang="en-US" altLang="ko-KR"/>
          </a:p>
        </p:txBody>
      </p:sp>
    </p:spTree>
    <p:extLst>
      <p:ext uri="{BB962C8B-B14F-4D97-AF65-F5344CB8AC3E}">
        <p14:creationId xmlns:p14="http://schemas.microsoft.com/office/powerpoint/2010/main" val="41631835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D3F37C71-214F-4A0E-94EE-F9A3CF6F677A}" type="slidenum">
              <a:rPr lang="en-US" altLang="ko-KR"/>
              <a:pPr>
                <a:defRPr/>
              </a:pPr>
              <a:t>‹#›</a:t>
            </a:fld>
            <a:endParaRPr lang="en-US" altLang="ko-KR"/>
          </a:p>
        </p:txBody>
      </p:sp>
    </p:spTree>
    <p:extLst>
      <p:ext uri="{BB962C8B-B14F-4D97-AF65-F5344CB8AC3E}">
        <p14:creationId xmlns:p14="http://schemas.microsoft.com/office/powerpoint/2010/main" val="286758545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A53F2BEE-6B22-4F95-871D-0836B7578F3E}" type="slidenum">
              <a:rPr lang="en-US" altLang="ko-KR"/>
              <a:pPr>
                <a:defRPr/>
              </a:pPr>
              <a:t>‹#›</a:t>
            </a:fld>
            <a:endParaRPr lang="en-US" altLang="ko-KR"/>
          </a:p>
        </p:txBody>
      </p:sp>
    </p:spTree>
    <p:extLst>
      <p:ext uri="{BB962C8B-B14F-4D97-AF65-F5344CB8AC3E}">
        <p14:creationId xmlns:p14="http://schemas.microsoft.com/office/powerpoint/2010/main" val="386102218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235C7C7C-63DE-45E6-9CFD-1FC765F37CA5}" type="slidenum">
              <a:rPr lang="en-US" altLang="ko-KR"/>
              <a:pPr>
                <a:defRPr/>
              </a:pPr>
              <a:t>‹#›</a:t>
            </a:fld>
            <a:endParaRPr lang="en-US" altLang="ko-KR"/>
          </a:p>
        </p:txBody>
      </p:sp>
    </p:spTree>
    <p:extLst>
      <p:ext uri="{BB962C8B-B14F-4D97-AF65-F5344CB8AC3E}">
        <p14:creationId xmlns:p14="http://schemas.microsoft.com/office/powerpoint/2010/main" val="13299822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15100" y="609600"/>
            <a:ext cx="1943100" cy="54864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85800" y="609600"/>
            <a:ext cx="5676900" cy="54864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3171F21C-FE8B-4C09-993B-6B9FA0C0D0D4}" type="slidenum">
              <a:rPr lang="en-US" altLang="ko-KR"/>
              <a:pPr>
                <a:defRPr/>
              </a:pPr>
              <a:t>‹#›</a:t>
            </a:fld>
            <a:endParaRPr lang="en-US" altLang="ko-KR"/>
          </a:p>
        </p:txBody>
      </p:sp>
    </p:spTree>
    <p:extLst>
      <p:ext uri="{BB962C8B-B14F-4D97-AF65-F5344CB8AC3E}">
        <p14:creationId xmlns:p14="http://schemas.microsoft.com/office/powerpoint/2010/main" val="125982373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atin typeface="+mn-lt"/>
                <a:ea typeface="+mn-ea"/>
              </a:defRPr>
            </a:lvl1pPr>
          </a:lstStyle>
          <a:p>
            <a:pPr>
              <a:defRPr/>
            </a:pPr>
            <a:endParaRPr lang="en-US" altLang="ko-K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atin typeface="+mn-lt"/>
                <a:ea typeface="+mn-ea"/>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mn-lt"/>
                <a:ea typeface="+mn-ea"/>
              </a:defRPr>
            </a:lvl1pPr>
          </a:lstStyle>
          <a:p>
            <a:pPr>
              <a:defRPr/>
            </a:pPr>
            <a:fld id="{D8EDF84B-17EA-4A1E-8C40-DE4CA9254A56}"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UTF-8"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ko-KR" altLang="en-US" dirty="0" smtClean="0"/>
              <a:t>제 </a:t>
            </a:r>
            <a:r>
              <a:rPr lang="en-US" altLang="ko-KR" dirty="0" smtClean="0"/>
              <a:t>3</a:t>
            </a:r>
            <a:r>
              <a:rPr lang="ko-KR" altLang="en-US" dirty="0" smtClean="0"/>
              <a:t>장 문자열</a:t>
            </a:r>
            <a:r>
              <a:rPr lang="en-US" altLang="ko-KR" dirty="0" smtClean="0"/>
              <a:t>(2)</a:t>
            </a:r>
            <a:endParaRPr lang="ko-KR" altLang="en-US" dirty="0"/>
          </a:p>
        </p:txBody>
      </p:sp>
      <p:sp>
        <p:nvSpPr>
          <p:cNvPr id="3" name="부제목 2"/>
          <p:cNvSpPr>
            <a:spLocks noGrp="1"/>
          </p:cNvSpPr>
          <p:nvPr>
            <p:ph type="subTitle" idx="1"/>
          </p:nvPr>
        </p:nvSpPr>
        <p:spPr/>
        <p:txBody>
          <a:bodyPr/>
          <a:lstStyle/>
          <a:p>
            <a:r>
              <a:rPr lang="ko-KR" altLang="en-US" dirty="0" smtClean="0"/>
              <a:t>강원대학교</a:t>
            </a:r>
            <a:endParaRPr lang="en-US" altLang="ko-KR" dirty="0" smtClean="0"/>
          </a:p>
          <a:p>
            <a:r>
              <a:rPr lang="ko-KR" altLang="en-US" dirty="0" smtClean="0"/>
              <a:t>하진</a:t>
            </a:r>
            <a:r>
              <a:rPr lang="ko-KR" altLang="en-US" dirty="0"/>
              <a:t>영</a:t>
            </a:r>
          </a:p>
        </p:txBody>
      </p:sp>
    </p:spTree>
    <p:extLst>
      <p:ext uri="{BB962C8B-B14F-4D97-AF65-F5344CB8AC3E}">
        <p14:creationId xmlns:p14="http://schemas.microsoft.com/office/powerpoint/2010/main" val="344914117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14400" y="0"/>
            <a:ext cx="0" cy="6858000"/>
          </a:xfrm>
          <a:prstGeom prst="line">
            <a:avLst/>
          </a:prstGeom>
          <a:noFill/>
          <a:ln w="9525">
            <a:solidFill>
              <a:srgbClr val="80808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5123" name="Rectangle 3"/>
          <p:cNvSpPr>
            <a:spLocks noChangeArrowheads="1"/>
          </p:cNvSpPr>
          <p:nvPr/>
        </p:nvSpPr>
        <p:spPr bwMode="auto">
          <a:xfrm>
            <a:off x="0" y="762000"/>
            <a:ext cx="9144000" cy="228600"/>
          </a:xfrm>
          <a:prstGeom prst="rect">
            <a:avLst/>
          </a:prstGeom>
          <a:solidFill>
            <a:srgbClr val="B4B4B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4" name="Rectangle 4"/>
          <p:cNvSpPr>
            <a:spLocks noChangeArrowheads="1"/>
          </p:cNvSpPr>
          <p:nvPr/>
        </p:nvSpPr>
        <p:spPr bwMode="auto">
          <a:xfrm>
            <a:off x="0" y="0"/>
            <a:ext cx="9144000" cy="838200"/>
          </a:xfrm>
          <a:prstGeom prst="rect">
            <a:avLst/>
          </a:prstGeom>
          <a:solidFill>
            <a:srgbClr val="3D81C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5" name="Rectangle 5"/>
          <p:cNvSpPr>
            <a:spLocks noChangeArrowheads="1"/>
          </p:cNvSpPr>
          <p:nvPr/>
        </p:nvSpPr>
        <p:spPr bwMode="auto">
          <a:xfrm>
            <a:off x="0" y="6705600"/>
            <a:ext cx="9144000" cy="152400"/>
          </a:xfrm>
          <a:prstGeom prst="rect">
            <a:avLst/>
          </a:prstGeom>
          <a:solidFill>
            <a:srgbClr val="B4B4B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6" name="Text Box 6"/>
          <p:cNvSpPr txBox="1">
            <a:spLocks noChangeArrowheads="1"/>
          </p:cNvSpPr>
          <p:nvPr/>
        </p:nvSpPr>
        <p:spPr bwMode="auto">
          <a:xfrm>
            <a:off x="3492500" y="115888"/>
            <a:ext cx="5470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600" b="1">
                <a:solidFill>
                  <a:schemeClr val="tx1"/>
                </a:solidFill>
                <a:latin typeface="바탕" pitchFamily="18" charset="-127"/>
                <a:ea typeface="바탕" pitchFamily="18" charset="-127"/>
              </a:defRPr>
            </a:lvl1pPr>
            <a:lvl2pPr marL="742950" indent="-285750" eaLnBrk="0" hangingPunct="0">
              <a:defRPr kumimoji="1" sz="1600" b="1">
                <a:solidFill>
                  <a:schemeClr val="tx1"/>
                </a:solidFill>
                <a:latin typeface="바탕" pitchFamily="18" charset="-127"/>
                <a:ea typeface="바탕" pitchFamily="18" charset="-127"/>
              </a:defRPr>
            </a:lvl2pPr>
            <a:lvl3pPr marL="1143000" indent="-228600" eaLnBrk="0" hangingPunct="0">
              <a:defRPr kumimoji="1" sz="1600" b="1">
                <a:solidFill>
                  <a:schemeClr val="tx1"/>
                </a:solidFill>
                <a:latin typeface="바탕" pitchFamily="18" charset="-127"/>
                <a:ea typeface="바탕" pitchFamily="18" charset="-127"/>
              </a:defRPr>
            </a:lvl3pPr>
            <a:lvl4pPr marL="1600200" indent="-228600" eaLnBrk="0" hangingPunct="0">
              <a:defRPr kumimoji="1" sz="1600" b="1">
                <a:solidFill>
                  <a:schemeClr val="tx1"/>
                </a:solidFill>
                <a:latin typeface="바탕" pitchFamily="18" charset="-127"/>
                <a:ea typeface="바탕" pitchFamily="18" charset="-127"/>
              </a:defRPr>
            </a:lvl4pPr>
            <a:lvl5pPr marL="2057400" indent="-228600" eaLnBrk="0" hangingPunct="0">
              <a:defRPr kumimoji="1" sz="1600" b="1">
                <a:solidFill>
                  <a:schemeClr val="tx1"/>
                </a:solidFill>
                <a:latin typeface="바탕" pitchFamily="18" charset="-127"/>
                <a:ea typeface="바탕" pitchFamily="18" charset="-127"/>
              </a:defRPr>
            </a:lvl5pPr>
            <a:lvl6pPr marL="2514600" indent="-228600" eaLnBrk="0" fontAlgn="base" hangingPunct="0">
              <a:spcBef>
                <a:spcPct val="0"/>
              </a:spcBef>
              <a:spcAft>
                <a:spcPct val="0"/>
              </a:spcAft>
              <a:defRPr kumimoji="1" sz="1600" b="1">
                <a:solidFill>
                  <a:schemeClr val="tx1"/>
                </a:solidFill>
                <a:latin typeface="바탕" pitchFamily="18" charset="-127"/>
                <a:ea typeface="바탕" pitchFamily="18" charset="-127"/>
              </a:defRPr>
            </a:lvl6pPr>
            <a:lvl7pPr marL="2971800" indent="-228600" eaLnBrk="0" fontAlgn="base" hangingPunct="0">
              <a:spcBef>
                <a:spcPct val="0"/>
              </a:spcBef>
              <a:spcAft>
                <a:spcPct val="0"/>
              </a:spcAft>
              <a:defRPr kumimoji="1" sz="1600" b="1">
                <a:solidFill>
                  <a:schemeClr val="tx1"/>
                </a:solidFill>
                <a:latin typeface="바탕" pitchFamily="18" charset="-127"/>
                <a:ea typeface="바탕" pitchFamily="18" charset="-127"/>
              </a:defRPr>
            </a:lvl7pPr>
            <a:lvl8pPr marL="3429000" indent="-228600" eaLnBrk="0" fontAlgn="base" hangingPunct="0">
              <a:spcBef>
                <a:spcPct val="0"/>
              </a:spcBef>
              <a:spcAft>
                <a:spcPct val="0"/>
              </a:spcAft>
              <a:defRPr kumimoji="1" sz="1600" b="1">
                <a:solidFill>
                  <a:schemeClr val="tx1"/>
                </a:solidFill>
                <a:latin typeface="바탕" pitchFamily="18" charset="-127"/>
                <a:ea typeface="바탕" pitchFamily="18" charset="-127"/>
              </a:defRPr>
            </a:lvl8pPr>
            <a:lvl9pPr marL="3886200" indent="-228600" eaLnBrk="0" fontAlgn="base" hangingPunct="0">
              <a:spcBef>
                <a:spcPct val="0"/>
              </a:spcBef>
              <a:spcAft>
                <a:spcPct val="0"/>
              </a:spcAft>
              <a:defRPr kumimoji="1" sz="1600" b="1">
                <a:solidFill>
                  <a:schemeClr val="tx1"/>
                </a:solidFill>
                <a:latin typeface="바탕" pitchFamily="18" charset="-127"/>
                <a:ea typeface="바탕" pitchFamily="18" charset="-127"/>
              </a:defRPr>
            </a:lvl9pPr>
          </a:lstStyle>
          <a:p>
            <a:pPr algn="r" eaLnBrk="1" hangingPunct="1">
              <a:spcBef>
                <a:spcPct val="50000"/>
              </a:spcBef>
            </a:pPr>
            <a:r>
              <a:rPr lang="ko-KR" altLang="en-US" sz="3600" b="0">
                <a:solidFill>
                  <a:srgbClr val="BCCFEA"/>
                </a:solidFill>
                <a:latin typeface="산돌명조 M" pitchFamily="18" charset="-127"/>
                <a:ea typeface="산돌명조 M" pitchFamily="18" charset="-127"/>
              </a:rPr>
              <a:t>주차별 수업 계획 </a:t>
            </a:r>
          </a:p>
        </p:txBody>
      </p:sp>
      <p:sp>
        <p:nvSpPr>
          <p:cNvPr id="5127" name="Rectangle 11"/>
          <p:cNvSpPr>
            <a:spLocks noChangeArrowheads="1"/>
          </p:cNvSpPr>
          <p:nvPr/>
        </p:nvSpPr>
        <p:spPr bwMode="auto">
          <a:xfrm>
            <a:off x="0" y="-23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ko-KR" altLang="en-US"/>
          </a:p>
        </p:txBody>
      </p:sp>
      <p:sp>
        <p:nvSpPr>
          <p:cNvPr id="5128" name="Rectangle 739"/>
          <p:cNvSpPr>
            <a:spLocks noChangeArrowheads="1"/>
          </p:cNvSpPr>
          <p:nvPr/>
        </p:nvSpPr>
        <p:spPr bwMode="auto">
          <a:xfrm>
            <a:off x="0" y="1154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ko-KR" altLang="en-US"/>
          </a:p>
        </p:txBody>
      </p:sp>
      <p:graphicFrame>
        <p:nvGraphicFramePr>
          <p:cNvPr id="217037" name="Group 973"/>
          <p:cNvGraphicFramePr>
            <a:graphicFrameLocks noGrp="1"/>
          </p:cNvGraphicFramePr>
          <p:nvPr>
            <p:extLst>
              <p:ext uri="{D42A27DB-BD31-4B8C-83A1-F6EECF244321}">
                <p14:modId xmlns:p14="http://schemas.microsoft.com/office/powerpoint/2010/main" val="1565732467"/>
              </p:ext>
            </p:extLst>
          </p:nvPr>
        </p:nvGraphicFramePr>
        <p:xfrm>
          <a:off x="1116013" y="1154113"/>
          <a:ext cx="7561263" cy="5395913"/>
        </p:xfrm>
        <a:graphic>
          <a:graphicData uri="http://schemas.openxmlformats.org/drawingml/2006/table">
            <a:tbl>
              <a:tblPr/>
              <a:tblGrid>
                <a:gridCol w="809652">
                  <a:extLst>
                    <a:ext uri="{9D8B030D-6E8A-4147-A177-3AD203B41FA5}">
                      <a16:colId xmlns:a16="http://schemas.microsoft.com/office/drawing/2014/main" val="20000"/>
                    </a:ext>
                  </a:extLst>
                </a:gridCol>
                <a:gridCol w="3079082">
                  <a:extLst>
                    <a:ext uri="{9D8B030D-6E8A-4147-A177-3AD203B41FA5}">
                      <a16:colId xmlns:a16="http://schemas.microsoft.com/office/drawing/2014/main" val="20001"/>
                    </a:ext>
                  </a:extLst>
                </a:gridCol>
                <a:gridCol w="2160311">
                  <a:extLst>
                    <a:ext uri="{9D8B030D-6E8A-4147-A177-3AD203B41FA5}">
                      <a16:colId xmlns:a16="http://schemas.microsoft.com/office/drawing/2014/main" val="20002"/>
                    </a:ext>
                  </a:extLst>
                </a:gridCol>
                <a:gridCol w="1512218">
                  <a:extLst>
                    <a:ext uri="{9D8B030D-6E8A-4147-A177-3AD203B41FA5}">
                      <a16:colId xmlns:a16="http://schemas.microsoft.com/office/drawing/2014/main" val="20003"/>
                    </a:ext>
                  </a:extLst>
                </a:gridCol>
              </a:tblGrid>
              <a:tr h="51821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ko-KR" altLang="en-US" sz="1600" b="1" i="0" u="none" strike="noStrike" cap="none" normalizeH="0" baseline="0" dirty="0" smtClean="0">
                          <a:ln>
                            <a:noFill/>
                          </a:ln>
                          <a:solidFill>
                            <a:srgbClr val="000000"/>
                          </a:solidFill>
                          <a:effectLst/>
                          <a:latin typeface="굴림" pitchFamily="50" charset="-127"/>
                          <a:ea typeface="굴림" pitchFamily="50" charset="-127"/>
                        </a:rPr>
                        <a:t>주차</a:t>
                      </a:r>
                      <a:endParaRPr kumimoji="1" lang="ko-KR" altLang="en-US" sz="1600" b="0" i="0" u="none" strike="noStrike" cap="none" normalizeH="0" baseline="0" dirty="0" smtClean="0">
                        <a:ln>
                          <a:noFill/>
                        </a:ln>
                        <a:solidFill>
                          <a:schemeClr val="tx1"/>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ko-KR" altLang="en-US" sz="1600" b="1" i="0" u="none" strike="noStrike" cap="none" normalizeH="0" baseline="0" dirty="0" smtClean="0">
                          <a:ln>
                            <a:noFill/>
                          </a:ln>
                          <a:solidFill>
                            <a:srgbClr val="000000"/>
                          </a:solidFill>
                          <a:effectLst/>
                          <a:latin typeface="굴림" pitchFamily="50" charset="-127"/>
                          <a:ea typeface="굴림" pitchFamily="50" charset="-127"/>
                        </a:rPr>
                        <a:t>수업내용</a:t>
                      </a:r>
                      <a:endParaRPr kumimoji="1" lang="ko-KR" altLang="en-US" sz="1600" b="0" i="0" u="none" strike="noStrike" cap="none" normalizeH="0" baseline="0" dirty="0" smtClean="0">
                        <a:ln>
                          <a:noFill/>
                        </a:ln>
                        <a:solidFill>
                          <a:schemeClr val="tx1"/>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ko-KR" altLang="en-US" sz="1600" b="1" i="0" u="none" strike="noStrike" cap="none" normalizeH="0" baseline="0" dirty="0" smtClean="0">
                          <a:ln>
                            <a:noFill/>
                          </a:ln>
                          <a:solidFill>
                            <a:srgbClr val="000000"/>
                          </a:solidFill>
                          <a:effectLst/>
                          <a:latin typeface="굴림" pitchFamily="50" charset="-127"/>
                          <a:ea typeface="굴림" pitchFamily="50" charset="-127"/>
                        </a:rPr>
                        <a:t>교재 범위 및 과제물</a:t>
                      </a:r>
                      <a:endParaRPr kumimoji="1" lang="ko-KR" altLang="en-US" sz="1600" b="0" i="0" u="none" strike="noStrike" cap="none" normalizeH="0" baseline="0" dirty="0" smtClean="0">
                        <a:ln>
                          <a:noFill/>
                        </a:ln>
                        <a:solidFill>
                          <a:schemeClr val="tx1"/>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ko-KR" altLang="en-US" sz="1600" b="1" i="0" u="none" strike="noStrike" cap="none" normalizeH="0" baseline="0" dirty="0" smtClean="0">
                          <a:ln>
                            <a:noFill/>
                          </a:ln>
                          <a:solidFill>
                            <a:srgbClr val="000000"/>
                          </a:solidFill>
                          <a:effectLst/>
                          <a:latin typeface="굴림" pitchFamily="50" charset="-127"/>
                          <a:ea typeface="굴림" pitchFamily="50" charset="-127"/>
                        </a:rPr>
                        <a:t>비고</a:t>
                      </a:r>
                      <a:endParaRPr kumimoji="1" lang="ko-KR" altLang="en-US" sz="1600" b="0" i="0" u="none" strike="noStrike" cap="none" normalizeH="0" baseline="0" dirty="0" smtClean="0">
                        <a:ln>
                          <a:noFill/>
                        </a:ln>
                        <a:solidFill>
                          <a:schemeClr val="tx1"/>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extLst>
                  <a:ext uri="{0D108BD9-81ED-4DB2-BD59-A6C34878D82A}">
                    <a16:rowId xmlns:a16="http://schemas.microsoft.com/office/drawing/2014/main" val="10000"/>
                  </a:ext>
                </a:extLst>
              </a:tr>
              <a:tr h="77427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체" pitchFamily="49" charset="-127"/>
                        </a:rPr>
                        <a:t>1</a:t>
                      </a:r>
                      <a:endPar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lang="ko-KR" altLang="en-US" sz="1600" b="0" dirty="0" smtClean="0">
                          <a:solidFill>
                            <a:schemeClr val="bg1">
                              <a:lumMod val="50000"/>
                            </a:schemeClr>
                          </a:solidFill>
                          <a:effectLst/>
                        </a:rPr>
                        <a:t>교과목 소개 및 실습 환경 점검</a:t>
                      </a:r>
                      <a:endPar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latinLnBrk="1"/>
                      <a:r>
                        <a:rPr lang="ko-KR" altLang="ko-KR" sz="1600" b="0" kern="1200" dirty="0" smtClean="0">
                          <a:solidFill>
                            <a:schemeClr val="bg1">
                              <a:lumMod val="50000"/>
                            </a:schemeClr>
                          </a:solidFill>
                          <a:effectLst/>
                          <a:latin typeface="+mn-lt"/>
                          <a:ea typeface="+mn-ea"/>
                          <a:cs typeface="+mn-cs"/>
                        </a:rPr>
                        <a:t>제</a:t>
                      </a:r>
                      <a:r>
                        <a:rPr lang="en-US" altLang="ko-KR" sz="1600" b="0" kern="1200" dirty="0" smtClean="0">
                          <a:solidFill>
                            <a:schemeClr val="bg1">
                              <a:lumMod val="50000"/>
                            </a:schemeClr>
                          </a:solidFill>
                          <a:effectLst/>
                          <a:latin typeface="+mn-lt"/>
                          <a:ea typeface="+mn-ea"/>
                          <a:cs typeface="+mn-cs"/>
                        </a:rPr>
                        <a:t> 1</a:t>
                      </a:r>
                      <a:r>
                        <a:rPr lang="ko-KR" altLang="ko-KR" sz="1600" b="0" kern="1200" dirty="0" smtClean="0">
                          <a:solidFill>
                            <a:schemeClr val="bg1">
                              <a:lumMod val="50000"/>
                            </a:schemeClr>
                          </a:solidFill>
                          <a:effectLst/>
                          <a:latin typeface="+mn-lt"/>
                          <a:ea typeface="+mn-ea"/>
                          <a:cs typeface="+mn-cs"/>
                        </a:rPr>
                        <a:t>장</a:t>
                      </a: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rPr>
                        <a:t>문제 </a:t>
                      </a: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rPr>
                        <a:t>1</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extLst>
                  <a:ext uri="{0D108BD9-81ED-4DB2-BD59-A6C34878D82A}">
                    <a16:rowId xmlns:a16="http://schemas.microsoft.com/office/drawing/2014/main" val="10001"/>
                  </a:ext>
                </a:extLst>
              </a:tr>
              <a:tr h="62795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체" pitchFamily="49" charset="-127"/>
                        </a:rPr>
                        <a:t>2</a:t>
                      </a:r>
                      <a:endPar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lang="ko-KR" altLang="en-US" sz="1600" b="0" dirty="0" smtClean="0">
                          <a:solidFill>
                            <a:schemeClr val="bg1">
                              <a:lumMod val="50000"/>
                            </a:schemeClr>
                          </a:solidFill>
                          <a:effectLst/>
                        </a:rPr>
                        <a:t>자료 구조</a:t>
                      </a:r>
                      <a:r>
                        <a:rPr lang="en-US" altLang="ko-KR" sz="1600" b="0" dirty="0" smtClean="0">
                          <a:solidFill>
                            <a:schemeClr val="bg1">
                              <a:lumMod val="50000"/>
                            </a:schemeClr>
                          </a:solidFill>
                          <a:effectLst/>
                        </a:rPr>
                        <a:t>1</a:t>
                      </a:r>
                      <a:endPar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latinLnBrk="1"/>
                      <a:r>
                        <a:rPr lang="ko-KR" altLang="ko-KR" sz="1600" b="0" kern="1200" dirty="0" smtClean="0">
                          <a:solidFill>
                            <a:schemeClr val="bg1">
                              <a:lumMod val="50000"/>
                            </a:schemeClr>
                          </a:solidFill>
                          <a:effectLst/>
                          <a:latin typeface="+mn-lt"/>
                          <a:ea typeface="+mn-ea"/>
                          <a:cs typeface="+mn-cs"/>
                        </a:rPr>
                        <a:t>제</a:t>
                      </a:r>
                      <a:r>
                        <a:rPr lang="en-US" altLang="ko-KR" sz="1600" b="0" kern="1200" dirty="0" smtClean="0">
                          <a:solidFill>
                            <a:schemeClr val="bg1">
                              <a:lumMod val="50000"/>
                            </a:schemeClr>
                          </a:solidFill>
                          <a:effectLst/>
                          <a:latin typeface="+mn-lt"/>
                          <a:ea typeface="+mn-ea"/>
                          <a:cs typeface="+mn-cs"/>
                        </a:rPr>
                        <a:t> 2</a:t>
                      </a:r>
                      <a:r>
                        <a:rPr lang="ko-KR" altLang="ko-KR" sz="1600" b="0" kern="1200" dirty="0" smtClean="0">
                          <a:solidFill>
                            <a:schemeClr val="bg1">
                              <a:lumMod val="50000"/>
                            </a:schemeClr>
                          </a:solidFill>
                          <a:effectLst/>
                          <a:latin typeface="+mn-lt"/>
                          <a:ea typeface="+mn-ea"/>
                          <a:cs typeface="+mn-cs"/>
                        </a:rPr>
                        <a:t>장</a:t>
                      </a: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rPr>
                        <a:t>문제 </a:t>
                      </a: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rPr>
                        <a:t>9</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extLst>
                  <a:ext uri="{0D108BD9-81ED-4DB2-BD59-A6C34878D82A}">
                    <a16:rowId xmlns:a16="http://schemas.microsoft.com/office/drawing/2014/main" val="10002"/>
                  </a:ext>
                </a:extLst>
              </a:tr>
              <a:tr h="579244">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체" pitchFamily="49" charset="-127"/>
                        </a:rPr>
                        <a:t>3</a:t>
                      </a:r>
                      <a:endPar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lang="ko-KR" altLang="en-US" sz="1600" b="0" dirty="0" smtClean="0">
                          <a:solidFill>
                            <a:schemeClr val="bg1">
                              <a:lumMod val="50000"/>
                            </a:schemeClr>
                          </a:solidFill>
                          <a:effectLst/>
                        </a:rPr>
                        <a:t>자료 구조</a:t>
                      </a:r>
                      <a:r>
                        <a:rPr lang="en-US" altLang="ko-KR" sz="1600" b="0" dirty="0" smtClean="0">
                          <a:solidFill>
                            <a:schemeClr val="bg1">
                              <a:lumMod val="50000"/>
                            </a:schemeClr>
                          </a:solidFill>
                          <a:effectLst/>
                        </a:rPr>
                        <a:t>2</a:t>
                      </a:r>
                      <a:endPar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latinLnBrk="1"/>
                      <a:r>
                        <a:rPr lang="ko-KR" altLang="ko-KR" sz="1600" b="0" kern="1200" dirty="0" smtClean="0">
                          <a:solidFill>
                            <a:schemeClr val="bg1">
                              <a:lumMod val="50000"/>
                            </a:schemeClr>
                          </a:solidFill>
                          <a:effectLst/>
                          <a:latin typeface="+mn-lt"/>
                          <a:ea typeface="+mn-ea"/>
                          <a:cs typeface="+mn-cs"/>
                        </a:rPr>
                        <a:t>제</a:t>
                      </a:r>
                      <a:r>
                        <a:rPr lang="en-US" altLang="ko-KR" sz="1600" b="0" kern="1200" dirty="0" smtClean="0">
                          <a:solidFill>
                            <a:schemeClr val="bg1">
                              <a:lumMod val="50000"/>
                            </a:schemeClr>
                          </a:solidFill>
                          <a:effectLst/>
                          <a:latin typeface="+mn-lt"/>
                          <a:ea typeface="+mn-ea"/>
                          <a:cs typeface="+mn-cs"/>
                        </a:rPr>
                        <a:t> 2</a:t>
                      </a:r>
                      <a:r>
                        <a:rPr lang="ko-KR" altLang="ko-KR" sz="1600" b="0" kern="1200" dirty="0" smtClean="0">
                          <a:solidFill>
                            <a:schemeClr val="bg1">
                              <a:lumMod val="50000"/>
                            </a:schemeClr>
                          </a:solidFill>
                          <a:effectLst/>
                          <a:latin typeface="+mn-lt"/>
                          <a:ea typeface="+mn-ea"/>
                          <a:cs typeface="+mn-cs"/>
                        </a:rPr>
                        <a:t>장</a:t>
                      </a: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rPr>
                        <a:t>문제 </a:t>
                      </a: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rPr>
                        <a:t>11, 12</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extLst>
                  <a:ext uri="{0D108BD9-81ED-4DB2-BD59-A6C34878D82A}">
                    <a16:rowId xmlns:a16="http://schemas.microsoft.com/office/drawing/2014/main" val="10003"/>
                  </a:ext>
                </a:extLst>
              </a:tr>
              <a:tr h="579244">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체" pitchFamily="49" charset="-127"/>
                        </a:rPr>
                        <a:t>4</a:t>
                      </a:r>
                      <a:endPar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lang="ko-KR" altLang="en-US" sz="1600" b="0" dirty="0" smtClean="0">
                          <a:solidFill>
                            <a:schemeClr val="bg1">
                              <a:lumMod val="50000"/>
                            </a:schemeClr>
                          </a:solidFill>
                          <a:effectLst/>
                        </a:rPr>
                        <a:t>문자열</a:t>
                      </a:r>
                      <a:r>
                        <a:rPr lang="en-US" altLang="ko-KR" sz="1600" b="0" dirty="0" smtClean="0">
                          <a:solidFill>
                            <a:schemeClr val="bg1">
                              <a:lumMod val="50000"/>
                            </a:schemeClr>
                          </a:solidFill>
                          <a:effectLst/>
                        </a:rPr>
                        <a:t>1</a:t>
                      </a:r>
                      <a:r>
                        <a:rPr lang="ko-KR" altLang="en-US" sz="1600" b="0" dirty="0" smtClean="0">
                          <a:solidFill>
                            <a:schemeClr val="bg1">
                              <a:lumMod val="50000"/>
                            </a:schemeClr>
                          </a:solidFill>
                          <a:effectLst/>
                        </a:rPr>
                        <a:t> </a:t>
                      </a:r>
                      <a:endParaRPr lang="en-US" altLang="ko-KR" sz="1600" b="0" dirty="0" smtClean="0">
                        <a:solidFill>
                          <a:schemeClr val="bg1">
                            <a:lumMod val="50000"/>
                          </a:schemeClr>
                        </a:solidFill>
                        <a:effectLst/>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lang="ko-KR" altLang="ko-KR" sz="1600" b="0" kern="1200" dirty="0" smtClean="0">
                          <a:solidFill>
                            <a:schemeClr val="bg1">
                              <a:lumMod val="50000"/>
                            </a:schemeClr>
                          </a:solidFill>
                          <a:effectLst/>
                          <a:latin typeface="+mn-lt"/>
                          <a:ea typeface="+mn-ea"/>
                          <a:cs typeface="+mn-cs"/>
                        </a:rPr>
                        <a:t>제</a:t>
                      </a:r>
                      <a:r>
                        <a:rPr lang="en-US" altLang="ko-KR" sz="1600" b="0" kern="1200" dirty="0" smtClean="0">
                          <a:solidFill>
                            <a:schemeClr val="bg1">
                              <a:lumMod val="50000"/>
                            </a:schemeClr>
                          </a:solidFill>
                          <a:effectLst/>
                          <a:latin typeface="+mn-lt"/>
                          <a:ea typeface="+mn-ea"/>
                          <a:cs typeface="+mn-cs"/>
                        </a:rPr>
                        <a:t> 3</a:t>
                      </a:r>
                      <a:r>
                        <a:rPr lang="ko-KR" altLang="ko-KR" sz="1600" b="0" kern="1200" dirty="0" smtClean="0">
                          <a:solidFill>
                            <a:schemeClr val="bg1">
                              <a:lumMod val="50000"/>
                            </a:schemeClr>
                          </a:solidFill>
                          <a:effectLst/>
                          <a:latin typeface="+mn-lt"/>
                          <a:ea typeface="+mn-ea"/>
                          <a:cs typeface="+mn-cs"/>
                        </a:rPr>
                        <a:t>장</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rPr>
                        <a:t>문제 </a:t>
                      </a: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rPr>
                        <a:t>17, 18</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extLst>
                  <a:ext uri="{0D108BD9-81ED-4DB2-BD59-A6C34878D82A}">
                    <a16:rowId xmlns:a16="http://schemas.microsoft.com/office/drawing/2014/main" val="10004"/>
                  </a:ext>
                </a:extLst>
              </a:tr>
              <a:tr h="579244">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600" b="0" i="0" u="none" strike="noStrike" cap="none" normalizeH="0" baseline="0" dirty="0" smtClean="0">
                          <a:ln>
                            <a:noFill/>
                          </a:ln>
                          <a:solidFill>
                            <a:schemeClr val="tx1"/>
                          </a:solidFill>
                          <a:effectLst/>
                          <a:latin typeface="굴림" pitchFamily="50" charset="-127"/>
                          <a:ea typeface="굴림체" pitchFamily="49" charset="-127"/>
                        </a:rPr>
                        <a:t>5</a:t>
                      </a:r>
                      <a:endParaRPr kumimoji="1" lang="en-US" altLang="ko-KR" sz="1600" b="0" i="0" u="none" strike="noStrike" cap="none" normalizeH="0" baseline="0" dirty="0" smtClean="0">
                        <a:ln>
                          <a:noFill/>
                        </a:ln>
                        <a:solidFill>
                          <a:schemeClr val="tx1"/>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kumimoji="1" lang="ko-KR" altLang="en-US" sz="1600" b="0" i="0" u="none" strike="noStrike" cap="none" normalizeH="0" baseline="0" dirty="0" smtClean="0">
                          <a:ln>
                            <a:noFill/>
                          </a:ln>
                          <a:solidFill>
                            <a:schemeClr val="tx1"/>
                          </a:solidFill>
                          <a:effectLst/>
                          <a:latin typeface="굴림" pitchFamily="50" charset="-127"/>
                          <a:ea typeface="굴림" pitchFamily="50" charset="-127"/>
                        </a:rPr>
                        <a:t>문자열</a:t>
                      </a:r>
                      <a:r>
                        <a:rPr kumimoji="1" lang="en-US" altLang="ko-KR" sz="1600" b="0" i="0" u="none" strike="noStrike" cap="none" normalizeH="0" baseline="0" dirty="0" smtClean="0">
                          <a:ln>
                            <a:noFill/>
                          </a:ln>
                          <a:solidFill>
                            <a:schemeClr val="tx1"/>
                          </a:solidFill>
                          <a:effectLst/>
                          <a:latin typeface="굴림" pitchFamily="50" charset="-127"/>
                          <a:ea typeface="굴림" pitchFamily="50" charset="-127"/>
                        </a:rPr>
                        <a:t>2</a:t>
                      </a:r>
                      <a:endParaRPr kumimoji="1" lang="ko-KR" altLang="en-US" sz="1600" b="0" i="0" u="none" strike="noStrike" cap="none" normalizeH="0" baseline="0" dirty="0" smtClean="0">
                        <a:ln>
                          <a:noFill/>
                        </a:ln>
                        <a:solidFill>
                          <a:schemeClr val="tx1"/>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dirty="0" smtClean="0">
                          <a:ln>
                            <a:noFill/>
                          </a:ln>
                          <a:solidFill>
                            <a:schemeClr val="tx1"/>
                          </a:solidFill>
                          <a:effectLst/>
                          <a:latin typeface="굴림" pitchFamily="50" charset="-127"/>
                          <a:ea typeface="굴림" pitchFamily="50" charset="-127"/>
                        </a:rPr>
                        <a:t>제 </a:t>
                      </a:r>
                      <a:r>
                        <a:rPr kumimoji="1" lang="en-US" altLang="ko-KR" sz="1600" b="0" i="0" u="none" strike="noStrike" cap="none" normalizeH="0" baseline="0" dirty="0" smtClean="0">
                          <a:ln>
                            <a:noFill/>
                          </a:ln>
                          <a:solidFill>
                            <a:schemeClr val="tx1"/>
                          </a:solidFill>
                          <a:effectLst/>
                          <a:latin typeface="굴림" pitchFamily="50" charset="-127"/>
                          <a:ea typeface="굴림" pitchFamily="50" charset="-127"/>
                        </a:rPr>
                        <a:t>3</a:t>
                      </a:r>
                      <a:r>
                        <a:rPr kumimoji="1" lang="ko-KR" altLang="en-US" sz="1600" b="0" i="0" u="none" strike="noStrike" cap="none" normalizeH="0" baseline="0" dirty="0" smtClean="0">
                          <a:ln>
                            <a:noFill/>
                          </a:ln>
                          <a:solidFill>
                            <a:schemeClr val="tx1"/>
                          </a:solidFill>
                          <a:effectLst/>
                          <a:latin typeface="굴림" pitchFamily="50" charset="-127"/>
                          <a:ea typeface="굴림" pitchFamily="50" charset="-127"/>
                        </a:rPr>
                        <a:t>장</a:t>
                      </a:r>
                      <a:endParaRPr kumimoji="1" lang="ko-KR" altLang="ko-KR" sz="1600" b="0" i="0" u="none" strike="noStrike" cap="none" normalizeH="0" baseline="0" dirty="0" smtClean="0">
                        <a:ln>
                          <a:noFill/>
                        </a:ln>
                        <a:solidFill>
                          <a:schemeClr val="tx1"/>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dirty="0" smtClean="0">
                          <a:ln>
                            <a:noFill/>
                          </a:ln>
                          <a:solidFill>
                            <a:schemeClr val="tx1"/>
                          </a:solidFill>
                          <a:effectLst/>
                          <a:latin typeface="굴림" pitchFamily="50" charset="-127"/>
                          <a:ea typeface="굴림" pitchFamily="50" charset="-127"/>
                        </a:rPr>
                        <a:t>문제 </a:t>
                      </a:r>
                      <a:r>
                        <a:rPr kumimoji="1" lang="en-US" altLang="ko-KR" sz="1600" b="0" i="0" u="none" strike="noStrike" cap="none" normalizeH="0" baseline="0" dirty="0" smtClean="0">
                          <a:ln>
                            <a:noFill/>
                          </a:ln>
                          <a:solidFill>
                            <a:schemeClr val="tx1"/>
                          </a:solidFill>
                          <a:effectLst/>
                          <a:latin typeface="굴림" pitchFamily="50" charset="-127"/>
                          <a:ea typeface="굴림" pitchFamily="50" charset="-127"/>
                        </a:rPr>
                        <a:t>20, 21</a:t>
                      </a:r>
                      <a:endParaRPr kumimoji="1" lang="ko-KR" altLang="ko-KR" sz="1600" b="0" i="0" u="none" strike="noStrike" cap="none" normalizeH="0" baseline="0" dirty="0" smtClean="0">
                        <a:ln>
                          <a:noFill/>
                        </a:ln>
                        <a:solidFill>
                          <a:schemeClr val="tx1"/>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extLst>
                  <a:ext uri="{0D108BD9-81ED-4DB2-BD59-A6C34878D82A}">
                    <a16:rowId xmlns:a16="http://schemas.microsoft.com/office/drawing/2014/main" val="10005"/>
                  </a:ext>
                </a:extLst>
              </a:tr>
              <a:tr h="579244">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체" pitchFamily="49" charset="-127"/>
                        </a:rPr>
                        <a:t>6</a:t>
                      </a:r>
                      <a:endPar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rPr>
                        <a:t>정렬</a:t>
                      </a: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lang="ko-KR" altLang="ko-KR" sz="1600" b="0" kern="1200" dirty="0" smtClean="0">
                          <a:solidFill>
                            <a:schemeClr val="bg1">
                              <a:lumMod val="50000"/>
                            </a:schemeClr>
                          </a:solidFill>
                          <a:effectLst/>
                          <a:latin typeface="+mn-lt"/>
                          <a:ea typeface="+mn-ea"/>
                          <a:cs typeface="+mn-cs"/>
                        </a:rPr>
                        <a:t>제</a:t>
                      </a:r>
                      <a:r>
                        <a:rPr lang="en-US" altLang="ko-KR" sz="1600" b="0" kern="1200" dirty="0" smtClean="0">
                          <a:solidFill>
                            <a:schemeClr val="bg1">
                              <a:lumMod val="50000"/>
                            </a:schemeClr>
                          </a:solidFill>
                          <a:effectLst/>
                          <a:latin typeface="+mn-lt"/>
                          <a:ea typeface="+mn-ea"/>
                          <a:cs typeface="+mn-cs"/>
                        </a:rPr>
                        <a:t> 4</a:t>
                      </a:r>
                      <a:r>
                        <a:rPr lang="ko-KR" altLang="ko-KR" sz="1600" b="0" kern="1200" dirty="0" smtClean="0">
                          <a:solidFill>
                            <a:schemeClr val="bg1">
                              <a:lumMod val="50000"/>
                            </a:schemeClr>
                          </a:solidFill>
                          <a:effectLst/>
                          <a:latin typeface="+mn-lt"/>
                          <a:ea typeface="+mn-ea"/>
                          <a:cs typeface="+mn-cs"/>
                        </a:rPr>
                        <a:t>장</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rPr>
                        <a:t>문제 </a:t>
                      </a: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rPr>
                        <a:t>25, 29</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extLst>
                  <a:ext uri="{0D108BD9-81ED-4DB2-BD59-A6C34878D82A}">
                    <a16:rowId xmlns:a16="http://schemas.microsoft.com/office/drawing/2014/main" val="10006"/>
                  </a:ext>
                </a:extLst>
              </a:tr>
              <a:tr h="579244">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600" b="0" i="0" u="none" strike="noStrike" cap="none" normalizeH="0" baseline="0" smtClean="0">
                          <a:ln>
                            <a:noFill/>
                          </a:ln>
                          <a:solidFill>
                            <a:schemeClr val="bg1">
                              <a:lumMod val="50000"/>
                            </a:schemeClr>
                          </a:solidFill>
                          <a:effectLst/>
                          <a:latin typeface="굴림" pitchFamily="50" charset="-127"/>
                          <a:ea typeface="굴림체" pitchFamily="49" charset="-127"/>
                        </a:rPr>
                        <a:t>7</a:t>
                      </a:r>
                      <a:endParaRPr kumimoji="1" lang="en-US" altLang="ko-KR" sz="1600" b="0" i="0" u="none" strike="noStrike" cap="none" normalizeH="0" baseline="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kumimoji="1" lang="ko-KR" altLang="en-US" sz="1600" b="0" i="0" u="none" strike="noStrike" cap="none" normalizeH="0" baseline="0" dirty="0" err="1" smtClean="0">
                          <a:ln>
                            <a:noFill/>
                          </a:ln>
                          <a:solidFill>
                            <a:schemeClr val="bg1">
                              <a:lumMod val="50000"/>
                            </a:schemeClr>
                          </a:solidFill>
                          <a:effectLst/>
                          <a:latin typeface="굴림" pitchFamily="50" charset="-127"/>
                          <a:ea typeface="굴림" pitchFamily="50" charset="-127"/>
                        </a:rPr>
                        <a:t>조합론</a:t>
                      </a:r>
                      <a:endPar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lang="ko-KR" altLang="ko-KR" sz="1600" b="0" kern="1200" dirty="0" smtClean="0">
                          <a:solidFill>
                            <a:schemeClr val="bg1">
                              <a:lumMod val="50000"/>
                            </a:schemeClr>
                          </a:solidFill>
                          <a:effectLst/>
                          <a:latin typeface="+mn-lt"/>
                          <a:ea typeface="+mn-ea"/>
                          <a:cs typeface="+mn-cs"/>
                        </a:rPr>
                        <a:t>제</a:t>
                      </a:r>
                      <a:r>
                        <a:rPr lang="en-US" altLang="ko-KR" sz="1600" b="0" kern="1200" dirty="0" smtClean="0">
                          <a:solidFill>
                            <a:schemeClr val="bg1">
                              <a:lumMod val="50000"/>
                            </a:schemeClr>
                          </a:solidFill>
                          <a:effectLst/>
                          <a:latin typeface="+mn-lt"/>
                          <a:ea typeface="+mn-ea"/>
                          <a:cs typeface="+mn-cs"/>
                        </a:rPr>
                        <a:t> 6</a:t>
                      </a:r>
                      <a:r>
                        <a:rPr lang="ko-KR" altLang="ko-KR" sz="1600" b="0" kern="1200" dirty="0" smtClean="0">
                          <a:solidFill>
                            <a:schemeClr val="bg1">
                              <a:lumMod val="50000"/>
                            </a:schemeClr>
                          </a:solidFill>
                          <a:effectLst/>
                          <a:latin typeface="+mn-lt"/>
                          <a:ea typeface="+mn-ea"/>
                          <a:cs typeface="+mn-cs"/>
                        </a:rPr>
                        <a:t>장</a:t>
                      </a:r>
                      <a:endPar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dirty="0" smtClean="0">
                          <a:ln>
                            <a:noFill/>
                          </a:ln>
                          <a:solidFill>
                            <a:schemeClr val="bg1">
                              <a:lumMod val="50000"/>
                            </a:schemeClr>
                          </a:solidFill>
                          <a:effectLst/>
                          <a:latin typeface="굴림" pitchFamily="50" charset="-127"/>
                          <a:ea typeface="굴림" pitchFamily="50" charset="-127"/>
                        </a:rPr>
                        <a:t>문제 </a:t>
                      </a:r>
                      <a:r>
                        <a:rPr kumimoji="1" lang="en-US"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rPr>
                        <a:t>41, 46</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triangle" w="med" len="med"/>
                    </a:lnB>
                    <a:lnTlToBr>
                      <a:noFill/>
                    </a:lnTlToBr>
                    <a:lnBlToTr>
                      <a:noFill/>
                    </a:lnBlToTr>
                    <a:solidFill>
                      <a:srgbClr val="FFFFFF"/>
                    </a:solidFill>
                  </a:tcPr>
                </a:tc>
                <a:extLst>
                  <a:ext uri="{0D108BD9-81ED-4DB2-BD59-A6C34878D82A}">
                    <a16:rowId xmlns:a16="http://schemas.microsoft.com/office/drawing/2014/main" val="10007"/>
                  </a:ext>
                </a:extLst>
              </a:tr>
              <a:tr h="579244">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600" b="0" i="0" u="none" strike="noStrike" cap="none" normalizeH="0" baseline="0" smtClean="0">
                          <a:ln>
                            <a:noFill/>
                          </a:ln>
                          <a:solidFill>
                            <a:schemeClr val="bg1">
                              <a:lumMod val="50000"/>
                            </a:schemeClr>
                          </a:solidFill>
                          <a:effectLst/>
                          <a:latin typeface="굴림" pitchFamily="50" charset="-127"/>
                          <a:ea typeface="굴림체" pitchFamily="49" charset="-127"/>
                        </a:rPr>
                        <a:t>8</a:t>
                      </a:r>
                      <a:endParaRPr kumimoji="1" lang="en-US" altLang="ko-KR" sz="1600" b="0" i="0" u="none" strike="noStrike" cap="none" normalizeH="0" baseline="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1" hangingPunct="1">
                        <a:lnSpc>
                          <a:spcPct val="100000"/>
                        </a:lnSpc>
                        <a:spcBef>
                          <a:spcPct val="0"/>
                        </a:spcBef>
                        <a:spcAft>
                          <a:spcPct val="0"/>
                        </a:spcAft>
                        <a:buClrTx/>
                        <a:buSzTx/>
                        <a:buFontTx/>
                        <a:buNone/>
                        <a:tabLst/>
                      </a:pPr>
                      <a:r>
                        <a:rPr kumimoji="1" lang="ko-KR" altLang="en-US" sz="1600" b="0" i="0" u="none" strike="noStrike" cap="none" normalizeH="0" baseline="0" smtClean="0">
                          <a:ln>
                            <a:noFill/>
                          </a:ln>
                          <a:solidFill>
                            <a:schemeClr val="bg1">
                              <a:lumMod val="50000"/>
                            </a:schemeClr>
                          </a:solidFill>
                          <a:effectLst/>
                          <a:latin typeface="굴림체" pitchFamily="49" charset="-127"/>
                          <a:ea typeface="굴림" pitchFamily="50" charset="-127"/>
                        </a:rPr>
                        <a:t>중간 고사</a:t>
                      </a:r>
                      <a:endParaRPr kumimoji="1" lang="ko-KR" altLang="en-US" sz="1600" b="0" i="0" u="none" strike="noStrike" cap="none" normalizeH="0" baseline="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1600" b="0" i="0" u="none" strike="noStrike" cap="none" normalizeH="0" baseline="0" smtClean="0">
                          <a:ln>
                            <a:noFill/>
                          </a:ln>
                          <a:solidFill>
                            <a:schemeClr val="bg1">
                              <a:lumMod val="50000"/>
                            </a:schemeClr>
                          </a:solidFill>
                          <a:effectLst/>
                          <a:latin typeface="굴림" pitchFamily="50" charset="-127"/>
                          <a:ea typeface="굴림" pitchFamily="50" charset="-127"/>
                        </a:rPr>
                        <a:t>필기시험</a:t>
                      </a: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triangl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600" b="0" i="0" u="none" strike="noStrike" cap="none" normalizeH="0" baseline="0" dirty="0" smtClean="0">
                        <a:ln>
                          <a:noFill/>
                        </a:ln>
                        <a:solidFill>
                          <a:schemeClr val="bg1">
                            <a:lumMod val="50000"/>
                          </a:schemeClr>
                        </a:solidFill>
                        <a:effectLst/>
                        <a:latin typeface="굴림" pitchFamily="50" charset="-127"/>
                        <a:ea typeface="굴림" pitchFamily="50" charset="-127"/>
                      </a:endParaRPr>
                    </a:p>
                  </a:txBody>
                  <a:tcPr marL="91443" marR="91443" marT="45730" marB="45730" anchor="ctr" horzOverflow="overflow">
                    <a:lnL w="0" cap="flat" cmpd="sng" algn="ctr">
                      <a:solidFill>
                        <a:srgbClr val="000000"/>
                      </a:solidFill>
                      <a:prstDash val="solid"/>
                      <a:round/>
                      <a:headEnd type="none" w="med" len="med"/>
                      <a:tailEnd type="triangl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triangle" w="med" len="med"/>
                    </a:lnT>
                    <a:lnB w="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sp>
        <p:nvSpPr>
          <p:cNvPr id="2" name="슬라이드 번호 개체 틀 1"/>
          <p:cNvSpPr>
            <a:spLocks noGrp="1"/>
          </p:cNvSpPr>
          <p:nvPr>
            <p:ph type="sldNum" sz="quarter" idx="12"/>
          </p:nvPr>
        </p:nvSpPr>
        <p:spPr/>
        <p:txBody>
          <a:bodyPr/>
          <a:lstStyle/>
          <a:p>
            <a:pPr>
              <a:defRPr/>
            </a:pPr>
            <a:fld id="{F7FAE050-7BCF-4ADD-864F-F96DD2DFD225}" type="slidenum">
              <a:rPr lang="en-US" altLang="ko-KR" smtClean="0"/>
              <a:pPr>
                <a:defRPr/>
              </a:pPr>
              <a:t>2</a:t>
            </a:fld>
            <a:endParaRPr lang="en-US" altLang="ko-KR"/>
          </a:p>
        </p:txBody>
      </p:sp>
    </p:spTree>
    <p:extLst>
      <p:ext uri="{BB962C8B-B14F-4D97-AF65-F5344CB8AC3E}">
        <p14:creationId xmlns:p14="http://schemas.microsoft.com/office/powerpoint/2010/main" val="127096212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문자 코드</a:t>
            </a:r>
            <a:r>
              <a:rPr lang="en-US" altLang="ko-KR" dirty="0" smtClean="0"/>
              <a:t>(</a:t>
            </a:r>
            <a:r>
              <a:rPr lang="ko-KR" altLang="en-US" dirty="0" smtClean="0"/>
              <a:t>보완</a:t>
            </a:r>
            <a:r>
              <a:rPr lang="en-US" altLang="ko-KR" dirty="0" smtClean="0"/>
              <a:t>)</a:t>
            </a:r>
            <a:endParaRPr lang="ko-KR" altLang="en-US" dirty="0"/>
          </a:p>
        </p:txBody>
      </p:sp>
      <p:sp>
        <p:nvSpPr>
          <p:cNvPr id="3" name="내용 개체 틀 2"/>
          <p:cNvSpPr>
            <a:spLocks noGrp="1"/>
          </p:cNvSpPr>
          <p:nvPr>
            <p:ph idx="1"/>
          </p:nvPr>
        </p:nvSpPr>
        <p:spPr/>
        <p:txBody>
          <a:bodyPr/>
          <a:lstStyle/>
          <a:p>
            <a:r>
              <a:rPr lang="ko-KR" altLang="en-US" sz="2400" dirty="0" smtClean="0"/>
              <a:t>한글 완성형 코드 </a:t>
            </a:r>
            <a:r>
              <a:rPr lang="en-US" altLang="ko-KR" sz="2400" dirty="0" smtClean="0"/>
              <a:t>(KSC5601)</a:t>
            </a:r>
          </a:p>
          <a:p>
            <a:pPr lvl="1"/>
            <a:r>
              <a:rPr lang="en-US" altLang="ko-KR" sz="1800" dirty="0"/>
              <a:t>KSC5601</a:t>
            </a:r>
            <a:r>
              <a:rPr lang="ko-KR" altLang="en-US" sz="1800" dirty="0"/>
              <a:t>은 한글을 표현하는 코드체계의 국가표준으로써 통상 완성형 코드라고 </a:t>
            </a:r>
            <a:r>
              <a:rPr lang="ko-KR" altLang="en-US" sz="1800" dirty="0" smtClean="0"/>
              <a:t>말한다</a:t>
            </a:r>
            <a:endParaRPr lang="en-US" altLang="ko-KR" sz="1800" dirty="0" smtClean="0"/>
          </a:p>
          <a:p>
            <a:pPr lvl="1"/>
            <a:r>
              <a:rPr lang="en-US" altLang="ko-KR" sz="1800" dirty="0" smtClean="0"/>
              <a:t>2</a:t>
            </a:r>
            <a:r>
              <a:rPr lang="ko-KR" altLang="en-US" sz="1800" dirty="0"/>
              <a:t>바이트로 구성</a:t>
            </a:r>
            <a:r>
              <a:rPr lang="en-US" altLang="ko-KR" sz="1800" dirty="0"/>
              <a:t>, 2350</a:t>
            </a:r>
            <a:r>
              <a:rPr lang="ko-KR" altLang="en-US" sz="1800" dirty="0"/>
              <a:t>자의 완성형 한글과 </a:t>
            </a:r>
            <a:r>
              <a:rPr lang="en-US" altLang="ko-KR" sz="1800" dirty="0"/>
              <a:t>94</a:t>
            </a:r>
            <a:r>
              <a:rPr lang="ko-KR" altLang="en-US" sz="1800" dirty="0"/>
              <a:t>자의 조합형 자음 및 모음을 지원한다</a:t>
            </a:r>
            <a:r>
              <a:rPr lang="en-US" altLang="ko-KR" sz="1800" dirty="0" smtClean="0"/>
              <a:t>.</a:t>
            </a:r>
          </a:p>
          <a:p>
            <a:pPr lvl="1"/>
            <a:r>
              <a:rPr lang="ko-KR" altLang="en-US" sz="1800" dirty="0" smtClean="0"/>
              <a:t>한국표준협의회가 </a:t>
            </a:r>
            <a:r>
              <a:rPr lang="ko-KR" altLang="en-US" sz="1800" dirty="0"/>
              <a:t>한국공업표준</a:t>
            </a:r>
            <a:r>
              <a:rPr lang="en-US" altLang="ko-KR" sz="1800" dirty="0"/>
              <a:t>(Korea Industrial Standard)</a:t>
            </a:r>
            <a:r>
              <a:rPr lang="ko-KR" altLang="en-US" sz="1800" dirty="0"/>
              <a:t>으로 정한 </a:t>
            </a:r>
            <a:r>
              <a:rPr lang="ko-KR" altLang="en-US" sz="1800" dirty="0" smtClean="0"/>
              <a:t>정보처리분야</a:t>
            </a:r>
            <a:r>
              <a:rPr lang="en-US" altLang="ko-KR" sz="1800" dirty="0"/>
              <a:t>(C)</a:t>
            </a:r>
            <a:r>
              <a:rPr lang="ko-KR" altLang="en-US" sz="1800" dirty="0"/>
              <a:t>의 </a:t>
            </a:r>
            <a:r>
              <a:rPr lang="en-US" altLang="ko-KR" sz="1800" dirty="0"/>
              <a:t>5601</a:t>
            </a:r>
            <a:r>
              <a:rPr lang="ko-KR" altLang="en-US" sz="1800" dirty="0"/>
              <a:t>번 </a:t>
            </a:r>
            <a:r>
              <a:rPr lang="ko-KR" altLang="en-US" sz="1800" dirty="0" smtClean="0"/>
              <a:t>표준안이다</a:t>
            </a:r>
            <a:endParaRPr lang="en-US" altLang="ko-KR" sz="1800" dirty="0" smtClean="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3</a:t>
            </a:fld>
            <a:endParaRPr lang="en-US" altLang="ko-KR" dirty="0"/>
          </a:p>
        </p:txBody>
      </p:sp>
    </p:spTree>
    <p:extLst>
      <p:ext uri="{BB962C8B-B14F-4D97-AF65-F5344CB8AC3E}">
        <p14:creationId xmlns:p14="http://schemas.microsoft.com/office/powerpoint/2010/main" val="372552603"/>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692696"/>
            <a:ext cx="7772400" cy="5403304"/>
          </a:xfrm>
        </p:spPr>
        <p:txBody>
          <a:bodyPr/>
          <a:lstStyle/>
          <a:p>
            <a:r>
              <a:rPr lang="en-US" altLang="ko-KR" sz="2400" dirty="0" smtClean="0"/>
              <a:t>KS X 1001</a:t>
            </a:r>
          </a:p>
          <a:p>
            <a:pPr lvl="1"/>
            <a:r>
              <a:rPr lang="ko-KR" altLang="ko-KR" sz="1800" dirty="0"/>
              <a:t>한국 산업 규격으로 지정된 한국어 문자 집합으로서, 정식 </a:t>
            </a:r>
            <a:r>
              <a:rPr lang="ko-KR" altLang="ko-KR" sz="1800" dirty="0" err="1"/>
              <a:t>규격명은</a:t>
            </a:r>
            <a:r>
              <a:rPr lang="ko-KR" altLang="ko-KR" sz="1800" dirty="0"/>
              <a:t> ‘</a:t>
            </a:r>
            <a:r>
              <a:rPr lang="ko-KR" altLang="ko-KR" sz="1800" b="1" dirty="0"/>
              <a:t>정보 교환용 </a:t>
            </a:r>
            <a:r>
              <a:rPr lang="ko-KR" altLang="ko-KR" sz="1800" b="1" dirty="0" err="1"/>
              <a:t>부호계</a:t>
            </a:r>
            <a:r>
              <a:rPr lang="ko-KR" altLang="ko-KR" sz="1800" dirty="0"/>
              <a:t> (한글 및 한자)’이며, 옛 이름인 </a:t>
            </a:r>
            <a:r>
              <a:rPr lang="ko-KR" altLang="ko-KR" sz="1800" b="1" dirty="0"/>
              <a:t>KS C 5601</a:t>
            </a:r>
            <a:r>
              <a:rPr lang="ko-KR" altLang="ko-KR" sz="1800" dirty="0"/>
              <a:t>로도 알려져 있다</a:t>
            </a:r>
            <a:r>
              <a:rPr lang="ko-KR" altLang="ko-KR" sz="1800" dirty="0" smtClean="0"/>
              <a:t>.</a:t>
            </a:r>
            <a:endParaRPr lang="en-US" altLang="ko-KR" sz="1800" dirty="0" smtClean="0"/>
          </a:p>
          <a:p>
            <a:pPr lvl="1"/>
            <a:r>
              <a:rPr lang="ko-KR" altLang="ko-KR" sz="1800" dirty="0" smtClean="0"/>
              <a:t>1974</a:t>
            </a:r>
            <a:r>
              <a:rPr lang="ko-KR" altLang="ko-KR" sz="1800" dirty="0"/>
              <a:t>년에 처음으로 제정되었고, 2004년에 개정된 ‘KS X 1001:2004’가 최신 규격이다</a:t>
            </a:r>
            <a:r>
              <a:rPr lang="ko-KR" altLang="ko-KR" sz="1800" dirty="0" smtClean="0"/>
              <a:t>.</a:t>
            </a:r>
            <a:endParaRPr lang="en-US" altLang="ko-KR" sz="1800" dirty="0" smtClean="0"/>
          </a:p>
          <a:p>
            <a:pPr lvl="1"/>
            <a:r>
              <a:rPr lang="ko-KR" altLang="ko-KR" sz="1800" dirty="0"/>
              <a:t>2바이트 </a:t>
            </a:r>
            <a:r>
              <a:rPr lang="ko-KR" altLang="ko-KR" sz="1800" dirty="0" err="1"/>
              <a:t>부호계로서</a:t>
            </a:r>
            <a:r>
              <a:rPr lang="ko-KR" altLang="ko-KR" sz="1800" dirty="0"/>
              <a:t>, x2121 - x7E7E까지 영역에서 8,836문자의 표현을 규정하는데, 문자는 제어 문자와 도형 문자로 분류하며, 도형 문자는 특수 문자, 괘선 조각, 숫자, 한글 낱자, 한글 글자 마디, 한자, 기본 로마 문자, 확장 로마 문자, 그리스 문자, 가나 문자, 키릴 문자로 구성되어 있다</a:t>
            </a:r>
            <a:r>
              <a:rPr lang="ko-KR" altLang="ko-KR" sz="1800" dirty="0" smtClean="0"/>
              <a:t>.</a:t>
            </a:r>
            <a:endParaRPr lang="en-US" altLang="ko-KR" sz="1800" dirty="0" smtClean="0"/>
          </a:p>
          <a:p>
            <a:pPr lvl="1"/>
            <a:r>
              <a:rPr lang="ko-KR" altLang="ko-KR" sz="1800" dirty="0" smtClean="0"/>
              <a:t>한글 </a:t>
            </a:r>
            <a:r>
              <a:rPr lang="ko-KR" altLang="ko-KR" sz="1800" dirty="0"/>
              <a:t>부분은 기본적으로 2바이트 완성형 코드이지만, 부속서 3에서 2바이트 조합형 코드도 보조 </a:t>
            </a:r>
            <a:r>
              <a:rPr lang="ko-KR" altLang="ko-KR" sz="1800" dirty="0" err="1"/>
              <a:t>부호계로서</a:t>
            </a:r>
            <a:r>
              <a:rPr lang="ko-KR" altLang="ko-KR" sz="1800" dirty="0"/>
              <a:t> 규정되어 있다</a:t>
            </a:r>
            <a:r>
              <a:rPr lang="ko-KR" altLang="ko-KR" sz="1800" dirty="0" smtClean="0"/>
              <a:t>.</a:t>
            </a:r>
            <a:endParaRPr lang="en-US" altLang="ko-KR" sz="1800" dirty="0" smtClean="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4</a:t>
            </a:fld>
            <a:endParaRPr lang="en-US" altLang="ko-KR"/>
          </a:p>
        </p:txBody>
      </p:sp>
    </p:spTree>
    <p:extLst>
      <p:ext uri="{BB962C8B-B14F-4D97-AF65-F5344CB8AC3E}">
        <p14:creationId xmlns:p14="http://schemas.microsoft.com/office/powerpoint/2010/main" val="4279881008"/>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692696"/>
            <a:ext cx="7772400" cy="5403304"/>
          </a:xfrm>
        </p:spPr>
        <p:txBody>
          <a:bodyPr/>
          <a:lstStyle/>
          <a:p>
            <a:r>
              <a:rPr lang="en-US" altLang="ko-KR" sz="2400" dirty="0"/>
              <a:t>KS X 1001</a:t>
            </a:r>
          </a:p>
          <a:p>
            <a:pPr lvl="1"/>
            <a:r>
              <a:rPr lang="ko-KR" altLang="en-US" sz="2400" dirty="0" smtClean="0"/>
              <a:t>구성</a:t>
            </a:r>
            <a:endParaRPr lang="en-US" altLang="ko-KR" sz="2400" dirty="0" smtClean="0"/>
          </a:p>
          <a:p>
            <a:pPr lvl="2"/>
            <a:r>
              <a:rPr lang="en-US" altLang="ko-KR" sz="1800" dirty="0"/>
              <a:t>0x21 ~ 0x2C: </a:t>
            </a:r>
            <a:r>
              <a:rPr lang="ko-KR" altLang="en-US" sz="1800" dirty="0"/>
              <a:t>특수 문자</a:t>
            </a:r>
            <a:r>
              <a:rPr lang="en-US" altLang="ko-KR" sz="1800" dirty="0"/>
              <a:t>(</a:t>
            </a:r>
            <a:r>
              <a:rPr lang="ko-KR" altLang="en-US" sz="1800" dirty="0"/>
              <a:t>문장 부호</a:t>
            </a:r>
            <a:r>
              <a:rPr lang="en-US" altLang="ko-KR" sz="1800" dirty="0"/>
              <a:t>, </a:t>
            </a:r>
            <a:r>
              <a:rPr lang="ko-KR" altLang="en-US" sz="1800" dirty="0"/>
              <a:t>그림 문자 등</a:t>
            </a:r>
            <a:r>
              <a:rPr lang="en-US" altLang="ko-KR" sz="1800" dirty="0"/>
              <a:t>), </a:t>
            </a:r>
            <a:r>
              <a:rPr lang="ko-KR" altLang="en-US" sz="1800" dirty="0"/>
              <a:t>한글 낱자</a:t>
            </a:r>
            <a:r>
              <a:rPr lang="en-US" altLang="ko-KR" sz="1800" dirty="0"/>
              <a:t>, </a:t>
            </a:r>
            <a:r>
              <a:rPr lang="ko-KR" altLang="en-US" sz="1800" dirty="0"/>
              <a:t>괘선 조각</a:t>
            </a:r>
            <a:r>
              <a:rPr lang="en-US" altLang="ko-KR" sz="1800" dirty="0"/>
              <a:t>, </a:t>
            </a:r>
            <a:r>
              <a:rPr lang="ko-KR" altLang="en-US" sz="1800" dirty="0"/>
              <a:t>외국 문자</a:t>
            </a:r>
            <a:r>
              <a:rPr lang="en-US" altLang="ko-KR" sz="1800" dirty="0"/>
              <a:t>(</a:t>
            </a:r>
            <a:r>
              <a:rPr lang="ko-KR" altLang="en-US" sz="1800" dirty="0"/>
              <a:t>히라가나</a:t>
            </a:r>
            <a:r>
              <a:rPr lang="en-US" altLang="ko-KR" sz="1800" dirty="0"/>
              <a:t>, </a:t>
            </a:r>
            <a:r>
              <a:rPr lang="ko-KR" altLang="en-US" sz="1800" dirty="0" err="1"/>
              <a:t>가타카나</a:t>
            </a:r>
            <a:r>
              <a:rPr lang="en-US" altLang="ko-KR" sz="1800" dirty="0"/>
              <a:t>, </a:t>
            </a:r>
            <a:r>
              <a:rPr lang="ko-KR" altLang="en-US" sz="1800" dirty="0"/>
              <a:t>그리스 문자</a:t>
            </a:r>
            <a:r>
              <a:rPr lang="en-US" altLang="ko-KR" sz="1800" dirty="0"/>
              <a:t>, </a:t>
            </a:r>
            <a:r>
              <a:rPr lang="ko-KR" altLang="en-US" sz="1800" dirty="0"/>
              <a:t>키릴 문자 등</a:t>
            </a:r>
            <a:r>
              <a:rPr lang="en-US" altLang="ko-KR" sz="1800" dirty="0"/>
              <a:t>)</a:t>
            </a:r>
          </a:p>
          <a:p>
            <a:pPr lvl="2"/>
            <a:r>
              <a:rPr lang="en-US" altLang="ko-KR" sz="1800" dirty="0" smtClean="0"/>
              <a:t>0x30 </a:t>
            </a:r>
            <a:r>
              <a:rPr lang="en-US" altLang="ko-KR" sz="1800" dirty="0"/>
              <a:t>~ 0x48: </a:t>
            </a:r>
            <a:r>
              <a:rPr lang="ko-KR" altLang="en-US" sz="1800" dirty="0"/>
              <a:t>한글 글자 마디 영역</a:t>
            </a:r>
            <a:r>
              <a:rPr lang="en-US" altLang="ko-KR" sz="1800" dirty="0"/>
              <a:t>. </a:t>
            </a:r>
            <a:r>
              <a:rPr lang="ko-KR" altLang="en-US" sz="1800" dirty="0"/>
              <a:t>자주 쓰이는 </a:t>
            </a:r>
            <a:r>
              <a:rPr lang="en-US" altLang="ko-KR" sz="1800" dirty="0"/>
              <a:t>2350</a:t>
            </a:r>
            <a:r>
              <a:rPr lang="ko-KR" altLang="en-US" sz="1800" dirty="0"/>
              <a:t>자만 가나다 순서대로 배열했다</a:t>
            </a:r>
            <a:r>
              <a:rPr lang="en-US" altLang="ko-KR" sz="1800" dirty="0" smtClean="0"/>
              <a:t>.</a:t>
            </a:r>
            <a:endParaRPr lang="en-US" altLang="ko-KR" sz="1800" dirty="0"/>
          </a:p>
          <a:p>
            <a:pPr lvl="2"/>
            <a:r>
              <a:rPr lang="en-US" altLang="ko-KR" sz="1800" dirty="0" smtClean="0"/>
              <a:t>0x49</a:t>
            </a:r>
            <a:r>
              <a:rPr lang="en-US" altLang="ko-KR" sz="1800" dirty="0"/>
              <a:t>: </a:t>
            </a:r>
            <a:r>
              <a:rPr lang="ko-KR" altLang="en-US" sz="1800" dirty="0"/>
              <a:t>사용자 정의 영역 </a:t>
            </a:r>
            <a:r>
              <a:rPr lang="en-US" altLang="ko-KR" sz="1800" dirty="0"/>
              <a:t>A</a:t>
            </a:r>
          </a:p>
          <a:p>
            <a:pPr lvl="2"/>
            <a:r>
              <a:rPr lang="en-US" altLang="ko-KR" sz="1800" dirty="0" smtClean="0"/>
              <a:t>0x4A </a:t>
            </a:r>
            <a:r>
              <a:rPr lang="en-US" altLang="ko-KR" sz="1800" dirty="0"/>
              <a:t>~ 0x7D: </a:t>
            </a:r>
            <a:r>
              <a:rPr lang="ko-KR" altLang="en-US" sz="1800" dirty="0"/>
              <a:t>한자 영역</a:t>
            </a:r>
            <a:r>
              <a:rPr lang="en-US" altLang="ko-KR" sz="1800" dirty="0"/>
              <a:t>. 4888</a:t>
            </a:r>
            <a:r>
              <a:rPr lang="ko-KR" altLang="en-US" sz="1800" dirty="0"/>
              <a:t>자를 한글 독음 순서대로 배열했으며</a:t>
            </a:r>
            <a:r>
              <a:rPr lang="en-US" altLang="ko-KR" sz="1800" dirty="0"/>
              <a:t>, </a:t>
            </a:r>
            <a:r>
              <a:rPr lang="ko-KR" altLang="en-US" sz="1800" dirty="0"/>
              <a:t>독음이 다르고 모양이 같은 한자는 중복되어 있다</a:t>
            </a:r>
            <a:r>
              <a:rPr lang="en-US" altLang="ko-KR" sz="1800" dirty="0"/>
              <a:t>.</a:t>
            </a:r>
          </a:p>
          <a:p>
            <a:pPr lvl="2"/>
            <a:r>
              <a:rPr lang="en-US" altLang="ko-KR" sz="1800" dirty="0" smtClean="0"/>
              <a:t>0x7E</a:t>
            </a:r>
            <a:r>
              <a:rPr lang="en-US" altLang="ko-KR" sz="1800" dirty="0"/>
              <a:t>: </a:t>
            </a:r>
            <a:r>
              <a:rPr lang="ko-KR" altLang="en-US" sz="1800" dirty="0"/>
              <a:t>사용자 정의 영역 </a:t>
            </a:r>
            <a:r>
              <a:rPr lang="en-US" altLang="ko-KR" sz="1800" dirty="0" smtClean="0"/>
              <a:t>B</a:t>
            </a:r>
          </a:p>
          <a:p>
            <a:pPr lvl="1"/>
            <a:r>
              <a:rPr lang="ko-KR" altLang="en-US" sz="2400" dirty="0" smtClean="0"/>
              <a:t>단점</a:t>
            </a:r>
            <a:endParaRPr lang="en-US" altLang="ko-KR" sz="2400" dirty="0" smtClean="0"/>
          </a:p>
          <a:p>
            <a:pPr lvl="2"/>
            <a:r>
              <a:rPr lang="ko-KR" altLang="en-US" sz="1800" dirty="0" smtClean="0"/>
              <a:t>한글의 경우 </a:t>
            </a:r>
            <a:r>
              <a:rPr lang="en-US" altLang="ko-KR" sz="1800" dirty="0" smtClean="0"/>
              <a:t>2,350</a:t>
            </a:r>
            <a:r>
              <a:rPr lang="ko-KR" altLang="en-US" sz="1800" dirty="0" smtClean="0"/>
              <a:t>자만 표현 </a:t>
            </a:r>
            <a:r>
              <a:rPr lang="en-US" altLang="ko-KR" sz="1800" dirty="0" smtClean="0"/>
              <a:t>(‘</a:t>
            </a:r>
            <a:r>
              <a:rPr lang="ko-KR" altLang="en-US" sz="1800" dirty="0" err="1" smtClean="0"/>
              <a:t>샾</a:t>
            </a:r>
            <a:r>
              <a:rPr lang="en-US" altLang="ko-KR" sz="1800" dirty="0" smtClean="0"/>
              <a:t>’, ‘</a:t>
            </a:r>
            <a:r>
              <a:rPr lang="ko-KR" altLang="en-US" sz="1800" dirty="0" err="1" smtClean="0"/>
              <a:t>똠</a:t>
            </a:r>
            <a:r>
              <a:rPr lang="en-US" altLang="ko-KR" sz="1800" dirty="0" smtClean="0"/>
              <a:t>’ </a:t>
            </a:r>
            <a:r>
              <a:rPr lang="ko-KR" altLang="en-US" sz="1800" dirty="0" smtClean="0"/>
              <a:t>등의 글자 표현 못함</a:t>
            </a:r>
            <a:r>
              <a:rPr lang="en-US" altLang="ko-KR" sz="1800" dirty="0" smtClean="0"/>
              <a:t>)</a:t>
            </a:r>
          </a:p>
          <a:p>
            <a:pPr lvl="1"/>
            <a:r>
              <a:rPr lang="ko-KR" altLang="en-US" sz="2400" dirty="0" smtClean="0"/>
              <a:t>참고</a:t>
            </a:r>
            <a:endParaRPr lang="en-US" altLang="ko-KR" sz="2400" dirty="0" smtClean="0"/>
          </a:p>
          <a:p>
            <a:pPr lvl="2"/>
            <a:r>
              <a:rPr lang="en-US" altLang="ko-KR" sz="1800" dirty="0"/>
              <a:t>KS X 1002 - KS X 1001</a:t>
            </a:r>
            <a:r>
              <a:rPr lang="ko-KR" altLang="en-US" sz="1800" dirty="0"/>
              <a:t>의 보조 문자 집합</a:t>
            </a:r>
          </a:p>
          <a:p>
            <a:pPr lvl="2"/>
            <a:r>
              <a:rPr lang="en-US" altLang="ko-KR" sz="1800" dirty="0" smtClean="0"/>
              <a:t>KS </a:t>
            </a:r>
            <a:r>
              <a:rPr lang="en-US" altLang="ko-KR" sz="1800" dirty="0"/>
              <a:t>X 1003 - KS X 1001</a:t>
            </a:r>
            <a:r>
              <a:rPr lang="ko-KR" altLang="en-US" sz="1800" dirty="0"/>
              <a:t>과 함께 사용되는 로마 문자 집합</a:t>
            </a:r>
          </a:p>
          <a:p>
            <a:pPr lvl="2"/>
            <a:endParaRPr lang="en-US" altLang="ko-KR" sz="18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5</a:t>
            </a:fld>
            <a:endParaRPr lang="en-US" altLang="ko-KR"/>
          </a:p>
        </p:txBody>
      </p:sp>
    </p:spTree>
    <p:extLst>
      <p:ext uri="{BB962C8B-B14F-4D97-AF65-F5344CB8AC3E}">
        <p14:creationId xmlns:p14="http://schemas.microsoft.com/office/powerpoint/2010/main" val="4020047804"/>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6</a:t>
            </a:fld>
            <a:endParaRPr lang="en-US" altLang="ko-K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782" y="620688"/>
            <a:ext cx="7305675" cy="397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23528" y="4969659"/>
            <a:ext cx="1571264" cy="1323439"/>
          </a:xfrm>
          <a:prstGeom prst="rect">
            <a:avLst/>
          </a:prstGeom>
          <a:noFill/>
        </p:spPr>
        <p:txBody>
          <a:bodyPr wrap="none" rtlCol="0">
            <a:spAutoFit/>
          </a:bodyPr>
          <a:lstStyle/>
          <a:p>
            <a:r>
              <a:rPr lang="en-US" altLang="ko-KR" sz="2000" dirty="0" smtClean="0"/>
              <a:t>0xB0A1: </a:t>
            </a:r>
            <a:r>
              <a:rPr lang="ko-KR" altLang="en-US" sz="2000" dirty="0" smtClean="0"/>
              <a:t>가</a:t>
            </a:r>
            <a:endParaRPr lang="en-US" altLang="ko-KR" sz="2000" dirty="0" smtClean="0"/>
          </a:p>
          <a:p>
            <a:r>
              <a:rPr lang="en-US" altLang="ko-KR" sz="2000" dirty="0"/>
              <a:t>0x</a:t>
            </a:r>
            <a:r>
              <a:rPr lang="en-US" altLang="ko-KR" sz="2000" dirty="0" smtClean="0"/>
              <a:t>B0A2: </a:t>
            </a:r>
            <a:r>
              <a:rPr lang="ko-KR" altLang="en-US" sz="2000" dirty="0" smtClean="0"/>
              <a:t>간</a:t>
            </a:r>
            <a:endParaRPr lang="en-US" altLang="ko-KR" sz="2000" dirty="0" smtClean="0"/>
          </a:p>
          <a:p>
            <a:r>
              <a:rPr lang="en-US" altLang="ko-KR" sz="2000" dirty="0" smtClean="0"/>
              <a:t>...</a:t>
            </a:r>
          </a:p>
          <a:p>
            <a:r>
              <a:rPr lang="en-US" altLang="ko-KR" sz="2000" dirty="0"/>
              <a:t>0x</a:t>
            </a:r>
            <a:r>
              <a:rPr lang="en-US" altLang="ko-KR" sz="2000" dirty="0" smtClean="0"/>
              <a:t>B0FE: </a:t>
            </a:r>
            <a:r>
              <a:rPr lang="ko-KR" altLang="en-US" sz="2000" dirty="0" err="1" smtClean="0"/>
              <a:t>괆</a:t>
            </a:r>
            <a:endParaRPr lang="ko-KR" altLang="en-US" sz="2000" dirty="0"/>
          </a:p>
        </p:txBody>
      </p:sp>
      <p:sp>
        <p:nvSpPr>
          <p:cNvPr id="9" name="TextBox 8"/>
          <p:cNvSpPr txBox="1"/>
          <p:nvPr/>
        </p:nvSpPr>
        <p:spPr>
          <a:xfrm>
            <a:off x="2009924" y="4969659"/>
            <a:ext cx="6335389" cy="1631216"/>
          </a:xfrm>
          <a:prstGeom prst="rect">
            <a:avLst/>
          </a:prstGeom>
          <a:noFill/>
        </p:spPr>
        <p:txBody>
          <a:bodyPr wrap="none" rtlCol="0">
            <a:spAutoFit/>
          </a:bodyPr>
          <a:lstStyle/>
          <a:p>
            <a:r>
              <a:rPr lang="ko-KR" altLang="en-US" sz="2000" dirty="0"/>
              <a:t>완성형 코드의 특수 문자 영역 </a:t>
            </a:r>
            <a:r>
              <a:rPr lang="en-US" altLang="ko-KR" sz="2000" dirty="0"/>
              <a:t>= "</a:t>
            </a:r>
            <a:r>
              <a:rPr lang="ko-KR" altLang="en-US" sz="2000" dirty="0"/>
              <a:t>　</a:t>
            </a:r>
            <a:r>
              <a:rPr lang="en-US" altLang="ko-KR" sz="2000" dirty="0"/>
              <a:t>":A1A1 ~ я:ACF1</a:t>
            </a:r>
            <a:br>
              <a:rPr lang="en-US" altLang="ko-KR" sz="2000" dirty="0"/>
            </a:br>
            <a:r>
              <a:rPr lang="ko-KR" altLang="en-US" sz="2000" dirty="0"/>
              <a:t>특수문자 속의 한글 자모 영역 </a:t>
            </a:r>
            <a:r>
              <a:rPr lang="en-US" altLang="ko-KR" sz="2000" dirty="0"/>
              <a:t>= </a:t>
            </a:r>
            <a:r>
              <a:rPr lang="ko-KR" altLang="en-US" sz="2000" dirty="0" err="1"/>
              <a:t>ㄱ</a:t>
            </a:r>
            <a:r>
              <a:rPr lang="en-US" altLang="ko-KR" sz="2000" dirty="0"/>
              <a:t>:A4A1 ~ </a:t>
            </a:r>
            <a:r>
              <a:rPr lang="ko-KR" altLang="en-US" sz="2000" dirty="0" err="1"/>
              <a:t>ㆎ</a:t>
            </a:r>
            <a:r>
              <a:rPr lang="en-US" altLang="ko-KR" sz="2000" dirty="0"/>
              <a:t>:A4FE</a:t>
            </a:r>
            <a:br>
              <a:rPr lang="en-US" altLang="ko-KR" sz="2000" dirty="0"/>
            </a:br>
            <a:r>
              <a:rPr lang="en-US" altLang="ko-KR" sz="2000" dirty="0"/>
              <a:t/>
            </a:r>
            <a:br>
              <a:rPr lang="en-US" altLang="ko-KR" sz="2000" dirty="0"/>
            </a:br>
            <a:r>
              <a:rPr lang="ko-KR" altLang="en-US" sz="2000" dirty="0"/>
              <a:t>완성형 코드의 한글 음절 영역 </a:t>
            </a:r>
            <a:r>
              <a:rPr lang="en-US" altLang="ko-KR" sz="2000" dirty="0"/>
              <a:t>= </a:t>
            </a:r>
            <a:r>
              <a:rPr lang="ko-KR" altLang="en-US" sz="2000" dirty="0"/>
              <a:t>가</a:t>
            </a:r>
            <a:r>
              <a:rPr lang="en-US" altLang="ko-KR" sz="2000" dirty="0"/>
              <a:t>:B0A1 ~ </a:t>
            </a:r>
            <a:r>
              <a:rPr lang="ko-KR" altLang="en-US" sz="2000" dirty="0" err="1"/>
              <a:t>힝</a:t>
            </a:r>
            <a:r>
              <a:rPr lang="en-US" altLang="ko-KR" sz="2000" dirty="0"/>
              <a:t>:C8FE</a:t>
            </a:r>
            <a:br>
              <a:rPr lang="en-US" altLang="ko-KR" sz="2000" dirty="0"/>
            </a:br>
            <a:r>
              <a:rPr lang="ko-KR" altLang="en-US" sz="2000" dirty="0"/>
              <a:t>완성형 코드의 한자 영역 </a:t>
            </a:r>
            <a:r>
              <a:rPr lang="en-US" altLang="ko-KR" sz="2000" dirty="0"/>
              <a:t>= </a:t>
            </a:r>
            <a:r>
              <a:rPr lang="ko-KR" altLang="en-US" sz="2000" dirty="0"/>
              <a:t>伽</a:t>
            </a:r>
            <a:r>
              <a:rPr lang="en-US" altLang="ko-KR" sz="2000" dirty="0"/>
              <a:t>:CAA1 ~ </a:t>
            </a:r>
            <a:r>
              <a:rPr lang="ko-KR" altLang="en-US" sz="2000" dirty="0" err="1"/>
              <a:t>詰</a:t>
            </a:r>
            <a:r>
              <a:rPr lang="en-US" altLang="ko-KR" sz="2000" dirty="0"/>
              <a:t>:</a:t>
            </a:r>
            <a:r>
              <a:rPr lang="en-US" altLang="ko-KR" sz="2000" dirty="0" smtClean="0"/>
              <a:t>FDFE</a:t>
            </a:r>
            <a:endParaRPr lang="ko-KR" altLang="en-US" sz="2000" dirty="0"/>
          </a:p>
        </p:txBody>
      </p:sp>
    </p:spTree>
    <p:extLst>
      <p:ext uri="{BB962C8B-B14F-4D97-AF65-F5344CB8AC3E}">
        <p14:creationId xmlns:p14="http://schemas.microsoft.com/office/powerpoint/2010/main" val="312105629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7</a:t>
            </a:fld>
            <a:endParaRPr lang="en-US" altLang="ko-K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836712"/>
            <a:ext cx="730567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031695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548680"/>
            <a:ext cx="8134672" cy="5547320"/>
          </a:xfrm>
        </p:spPr>
        <p:txBody>
          <a:bodyPr/>
          <a:lstStyle/>
          <a:p>
            <a:r>
              <a:rPr lang="ko-KR" altLang="en-US" dirty="0" smtClean="0"/>
              <a:t>완성형 한글 코드 범위 검사</a:t>
            </a:r>
            <a:endParaRPr lang="en-US" altLang="ko-KR" dirty="0" smtClean="0"/>
          </a:p>
          <a:p>
            <a:pPr marL="457200" lvl="1" indent="0">
              <a:buNone/>
            </a:pPr>
            <a:r>
              <a:rPr lang="en-US" altLang="ko-KR" sz="2000" dirty="0" err="1"/>
              <a:t>bool</a:t>
            </a:r>
            <a:r>
              <a:rPr lang="en-US" altLang="ko-KR" sz="2000" dirty="0"/>
              <a:t> </a:t>
            </a:r>
            <a:r>
              <a:rPr lang="en-US" altLang="ko-KR" sz="2000" dirty="0" err="1"/>
              <a:t>IsHangul</a:t>
            </a:r>
            <a:r>
              <a:rPr lang="en-US" altLang="ko-KR" sz="2000" dirty="0"/>
              <a:t>(char ch1, char ch2) // </a:t>
            </a:r>
            <a:r>
              <a:rPr lang="ko-KR" altLang="en-US" sz="2000" dirty="0"/>
              <a:t>두 바이트 코드가 한글인지 검사</a:t>
            </a:r>
          </a:p>
          <a:p>
            <a:pPr marL="457200" lvl="1" indent="0">
              <a:buNone/>
            </a:pPr>
            <a:r>
              <a:rPr lang="en-US" altLang="ko-KR" sz="2000" dirty="0"/>
              <a:t>{</a:t>
            </a:r>
          </a:p>
          <a:p>
            <a:pPr marL="457200" lvl="1" indent="0">
              <a:buNone/>
            </a:pPr>
            <a:r>
              <a:rPr lang="en-US" altLang="ko-KR" sz="2000" dirty="0"/>
              <a:t>	if (ch1 &gt; 0) return false; // </a:t>
            </a:r>
            <a:r>
              <a:rPr lang="ko-KR" altLang="en-US" sz="2000" dirty="0"/>
              <a:t>한글은 최상위비트가 </a:t>
            </a:r>
            <a:r>
              <a:rPr lang="en-US" altLang="ko-KR" sz="2000" dirty="0"/>
              <a:t>1</a:t>
            </a:r>
            <a:r>
              <a:rPr lang="ko-KR" altLang="en-US" sz="2000" dirty="0"/>
              <a:t>이므로 음수가 됨</a:t>
            </a:r>
          </a:p>
          <a:p>
            <a:pPr marL="457200" lvl="1" indent="0">
              <a:buNone/>
            </a:pPr>
            <a:r>
              <a:rPr lang="ko-KR" altLang="en-US" sz="2000" dirty="0"/>
              <a:t>	</a:t>
            </a:r>
            <a:r>
              <a:rPr lang="en-US" altLang="ko-KR" sz="2000" dirty="0"/>
              <a:t>if (((unsigned char)ch1 &gt;= 0xA4 ) &amp;&amp; </a:t>
            </a:r>
            <a:r>
              <a:rPr lang="en-US" altLang="ko-KR" sz="2000" dirty="0" smtClean="0"/>
              <a:t> // 0xB0: </a:t>
            </a:r>
            <a:r>
              <a:rPr lang="ko-KR" altLang="en-US" sz="2000" dirty="0" smtClean="0"/>
              <a:t>한글 음절</a:t>
            </a:r>
            <a:endParaRPr lang="en-US" altLang="ko-KR" sz="2000" dirty="0"/>
          </a:p>
          <a:p>
            <a:pPr marL="457200" lvl="1" indent="0">
              <a:buNone/>
            </a:pPr>
            <a:r>
              <a:rPr lang="en-US" altLang="ko-KR" sz="2000" dirty="0"/>
              <a:t>        ((unsigned char)ch1 &lt;= 0xC8 ) &amp;&amp; </a:t>
            </a:r>
          </a:p>
          <a:p>
            <a:pPr marL="457200" lvl="1" indent="0">
              <a:buNone/>
            </a:pPr>
            <a:r>
              <a:rPr lang="en-US" altLang="ko-KR" sz="2000" dirty="0"/>
              <a:t>        ((unsigned char)ch2 &gt;= 0xA1) &amp;&amp; </a:t>
            </a:r>
          </a:p>
          <a:p>
            <a:pPr marL="457200" lvl="1" indent="0">
              <a:buNone/>
            </a:pPr>
            <a:r>
              <a:rPr lang="en-US" altLang="ko-KR" sz="2000" dirty="0"/>
              <a:t>        ((unsigned char)ch2 &lt;= 0xFE ))</a:t>
            </a:r>
          </a:p>
          <a:p>
            <a:pPr marL="457200" lvl="1" indent="0">
              <a:buNone/>
            </a:pPr>
            <a:r>
              <a:rPr lang="en-US" altLang="ko-KR" sz="2000" dirty="0"/>
              <a:t>		return true;</a:t>
            </a:r>
          </a:p>
          <a:p>
            <a:pPr marL="457200" lvl="1" indent="0">
              <a:buNone/>
            </a:pPr>
            <a:r>
              <a:rPr lang="en-US" altLang="ko-KR" sz="2000" dirty="0"/>
              <a:t>	else return false;</a:t>
            </a:r>
          </a:p>
          <a:p>
            <a:pPr marL="457200" lvl="1" indent="0">
              <a:buNone/>
            </a:pPr>
            <a:r>
              <a:rPr lang="en-US" altLang="ko-KR" sz="2000" dirty="0"/>
              <a:t>}</a:t>
            </a:r>
            <a:endParaRPr lang="ko-KR" altLang="en-US" sz="20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8</a:t>
            </a:fld>
            <a:endParaRPr lang="en-US" altLang="ko-KR"/>
          </a:p>
        </p:txBody>
      </p:sp>
    </p:spTree>
    <p:extLst>
      <p:ext uri="{BB962C8B-B14F-4D97-AF65-F5344CB8AC3E}">
        <p14:creationId xmlns:p14="http://schemas.microsoft.com/office/powerpoint/2010/main" val="4194981313"/>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476672"/>
            <a:ext cx="7772400" cy="5619328"/>
          </a:xfrm>
        </p:spPr>
        <p:txBody>
          <a:bodyPr/>
          <a:lstStyle/>
          <a:p>
            <a:r>
              <a:rPr lang="en-US" altLang="ko-KR" sz="2400" dirty="0" smtClean="0"/>
              <a:t>EUCKR</a:t>
            </a:r>
            <a:endParaRPr lang="en-US" altLang="ko-KR" sz="1800" dirty="0"/>
          </a:p>
          <a:p>
            <a:pPr lvl="1"/>
            <a:r>
              <a:rPr lang="ko-KR" altLang="en-US" sz="2000" dirty="0" smtClean="0"/>
              <a:t>표준 </a:t>
            </a:r>
            <a:r>
              <a:rPr lang="ko-KR" altLang="en-US" sz="2000" dirty="0"/>
              <a:t>완성형 </a:t>
            </a:r>
            <a:r>
              <a:rPr lang="ko-KR" altLang="en-US" sz="2000" dirty="0" err="1"/>
              <a:t>인코딩</a:t>
            </a:r>
            <a:r>
              <a:rPr lang="ko-KR" altLang="en-US" sz="2000" dirty="0"/>
              <a:t> 방식의 다른 이름은 </a:t>
            </a:r>
            <a:r>
              <a:rPr lang="en-US" altLang="ko-KR" sz="2000" dirty="0" smtClean="0"/>
              <a:t>EUCKR</a:t>
            </a:r>
          </a:p>
          <a:p>
            <a:pPr lvl="1"/>
            <a:r>
              <a:rPr lang="en-US" altLang="ko-KR" sz="2000" dirty="0" smtClean="0"/>
              <a:t>KS </a:t>
            </a:r>
            <a:r>
              <a:rPr lang="en-US" altLang="ko-KR" sz="2000" dirty="0"/>
              <a:t>X 1003</a:t>
            </a:r>
            <a:r>
              <a:rPr lang="ko-KR" altLang="en-US" sz="2000" dirty="0"/>
              <a:t>과 </a:t>
            </a:r>
            <a:r>
              <a:rPr lang="en-US" altLang="ko-KR" sz="2000" dirty="0"/>
              <a:t>KS X 1001</a:t>
            </a:r>
            <a:r>
              <a:rPr lang="ko-KR" altLang="en-US" sz="2000" dirty="0"/>
              <a:t>으로 </a:t>
            </a:r>
            <a:r>
              <a:rPr lang="ko-KR" altLang="en-US" sz="2000" dirty="0" smtClean="0"/>
              <a:t>구성</a:t>
            </a:r>
            <a:endParaRPr lang="en-US" altLang="ko-KR" sz="2000" dirty="0" smtClean="0"/>
          </a:p>
          <a:p>
            <a:pPr lvl="2"/>
            <a:r>
              <a:rPr lang="en-US" altLang="ko-KR" sz="2000" dirty="0" smtClean="0"/>
              <a:t>KS </a:t>
            </a:r>
            <a:r>
              <a:rPr lang="en-US" altLang="ko-KR" sz="2000" dirty="0"/>
              <a:t>X 1003</a:t>
            </a:r>
            <a:r>
              <a:rPr lang="ko-KR" altLang="en-US" sz="2000" dirty="0"/>
              <a:t>은 </a:t>
            </a:r>
            <a:r>
              <a:rPr lang="ko-KR" altLang="en-US" sz="2000" dirty="0" err="1"/>
              <a:t>역슬래쉬</a:t>
            </a:r>
            <a:r>
              <a:rPr lang="ko-KR" altLang="en-US" sz="2000" dirty="0"/>
              <a:t> 대신에 원화표시를 사용한다면 점을 제외하면 아스키 코드의 문자들과 </a:t>
            </a:r>
            <a:r>
              <a:rPr lang="ko-KR" altLang="en-US" sz="2000" dirty="0" smtClean="0"/>
              <a:t>같</a:t>
            </a:r>
            <a:r>
              <a:rPr lang="ko-KR" altLang="en-US" sz="2000" dirty="0"/>
              <a:t>음</a:t>
            </a:r>
            <a:endParaRPr lang="en-US" altLang="ko-KR" sz="2000" dirty="0" smtClean="0"/>
          </a:p>
          <a:p>
            <a:pPr lvl="2"/>
            <a:r>
              <a:rPr lang="en-US" altLang="ko-KR" sz="2000" dirty="0" smtClean="0"/>
              <a:t>KS </a:t>
            </a:r>
            <a:r>
              <a:rPr lang="en-US" altLang="ko-KR" sz="2000" dirty="0"/>
              <a:t>X 1001</a:t>
            </a:r>
            <a:r>
              <a:rPr lang="ko-KR" altLang="en-US" sz="2000" dirty="0"/>
              <a:t>은 한글과 그림 문자</a:t>
            </a:r>
            <a:r>
              <a:rPr lang="en-US" altLang="ko-KR" sz="2000" dirty="0"/>
              <a:t>, </a:t>
            </a:r>
            <a:r>
              <a:rPr lang="ko-KR" altLang="en-US" sz="2000" dirty="0"/>
              <a:t>한자 등을 </a:t>
            </a:r>
            <a:r>
              <a:rPr lang="ko-KR" altLang="en-US" sz="2000" dirty="0" smtClean="0"/>
              <a:t>포함</a:t>
            </a:r>
            <a:endParaRPr lang="en-US" altLang="ko-KR" sz="2000" dirty="0" smtClean="0"/>
          </a:p>
          <a:p>
            <a:pPr lvl="1"/>
            <a:r>
              <a:rPr lang="en-US" altLang="ko-KR" sz="2000" dirty="0" smtClean="0"/>
              <a:t>EUCKR</a:t>
            </a:r>
            <a:r>
              <a:rPr lang="ko-KR" altLang="en-US" sz="2000" dirty="0"/>
              <a:t>은 </a:t>
            </a:r>
            <a:r>
              <a:rPr lang="en-US" altLang="ko-KR" sz="2000" dirty="0"/>
              <a:t>127</a:t>
            </a:r>
            <a:r>
              <a:rPr lang="ko-KR" altLang="en-US" sz="2000" dirty="0"/>
              <a:t>이하에는 </a:t>
            </a:r>
            <a:r>
              <a:rPr lang="en-US" altLang="ko-KR" sz="2000" dirty="0"/>
              <a:t>KS X 1003</a:t>
            </a:r>
            <a:r>
              <a:rPr lang="ko-KR" altLang="en-US" sz="2000" dirty="0"/>
              <a:t>을</a:t>
            </a:r>
            <a:r>
              <a:rPr lang="en-US" altLang="ko-KR" sz="2000" dirty="0"/>
              <a:t>, 128</a:t>
            </a:r>
            <a:r>
              <a:rPr lang="ko-KR" altLang="en-US" sz="2000" dirty="0"/>
              <a:t>이상에는 </a:t>
            </a:r>
            <a:r>
              <a:rPr lang="en-US" altLang="ko-KR" sz="2000" dirty="0"/>
              <a:t>KS X 1001</a:t>
            </a:r>
            <a:r>
              <a:rPr lang="ko-KR" altLang="en-US" sz="2000" dirty="0"/>
              <a:t>을 </a:t>
            </a:r>
            <a:r>
              <a:rPr lang="ko-KR" altLang="en-US" sz="2000" dirty="0" smtClean="0"/>
              <a:t>할당</a:t>
            </a:r>
            <a:endParaRPr lang="en-US" altLang="ko-KR" sz="2000" dirty="0" smtClean="0"/>
          </a:p>
          <a:p>
            <a:pPr lvl="1"/>
            <a:r>
              <a:rPr lang="ko-KR" altLang="en-US" sz="2000" dirty="0" smtClean="0"/>
              <a:t>일반적으로 문자 배열 사용 </a:t>
            </a:r>
            <a:r>
              <a:rPr lang="en-US" altLang="ko-KR" sz="2000" dirty="0" smtClean="0"/>
              <a:t>(char </a:t>
            </a:r>
            <a:r>
              <a:rPr lang="en-US" altLang="ko-KR" sz="2000" dirty="0" err="1" smtClean="0"/>
              <a:t>str</a:t>
            </a:r>
            <a:r>
              <a:rPr lang="en-US" altLang="ko-KR" sz="2000" dirty="0" smtClean="0"/>
              <a:t>[MAX_LEN])</a:t>
            </a:r>
          </a:p>
          <a:p>
            <a:r>
              <a:rPr lang="en-US" altLang="ko-KR" sz="2400" dirty="0" smtClean="0"/>
              <a:t>UTF-8(8</a:t>
            </a:r>
            <a:r>
              <a:rPr lang="ko-KR" altLang="ko-KR" sz="2400" dirty="0" smtClean="0"/>
              <a:t>-bit </a:t>
            </a:r>
            <a:r>
              <a:rPr lang="ko-KR" altLang="ko-KR" sz="2400" dirty="0"/>
              <a:t>Unicode Transformation </a:t>
            </a:r>
            <a:r>
              <a:rPr lang="ko-KR" altLang="ko-KR" sz="2400" dirty="0" smtClean="0"/>
              <a:t>Format</a:t>
            </a:r>
            <a:r>
              <a:rPr lang="en-US" altLang="ko-KR" sz="2400" dirty="0" smtClean="0"/>
              <a:t>)</a:t>
            </a:r>
          </a:p>
          <a:p>
            <a:pPr lvl="1"/>
            <a:r>
              <a:rPr lang="ko-KR" altLang="en-US" sz="2000" dirty="0"/>
              <a:t>유니코드를 위한 가변 길이 문자 </a:t>
            </a:r>
            <a:r>
              <a:rPr lang="ko-KR" altLang="en-US" sz="2000" dirty="0" err="1"/>
              <a:t>인코딩</a:t>
            </a:r>
            <a:r>
              <a:rPr lang="ko-KR" altLang="en-US" sz="2000" dirty="0"/>
              <a:t> 방식 중 </a:t>
            </a:r>
            <a:r>
              <a:rPr lang="ko-KR" altLang="en-US" sz="2000" dirty="0" smtClean="0"/>
              <a:t>하나</a:t>
            </a:r>
            <a:endParaRPr lang="en-US" altLang="ko-KR" sz="2000" dirty="0" smtClean="0"/>
          </a:p>
          <a:p>
            <a:pPr lvl="1"/>
            <a:r>
              <a:rPr lang="ko-KR" altLang="en-US" sz="2000" dirty="0" smtClean="0"/>
              <a:t>아스키 코드는 </a:t>
            </a:r>
            <a:r>
              <a:rPr lang="en-US" altLang="ko-KR" sz="2000" dirty="0" smtClean="0"/>
              <a:t>1</a:t>
            </a:r>
            <a:r>
              <a:rPr lang="ko-KR" altLang="en-US" sz="2000" dirty="0" smtClean="0"/>
              <a:t>바이트로 대부분의 언어는 </a:t>
            </a:r>
            <a:r>
              <a:rPr lang="en-US" altLang="ko-KR" sz="2000" dirty="0" smtClean="0"/>
              <a:t>2</a:t>
            </a:r>
            <a:r>
              <a:rPr lang="ko-KR" altLang="en-US" sz="2000" dirty="0" smtClean="0"/>
              <a:t>바이트로 표현 </a:t>
            </a:r>
            <a:r>
              <a:rPr lang="en-US" altLang="ko-KR" sz="2000" dirty="0" smtClean="0"/>
              <a:t>(</a:t>
            </a:r>
            <a:r>
              <a:rPr lang="ko-KR" altLang="en-US" sz="2000" dirty="0" smtClean="0"/>
              <a:t>최대 </a:t>
            </a:r>
            <a:r>
              <a:rPr lang="en-US" altLang="ko-KR" sz="2000" dirty="0" smtClean="0"/>
              <a:t>4</a:t>
            </a:r>
            <a:r>
              <a:rPr lang="ko-KR" altLang="en-US" sz="2000" dirty="0" smtClean="0"/>
              <a:t>바이트</a:t>
            </a:r>
            <a:r>
              <a:rPr lang="en-US" altLang="ko-KR" sz="2000" dirty="0" smtClean="0"/>
              <a:t>)</a:t>
            </a:r>
          </a:p>
          <a:p>
            <a:r>
              <a:rPr lang="en-US" altLang="ko-KR" sz="2400" dirty="0" smtClean="0"/>
              <a:t>UTF-16</a:t>
            </a:r>
          </a:p>
          <a:p>
            <a:pPr lvl="1"/>
            <a:r>
              <a:rPr lang="ko-KR" altLang="en-US" sz="2000" dirty="0" smtClean="0"/>
              <a:t>기본</a:t>
            </a:r>
            <a:r>
              <a:rPr lang="en-US" altLang="ko-KR" sz="2000" dirty="0" smtClean="0"/>
              <a:t> </a:t>
            </a:r>
            <a:r>
              <a:rPr lang="ko-KR" altLang="en-US" sz="2000" dirty="0" smtClean="0"/>
              <a:t>문자는 </a:t>
            </a:r>
            <a:r>
              <a:rPr lang="en-US" altLang="ko-KR" sz="2000" dirty="0" smtClean="0"/>
              <a:t>16</a:t>
            </a:r>
            <a:r>
              <a:rPr lang="ko-KR" altLang="en-US" sz="2000" dirty="0" smtClean="0"/>
              <a:t>비트로</a:t>
            </a:r>
            <a:r>
              <a:rPr lang="en-US" altLang="ko-KR" sz="2000" dirty="0" smtClean="0"/>
              <a:t>, </a:t>
            </a:r>
            <a:r>
              <a:rPr lang="ko-KR" altLang="en-US" sz="2000" dirty="0" smtClean="0"/>
              <a:t>그 이상은 </a:t>
            </a:r>
            <a:r>
              <a:rPr lang="en-US" altLang="ko-KR" sz="2000" dirty="0" smtClean="0"/>
              <a:t>32</a:t>
            </a:r>
            <a:r>
              <a:rPr lang="ko-KR" altLang="en-US" sz="2000" dirty="0" smtClean="0"/>
              <a:t>비트로 표현</a:t>
            </a:r>
            <a:endParaRPr lang="en-US" altLang="ko-KR" sz="2000" dirty="0" smtClean="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9</a:t>
            </a:fld>
            <a:endParaRPr lang="en-US" altLang="ko-KR" dirty="0"/>
          </a:p>
        </p:txBody>
      </p:sp>
    </p:spTree>
    <p:extLst>
      <p:ext uri="{BB962C8B-B14F-4D97-AF65-F5344CB8AC3E}">
        <p14:creationId xmlns:p14="http://schemas.microsoft.com/office/powerpoint/2010/main" val="1851038849"/>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Unicode </a:t>
            </a:r>
            <a:r>
              <a:rPr lang="ko-KR" altLang="en-US" dirty="0" smtClean="0"/>
              <a:t>한글</a:t>
            </a:r>
            <a:endParaRPr lang="ko-KR" altLang="en-US" dirty="0"/>
          </a:p>
        </p:txBody>
      </p:sp>
      <p:sp>
        <p:nvSpPr>
          <p:cNvPr id="3" name="내용 개체 틀 2"/>
          <p:cNvSpPr>
            <a:spLocks noGrp="1"/>
          </p:cNvSpPr>
          <p:nvPr>
            <p:ph idx="1"/>
          </p:nvPr>
        </p:nvSpPr>
        <p:spPr/>
        <p:txBody>
          <a:bodyPr/>
          <a:lstStyle/>
          <a:p>
            <a:r>
              <a:rPr lang="ko-KR" altLang="en-US" sz="2800" dirty="0" smtClean="0"/>
              <a:t>한글의 구조</a:t>
            </a:r>
            <a:endParaRPr lang="en-US" altLang="ko-KR" sz="2800" dirty="0" smtClean="0"/>
          </a:p>
          <a:p>
            <a:pPr lvl="1"/>
            <a:r>
              <a:rPr lang="ko-KR" altLang="en-US" sz="2400" dirty="0" smtClean="0"/>
              <a:t>자모</a:t>
            </a:r>
            <a:endParaRPr lang="en-US" altLang="ko-KR" sz="2400" dirty="0" smtClean="0"/>
          </a:p>
          <a:p>
            <a:pPr lvl="2"/>
            <a:r>
              <a:rPr lang="ko-KR" altLang="en-US" sz="2000" dirty="0" smtClean="0"/>
              <a:t>초성</a:t>
            </a:r>
            <a:r>
              <a:rPr lang="en-US" altLang="ko-KR" sz="2000" dirty="0" smtClean="0"/>
              <a:t>: </a:t>
            </a:r>
            <a:r>
              <a:rPr lang="en-US" altLang="ko-KR" sz="2000" dirty="0" smtClean="0"/>
              <a:t>19</a:t>
            </a:r>
            <a:endParaRPr lang="en-US" altLang="ko-KR" sz="2000" dirty="0" smtClean="0"/>
          </a:p>
          <a:p>
            <a:pPr lvl="2"/>
            <a:r>
              <a:rPr lang="ko-KR" altLang="en-US" sz="2000" dirty="0" smtClean="0"/>
              <a:t>중성</a:t>
            </a:r>
            <a:r>
              <a:rPr lang="en-US" altLang="ko-KR" sz="2000" dirty="0" smtClean="0"/>
              <a:t>: </a:t>
            </a:r>
            <a:r>
              <a:rPr lang="en-US" altLang="ko-KR" sz="2000" dirty="0" smtClean="0"/>
              <a:t>21</a:t>
            </a:r>
            <a:endParaRPr lang="en-US" altLang="ko-KR" sz="2000" dirty="0" smtClean="0"/>
          </a:p>
          <a:p>
            <a:pPr lvl="2"/>
            <a:r>
              <a:rPr lang="ko-KR" altLang="en-US" sz="2000" dirty="0" smtClean="0"/>
              <a:t>종성</a:t>
            </a:r>
            <a:r>
              <a:rPr lang="en-US" altLang="ko-KR" sz="2000" dirty="0" smtClean="0"/>
              <a:t>: 27</a:t>
            </a:r>
          </a:p>
          <a:p>
            <a:pPr lvl="1"/>
            <a:r>
              <a:rPr lang="ko-KR" altLang="en-US" sz="2400" dirty="0" smtClean="0"/>
              <a:t>총 한글 수 </a:t>
            </a:r>
            <a:r>
              <a:rPr lang="en-US" altLang="ko-KR" sz="2400" dirty="0" smtClean="0"/>
              <a:t>: 11,172</a:t>
            </a:r>
            <a:r>
              <a:rPr lang="ko-KR" altLang="en-US" sz="2400" dirty="0" smtClean="0"/>
              <a:t>자</a:t>
            </a:r>
            <a:r>
              <a:rPr lang="en-US" altLang="ko-KR" sz="2400" dirty="0" smtClean="0"/>
              <a:t>(19 </a:t>
            </a:r>
            <a:r>
              <a:rPr lang="en-US" altLang="ko-KR" sz="2400" dirty="0" smtClean="0"/>
              <a:t>* </a:t>
            </a:r>
            <a:r>
              <a:rPr lang="en-US" altLang="ko-KR" sz="2400" dirty="0" smtClean="0"/>
              <a:t>21 </a:t>
            </a:r>
            <a:r>
              <a:rPr lang="en-US" altLang="ko-KR" sz="2400" dirty="0" smtClean="0"/>
              <a:t>* </a:t>
            </a:r>
            <a:r>
              <a:rPr lang="en-US" altLang="ko-KR" sz="2400" dirty="0" smtClean="0">
                <a:solidFill>
                  <a:srgbClr val="FF0000"/>
                </a:solidFill>
              </a:rPr>
              <a:t>28</a:t>
            </a:r>
            <a:r>
              <a:rPr lang="en-US" altLang="ko-KR" sz="2400" dirty="0" smtClean="0"/>
              <a:t>)</a:t>
            </a:r>
          </a:p>
          <a:p>
            <a:r>
              <a:rPr lang="en-US" altLang="ko-KR" sz="2800" dirty="0" smtClean="0"/>
              <a:t>Unicode</a:t>
            </a:r>
            <a:r>
              <a:rPr lang="ko-KR" altLang="en-US" sz="2800" dirty="0" smtClean="0"/>
              <a:t>에서의 한글 범위</a:t>
            </a:r>
            <a:endParaRPr lang="en-US" altLang="ko-KR" sz="2800" dirty="0" smtClean="0"/>
          </a:p>
          <a:p>
            <a:pPr lvl="1"/>
            <a:r>
              <a:rPr lang="en-US" altLang="ko-KR" sz="2400" dirty="0"/>
              <a:t>$AC00 ~ $D7AF </a:t>
            </a:r>
            <a:r>
              <a:rPr lang="ko-KR" altLang="en-US" sz="2400" dirty="0"/>
              <a:t>영역을 </a:t>
            </a:r>
            <a:r>
              <a:rPr lang="ko-KR" altLang="en-US" sz="2400" dirty="0" smtClean="0"/>
              <a:t>사용</a:t>
            </a:r>
            <a:endParaRPr lang="en-US" altLang="ko-KR" sz="2400" dirty="0" smtClean="0"/>
          </a:p>
          <a:p>
            <a:pPr lvl="1"/>
            <a:r>
              <a:rPr lang="ko-KR" altLang="en-US" sz="2400" dirty="0" smtClean="0"/>
              <a:t>일반적으로 </a:t>
            </a:r>
            <a:r>
              <a:rPr lang="en-US" altLang="ko-KR" sz="2400" dirty="0" smtClean="0"/>
              <a:t>unsigned short </a:t>
            </a:r>
            <a:r>
              <a:rPr lang="ko-KR" altLang="en-US" sz="2400" dirty="0" err="1" smtClean="0"/>
              <a:t>자료형</a:t>
            </a:r>
            <a:r>
              <a:rPr lang="ko-KR" altLang="en-US" sz="2400" dirty="0" smtClean="0"/>
              <a:t> 사용</a:t>
            </a:r>
            <a:endParaRPr lang="ko-KR" altLang="en-US" sz="24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10</a:t>
            </a:fld>
            <a:endParaRPr lang="en-US" altLang="ko-KR"/>
          </a:p>
        </p:txBody>
      </p:sp>
    </p:spTree>
    <p:extLst>
      <p:ext uri="{BB962C8B-B14F-4D97-AF65-F5344CB8AC3E}">
        <p14:creationId xmlns:p14="http://schemas.microsoft.com/office/powerpoint/2010/main" val="2389107823"/>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404664"/>
            <a:ext cx="7772400" cy="1296144"/>
          </a:xfrm>
        </p:spPr>
        <p:txBody>
          <a:bodyPr/>
          <a:lstStyle/>
          <a:p>
            <a:r>
              <a:rPr lang="en-US" altLang="ko-KR" sz="1800" dirty="0"/>
              <a:t>The </a:t>
            </a:r>
            <a:r>
              <a:rPr lang="en-US" altLang="ko-KR" sz="1800" dirty="0" err="1"/>
              <a:t>precomposed</a:t>
            </a:r>
            <a:r>
              <a:rPr lang="en-US" altLang="ko-KR" sz="1800" dirty="0"/>
              <a:t> </a:t>
            </a:r>
            <a:r>
              <a:rPr lang="en-US" altLang="ko-KR" sz="1800" dirty="0" err="1"/>
              <a:t>hangul</a:t>
            </a:r>
            <a:r>
              <a:rPr lang="en-US" altLang="ko-KR" sz="1800" dirty="0"/>
              <a:t> syllables in the Hangul Syllables block in Unicode are algorithmically defined, using the following formula: </a:t>
            </a:r>
          </a:p>
          <a:p>
            <a:pPr lvl="1"/>
            <a:r>
              <a:rPr lang="en-US" altLang="ko-KR" sz="1600" dirty="0"/>
              <a:t>[(initial) × 588 + (medial) × 28 + (final)] + </a:t>
            </a:r>
            <a:r>
              <a:rPr lang="en-US" altLang="ko-KR" sz="1600" dirty="0" smtClean="0"/>
              <a:t>44032 </a:t>
            </a:r>
          </a:p>
          <a:p>
            <a:pPr marL="457200" lvl="1" indent="0">
              <a:buNone/>
            </a:pPr>
            <a:r>
              <a:rPr lang="en-US" altLang="ko-KR" sz="1600" dirty="0" smtClean="0"/>
              <a:t>                  (21*28)                                   0XAC00</a:t>
            </a:r>
            <a:endParaRPr lang="ko-KR" altLang="en-US" sz="16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11</a:t>
            </a:fld>
            <a:endParaRPr lang="en-US" altLang="ko-KR"/>
          </a:p>
        </p:txBody>
      </p:sp>
      <p:pic>
        <p:nvPicPr>
          <p:cNvPr id="14" name="그림 13"/>
          <p:cNvPicPr>
            <a:picLocks noChangeAspect="1"/>
          </p:cNvPicPr>
          <p:nvPr/>
        </p:nvPicPr>
        <p:blipFill>
          <a:blip r:embed="rId2"/>
          <a:stretch>
            <a:fillRect/>
          </a:stretch>
        </p:blipFill>
        <p:spPr>
          <a:xfrm>
            <a:off x="1115616" y="1983959"/>
            <a:ext cx="3168352" cy="4856598"/>
          </a:xfrm>
          <a:prstGeom prst="rect">
            <a:avLst/>
          </a:prstGeom>
        </p:spPr>
      </p:pic>
      <p:pic>
        <p:nvPicPr>
          <p:cNvPr id="15" name="그림 14"/>
          <p:cNvPicPr>
            <a:picLocks noChangeAspect="1"/>
          </p:cNvPicPr>
          <p:nvPr/>
        </p:nvPicPr>
        <p:blipFill>
          <a:blip r:embed="rId3"/>
          <a:stretch>
            <a:fillRect/>
          </a:stretch>
        </p:blipFill>
        <p:spPr>
          <a:xfrm>
            <a:off x="4716016" y="2000138"/>
            <a:ext cx="3373063" cy="3445086"/>
          </a:xfrm>
          <a:prstGeom prst="rect">
            <a:avLst/>
          </a:prstGeom>
        </p:spPr>
      </p:pic>
    </p:spTree>
    <p:extLst>
      <p:ext uri="{BB962C8B-B14F-4D97-AF65-F5344CB8AC3E}">
        <p14:creationId xmlns:p14="http://schemas.microsoft.com/office/powerpoint/2010/main" val="21756942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3568" y="116632"/>
            <a:ext cx="7772400" cy="576064"/>
          </a:xfrm>
        </p:spPr>
        <p:txBody>
          <a:bodyPr/>
          <a:lstStyle/>
          <a:p>
            <a:r>
              <a:rPr lang="en-US" altLang="ko-KR" dirty="0" smtClean="0"/>
              <a:t>Unicode </a:t>
            </a:r>
            <a:r>
              <a:rPr lang="ko-KR" altLang="en-US" dirty="0" smtClean="0"/>
              <a:t>한글에서 자모의 분리</a:t>
            </a:r>
            <a:endParaRPr lang="ko-KR" altLang="en-US"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12</a:t>
            </a:fld>
            <a:endParaRPr lang="en-US" altLang="ko-KR"/>
          </a:p>
        </p:txBody>
      </p:sp>
      <p:sp>
        <p:nvSpPr>
          <p:cNvPr id="5" name="내용 개체 틀 2"/>
          <p:cNvSpPr txBox="1">
            <a:spLocks/>
          </p:cNvSpPr>
          <p:nvPr/>
        </p:nvSpPr>
        <p:spPr bwMode="auto">
          <a:xfrm>
            <a:off x="251520" y="908720"/>
            <a:ext cx="8640960"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a:lstStyle>
          <a:p>
            <a:pPr marL="0" indent="0">
              <a:buNone/>
            </a:pPr>
            <a:r>
              <a:rPr lang="en-US" altLang="ko-KR" sz="2000" dirty="0"/>
              <a:t>#define </a:t>
            </a:r>
            <a:r>
              <a:rPr lang="en-US" altLang="ko-KR" sz="2000" dirty="0" err="1"/>
              <a:t>HanBase</a:t>
            </a:r>
            <a:r>
              <a:rPr lang="en-US" altLang="ko-KR" sz="2000" dirty="0"/>
              <a:t> </a:t>
            </a:r>
            <a:r>
              <a:rPr lang="en-US" altLang="ko-KR" sz="2000" dirty="0" smtClean="0"/>
              <a:t>0xAC00    </a:t>
            </a:r>
            <a:r>
              <a:rPr lang="en-US" altLang="ko-KR" sz="2000" dirty="0"/>
              <a:t>// </a:t>
            </a:r>
            <a:r>
              <a:rPr lang="ko-KR" altLang="en-US" sz="2000" dirty="0"/>
              <a:t>유니코드 </a:t>
            </a:r>
            <a:r>
              <a:rPr lang="en-US" altLang="ko-KR" sz="2000" dirty="0"/>
              <a:t>3.0 </a:t>
            </a:r>
            <a:r>
              <a:rPr lang="ko-KR" altLang="en-US" sz="2000" dirty="0"/>
              <a:t>에서의 시작 한글영역</a:t>
            </a:r>
          </a:p>
          <a:p>
            <a:pPr marL="0" indent="0">
              <a:buNone/>
            </a:pPr>
            <a:r>
              <a:rPr lang="en-US" altLang="ko-KR" sz="2000" dirty="0"/>
              <a:t>#define </a:t>
            </a:r>
            <a:r>
              <a:rPr lang="en-US" altLang="ko-KR" sz="2000" dirty="0" err="1"/>
              <a:t>HanLast</a:t>
            </a:r>
            <a:r>
              <a:rPr lang="en-US" altLang="ko-KR" sz="2000" dirty="0"/>
              <a:t> </a:t>
            </a:r>
            <a:r>
              <a:rPr lang="en-US" altLang="ko-KR" sz="2000" dirty="0" smtClean="0"/>
              <a:t> 0xD7AF     </a:t>
            </a:r>
            <a:r>
              <a:rPr lang="en-US" altLang="ko-KR" sz="2000" dirty="0"/>
              <a:t>// </a:t>
            </a:r>
            <a:r>
              <a:rPr lang="ko-KR" altLang="en-US" sz="2000" dirty="0"/>
              <a:t>유니코드 </a:t>
            </a:r>
            <a:r>
              <a:rPr lang="en-US" altLang="ko-KR" sz="2000" dirty="0"/>
              <a:t>3.0 </a:t>
            </a:r>
            <a:r>
              <a:rPr lang="ko-KR" altLang="en-US" sz="2000" dirty="0"/>
              <a:t>에서의 마지막 한글영역</a:t>
            </a:r>
          </a:p>
          <a:p>
            <a:pPr marL="0" indent="0">
              <a:buNone/>
            </a:pPr>
            <a:r>
              <a:rPr lang="en-US" altLang="ko-KR" sz="2000" dirty="0" err="1"/>
              <a:t>int</a:t>
            </a:r>
            <a:r>
              <a:rPr lang="en-US" altLang="ko-KR" sz="2000" dirty="0"/>
              <a:t> </a:t>
            </a:r>
            <a:r>
              <a:rPr lang="en-US" altLang="ko-KR" sz="2000" dirty="0" err="1"/>
              <a:t>UniCode</a:t>
            </a:r>
            <a:r>
              <a:rPr lang="en-US" altLang="ko-KR" sz="2000" dirty="0"/>
              <a:t> = </a:t>
            </a:r>
            <a:r>
              <a:rPr lang="ko-KR" altLang="en-US" sz="2000" dirty="0" err="1" smtClean="0"/>
              <a:t>초중성</a:t>
            </a:r>
            <a:r>
              <a:rPr lang="ko-KR" altLang="en-US" sz="2000" dirty="0" smtClean="0"/>
              <a:t> 분해를 </a:t>
            </a:r>
            <a:r>
              <a:rPr lang="ko-KR" altLang="en-US" sz="2000" dirty="0"/>
              <a:t>원하는 글자의 코드</a:t>
            </a:r>
            <a:r>
              <a:rPr lang="en-US" altLang="ko-KR" sz="2000" dirty="0"/>
              <a:t>;</a:t>
            </a:r>
          </a:p>
          <a:p>
            <a:pPr marL="0" indent="0">
              <a:buNone/>
            </a:pPr>
            <a:r>
              <a:rPr lang="en-US" altLang="ko-KR" sz="2000" dirty="0" err="1"/>
              <a:t>int</a:t>
            </a:r>
            <a:r>
              <a:rPr lang="en-US" altLang="ko-KR" sz="2000" dirty="0"/>
              <a:t> </a:t>
            </a:r>
            <a:r>
              <a:rPr lang="en-US" altLang="ko-KR" sz="2000" dirty="0" err="1"/>
              <a:t>ChoSung</a:t>
            </a:r>
            <a:r>
              <a:rPr lang="en-US" altLang="ko-KR" sz="2000" dirty="0"/>
              <a:t>, </a:t>
            </a:r>
            <a:r>
              <a:rPr lang="en-US" altLang="ko-KR" sz="2000" dirty="0" err="1"/>
              <a:t>JungSung</a:t>
            </a:r>
            <a:r>
              <a:rPr lang="en-US" altLang="ko-KR" sz="2000" dirty="0"/>
              <a:t>, </a:t>
            </a:r>
            <a:r>
              <a:rPr lang="en-US" altLang="ko-KR" sz="2000" dirty="0" err="1"/>
              <a:t>JongSung</a:t>
            </a:r>
            <a:r>
              <a:rPr lang="en-US" altLang="ko-KR" sz="2000" dirty="0"/>
              <a:t>;    // </a:t>
            </a:r>
            <a:r>
              <a:rPr lang="ko-KR" altLang="en-US" sz="2000" dirty="0"/>
              <a:t>분해된 </a:t>
            </a:r>
            <a:r>
              <a:rPr lang="ko-KR" altLang="en-US" sz="2000" dirty="0" err="1"/>
              <a:t>초중종성</a:t>
            </a:r>
            <a:endParaRPr lang="ko-KR" altLang="en-US" sz="2000" dirty="0"/>
          </a:p>
          <a:p>
            <a:pPr marL="0" indent="0">
              <a:buNone/>
            </a:pPr>
            <a:r>
              <a:rPr lang="en-US" altLang="ko-KR" sz="2000" dirty="0"/>
              <a:t>if ((</a:t>
            </a:r>
            <a:r>
              <a:rPr lang="en-US" altLang="ko-KR" sz="2000" dirty="0" err="1"/>
              <a:t>UniCode</a:t>
            </a:r>
            <a:r>
              <a:rPr lang="en-US" altLang="ko-KR" sz="2000" dirty="0"/>
              <a:t> &gt;= </a:t>
            </a:r>
            <a:r>
              <a:rPr lang="en-US" altLang="ko-KR" sz="2000" dirty="0" err="1"/>
              <a:t>HanBase</a:t>
            </a:r>
            <a:r>
              <a:rPr lang="en-US" altLang="ko-KR" sz="2000" dirty="0"/>
              <a:t>) &amp;&amp; (</a:t>
            </a:r>
            <a:r>
              <a:rPr lang="en-US" altLang="ko-KR" sz="2000" dirty="0" err="1"/>
              <a:t>UniCode</a:t>
            </a:r>
            <a:r>
              <a:rPr lang="en-US" altLang="ko-KR" sz="2000" dirty="0"/>
              <a:t> &lt;= </a:t>
            </a:r>
            <a:r>
              <a:rPr lang="en-US" altLang="ko-KR" sz="2000" dirty="0" err="1"/>
              <a:t>HanLast</a:t>
            </a:r>
            <a:r>
              <a:rPr lang="en-US" altLang="ko-KR" sz="2000" dirty="0" smtClean="0"/>
              <a:t>)) {</a:t>
            </a:r>
            <a:endParaRPr lang="en-US" altLang="ko-KR" sz="2000" dirty="0"/>
          </a:p>
          <a:p>
            <a:pPr marL="0" indent="0">
              <a:buNone/>
            </a:pPr>
            <a:r>
              <a:rPr lang="en-US" altLang="ko-KR" sz="2000" dirty="0"/>
              <a:t>      </a:t>
            </a:r>
            <a:r>
              <a:rPr lang="en-US" altLang="ko-KR" sz="2000" dirty="0" err="1"/>
              <a:t>UniCode</a:t>
            </a:r>
            <a:r>
              <a:rPr lang="en-US" altLang="ko-KR" sz="2000" dirty="0"/>
              <a:t> = </a:t>
            </a:r>
            <a:r>
              <a:rPr lang="en-US" altLang="ko-KR" sz="2000" dirty="0" err="1"/>
              <a:t>UniCode</a:t>
            </a:r>
            <a:r>
              <a:rPr lang="en-US" altLang="ko-KR" sz="2000" dirty="0"/>
              <a:t> - </a:t>
            </a:r>
            <a:r>
              <a:rPr lang="en-US" altLang="ko-KR" sz="2000" dirty="0" err="1"/>
              <a:t>HanBase</a:t>
            </a:r>
            <a:r>
              <a:rPr lang="en-US" altLang="ko-KR" sz="2000" dirty="0"/>
              <a:t>;</a:t>
            </a:r>
          </a:p>
          <a:p>
            <a:pPr marL="0" indent="0">
              <a:buNone/>
            </a:pPr>
            <a:r>
              <a:rPr lang="en-US" altLang="ko-KR" sz="2000" dirty="0"/>
              <a:t>      </a:t>
            </a:r>
            <a:r>
              <a:rPr lang="en-US" altLang="ko-KR" sz="2000" dirty="0" err="1"/>
              <a:t>ChoSung</a:t>
            </a:r>
            <a:r>
              <a:rPr lang="en-US" altLang="ko-KR" sz="2000" dirty="0"/>
              <a:t> = </a:t>
            </a:r>
            <a:r>
              <a:rPr lang="en-US" altLang="ko-KR" sz="2000" dirty="0" err="1"/>
              <a:t>UniCode</a:t>
            </a:r>
            <a:r>
              <a:rPr lang="en-US" altLang="ko-KR" sz="2000" dirty="0"/>
              <a:t> / (21 * 28);</a:t>
            </a:r>
          </a:p>
          <a:p>
            <a:pPr marL="0" indent="0">
              <a:buNone/>
            </a:pPr>
            <a:r>
              <a:rPr lang="en-US" altLang="ko-KR" sz="2000" dirty="0"/>
              <a:t>      </a:t>
            </a:r>
            <a:r>
              <a:rPr lang="en-US" altLang="ko-KR" sz="2000" dirty="0" err="1"/>
              <a:t>UniCode</a:t>
            </a:r>
            <a:r>
              <a:rPr lang="en-US" altLang="ko-KR" sz="2000" dirty="0"/>
              <a:t> = </a:t>
            </a:r>
            <a:r>
              <a:rPr lang="en-US" altLang="ko-KR" sz="2000" dirty="0" err="1"/>
              <a:t>UniCode</a:t>
            </a:r>
            <a:r>
              <a:rPr lang="en-US" altLang="ko-KR" sz="2000" dirty="0"/>
              <a:t> % (21 * 28);</a:t>
            </a:r>
          </a:p>
          <a:p>
            <a:pPr marL="0" indent="0">
              <a:buNone/>
            </a:pPr>
            <a:r>
              <a:rPr lang="en-US" altLang="ko-KR" sz="2000" dirty="0"/>
              <a:t>      </a:t>
            </a:r>
            <a:r>
              <a:rPr lang="en-US" altLang="ko-KR" sz="2000" dirty="0" err="1"/>
              <a:t>JungSung</a:t>
            </a:r>
            <a:r>
              <a:rPr lang="en-US" altLang="ko-KR" sz="2000" dirty="0"/>
              <a:t> = </a:t>
            </a:r>
            <a:r>
              <a:rPr lang="en-US" altLang="ko-KR" sz="2000" dirty="0" err="1"/>
              <a:t>UniCode</a:t>
            </a:r>
            <a:r>
              <a:rPr lang="en-US" altLang="ko-KR" sz="2000" dirty="0"/>
              <a:t> / 28;</a:t>
            </a:r>
          </a:p>
          <a:p>
            <a:pPr marL="0" indent="0">
              <a:buNone/>
            </a:pPr>
            <a:r>
              <a:rPr lang="en-US" altLang="ko-KR" sz="2000" dirty="0"/>
              <a:t>      </a:t>
            </a:r>
            <a:r>
              <a:rPr lang="en-US" altLang="ko-KR" sz="2000" dirty="0" err="1"/>
              <a:t>UniCode</a:t>
            </a:r>
            <a:r>
              <a:rPr lang="en-US" altLang="ko-KR" sz="2000" dirty="0"/>
              <a:t> = </a:t>
            </a:r>
            <a:r>
              <a:rPr lang="en-US" altLang="ko-KR" sz="2000" dirty="0" err="1"/>
              <a:t>UniCode</a:t>
            </a:r>
            <a:r>
              <a:rPr lang="en-US" altLang="ko-KR" sz="2000" dirty="0"/>
              <a:t> % 28;</a:t>
            </a:r>
          </a:p>
          <a:p>
            <a:pPr marL="0" indent="0">
              <a:buNone/>
            </a:pPr>
            <a:r>
              <a:rPr lang="en-US" altLang="ko-KR" sz="2000" dirty="0"/>
              <a:t>      </a:t>
            </a:r>
            <a:r>
              <a:rPr lang="en-US" altLang="ko-KR" sz="2000" dirty="0" err="1"/>
              <a:t>JongSung</a:t>
            </a:r>
            <a:r>
              <a:rPr lang="en-US" altLang="ko-KR" sz="2000" dirty="0"/>
              <a:t> = </a:t>
            </a:r>
            <a:r>
              <a:rPr lang="en-US" altLang="ko-KR" sz="2000" dirty="0" err="1"/>
              <a:t>UniCode</a:t>
            </a:r>
            <a:r>
              <a:rPr lang="en-US" altLang="ko-KR" sz="2000" dirty="0"/>
              <a:t>;</a:t>
            </a:r>
          </a:p>
          <a:p>
            <a:pPr marL="0" indent="0">
              <a:buNone/>
            </a:pPr>
            <a:r>
              <a:rPr lang="en-US" altLang="ko-KR" sz="2000" dirty="0"/>
              <a:t>}</a:t>
            </a:r>
          </a:p>
          <a:p>
            <a:pPr marL="0" indent="0">
              <a:buNone/>
            </a:pPr>
            <a:r>
              <a:rPr lang="en-US" altLang="ko-KR" sz="2000" dirty="0" smtClean="0"/>
              <a:t>else {</a:t>
            </a:r>
            <a:endParaRPr lang="en-US" altLang="ko-KR" sz="2000" dirty="0"/>
          </a:p>
          <a:p>
            <a:pPr marL="0" indent="0">
              <a:buNone/>
            </a:pPr>
            <a:r>
              <a:rPr lang="en-US" altLang="ko-KR" sz="2000" dirty="0"/>
              <a:t>       </a:t>
            </a:r>
            <a:r>
              <a:rPr lang="en-US" altLang="ko-KR" sz="2000" dirty="0" err="1"/>
              <a:t>printf</a:t>
            </a:r>
            <a:r>
              <a:rPr lang="en-US" altLang="ko-KR" sz="2000" dirty="0"/>
              <a:t>("</a:t>
            </a:r>
            <a:r>
              <a:rPr lang="ko-KR" altLang="en-US" sz="2000" dirty="0"/>
              <a:t>한글이 아닙니다</a:t>
            </a:r>
            <a:r>
              <a:rPr lang="en-US" altLang="ko-KR" sz="2000" dirty="0"/>
              <a:t>.\n");</a:t>
            </a:r>
          </a:p>
          <a:p>
            <a:pPr marL="0" indent="0">
              <a:buNone/>
            </a:pPr>
            <a:r>
              <a:rPr lang="en-US" altLang="ko-KR" sz="2000" dirty="0"/>
              <a:t>}</a:t>
            </a:r>
          </a:p>
        </p:txBody>
      </p:sp>
    </p:spTree>
    <p:extLst>
      <p:ext uri="{BB962C8B-B14F-4D97-AF65-F5344CB8AC3E}">
        <p14:creationId xmlns:p14="http://schemas.microsoft.com/office/powerpoint/2010/main" val="145740096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13</a:t>
            </a:fld>
            <a:endParaRPr lang="en-US" altLang="ko-K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4784"/>
            <a:ext cx="9144000" cy="28796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내용 개체 틀 2"/>
          <p:cNvSpPr>
            <a:spLocks noGrp="1"/>
          </p:cNvSpPr>
          <p:nvPr>
            <p:ph idx="1"/>
          </p:nvPr>
        </p:nvSpPr>
        <p:spPr>
          <a:xfrm>
            <a:off x="673450" y="4437112"/>
            <a:ext cx="7772400" cy="2301554"/>
          </a:xfrm>
        </p:spPr>
        <p:txBody>
          <a:bodyPr/>
          <a:lstStyle/>
          <a:p>
            <a:r>
              <a:rPr lang="en-US" altLang="ko-KR" sz="2000" dirty="0" smtClean="0"/>
              <a:t>Backward compatibility</a:t>
            </a:r>
          </a:p>
          <a:p>
            <a:r>
              <a:rPr lang="en-US" altLang="ko-KR" sz="2000" dirty="0" smtClean="0"/>
              <a:t>Clear distinction between multi-byte and single-byte characters</a:t>
            </a:r>
          </a:p>
          <a:p>
            <a:r>
              <a:rPr lang="en-US" altLang="ko-KR" sz="2000" dirty="0" smtClean="0"/>
              <a:t>Self synchronization</a:t>
            </a:r>
          </a:p>
          <a:p>
            <a:r>
              <a:rPr lang="en-US" altLang="ko-KR" sz="2000" dirty="0" smtClean="0"/>
              <a:t>Clear indication of byte sequence length</a:t>
            </a:r>
          </a:p>
          <a:p>
            <a:r>
              <a:rPr lang="en-US" altLang="ko-KR" sz="2000" dirty="0" smtClean="0"/>
              <a:t>Code structure</a:t>
            </a:r>
          </a:p>
        </p:txBody>
      </p:sp>
      <p:sp>
        <p:nvSpPr>
          <p:cNvPr id="8" name="제목 1"/>
          <p:cNvSpPr>
            <a:spLocks noGrp="1"/>
          </p:cNvSpPr>
          <p:nvPr>
            <p:ph type="title"/>
          </p:nvPr>
        </p:nvSpPr>
        <p:spPr>
          <a:xfrm>
            <a:off x="683568" y="260648"/>
            <a:ext cx="7772400" cy="1143000"/>
          </a:xfrm>
        </p:spPr>
        <p:txBody>
          <a:bodyPr/>
          <a:lstStyle/>
          <a:p>
            <a:r>
              <a:rPr lang="en-US" altLang="ko-KR" dirty="0" smtClean="0"/>
              <a:t>UTF-8</a:t>
            </a:r>
            <a:endParaRPr lang="ko-KR" altLang="en-US" dirty="0"/>
          </a:p>
        </p:txBody>
      </p:sp>
      <p:sp>
        <p:nvSpPr>
          <p:cNvPr id="5" name="TextBox 4"/>
          <p:cNvSpPr txBox="1"/>
          <p:nvPr/>
        </p:nvSpPr>
        <p:spPr>
          <a:xfrm>
            <a:off x="5451848" y="116632"/>
            <a:ext cx="3690434" cy="338554"/>
          </a:xfrm>
          <a:prstGeom prst="rect">
            <a:avLst/>
          </a:prstGeom>
          <a:noFill/>
        </p:spPr>
        <p:txBody>
          <a:bodyPr wrap="none" rtlCol="0">
            <a:spAutoFit/>
          </a:bodyPr>
          <a:lstStyle/>
          <a:p>
            <a:r>
              <a:rPr lang="en-US" altLang="ko-KR" dirty="0">
                <a:hlinkClick r:id="rId3"/>
              </a:rPr>
              <a:t>https://en.wikipedia.org/wiki/UTF-8</a:t>
            </a:r>
            <a:endParaRPr lang="ko-KR" altLang="en-US" dirty="0"/>
          </a:p>
        </p:txBody>
      </p:sp>
    </p:spTree>
    <p:extLst>
      <p:ext uri="{BB962C8B-B14F-4D97-AF65-F5344CB8AC3E}">
        <p14:creationId xmlns:p14="http://schemas.microsoft.com/office/powerpoint/2010/main" val="4218120970"/>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UTF-8 </a:t>
            </a:r>
            <a:r>
              <a:rPr lang="ko-KR" altLang="en-US" dirty="0" smtClean="0"/>
              <a:t>관련 함수</a:t>
            </a:r>
            <a:endParaRPr lang="ko-KR" altLang="en-US" dirty="0"/>
          </a:p>
        </p:txBody>
      </p:sp>
      <p:sp>
        <p:nvSpPr>
          <p:cNvPr id="3" name="내용 개체 틀 2"/>
          <p:cNvSpPr>
            <a:spLocks noGrp="1"/>
          </p:cNvSpPr>
          <p:nvPr>
            <p:ph idx="1"/>
          </p:nvPr>
        </p:nvSpPr>
        <p:spPr/>
        <p:txBody>
          <a:bodyPr/>
          <a:lstStyle/>
          <a:p>
            <a:r>
              <a:rPr lang="en-US" altLang="ko-KR" dirty="0" smtClean="0"/>
              <a:t>utf8</a:t>
            </a:r>
            <a:r>
              <a:rPr lang="ko-KR" altLang="en-US" dirty="0"/>
              <a:t> </a:t>
            </a:r>
            <a:r>
              <a:rPr lang="en-US" altLang="ko-KR" dirty="0" smtClean="0"/>
              <a:t>string </a:t>
            </a:r>
            <a:r>
              <a:rPr lang="ko-KR" altLang="en-US" dirty="0" smtClean="0"/>
              <a:t>길이 구하기</a:t>
            </a:r>
            <a:endParaRPr lang="en-US" altLang="ko-KR" dirty="0" smtClean="0"/>
          </a:p>
          <a:p>
            <a:pPr marL="457200" lvl="1" indent="0">
              <a:buNone/>
            </a:pPr>
            <a:r>
              <a:rPr lang="en-US" altLang="ko-KR" sz="2000" dirty="0" err="1"/>
              <a:t>int</a:t>
            </a:r>
            <a:r>
              <a:rPr lang="en-US" altLang="ko-KR" sz="2000" dirty="0"/>
              <a:t> strlen_utf8(char *s) </a:t>
            </a:r>
          </a:p>
          <a:p>
            <a:pPr marL="457200" lvl="1" indent="0">
              <a:buNone/>
            </a:pPr>
            <a:r>
              <a:rPr lang="en-US" altLang="ko-KR" sz="2000" dirty="0"/>
              <a:t>{</a:t>
            </a:r>
          </a:p>
          <a:p>
            <a:pPr marL="457200" lvl="1" indent="0">
              <a:buNone/>
            </a:pPr>
            <a:r>
              <a:rPr lang="en-US" altLang="ko-KR" sz="2000" dirty="0"/>
              <a:t>  </a:t>
            </a:r>
            <a:r>
              <a:rPr lang="en-US" altLang="ko-KR" sz="2000" dirty="0" err="1"/>
              <a:t>int</a:t>
            </a:r>
            <a:r>
              <a:rPr lang="en-US" altLang="ko-KR" sz="2000" dirty="0"/>
              <a:t> </a:t>
            </a:r>
            <a:r>
              <a:rPr lang="en-US" altLang="ko-KR" sz="2000" dirty="0" err="1"/>
              <a:t>i</a:t>
            </a:r>
            <a:r>
              <a:rPr lang="en-US" altLang="ko-KR" sz="2000" dirty="0"/>
              <a:t> = 0, j = 0;</a:t>
            </a:r>
          </a:p>
          <a:p>
            <a:pPr marL="457200" lvl="1" indent="0">
              <a:buNone/>
            </a:pPr>
            <a:r>
              <a:rPr lang="en-US" altLang="ko-KR" sz="2000" dirty="0"/>
              <a:t>  while (s[</a:t>
            </a:r>
            <a:r>
              <a:rPr lang="en-US" altLang="ko-KR" sz="2000" dirty="0" err="1"/>
              <a:t>i</a:t>
            </a:r>
            <a:r>
              <a:rPr lang="en-US" altLang="ko-KR" sz="2000" dirty="0"/>
              <a:t>]) </a:t>
            </a:r>
          </a:p>
          <a:p>
            <a:pPr marL="457200" lvl="1" indent="0">
              <a:buNone/>
            </a:pPr>
            <a:r>
              <a:rPr lang="en-US" altLang="ko-KR" sz="2000" dirty="0"/>
              <a:t>  {</a:t>
            </a:r>
          </a:p>
          <a:p>
            <a:pPr marL="457200" lvl="1" indent="0">
              <a:buNone/>
            </a:pPr>
            <a:r>
              <a:rPr lang="en-US" altLang="ko-KR" sz="2000" dirty="0"/>
              <a:t>    if ((s[</a:t>
            </a:r>
            <a:r>
              <a:rPr lang="en-US" altLang="ko-KR" sz="2000" dirty="0" err="1"/>
              <a:t>i</a:t>
            </a:r>
            <a:r>
              <a:rPr lang="en-US" altLang="ko-KR" sz="2000" dirty="0"/>
              <a:t>] &amp; 0xc0) != 0x80) j++;</a:t>
            </a:r>
          </a:p>
          <a:p>
            <a:pPr marL="457200" lvl="1" indent="0">
              <a:buNone/>
            </a:pPr>
            <a:r>
              <a:rPr lang="en-US" altLang="ko-KR" sz="2000" dirty="0"/>
              <a:t>    </a:t>
            </a:r>
            <a:r>
              <a:rPr lang="en-US" altLang="ko-KR" sz="2000" dirty="0" err="1"/>
              <a:t>i</a:t>
            </a:r>
            <a:r>
              <a:rPr lang="en-US" altLang="ko-KR" sz="2000" dirty="0"/>
              <a:t>++;</a:t>
            </a:r>
          </a:p>
          <a:p>
            <a:pPr marL="457200" lvl="1" indent="0">
              <a:buNone/>
            </a:pPr>
            <a:r>
              <a:rPr lang="en-US" altLang="ko-KR" sz="2000" dirty="0"/>
              <a:t>  }</a:t>
            </a:r>
          </a:p>
          <a:p>
            <a:pPr marL="457200" lvl="1" indent="0">
              <a:buNone/>
            </a:pPr>
            <a:r>
              <a:rPr lang="en-US" altLang="ko-KR" sz="2000" dirty="0"/>
              <a:t>  return j;</a:t>
            </a:r>
          </a:p>
          <a:p>
            <a:pPr marL="457200" lvl="1" indent="0">
              <a:buNone/>
            </a:pPr>
            <a:r>
              <a:rPr lang="en-US" altLang="ko-KR" sz="2000" dirty="0" smtClean="0"/>
              <a:t>}</a:t>
            </a:r>
            <a:endParaRPr lang="en-US" altLang="ko-KR" sz="20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14</a:t>
            </a:fld>
            <a:endParaRPr lang="en-US" altLang="ko-KR" dirty="0"/>
          </a:p>
        </p:txBody>
      </p:sp>
      <p:sp>
        <p:nvSpPr>
          <p:cNvPr id="5" name="TextBox 4"/>
          <p:cNvSpPr txBox="1"/>
          <p:nvPr/>
        </p:nvSpPr>
        <p:spPr>
          <a:xfrm>
            <a:off x="5327576" y="2348880"/>
            <a:ext cx="3816424" cy="4524315"/>
          </a:xfrm>
          <a:prstGeom prst="rect">
            <a:avLst/>
          </a:prstGeom>
          <a:noFill/>
        </p:spPr>
        <p:txBody>
          <a:bodyPr wrap="square" rtlCol="0">
            <a:spAutoFit/>
          </a:bodyPr>
          <a:lstStyle/>
          <a:p>
            <a:r>
              <a:rPr lang="en-US" altLang="ko-KR" dirty="0"/>
              <a:t>The bit mask 0xc0 is 11 00 00 00 so what the AND is doing is extracting only the top two bits</a:t>
            </a:r>
            <a:r>
              <a:rPr lang="en-US" altLang="ko-KR" dirty="0" smtClean="0"/>
              <a:t>:</a:t>
            </a:r>
          </a:p>
          <a:p>
            <a:endParaRPr lang="en-US" altLang="ko-KR" dirty="0"/>
          </a:p>
          <a:p>
            <a:endParaRPr lang="en-US" altLang="ko-KR" dirty="0" smtClean="0"/>
          </a:p>
          <a:p>
            <a:endParaRPr lang="en-US" altLang="ko-KR" dirty="0"/>
          </a:p>
          <a:p>
            <a:endParaRPr lang="en-US" altLang="ko-KR" dirty="0" smtClean="0"/>
          </a:p>
          <a:p>
            <a:r>
              <a:rPr lang="en-US" altLang="ko-KR" dirty="0"/>
              <a:t>This is then compared to 0x80 (binary 10 00 00 00). In other words, the if statement is checking to see if the top two bits of the value are not equal to 10</a:t>
            </a:r>
            <a:r>
              <a:rPr lang="en-US" altLang="ko-KR" dirty="0" smtClean="0"/>
              <a:t>.</a:t>
            </a:r>
          </a:p>
          <a:p>
            <a:endParaRPr lang="en-US" altLang="ko-KR" dirty="0" smtClean="0"/>
          </a:p>
          <a:p>
            <a:r>
              <a:rPr lang="en-US" altLang="ko-KR" dirty="0" smtClean="0"/>
              <a:t>“Why?”</a:t>
            </a:r>
          </a:p>
          <a:p>
            <a:r>
              <a:rPr lang="en-US" altLang="ko-KR" dirty="0" smtClean="0"/>
              <a:t>The </a:t>
            </a:r>
            <a:r>
              <a:rPr lang="en-US" altLang="ko-KR" dirty="0"/>
              <a:t>answer is that, in UTF-8, all bytes that begin with the bit pattern 10 are subsequent bytes of a multi-byte sequence:</a:t>
            </a:r>
            <a:endParaRPr lang="ko-KR"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3212976"/>
            <a:ext cx="1727684" cy="9392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3275191"/>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문제 </a:t>
            </a:r>
            <a:r>
              <a:rPr lang="en-US" altLang="ko-KR" dirty="0" smtClean="0"/>
              <a:t>20. </a:t>
            </a:r>
            <a:r>
              <a:rPr lang="ko-KR" altLang="en-US" dirty="0" smtClean="0"/>
              <a:t>암호 깨기 </a:t>
            </a:r>
            <a:r>
              <a:rPr lang="en-US" altLang="ko-KR" dirty="0" smtClean="0"/>
              <a:t>II</a:t>
            </a:r>
            <a:endParaRPr lang="ko-KR" altLang="en-US" dirty="0"/>
          </a:p>
        </p:txBody>
      </p:sp>
      <p:sp>
        <p:nvSpPr>
          <p:cNvPr id="3" name="내용 개체 틀 2"/>
          <p:cNvSpPr>
            <a:spLocks noGrp="1"/>
          </p:cNvSpPr>
          <p:nvPr>
            <p:ph idx="1"/>
          </p:nvPr>
        </p:nvSpPr>
        <p:spPr/>
        <p:txBody>
          <a:bodyPr/>
          <a:lstStyle/>
          <a:p>
            <a:r>
              <a:rPr lang="ko-KR" altLang="en-US" sz="2400" dirty="0" smtClean="0"/>
              <a:t>텍스트를</a:t>
            </a:r>
            <a:r>
              <a:rPr lang="en-US" altLang="ko-KR" sz="2400" dirty="0" smtClean="0"/>
              <a:t> </a:t>
            </a:r>
            <a:r>
              <a:rPr lang="ko-KR" altLang="en-US" sz="2400" dirty="0" smtClean="0"/>
              <a:t>암호화하는 쉬운 방법</a:t>
            </a:r>
            <a:endParaRPr lang="en-US" altLang="ko-KR" sz="2400" dirty="0" smtClean="0"/>
          </a:p>
          <a:p>
            <a:pPr lvl="1"/>
            <a:r>
              <a:rPr lang="ko-KR" altLang="en-US" sz="2000" dirty="0" smtClean="0"/>
              <a:t>알파벳 글자를 다른 글자로 바꾸는 방법</a:t>
            </a:r>
            <a:endParaRPr lang="en-US" altLang="ko-KR" sz="2000" dirty="0" smtClean="0"/>
          </a:p>
          <a:p>
            <a:pPr lvl="1"/>
            <a:r>
              <a:rPr lang="ko-KR" altLang="en-US" sz="2000" dirty="0" smtClean="0"/>
              <a:t>보안상 취약</a:t>
            </a:r>
            <a:endParaRPr lang="en-US" altLang="ko-KR" sz="2000" dirty="0" smtClean="0"/>
          </a:p>
          <a:p>
            <a:r>
              <a:rPr lang="ko-KR" altLang="en-US" sz="2400" dirty="0" err="1" smtClean="0"/>
              <a:t>평문</a:t>
            </a:r>
            <a:r>
              <a:rPr lang="ko-KR" altLang="en-US" sz="2400" dirty="0" smtClean="0"/>
              <a:t> 공격법</a:t>
            </a:r>
            <a:endParaRPr lang="en-US" altLang="ko-KR" sz="2400" dirty="0" smtClean="0"/>
          </a:p>
          <a:p>
            <a:pPr lvl="1"/>
            <a:r>
              <a:rPr lang="ko-KR" altLang="en-US" sz="2000" dirty="0" smtClean="0"/>
              <a:t>상대방이 암호화했다는 것을 알고 있는 구문이나 문장을 바탕으로 암호화된 텍스트를 관찰해서 </a:t>
            </a:r>
            <a:r>
              <a:rPr lang="ko-KR" altLang="en-US" sz="2000" dirty="0" err="1" smtClean="0"/>
              <a:t>인코딩</a:t>
            </a:r>
            <a:r>
              <a:rPr lang="ko-KR" altLang="en-US" sz="2000" dirty="0" smtClean="0"/>
              <a:t> 방법을 유추</a:t>
            </a:r>
            <a:endParaRPr lang="en-US" altLang="ko-KR" sz="2000" dirty="0" smtClean="0"/>
          </a:p>
          <a:p>
            <a:r>
              <a:rPr lang="ko-KR" altLang="en-US" sz="2400" dirty="0" smtClean="0"/>
              <a:t>전제조건</a:t>
            </a:r>
            <a:endParaRPr lang="en-US" altLang="ko-KR" sz="2400" dirty="0" smtClean="0"/>
          </a:p>
          <a:p>
            <a:pPr lvl="1"/>
            <a:r>
              <a:rPr lang="ko-KR" altLang="en-US" sz="2000" dirty="0" smtClean="0"/>
              <a:t>여러 줄의 텍스트가 주어졌을 때 같은 케이스에서는 모든 줄에서 같은 치환 방법 사용</a:t>
            </a:r>
            <a:endParaRPr lang="en-US" altLang="ko-KR" sz="2000" dirty="0" smtClean="0"/>
          </a:p>
          <a:p>
            <a:pPr lvl="1"/>
            <a:r>
              <a:rPr lang="ko-KR" altLang="en-US" sz="2000" dirty="0" smtClean="0"/>
              <a:t>그 중 한 줄은 </a:t>
            </a:r>
            <a:r>
              <a:rPr lang="en-US" altLang="ko-KR" sz="2000" dirty="0" smtClean="0"/>
              <a:t>the quick brown fox jumps over the lazy dog</a:t>
            </a:r>
            <a:r>
              <a:rPr lang="ko-KR" altLang="en-US" sz="2000" dirty="0" smtClean="0"/>
              <a:t>라는 </a:t>
            </a:r>
            <a:r>
              <a:rPr lang="ko-KR" altLang="en-US" sz="2000" dirty="0" err="1" smtClean="0"/>
              <a:t>평문을</a:t>
            </a:r>
            <a:r>
              <a:rPr lang="ko-KR" altLang="en-US" sz="2000" dirty="0" smtClean="0"/>
              <a:t> 암호화한 것</a:t>
            </a:r>
            <a:endParaRPr lang="en-US" altLang="ko-KR" sz="2000" dirty="0" smtClean="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15</a:t>
            </a:fld>
            <a:endParaRPr lang="en-US" altLang="ko-KR"/>
          </a:p>
        </p:txBody>
      </p:sp>
    </p:spTree>
    <p:extLst>
      <p:ext uri="{BB962C8B-B14F-4D97-AF65-F5344CB8AC3E}">
        <p14:creationId xmlns:p14="http://schemas.microsoft.com/office/powerpoint/2010/main" val="3341531276"/>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476672"/>
            <a:ext cx="7772400" cy="5112568"/>
          </a:xfrm>
        </p:spPr>
        <p:txBody>
          <a:bodyPr/>
          <a:lstStyle/>
          <a:p>
            <a:r>
              <a:rPr lang="ko-KR" altLang="en-US" sz="2400" dirty="0"/>
              <a:t>입력</a:t>
            </a:r>
            <a:endParaRPr lang="en-US" altLang="ko-KR" sz="2400" dirty="0"/>
          </a:p>
          <a:p>
            <a:pPr lvl="1"/>
            <a:r>
              <a:rPr lang="ko-KR" altLang="en-US" sz="2000" dirty="0" smtClean="0"/>
              <a:t>첫 번째 줄에는 양의 정수 하나 </a:t>
            </a:r>
            <a:r>
              <a:rPr lang="en-US" altLang="ko-KR" sz="2000" dirty="0" smtClean="0"/>
              <a:t>: </a:t>
            </a:r>
            <a:r>
              <a:rPr lang="ko-KR" altLang="en-US" sz="2000" dirty="0" smtClean="0"/>
              <a:t>테스트 케이스의 개수</a:t>
            </a:r>
            <a:endParaRPr lang="en-US" altLang="ko-KR" sz="2000" dirty="0" smtClean="0"/>
          </a:p>
          <a:p>
            <a:pPr lvl="1"/>
            <a:r>
              <a:rPr lang="ko-KR" altLang="en-US" sz="2000" dirty="0" smtClean="0"/>
              <a:t>그 다음에 빈 줄</a:t>
            </a:r>
            <a:endParaRPr lang="en-US" altLang="ko-KR" sz="2000" dirty="0" smtClean="0"/>
          </a:p>
          <a:p>
            <a:pPr lvl="1"/>
            <a:r>
              <a:rPr lang="ko-KR" altLang="en-US" sz="2000" dirty="0" smtClean="0"/>
              <a:t>서로 다른 케이스는 빈 줄로 구분</a:t>
            </a:r>
            <a:endParaRPr lang="en-US" altLang="ko-KR" sz="2000" dirty="0" smtClean="0"/>
          </a:p>
          <a:p>
            <a:pPr lvl="1"/>
            <a:r>
              <a:rPr lang="ko-KR" altLang="en-US" sz="2000" dirty="0" smtClean="0"/>
              <a:t>각 케이스는 여러 줄로 구성되는데 암호화된 텍스트</a:t>
            </a:r>
            <a:endParaRPr lang="en-US" altLang="ko-KR" sz="2000" dirty="0" smtClean="0"/>
          </a:p>
          <a:p>
            <a:pPr lvl="1"/>
            <a:r>
              <a:rPr lang="ko-KR" altLang="en-US" sz="2000" dirty="0" smtClean="0"/>
              <a:t>암호화된 내용은 소문자와 스페이스만으로 구성되며 최대 길이는 </a:t>
            </a:r>
            <a:r>
              <a:rPr lang="en-US" altLang="ko-KR" sz="2000" dirty="0" smtClean="0"/>
              <a:t>80</a:t>
            </a:r>
            <a:r>
              <a:rPr lang="ko-KR" altLang="en-US" sz="2000" dirty="0" smtClean="0"/>
              <a:t>문자</a:t>
            </a:r>
            <a:endParaRPr lang="en-US" altLang="ko-KR" sz="2000" dirty="0" smtClean="0"/>
          </a:p>
          <a:p>
            <a:pPr lvl="1"/>
            <a:r>
              <a:rPr lang="ko-KR" altLang="en-US" sz="2000" dirty="0" smtClean="0"/>
              <a:t>입력되는 텍스트는 </a:t>
            </a:r>
            <a:r>
              <a:rPr lang="en-US" altLang="ko-KR" sz="2000" dirty="0" smtClean="0"/>
              <a:t>100</a:t>
            </a:r>
            <a:r>
              <a:rPr lang="ko-KR" altLang="en-US" sz="2000" dirty="0" smtClean="0"/>
              <a:t>줄로 제한</a:t>
            </a:r>
            <a:endParaRPr lang="en-US" altLang="ko-KR" sz="2000" dirty="0"/>
          </a:p>
          <a:p>
            <a:r>
              <a:rPr lang="ko-KR" altLang="en-US" sz="2400" dirty="0" smtClean="0"/>
              <a:t>출력</a:t>
            </a:r>
            <a:endParaRPr lang="en-US" altLang="ko-KR" sz="2400" dirty="0"/>
          </a:p>
          <a:p>
            <a:pPr lvl="1"/>
            <a:r>
              <a:rPr lang="ko-KR" altLang="en-US" sz="2000" dirty="0" smtClean="0"/>
              <a:t>각 테스트 케이스에 대해 각 줄을 </a:t>
            </a:r>
            <a:r>
              <a:rPr lang="ko-KR" altLang="en-US" sz="2000" dirty="0" err="1" smtClean="0"/>
              <a:t>복호화하여</a:t>
            </a:r>
            <a:r>
              <a:rPr lang="ko-KR" altLang="en-US" sz="2000" dirty="0" smtClean="0"/>
              <a:t> 표준 출력으로 출력</a:t>
            </a:r>
            <a:endParaRPr lang="en-US" altLang="ko-KR" sz="2000" dirty="0" smtClean="0"/>
          </a:p>
          <a:p>
            <a:pPr lvl="1"/>
            <a:r>
              <a:rPr lang="ko-KR" altLang="en-US" sz="2000" dirty="0" err="1" smtClean="0"/>
              <a:t>복호화할</a:t>
            </a:r>
            <a:r>
              <a:rPr lang="ko-KR" altLang="en-US" sz="2000" dirty="0" smtClean="0"/>
              <a:t> 수 없는 경우에는 </a:t>
            </a:r>
            <a:r>
              <a:rPr lang="en-US" altLang="ko-KR" sz="2000" dirty="0" smtClean="0"/>
              <a:t>No solution. </a:t>
            </a:r>
            <a:r>
              <a:rPr lang="ko-KR" altLang="en-US" sz="2000" dirty="0" smtClean="0"/>
              <a:t>을 출력</a:t>
            </a:r>
            <a:endParaRPr lang="en-US" altLang="ko-KR" sz="2000" dirty="0" smtClean="0"/>
          </a:p>
          <a:p>
            <a:pPr lvl="1"/>
            <a:r>
              <a:rPr lang="ko-KR" altLang="en-US" sz="2000" dirty="0" smtClean="0"/>
              <a:t>서로 다른 케이스 사이에는 빈 줄 한 개를 삽입</a:t>
            </a:r>
            <a:endParaRPr lang="en-US" altLang="ko-KR" sz="20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16</a:t>
            </a:fld>
            <a:endParaRPr lang="en-US" altLang="ko-KR"/>
          </a:p>
        </p:txBody>
      </p:sp>
    </p:spTree>
    <p:extLst>
      <p:ext uri="{BB962C8B-B14F-4D97-AF65-F5344CB8AC3E}">
        <p14:creationId xmlns:p14="http://schemas.microsoft.com/office/powerpoint/2010/main" val="3037164437"/>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404664"/>
            <a:ext cx="7772400" cy="5691336"/>
          </a:xfrm>
        </p:spPr>
        <p:txBody>
          <a:bodyPr/>
          <a:lstStyle/>
          <a:p>
            <a:r>
              <a:rPr lang="ko-KR" altLang="en-US" sz="2800" dirty="0" smtClean="0"/>
              <a:t>입력 예</a:t>
            </a:r>
            <a:endParaRPr lang="en-US" altLang="ko-KR" sz="2800" dirty="0" smtClean="0"/>
          </a:p>
          <a:p>
            <a:pPr marL="457200" lvl="1" indent="0">
              <a:buNone/>
            </a:pPr>
            <a:r>
              <a:rPr lang="en-US" altLang="ko-KR" sz="2400" dirty="0"/>
              <a:t>1</a:t>
            </a:r>
          </a:p>
          <a:p>
            <a:pPr marL="457200" lvl="1" indent="0">
              <a:buNone/>
            </a:pPr>
            <a:endParaRPr lang="en-US" altLang="ko-KR" sz="2400" dirty="0"/>
          </a:p>
          <a:p>
            <a:pPr marL="457200" lvl="1" indent="0">
              <a:buNone/>
            </a:pPr>
            <a:r>
              <a:rPr lang="en-US" altLang="ko-KR" sz="2400" dirty="0" err="1"/>
              <a:t>vtz</a:t>
            </a:r>
            <a:r>
              <a:rPr lang="en-US" altLang="ko-KR" sz="2400" dirty="0"/>
              <a:t> </a:t>
            </a:r>
            <a:r>
              <a:rPr lang="en-US" altLang="ko-KR" sz="2400" dirty="0" err="1"/>
              <a:t>ud</a:t>
            </a:r>
            <a:r>
              <a:rPr lang="en-US" altLang="ko-KR" sz="2400" dirty="0"/>
              <a:t> </a:t>
            </a:r>
            <a:r>
              <a:rPr lang="en-US" altLang="ko-KR" sz="2400" dirty="0" err="1"/>
              <a:t>xnm</a:t>
            </a:r>
            <a:r>
              <a:rPr lang="en-US" altLang="ko-KR" sz="2400" dirty="0"/>
              <a:t> </a:t>
            </a:r>
            <a:r>
              <a:rPr lang="en-US" altLang="ko-KR" sz="2400" dirty="0" err="1"/>
              <a:t>xugm</a:t>
            </a:r>
            <a:r>
              <a:rPr lang="en-US" altLang="ko-KR" sz="2400" dirty="0"/>
              <a:t> </a:t>
            </a:r>
            <a:r>
              <a:rPr lang="en-US" altLang="ko-KR" sz="2400" dirty="0" err="1"/>
              <a:t>itr</a:t>
            </a:r>
            <a:r>
              <a:rPr lang="en-US" altLang="ko-KR" sz="2400" dirty="0"/>
              <a:t> </a:t>
            </a:r>
            <a:r>
              <a:rPr lang="en-US" altLang="ko-KR" sz="2400" dirty="0" err="1"/>
              <a:t>pyy</a:t>
            </a:r>
            <a:r>
              <a:rPr lang="en-US" altLang="ko-KR" sz="2400" dirty="0"/>
              <a:t> </a:t>
            </a:r>
            <a:r>
              <a:rPr lang="en-US" altLang="ko-KR" sz="2400" dirty="0" err="1"/>
              <a:t>jttk</a:t>
            </a:r>
            <a:r>
              <a:rPr lang="en-US" altLang="ko-KR" sz="2400" dirty="0"/>
              <a:t> </a:t>
            </a:r>
            <a:r>
              <a:rPr lang="en-US" altLang="ko-KR" sz="2400" dirty="0" err="1"/>
              <a:t>gmv</a:t>
            </a:r>
            <a:r>
              <a:rPr lang="en-US" altLang="ko-KR" sz="2400" dirty="0"/>
              <a:t> </a:t>
            </a:r>
            <a:r>
              <a:rPr lang="en-US" altLang="ko-KR" sz="2400" dirty="0" err="1"/>
              <a:t>xt</a:t>
            </a:r>
            <a:r>
              <a:rPr lang="en-US" altLang="ko-KR" sz="2400" dirty="0"/>
              <a:t> </a:t>
            </a:r>
            <a:r>
              <a:rPr lang="en-US" altLang="ko-KR" sz="2400" dirty="0" err="1"/>
              <a:t>otgm</a:t>
            </a:r>
            <a:r>
              <a:rPr lang="en-US" altLang="ko-KR" sz="2400" dirty="0"/>
              <a:t> </a:t>
            </a:r>
            <a:r>
              <a:rPr lang="en-US" altLang="ko-KR" sz="2400" dirty="0" err="1"/>
              <a:t>xt</a:t>
            </a:r>
            <a:r>
              <a:rPr lang="en-US" altLang="ko-KR" sz="2400" dirty="0"/>
              <a:t> </a:t>
            </a:r>
            <a:r>
              <a:rPr lang="en-US" altLang="ko-KR" sz="2400" dirty="0" err="1"/>
              <a:t>xnm</a:t>
            </a:r>
            <a:r>
              <a:rPr lang="en-US" altLang="ko-KR" sz="2400" dirty="0"/>
              <a:t> </a:t>
            </a:r>
            <a:r>
              <a:rPr lang="en-US" altLang="ko-KR" sz="2400" dirty="0" err="1"/>
              <a:t>puk</a:t>
            </a:r>
            <a:r>
              <a:rPr lang="en-US" altLang="ko-KR" sz="2400" dirty="0"/>
              <a:t> ti </a:t>
            </a:r>
            <a:r>
              <a:rPr lang="en-US" altLang="ko-KR" sz="2400" dirty="0" err="1"/>
              <a:t>xnm</a:t>
            </a:r>
            <a:r>
              <a:rPr lang="en-US" altLang="ko-KR" sz="2400" dirty="0"/>
              <a:t> </a:t>
            </a:r>
            <a:r>
              <a:rPr lang="en-US" altLang="ko-KR" sz="2400" dirty="0" err="1"/>
              <a:t>fprxq</a:t>
            </a:r>
            <a:endParaRPr lang="en-US" altLang="ko-KR" sz="2400" dirty="0"/>
          </a:p>
          <a:p>
            <a:pPr marL="457200" lvl="1" indent="0">
              <a:buNone/>
            </a:pPr>
            <a:r>
              <a:rPr lang="en-US" altLang="ko-KR" sz="2400" dirty="0" err="1"/>
              <a:t>xnm</a:t>
            </a:r>
            <a:r>
              <a:rPr lang="en-US" altLang="ko-KR" sz="2400" dirty="0"/>
              <a:t> </a:t>
            </a:r>
            <a:r>
              <a:rPr lang="en-US" altLang="ko-KR" sz="2400" dirty="0" err="1"/>
              <a:t>ceuob</a:t>
            </a:r>
            <a:r>
              <a:rPr lang="en-US" altLang="ko-KR" sz="2400" dirty="0"/>
              <a:t> </a:t>
            </a:r>
            <a:r>
              <a:rPr lang="en-US" altLang="ko-KR" sz="2400" dirty="0" err="1"/>
              <a:t>lrtzv</a:t>
            </a:r>
            <a:r>
              <a:rPr lang="en-US" altLang="ko-KR" sz="2400" dirty="0"/>
              <a:t> </a:t>
            </a:r>
            <a:r>
              <a:rPr lang="en-US" altLang="ko-KR" sz="2400" dirty="0" err="1"/>
              <a:t>ita</a:t>
            </a:r>
            <a:r>
              <a:rPr lang="en-US" altLang="ko-KR" sz="2400" dirty="0"/>
              <a:t> </a:t>
            </a:r>
            <a:r>
              <a:rPr lang="en-US" altLang="ko-KR" sz="2400" dirty="0" err="1"/>
              <a:t>hegfd</a:t>
            </a:r>
            <a:r>
              <a:rPr lang="en-US" altLang="ko-KR" sz="2400" dirty="0"/>
              <a:t> </a:t>
            </a:r>
            <a:r>
              <a:rPr lang="en-US" altLang="ko-KR" sz="2400" dirty="0" err="1"/>
              <a:t>tsmr</a:t>
            </a:r>
            <a:r>
              <a:rPr lang="en-US" altLang="ko-KR" sz="2400" dirty="0"/>
              <a:t> </a:t>
            </a:r>
            <a:r>
              <a:rPr lang="en-US" altLang="ko-KR" sz="2400" dirty="0" err="1"/>
              <a:t>xnm</a:t>
            </a:r>
            <a:r>
              <a:rPr lang="en-US" altLang="ko-KR" sz="2400" dirty="0"/>
              <a:t> </a:t>
            </a:r>
            <a:r>
              <a:rPr lang="en-US" altLang="ko-KR" sz="2400" dirty="0" err="1"/>
              <a:t>ypwq</a:t>
            </a:r>
            <a:r>
              <a:rPr lang="en-US" altLang="ko-KR" sz="2400" dirty="0"/>
              <a:t> </a:t>
            </a:r>
            <a:r>
              <a:rPr lang="en-US" altLang="ko-KR" sz="2400" dirty="0" err="1"/>
              <a:t>ktj</a:t>
            </a:r>
            <a:endParaRPr lang="en-US" altLang="ko-KR" sz="2400" dirty="0"/>
          </a:p>
          <a:p>
            <a:pPr marL="457200" lvl="1" indent="0">
              <a:buNone/>
            </a:pPr>
            <a:r>
              <a:rPr lang="en-US" altLang="ko-KR" sz="2400" dirty="0" err="1"/>
              <a:t>frtjrpgguvj</a:t>
            </a:r>
            <a:r>
              <a:rPr lang="en-US" altLang="ko-KR" sz="2400" dirty="0"/>
              <a:t> </a:t>
            </a:r>
            <a:r>
              <a:rPr lang="en-US" altLang="ko-KR" sz="2400" dirty="0" err="1"/>
              <a:t>otvxmdxd</a:t>
            </a:r>
            <a:r>
              <a:rPr lang="en-US" altLang="ko-KR" sz="2400" dirty="0"/>
              <a:t> </a:t>
            </a:r>
            <a:r>
              <a:rPr lang="en-US" altLang="ko-KR" sz="2400" dirty="0" err="1"/>
              <a:t>prm</a:t>
            </a:r>
            <a:r>
              <a:rPr lang="en-US" altLang="ko-KR" sz="2400" dirty="0"/>
              <a:t> </a:t>
            </a:r>
            <a:r>
              <a:rPr lang="en-US" altLang="ko-KR" sz="2400" dirty="0" err="1"/>
              <a:t>iev</a:t>
            </a:r>
            <a:r>
              <a:rPr lang="en-US" altLang="ko-KR" sz="2400" dirty="0"/>
              <a:t> </a:t>
            </a:r>
            <a:r>
              <a:rPr lang="en-US" altLang="ko-KR" sz="2400" dirty="0" err="1"/>
              <a:t>prmvx</a:t>
            </a:r>
            <a:r>
              <a:rPr lang="en-US" altLang="ko-KR" sz="2400" dirty="0"/>
              <a:t> </a:t>
            </a:r>
            <a:r>
              <a:rPr lang="en-US" altLang="ko-KR" sz="2400" dirty="0" err="1" smtClean="0"/>
              <a:t>xnmq</a:t>
            </a:r>
            <a:endParaRPr lang="en-US" altLang="ko-KR" sz="2400" dirty="0" smtClean="0"/>
          </a:p>
          <a:p>
            <a:pPr marL="457200" lvl="1" indent="0">
              <a:buNone/>
            </a:pPr>
            <a:endParaRPr lang="en-US" altLang="ko-KR" sz="2400" dirty="0"/>
          </a:p>
          <a:p>
            <a:r>
              <a:rPr lang="ko-KR" altLang="en-US" sz="2800" dirty="0" smtClean="0"/>
              <a:t>출력 예</a:t>
            </a:r>
            <a:endParaRPr lang="en-US" altLang="ko-KR" sz="2800" dirty="0" smtClean="0"/>
          </a:p>
          <a:p>
            <a:pPr marL="457200" lvl="1" indent="0">
              <a:buNone/>
            </a:pPr>
            <a:r>
              <a:rPr lang="en-US" altLang="ko-KR" sz="2400" dirty="0"/>
              <a:t>now is the time for all good men to come to the aid of the party</a:t>
            </a:r>
          </a:p>
          <a:p>
            <a:pPr marL="457200" lvl="1" indent="0">
              <a:buNone/>
            </a:pPr>
            <a:r>
              <a:rPr lang="en-US" altLang="ko-KR" sz="2400" dirty="0"/>
              <a:t>the quick brown fox jumps over the lazy dog</a:t>
            </a:r>
          </a:p>
          <a:p>
            <a:pPr marL="457200" lvl="1" indent="0">
              <a:buNone/>
            </a:pPr>
            <a:r>
              <a:rPr lang="en-US" altLang="ko-KR" sz="2400" dirty="0"/>
              <a:t>programming contests are fun </a:t>
            </a:r>
            <a:r>
              <a:rPr lang="en-US" altLang="ko-KR" sz="2400" dirty="0" err="1"/>
              <a:t>arent</a:t>
            </a:r>
            <a:r>
              <a:rPr lang="en-US" altLang="ko-KR" sz="2400" dirty="0"/>
              <a:t> </a:t>
            </a:r>
            <a:r>
              <a:rPr lang="en-US" altLang="ko-KR" sz="2400" dirty="0" smtClean="0"/>
              <a:t>they</a:t>
            </a:r>
            <a:endParaRPr lang="en-US" altLang="ko-KR" sz="24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17</a:t>
            </a:fld>
            <a:endParaRPr lang="en-US" altLang="ko-KR"/>
          </a:p>
        </p:txBody>
      </p:sp>
    </p:spTree>
    <p:extLst>
      <p:ext uri="{BB962C8B-B14F-4D97-AF65-F5344CB8AC3E}">
        <p14:creationId xmlns:p14="http://schemas.microsoft.com/office/powerpoint/2010/main" val="213192053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문제 </a:t>
            </a:r>
            <a:r>
              <a:rPr lang="en-US" altLang="ko-KR" dirty="0" smtClean="0"/>
              <a:t>20 </a:t>
            </a:r>
            <a:r>
              <a:rPr lang="ko-KR" altLang="en-US" dirty="0" smtClean="0"/>
              <a:t>힌트</a:t>
            </a:r>
            <a:endParaRPr lang="ko-KR" altLang="en-US" dirty="0"/>
          </a:p>
        </p:txBody>
      </p:sp>
      <p:sp>
        <p:nvSpPr>
          <p:cNvPr id="3" name="내용 개체 틀 2"/>
          <p:cNvSpPr>
            <a:spLocks noGrp="1"/>
          </p:cNvSpPr>
          <p:nvPr>
            <p:ph idx="1"/>
          </p:nvPr>
        </p:nvSpPr>
        <p:spPr/>
        <p:txBody>
          <a:bodyPr/>
          <a:lstStyle/>
          <a:p>
            <a:r>
              <a:rPr lang="ko-KR" altLang="en-US" sz="2000" dirty="0"/>
              <a:t>암호 깨기 </a:t>
            </a:r>
            <a:r>
              <a:rPr lang="en-US" altLang="ko-KR" sz="2000" dirty="0"/>
              <a:t>1</a:t>
            </a:r>
            <a:r>
              <a:rPr lang="ko-KR" altLang="en-US" sz="2000" dirty="0" smtClean="0"/>
              <a:t>탄</a:t>
            </a:r>
            <a:r>
              <a:rPr lang="en-US" altLang="ko-KR" sz="2000" dirty="0" smtClean="0"/>
              <a:t>(</a:t>
            </a:r>
            <a:r>
              <a:rPr lang="ko-KR" altLang="en-US" sz="2000" dirty="0" smtClean="0"/>
              <a:t>문제 </a:t>
            </a:r>
            <a:r>
              <a:rPr lang="en-US" altLang="ko-KR" sz="2000" dirty="0" smtClean="0"/>
              <a:t>12)</a:t>
            </a:r>
            <a:r>
              <a:rPr lang="ko-KR" altLang="en-US" sz="2000" dirty="0" smtClean="0"/>
              <a:t>보다 </a:t>
            </a:r>
            <a:r>
              <a:rPr lang="ko-KR" altLang="en-US" sz="2000" dirty="0"/>
              <a:t>간단한 문제다</a:t>
            </a:r>
            <a:r>
              <a:rPr lang="en-US" altLang="ko-KR" sz="2000" dirty="0"/>
              <a:t>. </a:t>
            </a:r>
            <a:r>
              <a:rPr lang="ko-KR" altLang="en-US" sz="2000" dirty="0"/>
              <a:t>여기에서도 문자를 치환하는 규칙을 기록하기 </a:t>
            </a:r>
            <a:r>
              <a:rPr lang="ko-KR" altLang="en-US" sz="2000" dirty="0" smtClean="0"/>
              <a:t>위해 </a:t>
            </a:r>
            <a:r>
              <a:rPr lang="en-US" altLang="ko-KR" sz="2000" dirty="0"/>
              <a:t>map, </a:t>
            </a:r>
            <a:r>
              <a:rPr lang="en-US" altLang="ko-KR" sz="2000" dirty="0" err="1"/>
              <a:t>inv</a:t>
            </a:r>
            <a:r>
              <a:rPr lang="en-US" altLang="ko-KR" sz="2000" dirty="0"/>
              <a:t> </a:t>
            </a:r>
            <a:r>
              <a:rPr lang="ko-KR" altLang="en-US" sz="2000" dirty="0"/>
              <a:t>양방향 </a:t>
            </a:r>
            <a:r>
              <a:rPr lang="ko-KR" altLang="en-US" sz="2000" dirty="0" err="1"/>
              <a:t>매핑을</a:t>
            </a:r>
            <a:r>
              <a:rPr lang="ko-KR" altLang="en-US" sz="2000" dirty="0"/>
              <a:t> 저장하는 방식은 </a:t>
            </a:r>
            <a:r>
              <a:rPr lang="en-US" altLang="ko-KR" sz="2000" dirty="0"/>
              <a:t>1</a:t>
            </a:r>
            <a:r>
              <a:rPr lang="ko-KR" altLang="en-US" sz="2000" dirty="0"/>
              <a:t>탄에서와 비슷하다</a:t>
            </a:r>
            <a:r>
              <a:rPr lang="en-US" altLang="ko-KR" sz="2000" dirty="0"/>
              <a:t>.</a:t>
            </a:r>
          </a:p>
          <a:p>
            <a:r>
              <a:rPr lang="ko-KR" altLang="en-US" sz="2000" dirty="0" smtClean="0"/>
              <a:t>참고로</a:t>
            </a:r>
            <a:r>
              <a:rPr lang="en-US" altLang="ko-KR" sz="2000" dirty="0"/>
              <a:t>, </a:t>
            </a:r>
            <a:r>
              <a:rPr lang="ko-KR" altLang="en-US" sz="2000" dirty="0"/>
              <a:t>주어진 문장 </a:t>
            </a:r>
            <a:r>
              <a:rPr lang="en-US" altLang="ko-KR" sz="2000" dirty="0"/>
              <a:t>"the quick brown fox jumps over the lazy dog"</a:t>
            </a:r>
            <a:r>
              <a:rPr lang="ko-KR" altLang="en-US" sz="2000" dirty="0"/>
              <a:t>는 알파벳 </a:t>
            </a:r>
            <a:r>
              <a:rPr lang="en-US" altLang="ko-KR" sz="2000" dirty="0" err="1"/>
              <a:t>a~z</a:t>
            </a:r>
            <a:r>
              <a:rPr lang="en-US" altLang="ko-KR" sz="2000" dirty="0"/>
              <a:t>&gt;</a:t>
            </a:r>
            <a:r>
              <a:rPr lang="ko-KR" altLang="en-US" sz="2000" dirty="0"/>
              <a:t>가 모두 등장하는 대표적인 문장으로서</a:t>
            </a:r>
            <a:r>
              <a:rPr lang="en-US" altLang="ko-KR" sz="2000" dirty="0"/>
              <a:t>, </a:t>
            </a:r>
            <a:r>
              <a:rPr lang="ko-KR" altLang="en-US" sz="2000" dirty="0"/>
              <a:t>글꼴의 예제 문장으로 자주 </a:t>
            </a:r>
            <a:r>
              <a:rPr lang="ko-KR" altLang="en-US" sz="2000" dirty="0" smtClean="0"/>
              <a:t>쓰인다</a:t>
            </a:r>
            <a:r>
              <a:rPr lang="en-US" altLang="ko-KR" sz="2000" dirty="0" smtClean="0"/>
              <a:t>.</a:t>
            </a:r>
            <a:endParaRPr lang="en-US" altLang="ko-KR" sz="2000" dirty="0"/>
          </a:p>
          <a:p>
            <a:r>
              <a:rPr lang="ko-KR" altLang="en-US" sz="2000" dirty="0" smtClean="0"/>
              <a:t>실제로 </a:t>
            </a:r>
            <a:r>
              <a:rPr lang="ko-KR" altLang="en-US" sz="2000" dirty="0"/>
              <a:t>이 특성은 이 문제에 있어서 매우 중요하다</a:t>
            </a:r>
            <a:r>
              <a:rPr lang="en-US" altLang="ko-KR" sz="2000" dirty="0"/>
              <a:t>. </a:t>
            </a:r>
            <a:r>
              <a:rPr lang="ko-KR" altLang="en-US" sz="2000" dirty="0"/>
              <a:t>왜냐하면</a:t>
            </a:r>
            <a:r>
              <a:rPr lang="en-US" altLang="ko-KR" sz="2000" dirty="0"/>
              <a:t>, </a:t>
            </a:r>
            <a:r>
              <a:rPr lang="ko-KR" altLang="en-US" sz="2000" dirty="0"/>
              <a:t>기준 문장에 </a:t>
            </a:r>
            <a:r>
              <a:rPr lang="ko-KR" altLang="en-US" sz="2000" dirty="0" smtClean="0"/>
              <a:t>알파벳의 </a:t>
            </a:r>
            <a:r>
              <a:rPr lang="ko-KR" altLang="en-US" sz="2000" dirty="0"/>
              <a:t>모든 문자가 등장하지 않았다면 그 문자를 어떻게 치환할 지 결정할 방법이 없기 </a:t>
            </a:r>
            <a:r>
              <a:rPr lang="ko-KR" altLang="en-US" sz="2000" dirty="0" smtClean="0"/>
              <a:t>때문이다</a:t>
            </a:r>
            <a:r>
              <a:rPr lang="en-US" altLang="ko-KR" sz="2000" dirty="0"/>
              <a:t>.</a:t>
            </a:r>
            <a:endParaRPr lang="ko-KR" altLang="en-US" sz="20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18</a:t>
            </a:fld>
            <a:endParaRPr lang="en-US" altLang="ko-KR" dirty="0"/>
          </a:p>
        </p:txBody>
      </p:sp>
    </p:spTree>
    <p:extLst>
      <p:ext uri="{BB962C8B-B14F-4D97-AF65-F5344CB8AC3E}">
        <p14:creationId xmlns:p14="http://schemas.microsoft.com/office/powerpoint/2010/main" val="1631974557"/>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19</a:t>
            </a:fld>
            <a:endParaRPr lang="en-US" altLang="ko-KR"/>
          </a:p>
        </p:txBody>
      </p:sp>
      <p:sp>
        <p:nvSpPr>
          <p:cNvPr id="7" name="내용 개체 틀 2"/>
          <p:cNvSpPr>
            <a:spLocks noGrp="1"/>
          </p:cNvSpPr>
          <p:nvPr>
            <p:ph idx="1"/>
          </p:nvPr>
        </p:nvSpPr>
        <p:spPr>
          <a:xfrm>
            <a:off x="683568" y="476672"/>
            <a:ext cx="7772400" cy="6264696"/>
          </a:xfrm>
        </p:spPr>
        <p:txBody>
          <a:bodyPr/>
          <a:lstStyle/>
          <a:p>
            <a:pPr marL="0" indent="0">
              <a:buNone/>
            </a:pPr>
            <a:r>
              <a:rPr lang="sv-SE" altLang="ko-KR" sz="1800" dirty="0"/>
              <a:t>// prob. 20: Crypt Kicker </a:t>
            </a:r>
            <a:r>
              <a:rPr lang="sv-SE" altLang="ko-KR" sz="1800" dirty="0" smtClean="0"/>
              <a:t>II</a:t>
            </a:r>
          </a:p>
          <a:p>
            <a:pPr marL="0" indent="0">
              <a:buNone/>
            </a:pPr>
            <a:endParaRPr lang="sv-SE" altLang="ko-KR" sz="1800" dirty="0"/>
          </a:p>
          <a:p>
            <a:pPr marL="0" indent="0">
              <a:buNone/>
            </a:pPr>
            <a:r>
              <a:rPr lang="en-US" altLang="ko-KR" sz="1800" dirty="0" smtClean="0"/>
              <a:t>#</a:t>
            </a:r>
            <a:r>
              <a:rPr lang="en-US" altLang="ko-KR" sz="1800" dirty="0"/>
              <a:t>include &lt;</a:t>
            </a:r>
            <a:r>
              <a:rPr lang="en-US" altLang="ko-KR" sz="1800" dirty="0" err="1"/>
              <a:t>stdio.h</a:t>
            </a:r>
            <a:r>
              <a:rPr lang="en-US" altLang="ko-KR" sz="1800" dirty="0"/>
              <a:t>&gt;</a:t>
            </a:r>
          </a:p>
          <a:p>
            <a:pPr marL="0" indent="0">
              <a:buNone/>
            </a:pPr>
            <a:r>
              <a:rPr lang="en-US" altLang="ko-KR" sz="1800" dirty="0"/>
              <a:t>#include &lt;</a:t>
            </a:r>
            <a:r>
              <a:rPr lang="en-US" altLang="ko-KR" sz="1800" dirty="0" err="1"/>
              <a:t>string.h</a:t>
            </a:r>
            <a:r>
              <a:rPr lang="en-US" altLang="ko-KR" sz="1800" dirty="0"/>
              <a:t>&gt;</a:t>
            </a:r>
          </a:p>
          <a:p>
            <a:pPr marL="0" indent="0">
              <a:buNone/>
            </a:pPr>
            <a:endParaRPr lang="en-US" altLang="ko-KR" sz="1800" dirty="0"/>
          </a:p>
          <a:p>
            <a:pPr marL="0" indent="0">
              <a:buNone/>
            </a:pPr>
            <a:r>
              <a:rPr lang="en-US" altLang="ko-KR" sz="1800" dirty="0"/>
              <a:t>void main(void)</a:t>
            </a:r>
          </a:p>
          <a:p>
            <a:pPr marL="0" indent="0">
              <a:buNone/>
            </a:pPr>
            <a:r>
              <a:rPr lang="en-US" altLang="ko-KR" sz="1800" dirty="0"/>
              <a:t>{</a:t>
            </a:r>
          </a:p>
          <a:p>
            <a:pPr marL="0" indent="0">
              <a:buNone/>
            </a:pPr>
            <a:r>
              <a:rPr lang="en-US" altLang="ko-KR" sz="1800" dirty="0"/>
              <a:t>    static char </a:t>
            </a:r>
            <a:r>
              <a:rPr lang="en-US" altLang="ko-KR" sz="1800" dirty="0" err="1"/>
              <a:t>pltxt</a:t>
            </a:r>
            <a:r>
              <a:rPr lang="en-US" altLang="ko-KR" sz="1800" dirty="0"/>
              <a:t>[] = "the quick brown fox jumps over the lazy dog";</a:t>
            </a:r>
          </a:p>
          <a:p>
            <a:pPr marL="0" indent="0">
              <a:buNone/>
            </a:pPr>
            <a:r>
              <a:rPr lang="en-US" altLang="ko-KR" sz="1800" dirty="0"/>
              <a:t>    static char line[100][100];</a:t>
            </a:r>
          </a:p>
          <a:p>
            <a:pPr marL="0" indent="0">
              <a:buNone/>
            </a:pPr>
            <a:r>
              <a:rPr lang="en-US" altLang="ko-KR" sz="1800" dirty="0"/>
              <a:t>    static char map[256], </a:t>
            </a:r>
            <a:r>
              <a:rPr lang="en-US" altLang="ko-KR" sz="1800" dirty="0" err="1"/>
              <a:t>inv</a:t>
            </a:r>
            <a:r>
              <a:rPr lang="en-US" altLang="ko-KR" sz="1800" dirty="0"/>
              <a:t>[256];</a:t>
            </a:r>
          </a:p>
          <a:p>
            <a:pPr marL="0" indent="0">
              <a:buNone/>
            </a:pPr>
            <a:r>
              <a:rPr lang="en-US" altLang="ko-KR" sz="1800" dirty="0"/>
              <a:t>    </a:t>
            </a:r>
            <a:r>
              <a:rPr lang="en-US" altLang="ko-KR" sz="1800" dirty="0" err="1"/>
              <a:t>int</a:t>
            </a:r>
            <a:r>
              <a:rPr lang="en-US" altLang="ko-KR" sz="1800" dirty="0"/>
              <a:t> </a:t>
            </a:r>
            <a:r>
              <a:rPr lang="en-US" altLang="ko-KR" sz="1800" dirty="0" err="1"/>
              <a:t>num_cases</a:t>
            </a:r>
            <a:r>
              <a:rPr lang="en-US" altLang="ko-KR" sz="1800" dirty="0"/>
              <a:t>, </a:t>
            </a:r>
            <a:r>
              <a:rPr lang="en-US" altLang="ko-KR" sz="1800" dirty="0" err="1"/>
              <a:t>num_lines</a:t>
            </a:r>
            <a:r>
              <a:rPr lang="en-US" altLang="ko-KR" sz="1800" dirty="0"/>
              <a:t>;</a:t>
            </a:r>
          </a:p>
          <a:p>
            <a:pPr marL="0" indent="0">
              <a:buNone/>
            </a:pPr>
            <a:r>
              <a:rPr lang="en-US" altLang="ko-KR" sz="1800" dirty="0"/>
              <a:t>    </a:t>
            </a:r>
            <a:r>
              <a:rPr lang="en-US" altLang="ko-KR" sz="1800" dirty="0" err="1"/>
              <a:t>int</a:t>
            </a:r>
            <a:r>
              <a:rPr lang="en-US" altLang="ko-KR" sz="1800" dirty="0"/>
              <a:t> </a:t>
            </a:r>
            <a:r>
              <a:rPr lang="en-US" altLang="ko-KR" sz="1800" dirty="0" err="1"/>
              <a:t>i</a:t>
            </a:r>
            <a:r>
              <a:rPr lang="en-US" altLang="ko-KR" sz="1800" dirty="0"/>
              <a:t>, j, possible;</a:t>
            </a:r>
          </a:p>
          <a:p>
            <a:pPr marL="0" indent="0">
              <a:buNone/>
            </a:pPr>
            <a:r>
              <a:rPr lang="en-US" altLang="ko-KR" sz="1800" dirty="0"/>
              <a:t>    char c;</a:t>
            </a:r>
          </a:p>
          <a:p>
            <a:pPr marL="0" indent="0">
              <a:buNone/>
            </a:pPr>
            <a:endParaRPr lang="en-US" altLang="ko-KR" sz="1800" dirty="0"/>
          </a:p>
          <a:p>
            <a:pPr marL="0" indent="0">
              <a:buNone/>
            </a:pPr>
            <a:r>
              <a:rPr lang="en-US" altLang="ko-KR" sz="1800" dirty="0"/>
              <a:t>    </a:t>
            </a:r>
            <a:r>
              <a:rPr lang="en-US" altLang="ko-KR" sz="1800" dirty="0" err="1"/>
              <a:t>scanf</a:t>
            </a:r>
            <a:r>
              <a:rPr lang="en-US" altLang="ko-KR" sz="1800" dirty="0"/>
              <a:t>("%d", &amp;</a:t>
            </a:r>
            <a:r>
              <a:rPr lang="en-US" altLang="ko-KR" sz="1800" dirty="0" err="1"/>
              <a:t>num_cases</a:t>
            </a:r>
            <a:r>
              <a:rPr lang="en-US" altLang="ko-KR" sz="1800" dirty="0"/>
              <a:t>);</a:t>
            </a:r>
          </a:p>
          <a:p>
            <a:pPr marL="0" indent="0">
              <a:buNone/>
            </a:pPr>
            <a:r>
              <a:rPr lang="en-US" altLang="ko-KR" sz="1800" dirty="0"/>
              <a:t>    gets(line[0]); // </a:t>
            </a:r>
            <a:r>
              <a:rPr lang="ko-KR" altLang="en-US" sz="1800" dirty="0"/>
              <a:t>빈 줄 </a:t>
            </a:r>
            <a:r>
              <a:rPr lang="en-US" altLang="ko-KR" sz="1800" dirty="0"/>
              <a:t>skip</a:t>
            </a:r>
          </a:p>
          <a:p>
            <a:pPr marL="0" indent="0">
              <a:buNone/>
            </a:pPr>
            <a:r>
              <a:rPr lang="en-US" altLang="ko-KR" sz="1800" dirty="0"/>
              <a:t>    gets(line[0]);</a:t>
            </a:r>
          </a:p>
        </p:txBody>
      </p:sp>
    </p:spTree>
    <p:extLst>
      <p:ext uri="{BB962C8B-B14F-4D97-AF65-F5344CB8AC3E}">
        <p14:creationId xmlns:p14="http://schemas.microsoft.com/office/powerpoint/2010/main" val="2850729571"/>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20</a:t>
            </a:fld>
            <a:endParaRPr lang="en-US" altLang="ko-KR"/>
          </a:p>
        </p:txBody>
      </p:sp>
      <p:sp>
        <p:nvSpPr>
          <p:cNvPr id="7" name="내용 개체 틀 2"/>
          <p:cNvSpPr>
            <a:spLocks noGrp="1"/>
          </p:cNvSpPr>
          <p:nvPr>
            <p:ph idx="1"/>
          </p:nvPr>
        </p:nvSpPr>
        <p:spPr>
          <a:xfrm>
            <a:off x="683568" y="476672"/>
            <a:ext cx="7772400" cy="6264696"/>
          </a:xfrm>
        </p:spPr>
        <p:txBody>
          <a:bodyPr/>
          <a:lstStyle/>
          <a:p>
            <a:pPr marL="0" indent="0">
              <a:buNone/>
            </a:pPr>
            <a:r>
              <a:rPr lang="en-US" altLang="ko-KR" sz="1800" dirty="0" smtClean="0"/>
              <a:t>    </a:t>
            </a:r>
            <a:r>
              <a:rPr lang="en-US" altLang="ko-KR" sz="1800" dirty="0"/>
              <a:t>while (</a:t>
            </a:r>
            <a:r>
              <a:rPr lang="en-US" altLang="ko-KR" sz="1800" dirty="0" err="1"/>
              <a:t>num_cases</a:t>
            </a:r>
            <a:r>
              <a:rPr lang="en-US" altLang="ko-KR" sz="1800" dirty="0"/>
              <a:t>-- &gt; 0) {</a:t>
            </a:r>
          </a:p>
          <a:p>
            <a:pPr marL="0" indent="0">
              <a:buNone/>
            </a:pPr>
            <a:r>
              <a:rPr lang="en-US" altLang="ko-KR" sz="1800" dirty="0"/>
              <a:t>        </a:t>
            </a:r>
            <a:r>
              <a:rPr lang="en-US" altLang="ko-KR" sz="1800" dirty="0" err="1"/>
              <a:t>num_lines</a:t>
            </a:r>
            <a:r>
              <a:rPr lang="en-US" altLang="ko-KR" sz="1800" dirty="0"/>
              <a:t> = 0;</a:t>
            </a:r>
          </a:p>
          <a:p>
            <a:pPr marL="0" indent="0">
              <a:buNone/>
            </a:pPr>
            <a:r>
              <a:rPr lang="en-US" altLang="ko-KR" sz="1800" dirty="0"/>
              <a:t>        while (gets(line[</a:t>
            </a:r>
            <a:r>
              <a:rPr lang="en-US" altLang="ko-KR" sz="1800" dirty="0" err="1"/>
              <a:t>num_lines</a:t>
            </a:r>
            <a:r>
              <a:rPr lang="en-US" altLang="ko-KR" sz="1800" dirty="0"/>
              <a:t>]) &amp;&amp; line[</a:t>
            </a:r>
            <a:r>
              <a:rPr lang="en-US" altLang="ko-KR" sz="1800" dirty="0" err="1"/>
              <a:t>num_lines</a:t>
            </a:r>
            <a:r>
              <a:rPr lang="en-US" altLang="ko-KR" sz="1800" dirty="0"/>
              <a:t>][0])</a:t>
            </a:r>
          </a:p>
          <a:p>
            <a:pPr marL="0" indent="0">
              <a:buNone/>
            </a:pPr>
            <a:r>
              <a:rPr lang="en-US" altLang="ko-KR" sz="1800" dirty="0"/>
              <a:t>            </a:t>
            </a:r>
            <a:r>
              <a:rPr lang="en-US" altLang="ko-KR" sz="1800" dirty="0" err="1"/>
              <a:t>num_lines</a:t>
            </a:r>
            <a:r>
              <a:rPr lang="en-US" altLang="ko-KR" sz="1800" dirty="0"/>
              <a:t>++;</a:t>
            </a:r>
          </a:p>
          <a:p>
            <a:pPr marL="0" indent="0">
              <a:buNone/>
            </a:pPr>
            <a:endParaRPr lang="en-US" altLang="ko-KR" sz="1800" dirty="0"/>
          </a:p>
          <a:p>
            <a:pPr marL="0" indent="0">
              <a:buNone/>
            </a:pPr>
            <a:r>
              <a:rPr lang="en-US" altLang="ko-KR" sz="1800" dirty="0"/>
              <a:t>        possible = 0;</a:t>
            </a:r>
          </a:p>
          <a:p>
            <a:pPr marL="0" indent="0">
              <a:buNone/>
            </a:pPr>
            <a:r>
              <a:rPr lang="en-US" altLang="ko-KR" sz="1800" dirty="0"/>
              <a:t>        for (</a:t>
            </a:r>
            <a:r>
              <a:rPr lang="en-US" altLang="ko-KR" sz="1800" dirty="0" err="1"/>
              <a:t>i</a:t>
            </a:r>
            <a:r>
              <a:rPr lang="en-US" altLang="ko-KR" sz="1800" dirty="0"/>
              <a:t> = 0; </a:t>
            </a:r>
            <a:r>
              <a:rPr lang="en-US" altLang="ko-KR" sz="1800" dirty="0" err="1"/>
              <a:t>i</a:t>
            </a:r>
            <a:r>
              <a:rPr lang="en-US" altLang="ko-KR" sz="1800" dirty="0"/>
              <a:t> &lt; </a:t>
            </a:r>
            <a:r>
              <a:rPr lang="en-US" altLang="ko-KR" sz="1800" dirty="0" err="1"/>
              <a:t>num_lines</a:t>
            </a:r>
            <a:r>
              <a:rPr lang="en-US" altLang="ko-KR" sz="1800" dirty="0"/>
              <a:t>; </a:t>
            </a:r>
            <a:r>
              <a:rPr lang="en-US" altLang="ko-KR" sz="1800" dirty="0" err="1"/>
              <a:t>i</a:t>
            </a:r>
            <a:r>
              <a:rPr lang="en-US" altLang="ko-KR" sz="1800" dirty="0"/>
              <a:t>++) {</a:t>
            </a:r>
          </a:p>
          <a:p>
            <a:pPr marL="0" indent="0">
              <a:buNone/>
            </a:pPr>
            <a:r>
              <a:rPr lang="en-US" altLang="ko-KR" sz="1800" dirty="0"/>
              <a:t>            if (</a:t>
            </a:r>
            <a:r>
              <a:rPr lang="en-US" altLang="ko-KR" sz="1800" dirty="0" err="1"/>
              <a:t>strlen</a:t>
            </a:r>
            <a:r>
              <a:rPr lang="en-US" altLang="ko-KR" sz="1800" dirty="0"/>
              <a:t>(</a:t>
            </a:r>
            <a:r>
              <a:rPr lang="en-US" altLang="ko-KR" sz="1800" dirty="0" err="1"/>
              <a:t>pltxt</a:t>
            </a:r>
            <a:r>
              <a:rPr lang="en-US" altLang="ko-KR" sz="1800" dirty="0"/>
              <a:t>) != </a:t>
            </a:r>
            <a:r>
              <a:rPr lang="en-US" altLang="ko-KR" sz="1800" dirty="0" err="1"/>
              <a:t>strlen</a:t>
            </a:r>
            <a:r>
              <a:rPr lang="en-US" altLang="ko-KR" sz="1800" dirty="0"/>
              <a:t>(line[</a:t>
            </a:r>
            <a:r>
              <a:rPr lang="en-US" altLang="ko-KR" sz="1800" dirty="0" err="1"/>
              <a:t>i</a:t>
            </a:r>
            <a:r>
              <a:rPr lang="en-US" altLang="ko-KR" sz="1800" dirty="0"/>
              <a:t>]))</a:t>
            </a:r>
          </a:p>
          <a:p>
            <a:pPr marL="0" indent="0">
              <a:buNone/>
            </a:pPr>
            <a:r>
              <a:rPr lang="en-US" altLang="ko-KR" sz="1800" dirty="0"/>
              <a:t>                continue;</a:t>
            </a:r>
          </a:p>
          <a:p>
            <a:pPr marL="0" indent="0">
              <a:buNone/>
            </a:pPr>
            <a:r>
              <a:rPr lang="en-US" altLang="ko-KR" sz="1800" dirty="0"/>
              <a:t>            for (c = 'a'; c &lt;= 'z'; </a:t>
            </a:r>
            <a:r>
              <a:rPr lang="en-US" altLang="ko-KR" sz="1800" dirty="0" err="1"/>
              <a:t>c++</a:t>
            </a:r>
            <a:r>
              <a:rPr lang="en-US" altLang="ko-KR" sz="1800" dirty="0"/>
              <a:t>) {</a:t>
            </a:r>
          </a:p>
          <a:p>
            <a:pPr marL="0" indent="0">
              <a:buNone/>
            </a:pPr>
            <a:r>
              <a:rPr lang="en-US" altLang="ko-KR" sz="1800" dirty="0"/>
              <a:t>                map[c] = '\0';</a:t>
            </a:r>
          </a:p>
          <a:p>
            <a:pPr marL="0" indent="0">
              <a:buNone/>
            </a:pPr>
            <a:r>
              <a:rPr lang="en-US" altLang="ko-KR" sz="1800" dirty="0"/>
              <a:t>                </a:t>
            </a:r>
            <a:r>
              <a:rPr lang="en-US" altLang="ko-KR" sz="1800" dirty="0" err="1"/>
              <a:t>inv</a:t>
            </a:r>
            <a:r>
              <a:rPr lang="en-US" altLang="ko-KR" sz="1800" dirty="0"/>
              <a:t>[c] = '\0';</a:t>
            </a:r>
          </a:p>
          <a:p>
            <a:pPr marL="0" indent="0">
              <a:buNone/>
            </a:pPr>
            <a:r>
              <a:rPr lang="en-US" altLang="ko-KR" sz="1800" dirty="0"/>
              <a:t>            }</a:t>
            </a:r>
          </a:p>
          <a:p>
            <a:pPr marL="0" indent="0">
              <a:buNone/>
            </a:pPr>
            <a:r>
              <a:rPr lang="en-US" altLang="ko-KR" sz="1800" dirty="0"/>
              <a:t>  </a:t>
            </a:r>
            <a:r>
              <a:rPr lang="en-US" altLang="ko-KR" sz="1800" dirty="0" smtClean="0"/>
              <a:t>          </a:t>
            </a:r>
            <a:r>
              <a:rPr lang="en-US" altLang="ko-KR" sz="1800" dirty="0"/>
              <a:t>map[' '] = ' </a:t>
            </a:r>
            <a:r>
              <a:rPr lang="en-US" altLang="ko-KR" sz="1800" dirty="0" smtClean="0"/>
              <a:t>';</a:t>
            </a:r>
          </a:p>
          <a:p>
            <a:pPr marL="0" indent="0">
              <a:buNone/>
            </a:pPr>
            <a:r>
              <a:rPr lang="en-US" altLang="ko-KR" sz="1800" dirty="0" smtClean="0"/>
              <a:t>            </a:t>
            </a:r>
            <a:r>
              <a:rPr lang="en-US" altLang="ko-KR" sz="1800" dirty="0"/>
              <a:t>for (j = 0; line[</a:t>
            </a:r>
            <a:r>
              <a:rPr lang="en-US" altLang="ko-KR" sz="1800" dirty="0" err="1"/>
              <a:t>i</a:t>
            </a:r>
            <a:r>
              <a:rPr lang="en-US" altLang="ko-KR" sz="1800" dirty="0"/>
              <a:t>][j]; j++)</a:t>
            </a:r>
          </a:p>
          <a:p>
            <a:pPr marL="0" indent="0">
              <a:buNone/>
            </a:pPr>
            <a:r>
              <a:rPr lang="en-US" altLang="ko-KR" sz="1800" dirty="0"/>
              <a:t>                if (map[line[</a:t>
            </a:r>
            <a:r>
              <a:rPr lang="en-US" altLang="ko-KR" sz="1800" dirty="0" err="1"/>
              <a:t>i</a:t>
            </a:r>
            <a:r>
              <a:rPr lang="en-US" altLang="ko-KR" sz="1800" dirty="0"/>
              <a:t>][j]] &amp;&amp; map[line[</a:t>
            </a:r>
            <a:r>
              <a:rPr lang="en-US" altLang="ko-KR" sz="1800" dirty="0" err="1"/>
              <a:t>i</a:t>
            </a:r>
            <a:r>
              <a:rPr lang="en-US" altLang="ko-KR" sz="1800" dirty="0"/>
              <a:t>][j]] != </a:t>
            </a:r>
            <a:r>
              <a:rPr lang="en-US" altLang="ko-KR" sz="1800" dirty="0" err="1"/>
              <a:t>pltxt</a:t>
            </a:r>
            <a:r>
              <a:rPr lang="en-US" altLang="ko-KR" sz="1800" dirty="0"/>
              <a:t>[j]</a:t>
            </a:r>
          </a:p>
          <a:p>
            <a:pPr marL="0" indent="0">
              <a:buNone/>
            </a:pPr>
            <a:r>
              <a:rPr lang="en-US" altLang="ko-KR" sz="1800" dirty="0"/>
              <a:t>                    || </a:t>
            </a:r>
            <a:r>
              <a:rPr lang="en-US" altLang="ko-KR" sz="1800" dirty="0" err="1"/>
              <a:t>inv</a:t>
            </a:r>
            <a:r>
              <a:rPr lang="en-US" altLang="ko-KR" sz="1800" dirty="0"/>
              <a:t>[</a:t>
            </a:r>
            <a:r>
              <a:rPr lang="en-US" altLang="ko-KR" sz="1800" dirty="0" err="1"/>
              <a:t>pltxt</a:t>
            </a:r>
            <a:r>
              <a:rPr lang="en-US" altLang="ko-KR" sz="1800" dirty="0"/>
              <a:t>[j]] &amp;&amp; </a:t>
            </a:r>
            <a:r>
              <a:rPr lang="en-US" altLang="ko-KR" sz="1800" dirty="0" err="1"/>
              <a:t>inv</a:t>
            </a:r>
            <a:r>
              <a:rPr lang="en-US" altLang="ko-KR" sz="1800" dirty="0"/>
              <a:t>[</a:t>
            </a:r>
            <a:r>
              <a:rPr lang="en-US" altLang="ko-KR" sz="1800" dirty="0" err="1"/>
              <a:t>pltxt</a:t>
            </a:r>
            <a:r>
              <a:rPr lang="en-US" altLang="ko-KR" sz="1800" dirty="0"/>
              <a:t>[j]] != line[</a:t>
            </a:r>
            <a:r>
              <a:rPr lang="en-US" altLang="ko-KR" sz="1800" dirty="0" err="1"/>
              <a:t>i</a:t>
            </a:r>
            <a:r>
              <a:rPr lang="en-US" altLang="ko-KR" sz="1800" dirty="0"/>
              <a:t>][j]) {</a:t>
            </a:r>
          </a:p>
          <a:p>
            <a:pPr marL="0" indent="0">
              <a:buNone/>
            </a:pPr>
            <a:r>
              <a:rPr lang="en-US" altLang="ko-KR" sz="1800" dirty="0"/>
              <a:t>                    </a:t>
            </a:r>
            <a:r>
              <a:rPr lang="en-US" altLang="ko-KR" sz="1800" dirty="0" err="1"/>
              <a:t>goto</a:t>
            </a:r>
            <a:r>
              <a:rPr lang="en-US" altLang="ko-KR" sz="1800" dirty="0"/>
              <a:t> </a:t>
            </a:r>
            <a:r>
              <a:rPr lang="en-US" altLang="ko-KR" sz="1800" dirty="0" err="1"/>
              <a:t>end_of_loop_i</a:t>
            </a:r>
            <a:r>
              <a:rPr lang="en-US" altLang="ko-KR" sz="1800" dirty="0"/>
              <a:t>;</a:t>
            </a:r>
          </a:p>
          <a:p>
            <a:pPr marL="0" indent="0">
              <a:buNone/>
            </a:pPr>
            <a:r>
              <a:rPr lang="en-US" altLang="ko-KR" sz="1800" dirty="0"/>
              <a:t>                }</a:t>
            </a:r>
          </a:p>
        </p:txBody>
      </p:sp>
    </p:spTree>
    <p:extLst>
      <p:ext uri="{BB962C8B-B14F-4D97-AF65-F5344CB8AC3E}">
        <p14:creationId xmlns:p14="http://schemas.microsoft.com/office/powerpoint/2010/main" val="150095458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21</a:t>
            </a:fld>
            <a:endParaRPr lang="en-US" altLang="ko-KR"/>
          </a:p>
        </p:txBody>
      </p:sp>
      <p:sp>
        <p:nvSpPr>
          <p:cNvPr id="7" name="내용 개체 틀 2"/>
          <p:cNvSpPr>
            <a:spLocks noGrp="1"/>
          </p:cNvSpPr>
          <p:nvPr>
            <p:ph idx="1"/>
          </p:nvPr>
        </p:nvSpPr>
        <p:spPr>
          <a:xfrm>
            <a:off x="683568" y="0"/>
            <a:ext cx="7772400" cy="6858000"/>
          </a:xfrm>
        </p:spPr>
        <p:txBody>
          <a:bodyPr/>
          <a:lstStyle/>
          <a:p>
            <a:pPr marL="0" indent="0">
              <a:buNone/>
            </a:pPr>
            <a:r>
              <a:rPr lang="en-US" altLang="ko-KR" sz="1800" dirty="0"/>
              <a:t> </a:t>
            </a:r>
            <a:r>
              <a:rPr lang="en-US" altLang="ko-KR" sz="1800" dirty="0" smtClean="0"/>
              <a:t>           else </a:t>
            </a:r>
            <a:r>
              <a:rPr lang="en-US" altLang="ko-KR" sz="1800" dirty="0"/>
              <a:t>{</a:t>
            </a:r>
          </a:p>
          <a:p>
            <a:pPr marL="0" indent="0">
              <a:buNone/>
            </a:pPr>
            <a:r>
              <a:rPr lang="en-US" altLang="ko-KR" sz="1800" dirty="0"/>
              <a:t>         </a:t>
            </a:r>
            <a:r>
              <a:rPr lang="en-US" altLang="ko-KR" sz="1800" dirty="0" smtClean="0"/>
              <a:t>           </a:t>
            </a:r>
            <a:r>
              <a:rPr lang="en-US" altLang="ko-KR" sz="1800" dirty="0"/>
              <a:t>map[line[</a:t>
            </a:r>
            <a:r>
              <a:rPr lang="en-US" altLang="ko-KR" sz="1800" dirty="0" err="1"/>
              <a:t>i</a:t>
            </a:r>
            <a:r>
              <a:rPr lang="en-US" altLang="ko-KR" sz="1800" dirty="0"/>
              <a:t>][j]] = </a:t>
            </a:r>
            <a:r>
              <a:rPr lang="en-US" altLang="ko-KR" sz="1800" dirty="0" err="1"/>
              <a:t>pltxt</a:t>
            </a:r>
            <a:r>
              <a:rPr lang="en-US" altLang="ko-KR" sz="1800" dirty="0"/>
              <a:t>[j];</a:t>
            </a:r>
          </a:p>
          <a:p>
            <a:pPr marL="0" indent="0">
              <a:buNone/>
            </a:pPr>
            <a:r>
              <a:rPr lang="en-US" altLang="ko-KR" sz="1800" dirty="0"/>
              <a:t>                    </a:t>
            </a:r>
            <a:r>
              <a:rPr lang="en-US" altLang="ko-KR" sz="1800" dirty="0" err="1"/>
              <a:t>inv</a:t>
            </a:r>
            <a:r>
              <a:rPr lang="en-US" altLang="ko-KR" sz="1800" dirty="0"/>
              <a:t>[</a:t>
            </a:r>
            <a:r>
              <a:rPr lang="en-US" altLang="ko-KR" sz="1800" dirty="0" err="1"/>
              <a:t>pltxt</a:t>
            </a:r>
            <a:r>
              <a:rPr lang="en-US" altLang="ko-KR" sz="1800" dirty="0"/>
              <a:t>[j]] = line[</a:t>
            </a:r>
            <a:r>
              <a:rPr lang="en-US" altLang="ko-KR" sz="1800" dirty="0" err="1"/>
              <a:t>i</a:t>
            </a:r>
            <a:r>
              <a:rPr lang="en-US" altLang="ko-KR" sz="1800" dirty="0"/>
              <a:t>][j];</a:t>
            </a:r>
          </a:p>
          <a:p>
            <a:pPr marL="0" indent="0">
              <a:buNone/>
            </a:pPr>
            <a:r>
              <a:rPr lang="en-US" altLang="ko-KR" sz="1800" dirty="0"/>
              <a:t>     </a:t>
            </a:r>
            <a:r>
              <a:rPr lang="en-US" altLang="ko-KR" sz="1800" dirty="0" smtClean="0"/>
              <a:t>       }</a:t>
            </a:r>
            <a:endParaRPr lang="en-US" altLang="ko-KR" sz="1800" dirty="0"/>
          </a:p>
          <a:p>
            <a:pPr marL="0" indent="0">
              <a:buNone/>
            </a:pPr>
            <a:r>
              <a:rPr lang="en-US" altLang="ko-KR" sz="1800" dirty="0"/>
              <a:t>       </a:t>
            </a:r>
            <a:r>
              <a:rPr lang="en-US" altLang="ko-KR" sz="1800" dirty="0" smtClean="0"/>
              <a:t>      possible </a:t>
            </a:r>
            <a:r>
              <a:rPr lang="en-US" altLang="ko-KR" sz="1800" dirty="0"/>
              <a:t>= 1;</a:t>
            </a:r>
          </a:p>
          <a:p>
            <a:pPr marL="0" indent="0">
              <a:buNone/>
            </a:pPr>
            <a:r>
              <a:rPr lang="en-US" altLang="ko-KR" sz="1800" dirty="0"/>
              <a:t>       </a:t>
            </a:r>
            <a:r>
              <a:rPr lang="en-US" altLang="ko-KR" sz="1800" dirty="0" smtClean="0"/>
              <a:t>      break</a:t>
            </a:r>
            <a:r>
              <a:rPr lang="en-US" altLang="ko-KR" sz="1800" dirty="0"/>
              <a:t>;</a:t>
            </a:r>
          </a:p>
          <a:p>
            <a:pPr marL="0" indent="0">
              <a:buNone/>
            </a:pPr>
            <a:r>
              <a:rPr lang="en-US" altLang="ko-KR" sz="1800" dirty="0"/>
              <a:t>    </a:t>
            </a:r>
            <a:r>
              <a:rPr lang="en-US" altLang="ko-KR" sz="1800" dirty="0" err="1"/>
              <a:t>end_of_loop_i</a:t>
            </a:r>
            <a:r>
              <a:rPr lang="en-US" altLang="ko-KR" sz="1800" dirty="0"/>
              <a:t>: ;</a:t>
            </a:r>
          </a:p>
          <a:p>
            <a:pPr marL="0" indent="0">
              <a:buNone/>
            </a:pPr>
            <a:r>
              <a:rPr lang="en-US" altLang="ko-KR" sz="1800" dirty="0"/>
              <a:t>    </a:t>
            </a:r>
            <a:r>
              <a:rPr lang="en-US" altLang="ko-KR" sz="1800" dirty="0" smtClean="0"/>
              <a:t>    }</a:t>
            </a:r>
            <a:endParaRPr lang="en-US" altLang="ko-KR" sz="1800" dirty="0"/>
          </a:p>
          <a:p>
            <a:pPr marL="0" indent="0">
              <a:buNone/>
            </a:pPr>
            <a:r>
              <a:rPr lang="en-US" altLang="ko-KR" sz="1800" dirty="0" smtClean="0"/>
              <a:t>        </a:t>
            </a:r>
            <a:r>
              <a:rPr lang="en-US" altLang="ko-KR" sz="1800" dirty="0"/>
              <a:t>if (possible) {</a:t>
            </a:r>
          </a:p>
          <a:p>
            <a:pPr marL="0" indent="0">
              <a:buNone/>
            </a:pPr>
            <a:r>
              <a:rPr lang="en-US" altLang="ko-KR" sz="1800" dirty="0"/>
              <a:t>     </a:t>
            </a:r>
            <a:r>
              <a:rPr lang="en-US" altLang="ko-KR" sz="1800" dirty="0" smtClean="0"/>
              <a:t>       for </a:t>
            </a:r>
            <a:r>
              <a:rPr lang="en-US" altLang="ko-KR" sz="1800" dirty="0"/>
              <a:t>(</a:t>
            </a:r>
            <a:r>
              <a:rPr lang="en-US" altLang="ko-KR" sz="1800" dirty="0" err="1"/>
              <a:t>i</a:t>
            </a:r>
            <a:r>
              <a:rPr lang="en-US" altLang="ko-KR" sz="1800" dirty="0"/>
              <a:t> = 0; </a:t>
            </a:r>
            <a:r>
              <a:rPr lang="en-US" altLang="ko-KR" sz="1800" dirty="0" err="1"/>
              <a:t>i</a:t>
            </a:r>
            <a:r>
              <a:rPr lang="en-US" altLang="ko-KR" sz="1800" dirty="0"/>
              <a:t> &lt; </a:t>
            </a:r>
            <a:r>
              <a:rPr lang="en-US" altLang="ko-KR" sz="1800" dirty="0" err="1"/>
              <a:t>num_lines</a:t>
            </a:r>
            <a:r>
              <a:rPr lang="en-US" altLang="ko-KR" sz="1800" dirty="0"/>
              <a:t>; </a:t>
            </a:r>
            <a:r>
              <a:rPr lang="en-US" altLang="ko-KR" sz="1800" dirty="0" err="1"/>
              <a:t>i</a:t>
            </a:r>
            <a:r>
              <a:rPr lang="en-US" altLang="ko-KR" sz="1800" dirty="0"/>
              <a:t>++) {</a:t>
            </a:r>
          </a:p>
          <a:p>
            <a:pPr marL="0" indent="0">
              <a:buNone/>
            </a:pPr>
            <a:r>
              <a:rPr lang="en-US" altLang="ko-KR" sz="1800" dirty="0"/>
              <a:t>        </a:t>
            </a:r>
            <a:r>
              <a:rPr lang="en-US" altLang="ko-KR" sz="1800" dirty="0" smtClean="0"/>
              <a:t>        for </a:t>
            </a:r>
            <a:r>
              <a:rPr lang="en-US" altLang="ko-KR" sz="1800" dirty="0"/>
              <a:t>(j = 0; line[</a:t>
            </a:r>
            <a:r>
              <a:rPr lang="en-US" altLang="ko-KR" sz="1800" dirty="0" err="1"/>
              <a:t>i</a:t>
            </a:r>
            <a:r>
              <a:rPr lang="en-US" altLang="ko-KR" sz="1800" dirty="0"/>
              <a:t>][j]; j++)</a:t>
            </a:r>
          </a:p>
          <a:p>
            <a:pPr marL="0" indent="0">
              <a:buNone/>
            </a:pPr>
            <a:r>
              <a:rPr lang="en-US" altLang="ko-KR" sz="1800" dirty="0"/>
              <a:t>          </a:t>
            </a:r>
            <a:r>
              <a:rPr lang="en-US" altLang="ko-KR" sz="1800" dirty="0" smtClean="0"/>
              <a:t>          </a:t>
            </a:r>
            <a:r>
              <a:rPr lang="en-US" altLang="ko-KR" sz="1800" dirty="0" err="1" smtClean="0"/>
              <a:t>putchar</a:t>
            </a:r>
            <a:r>
              <a:rPr lang="en-US" altLang="ko-KR" sz="1800" dirty="0" smtClean="0"/>
              <a:t>(map[line[</a:t>
            </a:r>
            <a:r>
              <a:rPr lang="en-US" altLang="ko-KR" sz="1800" dirty="0" err="1" smtClean="0"/>
              <a:t>i</a:t>
            </a:r>
            <a:r>
              <a:rPr lang="en-US" altLang="ko-KR" sz="1800" dirty="0"/>
              <a:t>][j]]);</a:t>
            </a:r>
          </a:p>
          <a:p>
            <a:pPr marL="0" indent="0">
              <a:buNone/>
            </a:pPr>
            <a:r>
              <a:rPr lang="en-US" altLang="ko-KR" sz="1800" dirty="0"/>
              <a:t>          </a:t>
            </a:r>
            <a:r>
              <a:rPr lang="en-US" altLang="ko-KR" sz="1800" dirty="0" smtClean="0"/>
              <a:t>      </a:t>
            </a:r>
            <a:r>
              <a:rPr lang="en-US" altLang="ko-KR" sz="1800" dirty="0" err="1"/>
              <a:t>putchar</a:t>
            </a:r>
            <a:r>
              <a:rPr lang="en-US" altLang="ko-KR" sz="1800" dirty="0"/>
              <a:t>('\n');</a:t>
            </a:r>
          </a:p>
          <a:p>
            <a:pPr marL="0" indent="0">
              <a:buNone/>
            </a:pPr>
            <a:r>
              <a:rPr lang="en-US" altLang="ko-KR" sz="1800" dirty="0"/>
              <a:t>       </a:t>
            </a:r>
            <a:r>
              <a:rPr lang="en-US" altLang="ko-KR" sz="1800" dirty="0" smtClean="0"/>
              <a:t>     }</a:t>
            </a:r>
            <a:endParaRPr lang="en-US" altLang="ko-KR" sz="1800" dirty="0"/>
          </a:p>
          <a:p>
            <a:pPr marL="0" indent="0">
              <a:buNone/>
            </a:pPr>
            <a:r>
              <a:rPr lang="en-US" altLang="ko-KR" sz="1800" dirty="0"/>
              <a:t>   </a:t>
            </a:r>
            <a:r>
              <a:rPr lang="en-US" altLang="ko-KR" sz="1800" dirty="0" smtClean="0"/>
              <a:t>     </a:t>
            </a:r>
            <a:r>
              <a:rPr lang="en-US" altLang="ko-KR" sz="1800" dirty="0"/>
              <a:t>}</a:t>
            </a:r>
          </a:p>
          <a:p>
            <a:pPr marL="0" indent="0">
              <a:buNone/>
            </a:pPr>
            <a:r>
              <a:rPr lang="en-US" altLang="ko-KR" sz="1800" dirty="0"/>
              <a:t>   </a:t>
            </a:r>
            <a:r>
              <a:rPr lang="en-US" altLang="ko-KR" sz="1800" dirty="0" smtClean="0"/>
              <a:t>     else</a:t>
            </a:r>
            <a:endParaRPr lang="en-US" altLang="ko-KR" sz="1800" dirty="0"/>
          </a:p>
          <a:p>
            <a:pPr marL="0" indent="0">
              <a:buNone/>
            </a:pPr>
            <a:r>
              <a:rPr lang="en-US" altLang="ko-KR" sz="1800" dirty="0"/>
              <a:t>    </a:t>
            </a:r>
            <a:r>
              <a:rPr lang="en-US" altLang="ko-KR" sz="1800" dirty="0" smtClean="0"/>
              <a:t>        </a:t>
            </a:r>
            <a:r>
              <a:rPr lang="en-US" altLang="ko-KR" sz="1800" dirty="0" err="1" smtClean="0"/>
              <a:t>printf</a:t>
            </a:r>
            <a:r>
              <a:rPr lang="en-US" altLang="ko-KR" sz="1800" dirty="0"/>
              <a:t>("No solution.\n");</a:t>
            </a:r>
          </a:p>
          <a:p>
            <a:pPr marL="0" indent="0">
              <a:buNone/>
            </a:pPr>
            <a:r>
              <a:rPr lang="en-US" altLang="ko-KR" sz="1800" dirty="0"/>
              <a:t>   </a:t>
            </a:r>
            <a:r>
              <a:rPr lang="en-US" altLang="ko-KR" sz="1800" dirty="0" smtClean="0"/>
              <a:t>     if </a:t>
            </a:r>
            <a:r>
              <a:rPr lang="en-US" altLang="ko-KR" sz="1800" dirty="0"/>
              <a:t>(</a:t>
            </a:r>
            <a:r>
              <a:rPr lang="en-US" altLang="ko-KR" sz="1800" dirty="0" err="1"/>
              <a:t>num_cases</a:t>
            </a:r>
            <a:r>
              <a:rPr lang="en-US" altLang="ko-KR" sz="1800" dirty="0"/>
              <a:t> &gt; 0)</a:t>
            </a:r>
          </a:p>
          <a:p>
            <a:pPr marL="0" indent="0">
              <a:buNone/>
            </a:pPr>
            <a:r>
              <a:rPr lang="en-US" altLang="ko-KR" sz="1800" dirty="0"/>
              <a:t>      </a:t>
            </a:r>
            <a:r>
              <a:rPr lang="en-US" altLang="ko-KR" sz="1800" dirty="0" smtClean="0"/>
              <a:t>      </a:t>
            </a:r>
            <a:r>
              <a:rPr lang="en-US" altLang="ko-KR" sz="1800" dirty="0" err="1"/>
              <a:t>putchar</a:t>
            </a:r>
            <a:r>
              <a:rPr lang="en-US" altLang="ko-KR" sz="1800" dirty="0"/>
              <a:t>('\n');</a:t>
            </a:r>
          </a:p>
          <a:p>
            <a:pPr marL="0" indent="0">
              <a:buNone/>
            </a:pPr>
            <a:r>
              <a:rPr lang="en-US" altLang="ko-KR" sz="1800" dirty="0" smtClean="0"/>
              <a:t>    }</a:t>
            </a:r>
            <a:endParaRPr lang="en-US" altLang="ko-KR" sz="1800" dirty="0"/>
          </a:p>
          <a:p>
            <a:pPr marL="0" indent="0">
              <a:buNone/>
            </a:pPr>
            <a:r>
              <a:rPr lang="en-US" altLang="ko-KR" sz="1800" dirty="0" smtClean="0"/>
              <a:t>}</a:t>
            </a:r>
            <a:endParaRPr lang="en-US" altLang="ko-KR" sz="1800" dirty="0"/>
          </a:p>
        </p:txBody>
      </p:sp>
    </p:spTree>
    <p:extLst>
      <p:ext uri="{BB962C8B-B14F-4D97-AF65-F5344CB8AC3E}">
        <p14:creationId xmlns:p14="http://schemas.microsoft.com/office/powerpoint/2010/main" val="2203713249"/>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문제 </a:t>
            </a:r>
            <a:r>
              <a:rPr lang="en-US" altLang="ko-KR" dirty="0" smtClean="0"/>
              <a:t>21. </a:t>
            </a:r>
            <a:r>
              <a:rPr lang="ko-KR" altLang="en-US" dirty="0" smtClean="0"/>
              <a:t>자동 심사 스크립트</a:t>
            </a:r>
            <a:endParaRPr lang="ko-KR" altLang="en-US" dirty="0"/>
          </a:p>
        </p:txBody>
      </p:sp>
      <p:sp>
        <p:nvSpPr>
          <p:cNvPr id="3" name="내용 개체 틀 2"/>
          <p:cNvSpPr>
            <a:spLocks noGrp="1"/>
          </p:cNvSpPr>
          <p:nvPr>
            <p:ph idx="1"/>
          </p:nvPr>
        </p:nvSpPr>
        <p:spPr/>
        <p:txBody>
          <a:bodyPr/>
          <a:lstStyle/>
          <a:p>
            <a:r>
              <a:rPr lang="ko-KR" altLang="en-US" sz="2400" dirty="0" smtClean="0"/>
              <a:t>심사위원 없이 심사를 진행할 수 있도록 제출된 풀이를 심사하는 자동화된 스크립트를 작성하라</a:t>
            </a:r>
            <a:r>
              <a:rPr lang="en-US" altLang="ko-KR" sz="2400" dirty="0" smtClean="0"/>
              <a:t>.</a:t>
            </a:r>
          </a:p>
          <a:p>
            <a:r>
              <a:rPr lang="ko-KR" altLang="en-US" sz="2400" dirty="0" smtClean="0"/>
              <a:t>정답과 제출된 프로그램에서 만들어낸 출력 결과가 들어 있는 파일을 받아서 아래에 정의된 방법에 따라 </a:t>
            </a:r>
            <a:r>
              <a:rPr lang="en-US" altLang="ko-KR" sz="2400" dirty="0" smtClean="0"/>
              <a:t>Accepted, Presentation Error, Wrong Answer </a:t>
            </a:r>
            <a:r>
              <a:rPr lang="ko-KR" altLang="en-US" sz="2400" dirty="0" smtClean="0"/>
              <a:t>가운데 하나로 답해야 한다</a:t>
            </a:r>
            <a:r>
              <a:rPr lang="en-US" altLang="ko-KR" sz="2400" dirty="0" smtClean="0"/>
              <a:t>.</a:t>
            </a:r>
          </a:p>
          <a:p>
            <a:pPr lvl="1"/>
            <a:r>
              <a:rPr lang="en-US" altLang="ko-KR" sz="2000" dirty="0" smtClean="0"/>
              <a:t>Accepted: </a:t>
            </a:r>
            <a:r>
              <a:rPr lang="ko-KR" altLang="en-US" sz="2000" dirty="0" smtClean="0"/>
              <a:t>제출된 프로그램에 의한 출력 결과가 정답과 완벽하게 일치하는 경우</a:t>
            </a:r>
            <a:endParaRPr lang="en-US" altLang="ko-KR" sz="2000" dirty="0" smtClean="0"/>
          </a:p>
          <a:p>
            <a:pPr lvl="1"/>
            <a:r>
              <a:rPr lang="en-US" altLang="ko-KR" sz="2000" dirty="0" smtClean="0"/>
              <a:t>Presentation Error: </a:t>
            </a:r>
            <a:r>
              <a:rPr lang="ko-KR" altLang="en-US" sz="2000" dirty="0" smtClean="0"/>
              <a:t>숫자는 전부 같은 순서로 매치되지만 숫자가 아닌 문자가 하나 이상 매치되지 않는 것이 있는 경우</a:t>
            </a:r>
            <a:endParaRPr lang="en-US" altLang="ko-KR" sz="2000" dirty="0" smtClean="0"/>
          </a:p>
          <a:p>
            <a:pPr lvl="1"/>
            <a:r>
              <a:rPr lang="en-US" altLang="ko-KR" sz="2000" dirty="0" smtClean="0"/>
              <a:t>Wrong Answer: </a:t>
            </a:r>
            <a:r>
              <a:rPr lang="ko-KR" altLang="en-US" sz="2000" dirty="0" smtClean="0"/>
              <a:t>출력 결과가 위의 두 가지에 해당되지 않는 경우</a:t>
            </a:r>
            <a:endParaRPr lang="en-US" altLang="ko-KR" sz="2000" dirty="0" smtClean="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22</a:t>
            </a:fld>
            <a:endParaRPr lang="en-US" altLang="ko-KR"/>
          </a:p>
        </p:txBody>
      </p:sp>
    </p:spTree>
    <p:extLst>
      <p:ext uri="{BB962C8B-B14F-4D97-AF65-F5344CB8AC3E}">
        <p14:creationId xmlns:p14="http://schemas.microsoft.com/office/powerpoint/2010/main" val="414064457"/>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548680"/>
            <a:ext cx="7772400" cy="5547320"/>
          </a:xfrm>
        </p:spPr>
        <p:txBody>
          <a:bodyPr/>
          <a:lstStyle/>
          <a:p>
            <a:r>
              <a:rPr lang="ko-KR" altLang="en-US" sz="2800" dirty="0" smtClean="0"/>
              <a:t>입력</a:t>
            </a:r>
            <a:endParaRPr lang="en-US" altLang="ko-KR" sz="2800" dirty="0" smtClean="0"/>
          </a:p>
          <a:p>
            <a:pPr lvl="1"/>
            <a:r>
              <a:rPr lang="ko-KR" altLang="en-US" sz="2400" dirty="0" smtClean="0"/>
              <a:t>임의 개수의 입력 세트로 구성</a:t>
            </a:r>
            <a:endParaRPr lang="en-US" altLang="ko-KR" sz="2400" dirty="0" smtClean="0"/>
          </a:p>
          <a:p>
            <a:pPr lvl="1"/>
            <a:r>
              <a:rPr lang="ko-KR" altLang="en-US" sz="2400" dirty="0" smtClean="0"/>
              <a:t>각 입력 세트는 정답의 줄 수를 나타내는 </a:t>
            </a:r>
            <a:r>
              <a:rPr lang="en-US" altLang="ko-KR" sz="2400" dirty="0" smtClean="0"/>
              <a:t>100 </a:t>
            </a:r>
            <a:r>
              <a:rPr lang="ko-KR" altLang="en-US" sz="2400" dirty="0" smtClean="0"/>
              <a:t>미만의 양의 정수 </a:t>
            </a:r>
            <a:r>
              <a:rPr lang="en-US" altLang="ko-KR" sz="2400" dirty="0" smtClean="0"/>
              <a:t>n</a:t>
            </a:r>
            <a:r>
              <a:rPr lang="ko-KR" altLang="en-US" sz="2400" dirty="0" smtClean="0"/>
              <a:t>이 들어 있는 행으로 시작</a:t>
            </a:r>
            <a:endParaRPr lang="en-US" altLang="ko-KR" sz="2400" dirty="0" smtClean="0"/>
          </a:p>
          <a:p>
            <a:pPr lvl="1"/>
            <a:r>
              <a:rPr lang="ko-KR" altLang="en-US" sz="2400" dirty="0" smtClean="0"/>
              <a:t>그 다음 </a:t>
            </a:r>
            <a:r>
              <a:rPr lang="en-US" altLang="ko-KR" sz="2400" dirty="0" smtClean="0"/>
              <a:t>n</a:t>
            </a:r>
            <a:r>
              <a:rPr lang="ko-KR" altLang="en-US" sz="2400" dirty="0" smtClean="0"/>
              <a:t>개의 줄에는 정답이 입력됨</a:t>
            </a:r>
            <a:endParaRPr lang="en-US" altLang="ko-KR" sz="2400" dirty="0" smtClean="0"/>
          </a:p>
          <a:p>
            <a:pPr lvl="1"/>
            <a:r>
              <a:rPr lang="ko-KR" altLang="en-US" sz="2400" dirty="0" smtClean="0"/>
              <a:t>그 다음 줄에는 제출된 풀이의 출력 결과의 줄 수를 나타내는 </a:t>
            </a:r>
            <a:r>
              <a:rPr lang="en-US" altLang="ko-KR" sz="2400" dirty="0" smtClean="0"/>
              <a:t>100 </a:t>
            </a:r>
            <a:r>
              <a:rPr lang="ko-KR" altLang="en-US" sz="2400" dirty="0" smtClean="0"/>
              <a:t>미만의 양의 정수 </a:t>
            </a:r>
            <a:r>
              <a:rPr lang="en-US" altLang="ko-KR" sz="2400" dirty="0" smtClean="0"/>
              <a:t>m</a:t>
            </a:r>
            <a:r>
              <a:rPr lang="ko-KR" altLang="en-US" sz="2400" dirty="0" smtClean="0"/>
              <a:t>이 들어 있는 행</a:t>
            </a:r>
            <a:endParaRPr lang="en-US" altLang="ko-KR" sz="2400" dirty="0" smtClean="0"/>
          </a:p>
          <a:p>
            <a:pPr lvl="1"/>
            <a:r>
              <a:rPr lang="ko-KR" altLang="en-US" sz="2400" dirty="0" smtClean="0"/>
              <a:t>그 다음 </a:t>
            </a:r>
            <a:r>
              <a:rPr lang="en-US" altLang="ko-KR" sz="2400" dirty="0" smtClean="0"/>
              <a:t>m</a:t>
            </a:r>
            <a:r>
              <a:rPr lang="ko-KR" altLang="en-US" sz="2400" dirty="0" smtClean="0"/>
              <a:t>개의 줄에는 제출된 프로그램에서 출력한 내용</a:t>
            </a:r>
            <a:endParaRPr lang="en-US" altLang="ko-KR" sz="2400" dirty="0" smtClean="0"/>
          </a:p>
          <a:p>
            <a:pPr lvl="1"/>
            <a:r>
              <a:rPr lang="en-US" altLang="ko-KR" sz="2400" dirty="0" smtClean="0"/>
              <a:t>n</a:t>
            </a:r>
            <a:r>
              <a:rPr lang="ko-KR" altLang="en-US" sz="2400" dirty="0" smtClean="0"/>
              <a:t>이 </a:t>
            </a:r>
            <a:r>
              <a:rPr lang="en-US" altLang="ko-KR" sz="2400" dirty="0" smtClean="0"/>
              <a:t>0</a:t>
            </a:r>
            <a:r>
              <a:rPr lang="ko-KR" altLang="en-US" sz="2400" dirty="0" smtClean="0"/>
              <a:t>이 입력되면 입력을 종료하고 그 행을 처리하지 않음</a:t>
            </a:r>
            <a:endParaRPr lang="ko-KR" altLang="en-US" sz="24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23</a:t>
            </a:fld>
            <a:endParaRPr lang="en-US" altLang="ko-KR"/>
          </a:p>
        </p:txBody>
      </p:sp>
    </p:spTree>
    <p:extLst>
      <p:ext uri="{BB962C8B-B14F-4D97-AF65-F5344CB8AC3E}">
        <p14:creationId xmlns:p14="http://schemas.microsoft.com/office/powerpoint/2010/main" val="292335149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a:xfrm>
            <a:off x="685800" y="548680"/>
            <a:ext cx="7772400" cy="5547320"/>
          </a:xfrm>
        </p:spPr>
        <p:txBody>
          <a:bodyPr/>
          <a:lstStyle/>
          <a:p>
            <a:r>
              <a:rPr lang="ko-KR" altLang="en-US" sz="2800" dirty="0" smtClean="0"/>
              <a:t>출력</a:t>
            </a:r>
            <a:endParaRPr lang="en-US" altLang="ko-KR" sz="2800" dirty="0" smtClean="0"/>
          </a:p>
          <a:p>
            <a:pPr lvl="1"/>
            <a:r>
              <a:rPr lang="ko-KR" altLang="en-US" sz="2400" dirty="0" smtClean="0"/>
              <a:t>각 세트에 대해 다음 중 하나를 출력한다</a:t>
            </a:r>
            <a:r>
              <a:rPr lang="en-US" altLang="ko-KR" sz="2400" dirty="0" smtClean="0"/>
              <a:t>.</a:t>
            </a:r>
          </a:p>
          <a:p>
            <a:pPr lvl="2"/>
            <a:r>
              <a:rPr lang="en-US" altLang="ko-KR" sz="2000" dirty="0" smtClean="0"/>
              <a:t>Run #x: Accepted</a:t>
            </a:r>
          </a:p>
          <a:p>
            <a:pPr lvl="2"/>
            <a:r>
              <a:rPr lang="en-US" altLang="ko-KR" sz="2000" dirty="0" smtClean="0"/>
              <a:t>Run #x: Presentation Error</a:t>
            </a:r>
          </a:p>
          <a:p>
            <a:pPr lvl="2"/>
            <a:r>
              <a:rPr lang="en-US" altLang="ko-KR" sz="2000" dirty="0" smtClean="0"/>
              <a:t>Run #x: Wrong Answer</a:t>
            </a:r>
          </a:p>
          <a:p>
            <a:pPr lvl="1"/>
            <a:r>
              <a:rPr lang="ko-KR" altLang="en-US" sz="2400" dirty="0" smtClean="0"/>
              <a:t>여기에서 </a:t>
            </a:r>
            <a:r>
              <a:rPr lang="en-US" altLang="ko-KR" sz="2400" dirty="0" smtClean="0"/>
              <a:t>x</a:t>
            </a:r>
            <a:r>
              <a:rPr lang="ko-KR" altLang="en-US" sz="2400" dirty="0" smtClean="0"/>
              <a:t>에는 입력 세트의 번호</a:t>
            </a:r>
            <a:r>
              <a:rPr lang="en-US" altLang="ko-KR" sz="2400" dirty="0" smtClean="0"/>
              <a:t>(1</a:t>
            </a:r>
            <a:r>
              <a:rPr lang="ko-KR" altLang="en-US" sz="2400" dirty="0" smtClean="0"/>
              <a:t>에서 시작</a:t>
            </a:r>
            <a:r>
              <a:rPr lang="en-US" altLang="ko-KR" sz="2400" dirty="0" smtClean="0"/>
              <a:t>)</a:t>
            </a:r>
            <a:r>
              <a:rPr lang="ko-KR" altLang="en-US" sz="2400" dirty="0" smtClean="0"/>
              <a:t>가 들어간다</a:t>
            </a:r>
            <a:r>
              <a:rPr lang="en-US" altLang="ko-KR" sz="2400" dirty="0" smtClean="0"/>
              <a:t>.</a:t>
            </a:r>
            <a:endParaRPr lang="ko-KR" altLang="en-US" sz="24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24</a:t>
            </a:fld>
            <a:endParaRPr lang="en-US" altLang="ko-KR"/>
          </a:p>
        </p:txBody>
      </p:sp>
    </p:spTree>
    <p:extLst>
      <p:ext uri="{BB962C8B-B14F-4D97-AF65-F5344CB8AC3E}">
        <p14:creationId xmlns:p14="http://schemas.microsoft.com/office/powerpoint/2010/main" val="3967897602"/>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25</a:t>
            </a:fld>
            <a:endParaRPr lang="en-US" altLang="ko-KR"/>
          </a:p>
        </p:txBody>
      </p:sp>
      <p:sp>
        <p:nvSpPr>
          <p:cNvPr id="5" name="내용 개체 틀 2"/>
          <p:cNvSpPr>
            <a:spLocks noGrp="1"/>
          </p:cNvSpPr>
          <p:nvPr>
            <p:ph idx="1"/>
          </p:nvPr>
        </p:nvSpPr>
        <p:spPr>
          <a:xfrm>
            <a:off x="25989" y="260648"/>
            <a:ext cx="1869976" cy="504056"/>
          </a:xfrm>
        </p:spPr>
        <p:txBody>
          <a:bodyPr/>
          <a:lstStyle/>
          <a:p>
            <a:r>
              <a:rPr lang="ko-KR" altLang="en-US" sz="2800" dirty="0" smtClean="0"/>
              <a:t>입력 예</a:t>
            </a:r>
            <a:endParaRPr lang="en-US" altLang="ko-KR" sz="2800" dirty="0" smtClean="0"/>
          </a:p>
        </p:txBody>
      </p:sp>
      <p:sp>
        <p:nvSpPr>
          <p:cNvPr id="7" name="TextBox 6"/>
          <p:cNvSpPr txBox="1"/>
          <p:nvPr/>
        </p:nvSpPr>
        <p:spPr>
          <a:xfrm>
            <a:off x="2051720" y="260648"/>
            <a:ext cx="1784463" cy="6555641"/>
          </a:xfrm>
          <a:prstGeom prst="rect">
            <a:avLst/>
          </a:prstGeom>
          <a:noFill/>
        </p:spPr>
        <p:txBody>
          <a:bodyPr wrap="none" rtlCol="0">
            <a:spAutoFit/>
          </a:bodyPr>
          <a:lstStyle/>
          <a:p>
            <a:pPr marL="0" indent="0">
              <a:buNone/>
            </a:pPr>
            <a:r>
              <a:rPr lang="en-US" altLang="ko-KR" sz="1200" b="0" dirty="0" smtClean="0"/>
              <a:t>2</a:t>
            </a:r>
          </a:p>
          <a:p>
            <a:pPr marL="0" indent="0">
              <a:buNone/>
            </a:pPr>
            <a:r>
              <a:rPr lang="en-US" altLang="ko-KR" sz="1200" b="0" dirty="0" smtClean="0"/>
              <a:t>The answer is: 10</a:t>
            </a:r>
          </a:p>
          <a:p>
            <a:pPr marL="0" indent="0">
              <a:buNone/>
            </a:pPr>
            <a:r>
              <a:rPr lang="en-US" altLang="ko-KR" sz="1200" b="0" dirty="0" smtClean="0"/>
              <a:t>The answer is: 5</a:t>
            </a:r>
          </a:p>
          <a:p>
            <a:pPr marL="0" indent="0">
              <a:buNone/>
            </a:pPr>
            <a:r>
              <a:rPr lang="en-US" altLang="ko-KR" sz="1200" b="0" dirty="0" smtClean="0"/>
              <a:t>2</a:t>
            </a:r>
          </a:p>
          <a:p>
            <a:pPr marL="0" indent="0">
              <a:buNone/>
            </a:pPr>
            <a:r>
              <a:rPr lang="en-US" altLang="ko-KR" sz="1200" b="0" dirty="0" smtClean="0"/>
              <a:t>The answer is: 10</a:t>
            </a:r>
          </a:p>
          <a:p>
            <a:pPr marL="0" indent="0">
              <a:buNone/>
            </a:pPr>
            <a:r>
              <a:rPr lang="en-US" altLang="ko-KR" sz="1200" b="0" dirty="0" smtClean="0"/>
              <a:t>The answer is: 5</a:t>
            </a:r>
          </a:p>
          <a:p>
            <a:pPr marL="0" indent="0">
              <a:buNone/>
            </a:pPr>
            <a:r>
              <a:rPr lang="en-US" altLang="ko-KR" sz="1200" b="0" dirty="0" smtClean="0"/>
              <a:t>2</a:t>
            </a:r>
          </a:p>
          <a:p>
            <a:pPr marL="0" indent="0">
              <a:buNone/>
            </a:pPr>
            <a:r>
              <a:rPr lang="en-US" altLang="ko-KR" sz="1200" b="0" dirty="0" smtClean="0"/>
              <a:t>The answer is: 10</a:t>
            </a:r>
          </a:p>
          <a:p>
            <a:pPr marL="0" indent="0">
              <a:buNone/>
            </a:pPr>
            <a:r>
              <a:rPr lang="en-US" altLang="ko-KR" sz="1200" b="0" dirty="0" smtClean="0"/>
              <a:t>The answer is: 5</a:t>
            </a:r>
          </a:p>
          <a:p>
            <a:pPr marL="0" indent="0">
              <a:buNone/>
            </a:pPr>
            <a:r>
              <a:rPr lang="en-US" altLang="ko-KR" sz="1200" b="0" dirty="0" smtClean="0"/>
              <a:t>2</a:t>
            </a:r>
          </a:p>
          <a:p>
            <a:pPr marL="0" indent="0">
              <a:buNone/>
            </a:pPr>
            <a:r>
              <a:rPr lang="en-US" altLang="ko-KR" sz="1200" b="0" dirty="0" smtClean="0"/>
              <a:t>The answer is: 10</a:t>
            </a:r>
          </a:p>
          <a:p>
            <a:pPr marL="0" indent="0">
              <a:buNone/>
            </a:pPr>
            <a:r>
              <a:rPr lang="en-US" altLang="ko-KR" sz="1200" b="0" dirty="0" smtClean="0"/>
              <a:t>The answer is: 15</a:t>
            </a:r>
          </a:p>
          <a:p>
            <a:pPr marL="0" indent="0">
              <a:buNone/>
            </a:pPr>
            <a:r>
              <a:rPr lang="en-US" altLang="ko-KR" sz="1200" b="0" dirty="0" smtClean="0"/>
              <a:t>2</a:t>
            </a:r>
          </a:p>
          <a:p>
            <a:pPr marL="0" indent="0">
              <a:buNone/>
            </a:pPr>
            <a:r>
              <a:rPr lang="en-US" altLang="ko-KR" sz="1200" b="0" dirty="0" smtClean="0"/>
              <a:t>The answer is: 10</a:t>
            </a:r>
          </a:p>
          <a:p>
            <a:pPr marL="0" indent="0">
              <a:buNone/>
            </a:pPr>
            <a:r>
              <a:rPr lang="en-US" altLang="ko-KR" sz="1200" b="0" dirty="0" smtClean="0"/>
              <a:t>The answer is:  5</a:t>
            </a:r>
          </a:p>
          <a:p>
            <a:pPr marL="0" indent="0">
              <a:buNone/>
            </a:pPr>
            <a:r>
              <a:rPr lang="en-US" altLang="ko-KR" sz="1200" b="0" dirty="0" smtClean="0"/>
              <a:t>2</a:t>
            </a:r>
          </a:p>
          <a:p>
            <a:pPr marL="0" indent="0">
              <a:buNone/>
            </a:pPr>
            <a:r>
              <a:rPr lang="en-US" altLang="ko-KR" sz="1200" b="0" dirty="0" smtClean="0"/>
              <a:t>The answer is: 10</a:t>
            </a:r>
          </a:p>
          <a:p>
            <a:pPr marL="0" indent="0">
              <a:buNone/>
            </a:pPr>
            <a:r>
              <a:rPr lang="en-US" altLang="ko-KR" sz="1200" b="0" dirty="0" smtClean="0"/>
              <a:t>The answer is: 5</a:t>
            </a:r>
          </a:p>
          <a:p>
            <a:pPr marL="0" indent="0">
              <a:buNone/>
            </a:pPr>
            <a:r>
              <a:rPr lang="en-US" altLang="ko-KR" sz="1200" b="0" dirty="0" smtClean="0"/>
              <a:t>3</a:t>
            </a:r>
          </a:p>
          <a:p>
            <a:pPr marL="0" indent="0">
              <a:buNone/>
            </a:pPr>
            <a:r>
              <a:rPr lang="en-US" altLang="ko-KR" sz="1200" b="0" dirty="0" smtClean="0"/>
              <a:t>Input Set #1: YES</a:t>
            </a:r>
          </a:p>
          <a:p>
            <a:pPr marL="0" indent="0">
              <a:buNone/>
            </a:pPr>
            <a:r>
              <a:rPr lang="en-US" altLang="ko-KR" sz="1200" b="0" dirty="0" smtClean="0"/>
              <a:t>Input Set #2: NO</a:t>
            </a:r>
          </a:p>
          <a:p>
            <a:pPr marL="0" indent="0">
              <a:buNone/>
            </a:pPr>
            <a:r>
              <a:rPr lang="en-US" altLang="ko-KR" sz="1200" b="0" dirty="0" smtClean="0"/>
              <a:t>Input Set #3: NO</a:t>
            </a:r>
          </a:p>
          <a:p>
            <a:pPr marL="0" indent="0">
              <a:buNone/>
            </a:pPr>
            <a:r>
              <a:rPr lang="en-US" altLang="ko-KR" sz="1200" b="0" dirty="0" smtClean="0"/>
              <a:t>3</a:t>
            </a:r>
          </a:p>
          <a:p>
            <a:pPr marL="0" indent="0">
              <a:buNone/>
            </a:pPr>
            <a:r>
              <a:rPr lang="en-US" altLang="ko-KR" sz="1200" b="0" dirty="0" smtClean="0"/>
              <a:t>Input Set #0: YES</a:t>
            </a:r>
          </a:p>
          <a:p>
            <a:pPr marL="0" indent="0">
              <a:buNone/>
            </a:pPr>
            <a:r>
              <a:rPr lang="en-US" altLang="ko-KR" sz="1200" b="0" dirty="0" smtClean="0"/>
              <a:t>Input Set #1: NO</a:t>
            </a:r>
          </a:p>
          <a:p>
            <a:pPr marL="0" indent="0">
              <a:buNone/>
            </a:pPr>
            <a:r>
              <a:rPr lang="en-US" altLang="ko-KR" sz="1200" b="0" dirty="0" smtClean="0"/>
              <a:t>Input Set #2: NO</a:t>
            </a:r>
          </a:p>
          <a:p>
            <a:pPr marL="0" indent="0">
              <a:buNone/>
            </a:pPr>
            <a:r>
              <a:rPr lang="en-US" altLang="ko-KR" sz="1200" b="0" dirty="0" smtClean="0"/>
              <a:t>1</a:t>
            </a:r>
          </a:p>
          <a:p>
            <a:pPr marL="0" indent="0">
              <a:buNone/>
            </a:pPr>
            <a:r>
              <a:rPr lang="en-US" altLang="ko-KR" sz="1200" b="0" dirty="0" smtClean="0"/>
              <a:t>1 0 1 0</a:t>
            </a:r>
          </a:p>
          <a:p>
            <a:pPr marL="0" indent="0">
              <a:buNone/>
            </a:pPr>
            <a:r>
              <a:rPr lang="en-US" altLang="ko-KR" sz="1200" b="0" dirty="0" smtClean="0"/>
              <a:t>1</a:t>
            </a:r>
          </a:p>
          <a:p>
            <a:pPr marL="0" indent="0">
              <a:buNone/>
            </a:pPr>
            <a:r>
              <a:rPr lang="en-US" altLang="ko-KR" sz="1200" b="0" dirty="0" smtClean="0"/>
              <a:t>1010</a:t>
            </a:r>
          </a:p>
          <a:p>
            <a:pPr marL="0" indent="0">
              <a:buNone/>
            </a:pPr>
            <a:r>
              <a:rPr lang="en-US" altLang="ko-KR" sz="1200" b="0" dirty="0" smtClean="0"/>
              <a:t>1</a:t>
            </a:r>
          </a:p>
          <a:p>
            <a:pPr marL="0" indent="0">
              <a:buNone/>
            </a:pPr>
            <a:r>
              <a:rPr lang="en-US" altLang="ko-KR" sz="1200" b="0" dirty="0" smtClean="0"/>
              <a:t>The judges are mean!</a:t>
            </a:r>
          </a:p>
          <a:p>
            <a:pPr marL="0" indent="0">
              <a:buNone/>
            </a:pPr>
            <a:r>
              <a:rPr lang="en-US" altLang="ko-KR" sz="1200" b="0" dirty="0" smtClean="0"/>
              <a:t>1</a:t>
            </a:r>
          </a:p>
          <a:p>
            <a:pPr marL="0" indent="0">
              <a:buNone/>
            </a:pPr>
            <a:r>
              <a:rPr lang="en-US" altLang="ko-KR" sz="1200" b="0" dirty="0" smtClean="0"/>
              <a:t>The judges are good!</a:t>
            </a:r>
          </a:p>
          <a:p>
            <a:pPr marL="0" indent="0">
              <a:buNone/>
            </a:pPr>
            <a:r>
              <a:rPr lang="en-US" altLang="ko-KR" sz="1200" b="0" dirty="0" smtClean="0"/>
              <a:t>0</a:t>
            </a:r>
            <a:endParaRPr lang="en-US" altLang="ko-KR" sz="1200" b="0" dirty="0"/>
          </a:p>
        </p:txBody>
      </p:sp>
      <p:sp>
        <p:nvSpPr>
          <p:cNvPr id="8" name="내용 개체 틀 2"/>
          <p:cNvSpPr txBox="1">
            <a:spLocks/>
          </p:cNvSpPr>
          <p:nvPr/>
        </p:nvSpPr>
        <p:spPr bwMode="auto">
          <a:xfrm>
            <a:off x="4362206" y="260648"/>
            <a:ext cx="186997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a:lstStyle>
          <a:p>
            <a:r>
              <a:rPr lang="ko-KR" altLang="en-US" sz="2800" b="0" dirty="0"/>
              <a:t>출</a:t>
            </a:r>
            <a:r>
              <a:rPr lang="ko-KR" altLang="en-US" sz="2800" b="0" dirty="0" smtClean="0"/>
              <a:t>력 예</a:t>
            </a:r>
            <a:endParaRPr lang="en-US" altLang="ko-KR" sz="2800" b="0" dirty="0" smtClean="0"/>
          </a:p>
        </p:txBody>
      </p:sp>
      <p:sp>
        <p:nvSpPr>
          <p:cNvPr id="9" name="TextBox 8"/>
          <p:cNvSpPr txBox="1"/>
          <p:nvPr/>
        </p:nvSpPr>
        <p:spPr>
          <a:xfrm>
            <a:off x="6387937" y="260648"/>
            <a:ext cx="2183611" cy="1200329"/>
          </a:xfrm>
          <a:prstGeom prst="rect">
            <a:avLst/>
          </a:prstGeom>
          <a:noFill/>
        </p:spPr>
        <p:txBody>
          <a:bodyPr wrap="none" rtlCol="0">
            <a:spAutoFit/>
          </a:bodyPr>
          <a:lstStyle/>
          <a:p>
            <a:pPr marL="0" indent="0">
              <a:buNone/>
            </a:pPr>
            <a:r>
              <a:rPr lang="en-US" altLang="ko-KR" sz="1200" b="0" dirty="0"/>
              <a:t>Run #1: Accepted</a:t>
            </a:r>
          </a:p>
          <a:p>
            <a:pPr marL="0" indent="0">
              <a:buNone/>
            </a:pPr>
            <a:r>
              <a:rPr lang="en-US" altLang="ko-KR" sz="1200" b="0" dirty="0"/>
              <a:t>Run #2: Wrong Answer</a:t>
            </a:r>
          </a:p>
          <a:p>
            <a:pPr marL="0" indent="0">
              <a:buNone/>
            </a:pPr>
            <a:r>
              <a:rPr lang="en-US" altLang="ko-KR" sz="1200" b="0" dirty="0"/>
              <a:t>Run #3: Presentation Error</a:t>
            </a:r>
          </a:p>
          <a:p>
            <a:pPr marL="0" indent="0">
              <a:buNone/>
            </a:pPr>
            <a:r>
              <a:rPr lang="en-US" altLang="ko-KR" sz="1200" b="0" dirty="0"/>
              <a:t>Run #4: Wrong Answer</a:t>
            </a:r>
          </a:p>
          <a:p>
            <a:pPr marL="0" indent="0">
              <a:buNone/>
            </a:pPr>
            <a:r>
              <a:rPr lang="en-US" altLang="ko-KR" sz="1200" b="0" dirty="0"/>
              <a:t>Run #5: Presentation Error</a:t>
            </a:r>
          </a:p>
          <a:p>
            <a:pPr marL="0" indent="0">
              <a:buNone/>
            </a:pPr>
            <a:r>
              <a:rPr lang="en-US" altLang="ko-KR" sz="1200" b="0" dirty="0"/>
              <a:t>Run #6: Presentation Error</a:t>
            </a:r>
          </a:p>
        </p:txBody>
      </p:sp>
    </p:spTree>
    <p:extLst>
      <p:ext uri="{BB962C8B-B14F-4D97-AF65-F5344CB8AC3E}">
        <p14:creationId xmlns:p14="http://schemas.microsoft.com/office/powerpoint/2010/main" val="2822421022"/>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문제 </a:t>
            </a:r>
            <a:r>
              <a:rPr lang="en-US" altLang="ko-KR" dirty="0" smtClean="0"/>
              <a:t>21 </a:t>
            </a:r>
            <a:r>
              <a:rPr lang="ko-KR" altLang="en-US" dirty="0" smtClean="0"/>
              <a:t>힌트</a:t>
            </a:r>
            <a:endParaRPr lang="ko-KR" altLang="en-US" dirty="0"/>
          </a:p>
        </p:txBody>
      </p:sp>
      <p:sp>
        <p:nvSpPr>
          <p:cNvPr id="3" name="내용 개체 틀 2"/>
          <p:cNvSpPr>
            <a:spLocks noGrp="1"/>
          </p:cNvSpPr>
          <p:nvPr>
            <p:ph idx="1"/>
          </p:nvPr>
        </p:nvSpPr>
        <p:spPr/>
        <p:txBody>
          <a:bodyPr/>
          <a:lstStyle/>
          <a:p>
            <a:r>
              <a:rPr lang="ko-KR" altLang="en-US" sz="2400" dirty="0" smtClean="0"/>
              <a:t>프로그램 </a:t>
            </a:r>
            <a:r>
              <a:rPr lang="ko-KR" altLang="en-US" sz="2400" dirty="0"/>
              <a:t>코드만 봐도 이해가 될 것이다</a:t>
            </a:r>
            <a:r>
              <a:rPr lang="en-US" altLang="ko-KR" sz="2400" dirty="0" smtClean="0"/>
              <a:t>.</a:t>
            </a:r>
          </a:p>
          <a:p>
            <a:r>
              <a:rPr lang="en-US" altLang="ko-KR" sz="2400" dirty="0" err="1" smtClean="0"/>
              <a:t>match_exact</a:t>
            </a:r>
            <a:r>
              <a:rPr lang="en-US" altLang="ko-KR" sz="2400" dirty="0"/>
              <a:t>() </a:t>
            </a:r>
            <a:r>
              <a:rPr lang="ko-KR" altLang="en-US" sz="2400" dirty="0"/>
              <a:t>함수는 두 문자열이 </a:t>
            </a:r>
            <a:r>
              <a:rPr lang="ko-KR" altLang="en-US" sz="2400" dirty="0" smtClean="0"/>
              <a:t>완전히 같은지 </a:t>
            </a:r>
            <a:r>
              <a:rPr lang="ko-KR" altLang="en-US" sz="2400" dirty="0"/>
              <a:t>검사하고</a:t>
            </a:r>
            <a:r>
              <a:rPr lang="en-US" altLang="ko-KR" sz="2400" dirty="0" smtClean="0"/>
              <a:t>,</a:t>
            </a:r>
          </a:p>
          <a:p>
            <a:r>
              <a:rPr lang="en-US" altLang="ko-KR" sz="2400" dirty="0" err="1" smtClean="0"/>
              <a:t>match_number</a:t>
            </a:r>
            <a:r>
              <a:rPr lang="en-US" altLang="ko-KR" sz="2400" dirty="0"/>
              <a:t>() </a:t>
            </a:r>
            <a:r>
              <a:rPr lang="ko-KR" altLang="en-US" sz="2400" dirty="0"/>
              <a:t>함수는 두 문자열이 숫자가 아닌 모든 문자들을 </a:t>
            </a:r>
            <a:r>
              <a:rPr lang="ko-KR" altLang="en-US" sz="2400" dirty="0" smtClean="0"/>
              <a:t>무시하고 </a:t>
            </a:r>
            <a:r>
              <a:rPr lang="ko-KR" altLang="en-US" sz="2400" dirty="0"/>
              <a:t>건너뛸 때 일치하는지 </a:t>
            </a:r>
            <a:r>
              <a:rPr lang="ko-KR" altLang="en-US" sz="2400" dirty="0" smtClean="0"/>
              <a:t>검사</a:t>
            </a:r>
            <a:endParaRPr lang="en-US" altLang="ko-KR" sz="2400" dirty="0"/>
          </a:p>
        </p:txBody>
      </p:sp>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26</a:t>
            </a:fld>
            <a:endParaRPr lang="en-US" altLang="ko-KR" dirty="0"/>
          </a:p>
        </p:txBody>
      </p:sp>
    </p:spTree>
    <p:extLst>
      <p:ext uri="{BB962C8B-B14F-4D97-AF65-F5344CB8AC3E}">
        <p14:creationId xmlns:p14="http://schemas.microsoft.com/office/powerpoint/2010/main" val="306477981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27</a:t>
            </a:fld>
            <a:endParaRPr lang="en-US" altLang="ko-KR"/>
          </a:p>
        </p:txBody>
      </p:sp>
      <p:sp>
        <p:nvSpPr>
          <p:cNvPr id="7" name="내용 개체 틀 2"/>
          <p:cNvSpPr>
            <a:spLocks noGrp="1"/>
          </p:cNvSpPr>
          <p:nvPr>
            <p:ph idx="1"/>
          </p:nvPr>
        </p:nvSpPr>
        <p:spPr>
          <a:xfrm>
            <a:off x="683568" y="476672"/>
            <a:ext cx="7772400" cy="6264696"/>
          </a:xfrm>
        </p:spPr>
        <p:txBody>
          <a:bodyPr/>
          <a:lstStyle/>
          <a:p>
            <a:pPr marL="0" indent="0">
              <a:buNone/>
            </a:pPr>
            <a:r>
              <a:rPr lang="en-US" altLang="ko-KR" sz="2000" dirty="0"/>
              <a:t>// prob. 21: Automated Judge </a:t>
            </a:r>
            <a:r>
              <a:rPr lang="en-US" altLang="ko-KR" sz="2000" dirty="0" smtClean="0"/>
              <a:t>Script</a:t>
            </a:r>
          </a:p>
          <a:p>
            <a:pPr marL="0" indent="0">
              <a:buNone/>
            </a:pPr>
            <a:endParaRPr lang="en-US" altLang="ko-KR" sz="2000" dirty="0"/>
          </a:p>
          <a:p>
            <a:pPr marL="0" indent="0">
              <a:buNone/>
            </a:pPr>
            <a:r>
              <a:rPr lang="en-US" altLang="ko-KR" sz="2000" dirty="0"/>
              <a:t>#include &lt;</a:t>
            </a:r>
            <a:r>
              <a:rPr lang="en-US" altLang="ko-KR" sz="2000" dirty="0" err="1"/>
              <a:t>stdio.h</a:t>
            </a:r>
            <a:r>
              <a:rPr lang="en-US" altLang="ko-KR" sz="2000" dirty="0"/>
              <a:t>&gt;</a:t>
            </a:r>
          </a:p>
          <a:p>
            <a:pPr marL="0" indent="0">
              <a:buNone/>
            </a:pPr>
            <a:r>
              <a:rPr lang="en-US" altLang="ko-KR" sz="2000" dirty="0"/>
              <a:t>#include &lt;</a:t>
            </a:r>
            <a:r>
              <a:rPr lang="en-US" altLang="ko-KR" sz="2000" dirty="0" err="1"/>
              <a:t>string.h</a:t>
            </a:r>
            <a:r>
              <a:rPr lang="en-US" altLang="ko-KR" sz="2000" dirty="0"/>
              <a:t>&gt;</a:t>
            </a:r>
          </a:p>
          <a:p>
            <a:pPr marL="0" indent="0">
              <a:buNone/>
            </a:pPr>
            <a:endParaRPr lang="en-US" altLang="ko-KR" sz="2000" dirty="0"/>
          </a:p>
          <a:p>
            <a:pPr marL="0" indent="0">
              <a:buNone/>
            </a:pPr>
            <a:r>
              <a:rPr lang="en-US" altLang="ko-KR" sz="2000" dirty="0"/>
              <a:t>#define </a:t>
            </a:r>
            <a:r>
              <a:rPr lang="en-US" altLang="ko-KR" sz="2000" dirty="0" err="1"/>
              <a:t>is_numeric</a:t>
            </a:r>
            <a:r>
              <a:rPr lang="en-US" altLang="ko-KR" sz="2000" dirty="0"/>
              <a:t>(x) ((x) &gt;= '0' &amp;&amp; (x) &lt;= '9')</a:t>
            </a:r>
          </a:p>
          <a:p>
            <a:pPr marL="0" indent="0">
              <a:buNone/>
            </a:pPr>
            <a:endParaRPr lang="en-US" altLang="ko-KR" sz="2000" dirty="0"/>
          </a:p>
          <a:p>
            <a:pPr marL="0" indent="0">
              <a:buNone/>
            </a:pPr>
            <a:r>
              <a:rPr lang="en-US" altLang="ko-KR" sz="2000" dirty="0" err="1"/>
              <a:t>int</a:t>
            </a:r>
            <a:r>
              <a:rPr lang="en-US" altLang="ko-KR" sz="2000" dirty="0"/>
              <a:t> </a:t>
            </a:r>
            <a:r>
              <a:rPr lang="en-US" altLang="ko-KR" sz="2000" dirty="0" err="1"/>
              <a:t>match_exact</a:t>
            </a:r>
            <a:r>
              <a:rPr lang="en-US" altLang="ko-KR" sz="2000" dirty="0"/>
              <a:t>(char *s1, char *s2)</a:t>
            </a:r>
          </a:p>
          <a:p>
            <a:pPr marL="0" indent="0">
              <a:buNone/>
            </a:pPr>
            <a:r>
              <a:rPr lang="en-US" altLang="ko-KR" sz="2000" dirty="0"/>
              <a:t>{</a:t>
            </a:r>
          </a:p>
          <a:p>
            <a:pPr marL="0" indent="0">
              <a:buNone/>
            </a:pPr>
            <a:r>
              <a:rPr lang="en-US" altLang="ko-KR" sz="2000" dirty="0"/>
              <a:t>    while (*s1 != '\0' &amp;&amp; s2 != '\0') {</a:t>
            </a:r>
          </a:p>
          <a:p>
            <a:pPr marL="0" indent="0">
              <a:buNone/>
            </a:pPr>
            <a:r>
              <a:rPr lang="en-US" altLang="ko-KR" sz="2000" dirty="0"/>
              <a:t>        if (*s1 != *s2) return 0;</a:t>
            </a:r>
          </a:p>
          <a:p>
            <a:pPr marL="0" indent="0">
              <a:buNone/>
            </a:pPr>
            <a:r>
              <a:rPr lang="en-US" altLang="ko-KR" sz="2000" dirty="0"/>
              <a:t>        s1++;</a:t>
            </a:r>
          </a:p>
          <a:p>
            <a:pPr marL="0" indent="0">
              <a:buNone/>
            </a:pPr>
            <a:r>
              <a:rPr lang="en-US" altLang="ko-KR" sz="2000" dirty="0"/>
              <a:t>        s2++;</a:t>
            </a:r>
          </a:p>
          <a:p>
            <a:pPr marL="0" indent="0">
              <a:buNone/>
            </a:pPr>
            <a:r>
              <a:rPr lang="en-US" altLang="ko-KR" sz="2000" dirty="0"/>
              <a:t>    }</a:t>
            </a:r>
          </a:p>
          <a:p>
            <a:pPr marL="0" indent="0">
              <a:buNone/>
            </a:pPr>
            <a:r>
              <a:rPr lang="en-US" altLang="ko-KR" sz="2000" dirty="0"/>
              <a:t>    return (*s1 == '\0' &amp;&amp; *s2 == '\0');</a:t>
            </a:r>
          </a:p>
          <a:p>
            <a:pPr marL="0" indent="0">
              <a:buNone/>
            </a:pPr>
            <a:r>
              <a:rPr lang="en-US" altLang="ko-KR" sz="2000" dirty="0"/>
              <a:t>}</a:t>
            </a:r>
          </a:p>
          <a:p>
            <a:pPr marL="0" indent="0">
              <a:buNone/>
            </a:pPr>
            <a:endParaRPr lang="en-US" altLang="ko-KR" sz="2000" dirty="0"/>
          </a:p>
        </p:txBody>
      </p:sp>
    </p:spTree>
    <p:extLst>
      <p:ext uri="{BB962C8B-B14F-4D97-AF65-F5344CB8AC3E}">
        <p14:creationId xmlns:p14="http://schemas.microsoft.com/office/powerpoint/2010/main" val="3812702512"/>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28</a:t>
            </a:fld>
            <a:endParaRPr lang="en-US" altLang="ko-KR"/>
          </a:p>
        </p:txBody>
      </p:sp>
      <p:sp>
        <p:nvSpPr>
          <p:cNvPr id="7" name="내용 개체 틀 2"/>
          <p:cNvSpPr>
            <a:spLocks noGrp="1"/>
          </p:cNvSpPr>
          <p:nvPr>
            <p:ph idx="1"/>
          </p:nvPr>
        </p:nvSpPr>
        <p:spPr>
          <a:xfrm>
            <a:off x="683568" y="476672"/>
            <a:ext cx="7772400" cy="6264696"/>
          </a:xfrm>
        </p:spPr>
        <p:txBody>
          <a:bodyPr/>
          <a:lstStyle/>
          <a:p>
            <a:pPr marL="0" indent="0">
              <a:buNone/>
            </a:pPr>
            <a:r>
              <a:rPr lang="en-US" altLang="ko-KR" sz="2000" dirty="0" err="1"/>
              <a:t>int</a:t>
            </a:r>
            <a:r>
              <a:rPr lang="en-US" altLang="ko-KR" sz="2000" dirty="0"/>
              <a:t> </a:t>
            </a:r>
            <a:r>
              <a:rPr lang="en-US" altLang="ko-KR" sz="2000" dirty="0" err="1"/>
              <a:t>match_numeric</a:t>
            </a:r>
            <a:r>
              <a:rPr lang="en-US" altLang="ko-KR" sz="2000" dirty="0"/>
              <a:t>(char *s1, char *s2)</a:t>
            </a:r>
          </a:p>
          <a:p>
            <a:pPr marL="0" indent="0">
              <a:buNone/>
            </a:pPr>
            <a:r>
              <a:rPr lang="en-US" altLang="ko-KR" sz="2000" dirty="0"/>
              <a:t>{</a:t>
            </a:r>
          </a:p>
          <a:p>
            <a:pPr marL="0" indent="0">
              <a:buNone/>
            </a:pPr>
            <a:r>
              <a:rPr lang="en-US" altLang="ko-KR" sz="2000" dirty="0"/>
              <a:t>    while (1) {</a:t>
            </a:r>
          </a:p>
          <a:p>
            <a:pPr marL="0" indent="0">
              <a:buNone/>
            </a:pPr>
            <a:r>
              <a:rPr lang="en-US" altLang="ko-KR" sz="2000" dirty="0"/>
              <a:t>        while (*s1 != '\0' &amp;&amp; !</a:t>
            </a:r>
            <a:r>
              <a:rPr lang="en-US" altLang="ko-KR" sz="2000" dirty="0" err="1"/>
              <a:t>is_numeric</a:t>
            </a:r>
            <a:r>
              <a:rPr lang="en-US" altLang="ko-KR" sz="2000" dirty="0"/>
              <a:t>(*s1)) s1++;</a:t>
            </a:r>
          </a:p>
          <a:p>
            <a:pPr marL="0" indent="0">
              <a:buNone/>
            </a:pPr>
            <a:r>
              <a:rPr lang="en-US" altLang="ko-KR" sz="2000" dirty="0"/>
              <a:t>        while (*s2 != '\0' &amp;&amp; !</a:t>
            </a:r>
            <a:r>
              <a:rPr lang="en-US" altLang="ko-KR" sz="2000" dirty="0" err="1"/>
              <a:t>is_numeric</a:t>
            </a:r>
            <a:r>
              <a:rPr lang="en-US" altLang="ko-KR" sz="2000" dirty="0"/>
              <a:t>(*s2)) s2++;</a:t>
            </a:r>
          </a:p>
          <a:p>
            <a:pPr marL="0" indent="0">
              <a:buNone/>
            </a:pPr>
            <a:r>
              <a:rPr lang="en-US" altLang="ko-KR" sz="2000" dirty="0"/>
              <a:t>        if (*s1 != *s2) return 0;</a:t>
            </a:r>
          </a:p>
          <a:p>
            <a:pPr marL="0" indent="0">
              <a:buNone/>
            </a:pPr>
            <a:r>
              <a:rPr lang="en-US" altLang="ko-KR" sz="2000" dirty="0"/>
              <a:t>        if (*s1 == '\0') return 1;</a:t>
            </a:r>
          </a:p>
          <a:p>
            <a:pPr marL="0" indent="0">
              <a:buNone/>
            </a:pPr>
            <a:r>
              <a:rPr lang="en-US" altLang="ko-KR" sz="2000" dirty="0"/>
              <a:t>        s1++;</a:t>
            </a:r>
          </a:p>
          <a:p>
            <a:pPr marL="0" indent="0">
              <a:buNone/>
            </a:pPr>
            <a:r>
              <a:rPr lang="en-US" altLang="ko-KR" sz="2000" dirty="0"/>
              <a:t>        s2++;</a:t>
            </a:r>
          </a:p>
          <a:p>
            <a:pPr marL="0" indent="0">
              <a:buNone/>
            </a:pPr>
            <a:r>
              <a:rPr lang="en-US" altLang="ko-KR" sz="2000" dirty="0"/>
              <a:t>    }</a:t>
            </a:r>
          </a:p>
          <a:p>
            <a:pPr marL="0" indent="0">
              <a:buNone/>
            </a:pPr>
            <a:r>
              <a:rPr lang="en-US" altLang="ko-KR" sz="2000" dirty="0"/>
              <a:t>}</a:t>
            </a:r>
          </a:p>
        </p:txBody>
      </p:sp>
    </p:spTree>
    <p:extLst>
      <p:ext uri="{BB962C8B-B14F-4D97-AF65-F5344CB8AC3E}">
        <p14:creationId xmlns:p14="http://schemas.microsoft.com/office/powerpoint/2010/main" val="4256377958"/>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29</a:t>
            </a:fld>
            <a:endParaRPr lang="en-US" altLang="ko-KR"/>
          </a:p>
        </p:txBody>
      </p:sp>
      <p:sp>
        <p:nvSpPr>
          <p:cNvPr id="7" name="내용 개체 틀 2"/>
          <p:cNvSpPr>
            <a:spLocks noGrp="1"/>
          </p:cNvSpPr>
          <p:nvPr>
            <p:ph idx="1"/>
          </p:nvPr>
        </p:nvSpPr>
        <p:spPr>
          <a:xfrm>
            <a:off x="683568" y="188640"/>
            <a:ext cx="7772400" cy="6552728"/>
          </a:xfrm>
        </p:spPr>
        <p:txBody>
          <a:bodyPr/>
          <a:lstStyle/>
          <a:p>
            <a:pPr marL="0" indent="0">
              <a:buNone/>
            </a:pPr>
            <a:r>
              <a:rPr lang="en-US" altLang="ko-KR" sz="2000" dirty="0"/>
              <a:t>void main(void)</a:t>
            </a:r>
          </a:p>
          <a:p>
            <a:pPr marL="0" indent="0">
              <a:buNone/>
            </a:pPr>
            <a:r>
              <a:rPr lang="en-US" altLang="ko-KR" sz="2000" dirty="0"/>
              <a:t>{</a:t>
            </a:r>
          </a:p>
          <a:p>
            <a:pPr marL="0" indent="0">
              <a:buNone/>
            </a:pPr>
            <a:r>
              <a:rPr lang="en-US" altLang="ko-KR" sz="2000" dirty="0"/>
              <a:t>    </a:t>
            </a:r>
            <a:r>
              <a:rPr lang="en-US" altLang="ko-KR" sz="2000" dirty="0" err="1"/>
              <a:t>int</a:t>
            </a:r>
            <a:r>
              <a:rPr lang="en-US" altLang="ko-KR" sz="2000" dirty="0"/>
              <a:t> n, m, t, </a:t>
            </a:r>
            <a:r>
              <a:rPr lang="en-US" altLang="ko-KR" sz="2000" dirty="0" err="1"/>
              <a:t>i</a:t>
            </a:r>
            <a:r>
              <a:rPr lang="en-US" altLang="ko-KR" sz="2000" dirty="0"/>
              <a:t>;</a:t>
            </a:r>
          </a:p>
          <a:p>
            <a:pPr marL="0" indent="0">
              <a:buNone/>
            </a:pPr>
            <a:r>
              <a:rPr lang="en-US" altLang="ko-KR" sz="2000" dirty="0"/>
              <a:t>    char line[256];</a:t>
            </a:r>
          </a:p>
          <a:p>
            <a:pPr marL="0" indent="0">
              <a:buNone/>
            </a:pPr>
            <a:r>
              <a:rPr lang="en-US" altLang="ko-KR" sz="2000" dirty="0"/>
              <a:t>    char s1[10100], s2[10100];</a:t>
            </a:r>
          </a:p>
          <a:p>
            <a:pPr marL="0" indent="0">
              <a:buNone/>
            </a:pPr>
            <a:endParaRPr lang="en-US" altLang="ko-KR" sz="2000" dirty="0"/>
          </a:p>
          <a:p>
            <a:pPr marL="0" indent="0">
              <a:buNone/>
            </a:pPr>
            <a:r>
              <a:rPr lang="en-US" altLang="ko-KR" sz="2000" dirty="0"/>
              <a:t>    </a:t>
            </a:r>
            <a:r>
              <a:rPr lang="en-US" altLang="ko-KR" sz="2000" dirty="0" err="1"/>
              <a:t>scanf</a:t>
            </a:r>
            <a:r>
              <a:rPr lang="en-US" altLang="ko-KR" sz="2000" dirty="0"/>
              <a:t>("%d", &amp;n);</a:t>
            </a:r>
          </a:p>
          <a:p>
            <a:pPr marL="0" indent="0">
              <a:buNone/>
            </a:pPr>
            <a:r>
              <a:rPr lang="en-US" altLang="ko-KR" sz="2000" dirty="0"/>
              <a:t>    t = 0;</a:t>
            </a:r>
          </a:p>
          <a:p>
            <a:pPr marL="0" indent="0">
              <a:buNone/>
            </a:pPr>
            <a:r>
              <a:rPr lang="en-US" altLang="ko-KR" sz="2000" dirty="0"/>
              <a:t>    while (n &gt; 0) {</a:t>
            </a:r>
          </a:p>
          <a:p>
            <a:pPr marL="0" indent="0">
              <a:buNone/>
            </a:pPr>
            <a:r>
              <a:rPr lang="en-US" altLang="ko-KR" sz="2000" dirty="0"/>
              <a:t>        gets(line);</a:t>
            </a:r>
          </a:p>
          <a:p>
            <a:pPr marL="0" indent="0">
              <a:buNone/>
            </a:pPr>
            <a:r>
              <a:rPr lang="en-US" altLang="ko-KR" sz="2000" dirty="0"/>
              <a:t>        s1[0] = '\0';</a:t>
            </a:r>
          </a:p>
          <a:p>
            <a:pPr marL="0" indent="0">
              <a:buNone/>
            </a:pPr>
            <a:r>
              <a:rPr lang="en-US" altLang="ko-KR" sz="2000" dirty="0"/>
              <a:t>        for (</a:t>
            </a:r>
            <a:r>
              <a:rPr lang="en-US" altLang="ko-KR" sz="2000" dirty="0" err="1"/>
              <a:t>i</a:t>
            </a:r>
            <a:r>
              <a:rPr lang="en-US" altLang="ko-KR" sz="2000" dirty="0"/>
              <a:t> = 0; </a:t>
            </a:r>
            <a:r>
              <a:rPr lang="en-US" altLang="ko-KR" sz="2000" dirty="0" err="1"/>
              <a:t>i</a:t>
            </a:r>
            <a:r>
              <a:rPr lang="en-US" altLang="ko-KR" sz="2000" dirty="0"/>
              <a:t> &lt; n; </a:t>
            </a:r>
            <a:r>
              <a:rPr lang="en-US" altLang="ko-KR" sz="2000" dirty="0" err="1"/>
              <a:t>i</a:t>
            </a:r>
            <a:r>
              <a:rPr lang="en-US" altLang="ko-KR" sz="2000" dirty="0"/>
              <a:t>++) {</a:t>
            </a:r>
          </a:p>
          <a:p>
            <a:pPr marL="0" indent="0">
              <a:buNone/>
            </a:pPr>
            <a:r>
              <a:rPr lang="en-US" altLang="ko-KR" sz="2000" dirty="0"/>
              <a:t>            gets(line);</a:t>
            </a:r>
          </a:p>
          <a:p>
            <a:pPr marL="0" indent="0">
              <a:buNone/>
            </a:pPr>
            <a:r>
              <a:rPr lang="en-US" altLang="ko-KR" sz="2000" dirty="0"/>
              <a:t>            </a:t>
            </a:r>
            <a:r>
              <a:rPr lang="en-US" altLang="ko-KR" sz="2000" dirty="0" err="1"/>
              <a:t>strcat</a:t>
            </a:r>
            <a:r>
              <a:rPr lang="en-US" altLang="ko-KR" sz="2000" dirty="0"/>
              <a:t>(s1, line);</a:t>
            </a:r>
          </a:p>
          <a:p>
            <a:pPr marL="0" indent="0">
              <a:buNone/>
            </a:pPr>
            <a:r>
              <a:rPr lang="en-US" altLang="ko-KR" sz="2000" dirty="0"/>
              <a:t>            </a:t>
            </a:r>
            <a:r>
              <a:rPr lang="en-US" altLang="ko-KR" sz="2000" dirty="0" err="1"/>
              <a:t>strcat</a:t>
            </a:r>
            <a:r>
              <a:rPr lang="en-US" altLang="ko-KR" sz="2000" dirty="0"/>
              <a:t>(s1, "\n");</a:t>
            </a:r>
          </a:p>
          <a:p>
            <a:pPr marL="0" indent="0">
              <a:buNone/>
            </a:pPr>
            <a:r>
              <a:rPr lang="en-US" altLang="ko-KR" sz="2000" dirty="0"/>
              <a:t>        }</a:t>
            </a:r>
          </a:p>
          <a:p>
            <a:pPr marL="0" indent="0">
              <a:buNone/>
            </a:pPr>
            <a:r>
              <a:rPr lang="en-US" altLang="ko-KR" sz="2000" dirty="0"/>
              <a:t>        </a:t>
            </a:r>
            <a:r>
              <a:rPr lang="en-US" altLang="ko-KR" sz="2000" dirty="0" err="1"/>
              <a:t>scanf</a:t>
            </a:r>
            <a:r>
              <a:rPr lang="en-US" altLang="ko-KR" sz="2000" dirty="0"/>
              <a:t>("%d", &amp;m);</a:t>
            </a:r>
          </a:p>
          <a:p>
            <a:pPr marL="0" indent="0">
              <a:buNone/>
            </a:pPr>
            <a:r>
              <a:rPr lang="en-US" altLang="ko-KR" sz="2000" dirty="0"/>
              <a:t>        gets(line);</a:t>
            </a:r>
          </a:p>
        </p:txBody>
      </p:sp>
    </p:spTree>
    <p:extLst>
      <p:ext uri="{BB962C8B-B14F-4D97-AF65-F5344CB8AC3E}">
        <p14:creationId xmlns:p14="http://schemas.microsoft.com/office/powerpoint/2010/main" val="2899651039"/>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a:defRPr/>
            </a:pPr>
            <a:fld id="{9EFA3A84-ADC4-40BE-9831-816FDDEFB539}" type="slidenum">
              <a:rPr lang="en-US" altLang="ko-KR" smtClean="0"/>
              <a:pPr>
                <a:defRPr/>
              </a:pPr>
              <a:t>30</a:t>
            </a:fld>
            <a:endParaRPr lang="en-US" altLang="ko-KR"/>
          </a:p>
        </p:txBody>
      </p:sp>
      <p:sp>
        <p:nvSpPr>
          <p:cNvPr id="7" name="내용 개체 틀 2"/>
          <p:cNvSpPr>
            <a:spLocks noGrp="1"/>
          </p:cNvSpPr>
          <p:nvPr>
            <p:ph idx="1"/>
          </p:nvPr>
        </p:nvSpPr>
        <p:spPr>
          <a:xfrm>
            <a:off x="683568" y="476672"/>
            <a:ext cx="7772400" cy="6264696"/>
          </a:xfrm>
        </p:spPr>
        <p:txBody>
          <a:bodyPr/>
          <a:lstStyle/>
          <a:p>
            <a:pPr marL="0" indent="0">
              <a:buNone/>
            </a:pPr>
            <a:r>
              <a:rPr lang="en-US" altLang="ko-KR" sz="2000" dirty="0"/>
              <a:t> </a:t>
            </a:r>
            <a:r>
              <a:rPr lang="en-US" altLang="ko-KR" sz="2000" dirty="0" smtClean="0"/>
              <a:t>       s2[0</a:t>
            </a:r>
            <a:r>
              <a:rPr lang="en-US" altLang="ko-KR" sz="2000" dirty="0"/>
              <a:t>] = '\0';</a:t>
            </a:r>
          </a:p>
          <a:p>
            <a:pPr marL="0" indent="0">
              <a:buNone/>
            </a:pPr>
            <a:r>
              <a:rPr lang="en-US" altLang="ko-KR" sz="2000" dirty="0"/>
              <a:t>        for (</a:t>
            </a:r>
            <a:r>
              <a:rPr lang="en-US" altLang="ko-KR" sz="2000" dirty="0" err="1"/>
              <a:t>i</a:t>
            </a:r>
            <a:r>
              <a:rPr lang="en-US" altLang="ko-KR" sz="2000" dirty="0"/>
              <a:t> = 0; </a:t>
            </a:r>
            <a:r>
              <a:rPr lang="en-US" altLang="ko-KR" sz="2000" dirty="0" err="1"/>
              <a:t>i</a:t>
            </a:r>
            <a:r>
              <a:rPr lang="en-US" altLang="ko-KR" sz="2000" dirty="0"/>
              <a:t> &lt; m; </a:t>
            </a:r>
            <a:r>
              <a:rPr lang="en-US" altLang="ko-KR" sz="2000" dirty="0" err="1"/>
              <a:t>i</a:t>
            </a:r>
            <a:r>
              <a:rPr lang="en-US" altLang="ko-KR" sz="2000" dirty="0"/>
              <a:t>++) {</a:t>
            </a:r>
          </a:p>
          <a:p>
            <a:pPr marL="0" indent="0">
              <a:buNone/>
            </a:pPr>
            <a:r>
              <a:rPr lang="en-US" altLang="ko-KR" sz="2000" dirty="0"/>
              <a:t>            gets(line);</a:t>
            </a:r>
          </a:p>
          <a:p>
            <a:pPr marL="0" indent="0">
              <a:buNone/>
            </a:pPr>
            <a:r>
              <a:rPr lang="en-US" altLang="ko-KR" sz="2000" dirty="0"/>
              <a:t>            </a:t>
            </a:r>
            <a:r>
              <a:rPr lang="en-US" altLang="ko-KR" sz="2000" dirty="0" err="1"/>
              <a:t>strcat</a:t>
            </a:r>
            <a:r>
              <a:rPr lang="en-US" altLang="ko-KR" sz="2000" dirty="0"/>
              <a:t>(s2, line);</a:t>
            </a:r>
          </a:p>
          <a:p>
            <a:pPr marL="0" indent="0">
              <a:buNone/>
            </a:pPr>
            <a:r>
              <a:rPr lang="en-US" altLang="ko-KR" sz="2000" dirty="0"/>
              <a:t>            </a:t>
            </a:r>
            <a:r>
              <a:rPr lang="en-US" altLang="ko-KR" sz="2000" dirty="0" err="1"/>
              <a:t>strcat</a:t>
            </a:r>
            <a:r>
              <a:rPr lang="en-US" altLang="ko-KR" sz="2000" dirty="0"/>
              <a:t>(s2, "\n");</a:t>
            </a:r>
          </a:p>
          <a:p>
            <a:pPr marL="0" indent="0">
              <a:buNone/>
            </a:pPr>
            <a:r>
              <a:rPr lang="en-US" altLang="ko-KR" sz="2000" dirty="0"/>
              <a:t>        }</a:t>
            </a:r>
          </a:p>
          <a:p>
            <a:pPr marL="0" indent="0">
              <a:buNone/>
            </a:pPr>
            <a:r>
              <a:rPr lang="en-US" altLang="ko-KR" sz="2000" dirty="0"/>
              <a:t>        t++;</a:t>
            </a:r>
          </a:p>
          <a:p>
            <a:pPr marL="0" indent="0">
              <a:buNone/>
            </a:pPr>
            <a:r>
              <a:rPr lang="en-US" altLang="ko-KR" sz="2000" dirty="0"/>
              <a:t>        </a:t>
            </a:r>
            <a:r>
              <a:rPr lang="en-US" altLang="ko-KR" sz="2000" dirty="0" err="1"/>
              <a:t>printf</a:t>
            </a:r>
            <a:r>
              <a:rPr lang="en-US" altLang="ko-KR" sz="2000" dirty="0"/>
              <a:t>("Run #%d: ", t);</a:t>
            </a:r>
          </a:p>
          <a:p>
            <a:pPr marL="0" indent="0">
              <a:buNone/>
            </a:pPr>
            <a:r>
              <a:rPr lang="en-US" altLang="ko-KR" sz="2000" dirty="0"/>
              <a:t>        if (</a:t>
            </a:r>
            <a:r>
              <a:rPr lang="en-US" altLang="ko-KR" sz="2000" dirty="0" err="1"/>
              <a:t>match_exact</a:t>
            </a:r>
            <a:r>
              <a:rPr lang="en-US" altLang="ko-KR" sz="2000" dirty="0"/>
              <a:t>(s1, s2))</a:t>
            </a:r>
          </a:p>
          <a:p>
            <a:pPr marL="0" indent="0">
              <a:buNone/>
            </a:pPr>
            <a:r>
              <a:rPr lang="en-US" altLang="ko-KR" sz="2000" dirty="0"/>
              <a:t>            </a:t>
            </a:r>
            <a:r>
              <a:rPr lang="en-US" altLang="ko-KR" sz="2000" dirty="0" err="1"/>
              <a:t>printf</a:t>
            </a:r>
            <a:r>
              <a:rPr lang="en-US" altLang="ko-KR" sz="2000" dirty="0"/>
              <a:t>("Accepted\n");</a:t>
            </a:r>
          </a:p>
          <a:p>
            <a:pPr marL="0" indent="0">
              <a:buNone/>
            </a:pPr>
            <a:r>
              <a:rPr lang="en-US" altLang="ko-KR" sz="2000" dirty="0"/>
              <a:t>        else if (</a:t>
            </a:r>
            <a:r>
              <a:rPr lang="en-US" altLang="ko-KR" sz="2000" dirty="0" err="1"/>
              <a:t>match_numeric</a:t>
            </a:r>
            <a:r>
              <a:rPr lang="en-US" altLang="ko-KR" sz="2000" dirty="0"/>
              <a:t>(s1, s2))</a:t>
            </a:r>
          </a:p>
          <a:p>
            <a:pPr marL="0" indent="0">
              <a:buNone/>
            </a:pPr>
            <a:r>
              <a:rPr lang="en-US" altLang="ko-KR" sz="2000" dirty="0"/>
              <a:t>            </a:t>
            </a:r>
            <a:r>
              <a:rPr lang="en-US" altLang="ko-KR" sz="2000" dirty="0" err="1"/>
              <a:t>printf</a:t>
            </a:r>
            <a:r>
              <a:rPr lang="en-US" altLang="ko-KR" sz="2000" dirty="0"/>
              <a:t>("Presentation Error\n");</a:t>
            </a:r>
          </a:p>
          <a:p>
            <a:pPr marL="0" indent="0">
              <a:buNone/>
            </a:pPr>
            <a:r>
              <a:rPr lang="en-US" altLang="ko-KR" sz="2000" dirty="0"/>
              <a:t>        else</a:t>
            </a:r>
          </a:p>
          <a:p>
            <a:pPr marL="0" indent="0">
              <a:buNone/>
            </a:pPr>
            <a:r>
              <a:rPr lang="en-US" altLang="ko-KR" sz="2000" dirty="0"/>
              <a:t>            </a:t>
            </a:r>
            <a:r>
              <a:rPr lang="en-US" altLang="ko-KR" sz="2000" dirty="0" err="1"/>
              <a:t>printf</a:t>
            </a:r>
            <a:r>
              <a:rPr lang="en-US" altLang="ko-KR" sz="2000" dirty="0"/>
              <a:t>("Wrong Answer\n");</a:t>
            </a:r>
          </a:p>
          <a:p>
            <a:pPr marL="0" indent="0">
              <a:buNone/>
            </a:pPr>
            <a:r>
              <a:rPr lang="en-US" altLang="ko-KR" sz="2000" dirty="0"/>
              <a:t>        </a:t>
            </a:r>
            <a:r>
              <a:rPr lang="en-US" altLang="ko-KR" sz="2000" dirty="0" err="1"/>
              <a:t>scanf</a:t>
            </a:r>
            <a:r>
              <a:rPr lang="en-US" altLang="ko-KR" sz="2000" dirty="0"/>
              <a:t>("%d", &amp;n);</a:t>
            </a:r>
          </a:p>
          <a:p>
            <a:pPr marL="0" indent="0">
              <a:buNone/>
            </a:pPr>
            <a:r>
              <a:rPr lang="en-US" altLang="ko-KR" sz="2000" dirty="0"/>
              <a:t>    }</a:t>
            </a:r>
          </a:p>
          <a:p>
            <a:pPr marL="0" indent="0">
              <a:buNone/>
            </a:pPr>
            <a:r>
              <a:rPr lang="en-US" altLang="ko-KR" sz="2000" dirty="0"/>
              <a:t>}</a:t>
            </a:r>
          </a:p>
        </p:txBody>
      </p:sp>
    </p:spTree>
    <p:extLst>
      <p:ext uri="{BB962C8B-B14F-4D97-AF65-F5344CB8AC3E}">
        <p14:creationId xmlns:p14="http://schemas.microsoft.com/office/powerpoint/2010/main" val="414016389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1600" b="1" i="0" u="none" strike="noStrike" cap="none" normalizeH="0" baseline="0" smtClean="0">
            <a:ln>
              <a:noFill/>
            </a:ln>
            <a:solidFill>
              <a:schemeClr val="tx1"/>
            </a:solidFill>
            <a:effectLst/>
            <a:latin typeface="바탕" pitchFamily="18" charset="-127"/>
            <a:ea typeface="바탕" pitchFamily="18"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1600" b="1" i="0" u="none" strike="noStrike" cap="none" normalizeH="0" baseline="0" smtClean="0">
            <a:ln>
              <a:noFill/>
            </a:ln>
            <a:solidFill>
              <a:schemeClr val="tx1"/>
            </a:solidFill>
            <a:effectLst/>
            <a:latin typeface="바탕" pitchFamily="18" charset="-127"/>
            <a:ea typeface="바탕" pitchFamily="18" charset="-127"/>
          </a:defRPr>
        </a:defPPr>
      </a:lstStyle>
    </a:ln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7259</TotalTime>
  <Words>2328</Words>
  <Application>Microsoft Office PowerPoint</Application>
  <PresentationFormat>화면 슬라이드 쇼(4:3)</PresentationFormat>
  <Paragraphs>395</Paragraphs>
  <Slides>30</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30</vt:i4>
      </vt:variant>
    </vt:vector>
  </HeadingPairs>
  <TitlesOfParts>
    <vt:vector size="36" baseType="lpstr">
      <vt:lpstr>굴림</vt:lpstr>
      <vt:lpstr>굴림체</vt:lpstr>
      <vt:lpstr>바탕</vt:lpstr>
      <vt:lpstr>산돌명조 M</vt:lpstr>
      <vt:lpstr>Arial</vt:lpstr>
      <vt:lpstr>기본 디자인</vt:lpstr>
      <vt:lpstr>제 3장 문자열(2)</vt:lpstr>
      <vt:lpstr>PowerPoint 프레젠테이션</vt:lpstr>
      <vt:lpstr>문자 코드(보완)</vt:lpstr>
      <vt:lpstr>PowerPoint 프레젠테이션</vt:lpstr>
      <vt:lpstr>PowerPoint 프레젠테이션</vt:lpstr>
      <vt:lpstr>PowerPoint 프레젠테이션</vt:lpstr>
      <vt:lpstr>PowerPoint 프레젠테이션</vt:lpstr>
      <vt:lpstr>PowerPoint 프레젠테이션</vt:lpstr>
      <vt:lpstr>PowerPoint 프레젠테이션</vt:lpstr>
      <vt:lpstr>Unicode 한글</vt:lpstr>
      <vt:lpstr>PowerPoint 프레젠테이션</vt:lpstr>
      <vt:lpstr>PowerPoint 프레젠테이션</vt:lpstr>
      <vt:lpstr>UTF-8</vt:lpstr>
      <vt:lpstr>UTF-8 관련 함수</vt:lpstr>
      <vt:lpstr>문제 20. 암호 깨기 II</vt:lpstr>
      <vt:lpstr>PowerPoint 프레젠테이션</vt:lpstr>
      <vt:lpstr>PowerPoint 프레젠테이션</vt:lpstr>
      <vt:lpstr>문제 20 힌트</vt:lpstr>
      <vt:lpstr>PowerPoint 프레젠테이션</vt:lpstr>
      <vt:lpstr>PowerPoint 프레젠테이션</vt:lpstr>
      <vt:lpstr>PowerPoint 프레젠테이션</vt:lpstr>
      <vt:lpstr>문제 21. 자동 심사 스크립트</vt:lpstr>
      <vt:lpstr>PowerPoint 프레젠테이션</vt:lpstr>
      <vt:lpstr>PowerPoint 프레젠테이션</vt:lpstr>
      <vt:lpstr>PowerPoint 프레젠테이션</vt:lpstr>
      <vt:lpstr>문제 21 힌트</vt:lpstr>
      <vt:lpstr>PowerPoint 프레젠테이션</vt:lpstr>
      <vt:lpstr>PowerPoint 프레젠테이션</vt:lpstr>
      <vt:lpstr>PowerPoint 프레젠테이션</vt:lpstr>
      <vt:lpstr>PowerPoint 프레젠테이션</vt:lpstr>
    </vt:vector>
  </TitlesOfParts>
  <Company>design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inje</dc:creator>
  <cp:lastModifiedBy>하 진영</cp:lastModifiedBy>
  <cp:revision>395</cp:revision>
  <dcterms:created xsi:type="dcterms:W3CDTF">2003-02-22T04:47:49Z</dcterms:created>
  <dcterms:modified xsi:type="dcterms:W3CDTF">2018-10-17T06:12:11Z</dcterms:modified>
</cp:coreProperties>
</file>