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434" r:id="rId2"/>
    <p:sldId id="457" r:id="rId3"/>
    <p:sldId id="435" r:id="rId4"/>
    <p:sldId id="458" r:id="rId5"/>
    <p:sldId id="429" r:id="rId6"/>
    <p:sldId id="437" r:id="rId7"/>
    <p:sldId id="438" r:id="rId8"/>
    <p:sldId id="439" r:id="rId9"/>
    <p:sldId id="440" r:id="rId10"/>
    <p:sldId id="441" r:id="rId11"/>
    <p:sldId id="423" r:id="rId12"/>
    <p:sldId id="442" r:id="rId13"/>
    <p:sldId id="443" r:id="rId14"/>
    <p:sldId id="444" r:id="rId15"/>
    <p:sldId id="445" r:id="rId16"/>
    <p:sldId id="446" r:id="rId17"/>
    <p:sldId id="447" r:id="rId18"/>
    <p:sldId id="448" r:id="rId19"/>
    <p:sldId id="449" r:id="rId20"/>
    <p:sldId id="450" r:id="rId21"/>
    <p:sldId id="451" r:id="rId22"/>
    <p:sldId id="452" r:id="rId23"/>
    <p:sldId id="453" r:id="rId24"/>
    <p:sldId id="454" r:id="rId25"/>
    <p:sldId id="455" r:id="rId26"/>
    <p:sldId id="456" r:id="rId27"/>
  </p:sldIdLst>
  <p:sldSz cx="9144000" cy="6858000" type="screen4x3"/>
  <p:notesSz cx="6858000" cy="95742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5pPr>
    <a:lvl6pPr marL="2286000" algn="l" defTabSz="914400" rtl="0" eaLnBrk="1" latinLnBrk="1" hangingPunct="1"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6pPr>
    <a:lvl7pPr marL="2743200" algn="l" defTabSz="914400" rtl="0" eaLnBrk="1" latinLnBrk="1" hangingPunct="1"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7pPr>
    <a:lvl8pPr marL="3200400" algn="l" defTabSz="914400" rtl="0" eaLnBrk="1" latinLnBrk="1" hangingPunct="1"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8pPr>
    <a:lvl9pPr marL="3657600" algn="l" defTabSz="914400" rtl="0" eaLnBrk="1" latinLnBrk="1" hangingPunct="1"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00"/>
    <a:srgbClr val="7ACCB7"/>
    <a:srgbClr val="7BB0E5"/>
    <a:srgbClr val="0066FF"/>
    <a:srgbClr val="89B2DB"/>
    <a:srgbClr val="3D81C5"/>
    <a:srgbClr val="B4B4B4"/>
    <a:srgbClr val="8FB6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29" autoAdjust="0"/>
    <p:restoredTop sz="94003" autoAdjust="0"/>
  </p:normalViewPr>
  <p:slideViewPr>
    <p:cSldViewPr>
      <p:cViewPr varScale="1">
        <p:scale>
          <a:sx n="121" d="100"/>
          <a:sy n="121" d="100"/>
        </p:scale>
        <p:origin x="-1320" y="-96"/>
      </p:cViewPr>
      <p:guideLst>
        <p:guide orient="horz" pos="2160"/>
        <p:guide pos="51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77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77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45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094788"/>
            <a:ext cx="297180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45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9094788"/>
            <a:ext cx="297180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D2C0A8F9-D868-4AAD-9DD5-4BFC86FA08E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255476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77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77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45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38225" y="719138"/>
            <a:ext cx="4783138" cy="3587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17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548188"/>
            <a:ext cx="5029200" cy="430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317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094788"/>
            <a:ext cx="297180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17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9094788"/>
            <a:ext cx="297180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5F62EA2C-6A7B-4AE4-9565-91AC0F95E9C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028696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87832E-844D-470C-8C0F-12EE8280A2C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99021751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FA3A84-ADC4-40BE-9831-816FDDEFB53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52365318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00D486-035F-41F5-9170-0500B9C707A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25938667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17A648-85B3-4977-8B2A-E12A6F17348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71306852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CF8AA5-3C2C-4A68-83B0-B42998F3D2C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24480014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1C486B-732A-410C-8533-00AA0C15C6B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66542083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FAE050-7BCF-4ADD-864F-F96DD2DFD22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6318358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F37C71-214F-4A0E-94EE-F9A3CF6F677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67585451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3F2BEE-6B22-4F95-871D-0836B7578F3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61022183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5C7C7C-63DE-45E6-9CFD-1FC765F37CA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29982221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71F21C-FE8B-4C09-993B-6B9FA0C0D0D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5982373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+mn-lt"/>
                <a:ea typeface="+mn-ea"/>
              </a:defRPr>
            </a:lvl1pPr>
          </a:lstStyle>
          <a:p>
            <a:pPr>
              <a:defRPr/>
            </a:pPr>
            <a:fld id="{D8EDF84B-17EA-4A1E-8C40-DE4CA9254A5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://en.wikipedia.org/wiki/Sweep_line_algorithm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smtClean="0"/>
              <a:t>제 </a:t>
            </a:r>
            <a:r>
              <a:rPr lang="en-US" altLang="ko-KR" dirty="0" smtClean="0"/>
              <a:t>2</a:t>
            </a:r>
            <a:r>
              <a:rPr lang="ko-KR" altLang="en-US" dirty="0" smtClean="0"/>
              <a:t>장 자료 구조</a:t>
            </a:r>
            <a:r>
              <a:rPr lang="en-US" altLang="ko-KR" dirty="0" smtClean="0"/>
              <a:t>(1)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smtClean="0"/>
              <a:t>강원대학교</a:t>
            </a:r>
            <a:endParaRPr lang="en-US" altLang="ko-KR" dirty="0" smtClean="0"/>
          </a:p>
          <a:p>
            <a:r>
              <a:rPr lang="ko-KR" altLang="en-US" dirty="0" smtClean="0"/>
              <a:t>하진</a:t>
            </a:r>
            <a:r>
              <a:rPr lang="ko-KR" altLang="en-US" dirty="0"/>
              <a:t>영</a:t>
            </a:r>
          </a:p>
        </p:txBody>
      </p:sp>
    </p:spTree>
    <p:extLst>
      <p:ext uri="{BB962C8B-B14F-4D97-AF65-F5344CB8AC3E}">
        <p14:creationId xmlns:p14="http://schemas.microsoft.com/office/powerpoint/2010/main" val="344914117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Line 2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9525">
            <a:solidFill>
              <a:srgbClr val="80808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123" name="Rectangle 3"/>
          <p:cNvSpPr>
            <a:spLocks noChangeArrowheads="1"/>
          </p:cNvSpPr>
          <p:nvPr/>
        </p:nvSpPr>
        <p:spPr bwMode="auto">
          <a:xfrm>
            <a:off x="0" y="762000"/>
            <a:ext cx="9144000" cy="228600"/>
          </a:xfrm>
          <a:prstGeom prst="rect">
            <a:avLst/>
          </a:prstGeom>
          <a:solidFill>
            <a:srgbClr val="B4B4B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solidFill>
            <a:srgbClr val="3D81C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5125" name="Rectangle 5"/>
          <p:cNvSpPr>
            <a:spLocks noChangeArrowheads="1"/>
          </p:cNvSpPr>
          <p:nvPr/>
        </p:nvSpPr>
        <p:spPr bwMode="auto">
          <a:xfrm>
            <a:off x="0" y="6705600"/>
            <a:ext cx="9144000" cy="152400"/>
          </a:xfrm>
          <a:prstGeom prst="rect">
            <a:avLst/>
          </a:prstGeom>
          <a:solidFill>
            <a:srgbClr val="B4B4B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3492500" y="115888"/>
            <a:ext cx="54705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1pPr>
            <a:lvl2pPr marL="742950" indent="-28575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2pPr>
            <a:lvl3pPr marL="1143000" indent="-22860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3pPr>
            <a:lvl4pPr marL="1600200" indent="-22860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4pPr>
            <a:lvl5pPr marL="2057400" indent="-22860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ko-KR" altLang="en-US" sz="3600" b="0">
                <a:solidFill>
                  <a:srgbClr val="BCCFEA"/>
                </a:solidFill>
                <a:latin typeface="산돌명조 M" pitchFamily="18" charset="-127"/>
                <a:ea typeface="산돌명조 M" pitchFamily="18" charset="-127"/>
              </a:rPr>
              <a:t>주차별 수업 계획 </a:t>
            </a:r>
          </a:p>
        </p:txBody>
      </p:sp>
      <p:sp>
        <p:nvSpPr>
          <p:cNvPr id="5127" name="Rectangle 11"/>
          <p:cNvSpPr>
            <a:spLocks noChangeArrowheads="1"/>
          </p:cNvSpPr>
          <p:nvPr/>
        </p:nvSpPr>
        <p:spPr bwMode="auto">
          <a:xfrm>
            <a:off x="0" y="-238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5128" name="Rectangle 739"/>
          <p:cNvSpPr>
            <a:spLocks noChangeArrowheads="1"/>
          </p:cNvSpPr>
          <p:nvPr/>
        </p:nvSpPr>
        <p:spPr bwMode="auto">
          <a:xfrm>
            <a:off x="0" y="11541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graphicFrame>
        <p:nvGraphicFramePr>
          <p:cNvPr id="217037" name="Group 9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752168"/>
              </p:ext>
            </p:extLst>
          </p:nvPr>
        </p:nvGraphicFramePr>
        <p:xfrm>
          <a:off x="1116013" y="1154113"/>
          <a:ext cx="7561263" cy="5395913"/>
        </p:xfrm>
        <a:graphic>
          <a:graphicData uri="http://schemas.openxmlformats.org/drawingml/2006/table">
            <a:tbl>
              <a:tblPr/>
              <a:tblGrid>
                <a:gridCol w="809652"/>
                <a:gridCol w="3079082"/>
                <a:gridCol w="2160311"/>
                <a:gridCol w="1512218"/>
              </a:tblGrid>
              <a:tr h="51821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주차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수업내용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교재 범위 및 과제물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비고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7742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굴림" pitchFamily="50" charset="-127"/>
                          <a:ea typeface="굴림체" pitchFamily="49" charset="-127"/>
                        </a:rPr>
                        <a:t>1</a:t>
                      </a:r>
                      <a:endParaRPr kumimoji="1" lang="en-US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600" b="1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</a:rPr>
                        <a:t>교과목 소개 및 실습 환경 점검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sz="1600" kern="12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600" kern="12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</a:t>
                      </a:r>
                      <a:r>
                        <a:rPr lang="ko-KR" altLang="ko-KR" sz="1600" kern="12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</a:t>
                      </a: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문제 </a:t>
                      </a: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627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체" pitchFamily="49" charset="-127"/>
                        </a:rPr>
                        <a:t>2</a:t>
                      </a:r>
                      <a:endParaRPr kumimoji="1" lang="en-US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600" b="1" dirty="0" smtClean="0">
                          <a:solidFill>
                            <a:schemeClr val="tx1"/>
                          </a:solidFill>
                          <a:effectLst/>
                        </a:rPr>
                        <a:t>자료 구조</a:t>
                      </a:r>
                      <a:r>
                        <a:rPr lang="en-US" altLang="ko-KR" sz="1600" b="1" dirty="0" smtClean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2</a:t>
                      </a:r>
                      <a:r>
                        <a:rPr lang="ko-KR" altLang="ko-KR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</a:t>
                      </a: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문제 </a:t>
                      </a: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9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5792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굴림" pitchFamily="50" charset="-127"/>
                          <a:ea typeface="굴림체" pitchFamily="49" charset="-127"/>
                        </a:rPr>
                        <a:t>3</a:t>
                      </a:r>
                      <a:endParaRPr kumimoji="1" lang="en-US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600" b="1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</a:rPr>
                        <a:t>자료 구조</a:t>
                      </a:r>
                      <a:r>
                        <a:rPr lang="en-US" altLang="ko-KR" sz="1600" b="1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</a:rPr>
                        <a:t>2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sz="1600" kern="12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600" kern="12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2</a:t>
                      </a:r>
                      <a:r>
                        <a:rPr lang="ko-KR" altLang="ko-KR" sz="1600" kern="12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</a:t>
                      </a: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문제 </a:t>
                      </a: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11, 12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5792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굴림" pitchFamily="50" charset="-127"/>
                          <a:ea typeface="굴림체" pitchFamily="49" charset="-127"/>
                        </a:rPr>
                        <a:t>4</a:t>
                      </a:r>
                      <a:endParaRPr kumimoji="1" lang="en-US" altLang="ko-KR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600" b="1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</a:rPr>
                        <a:t>문자열</a:t>
                      </a:r>
                      <a:r>
                        <a:rPr lang="en-US" altLang="ko-KR" sz="1600" b="1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</a:rPr>
                        <a:t>1</a:t>
                      </a:r>
                      <a:r>
                        <a:rPr lang="ko-KR" altLang="en-US" sz="1600" b="1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</a:rPr>
                        <a:t> </a:t>
                      </a:r>
                      <a:endParaRPr lang="en-US" altLang="ko-KR" sz="1600" dirty="0" smtClean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ko-KR" sz="1600" kern="12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600" kern="12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3</a:t>
                      </a:r>
                      <a:r>
                        <a:rPr lang="ko-KR" altLang="ko-KR" sz="1600" kern="12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문제 </a:t>
                      </a: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17, 18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5792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굴림" pitchFamily="50" charset="-127"/>
                          <a:ea typeface="굴림체" pitchFamily="49" charset="-127"/>
                        </a:rPr>
                        <a:t>5</a:t>
                      </a:r>
                      <a:endParaRPr kumimoji="1" lang="en-US" altLang="ko-KR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문자열</a:t>
                      </a:r>
                      <a:r>
                        <a:rPr kumimoji="1" lang="en-US" altLang="ko-K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</a:t>
                      </a:r>
                      <a:endParaRPr kumimoji="1" lang="ko-KR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제 </a:t>
                      </a: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3</a:t>
                      </a: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장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문제 </a:t>
                      </a: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20, 21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5792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굴림" pitchFamily="50" charset="-127"/>
                          <a:ea typeface="굴림체" pitchFamily="49" charset="-127"/>
                        </a:rPr>
                        <a:t>6</a:t>
                      </a:r>
                      <a:endParaRPr kumimoji="1" lang="en-US" altLang="ko-KR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정렬</a:t>
                      </a: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ko-KR" sz="1600" kern="12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600" kern="12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4</a:t>
                      </a:r>
                      <a:r>
                        <a:rPr lang="ko-KR" altLang="ko-KR" sz="1600" kern="12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문제 </a:t>
                      </a: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25, 29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5792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굴림" pitchFamily="50" charset="-127"/>
                          <a:ea typeface="굴림체" pitchFamily="49" charset="-127"/>
                        </a:rPr>
                        <a:t>7</a:t>
                      </a:r>
                      <a:endParaRPr kumimoji="1" lang="en-US" altLang="ko-KR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조합론</a:t>
                      </a:r>
                      <a:endParaRPr kumimoji="1" lang="ko-KR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ko-KR" sz="1600" kern="12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600" kern="12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6</a:t>
                      </a:r>
                      <a:r>
                        <a:rPr lang="ko-KR" altLang="ko-KR" sz="1600" kern="12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</a:t>
                      </a:r>
                      <a:endParaRPr kumimoji="1" lang="en-US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문제 </a:t>
                      </a: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41, 46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5792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굴림" pitchFamily="50" charset="-127"/>
                          <a:ea typeface="굴림체" pitchFamily="49" charset="-127"/>
                        </a:rPr>
                        <a:t>8</a:t>
                      </a:r>
                      <a:endParaRPr kumimoji="1" lang="en-US" altLang="ko-KR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굴림체" pitchFamily="49" charset="-127"/>
                          <a:ea typeface="굴림" pitchFamily="50" charset="-127"/>
                        </a:rPr>
                        <a:t>중간 고사</a:t>
                      </a:r>
                      <a:endParaRPr kumimoji="1" lang="ko-KR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필기시험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3" marR="91443" marT="45730" marB="45730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FAE050-7BCF-4ADD-864F-F96DD2DFD225}" type="slidenum">
              <a:rPr lang="en-US" altLang="ko-KR" smtClean="0"/>
              <a:pPr>
                <a:defRPr/>
              </a:pPr>
              <a:t>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709621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smtClean="0"/>
              <a:t>문자열</a:t>
            </a:r>
            <a:r>
              <a:rPr lang="en-US" altLang="ko-KR" b="1" dirty="0" smtClean="0"/>
              <a:t>/</a:t>
            </a:r>
            <a:r>
              <a:rPr lang="ko-KR" altLang="en-US" b="1" dirty="0" smtClean="0"/>
              <a:t>문자 입출력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800" dirty="0" smtClean="0"/>
              <a:t>텍스트 입력을 읽어 들이는 방법</a:t>
            </a:r>
            <a:endParaRPr lang="en-US" altLang="ko-KR" sz="2800" dirty="0" smtClean="0"/>
          </a:p>
          <a:p>
            <a:pPr lvl="1"/>
            <a:r>
              <a:rPr lang="ko-KR" altLang="en-US" sz="2400" dirty="0" smtClean="0"/>
              <a:t>단일 문자를 반복적으로 읽기</a:t>
            </a:r>
            <a:r>
              <a:rPr lang="en-US" altLang="ko-KR" sz="2400" dirty="0" smtClean="0"/>
              <a:t>(</a:t>
            </a:r>
            <a:r>
              <a:rPr lang="en-US" altLang="ko-KR" sz="2400" dirty="0" err="1" smtClean="0"/>
              <a:t>getchar</a:t>
            </a:r>
            <a:r>
              <a:rPr lang="en-US" altLang="ko-KR" sz="2400" dirty="0" smtClean="0"/>
              <a:t>() </a:t>
            </a:r>
            <a:r>
              <a:rPr lang="ko-KR" altLang="en-US" sz="2400" dirty="0" smtClean="0"/>
              <a:t>사용</a:t>
            </a:r>
            <a:r>
              <a:rPr lang="en-US" altLang="ko-KR" sz="2400" dirty="0" smtClean="0"/>
              <a:t>)</a:t>
            </a:r>
            <a:endParaRPr lang="en-US" altLang="ko-KR" sz="2400" dirty="0"/>
          </a:p>
          <a:p>
            <a:pPr lvl="1"/>
            <a:r>
              <a:rPr lang="ko-KR" altLang="en-US" sz="2400" dirty="0" smtClean="0"/>
              <a:t>문자열 읽기</a:t>
            </a:r>
            <a:r>
              <a:rPr lang="en-US" altLang="ko-KR" sz="2400" dirty="0" smtClean="0"/>
              <a:t> (</a:t>
            </a:r>
            <a:r>
              <a:rPr lang="en-US" altLang="ko-KR" sz="2400" dirty="0" err="1" smtClean="0"/>
              <a:t>scanf</a:t>
            </a:r>
            <a:r>
              <a:rPr lang="en-US" altLang="ko-KR" sz="2400" dirty="0" smtClean="0"/>
              <a:t>() </a:t>
            </a:r>
            <a:r>
              <a:rPr lang="ko-KR" altLang="en-US" sz="2400" dirty="0" smtClean="0"/>
              <a:t>사용</a:t>
            </a:r>
            <a:r>
              <a:rPr lang="en-US" altLang="ko-KR" sz="2400" dirty="0" smtClean="0"/>
              <a:t>) </a:t>
            </a:r>
            <a:r>
              <a:rPr lang="ko-KR" altLang="en-US" sz="2400" dirty="0" smtClean="0"/>
              <a:t>후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단일 문자로 분할</a:t>
            </a:r>
            <a:endParaRPr lang="en-US" altLang="ko-KR" sz="2400" dirty="0"/>
          </a:p>
          <a:p>
            <a:pPr lvl="1"/>
            <a:r>
              <a:rPr lang="ko-KR" altLang="en-US" sz="2400" dirty="0" smtClean="0"/>
              <a:t>한 라인을 문자열로 읽은 후</a:t>
            </a:r>
            <a:r>
              <a:rPr lang="en-US" altLang="ko-KR" sz="2400" dirty="0" smtClean="0"/>
              <a:t> (gets() </a:t>
            </a:r>
            <a:r>
              <a:rPr lang="ko-KR" altLang="en-US" sz="2400" dirty="0" smtClean="0"/>
              <a:t>사용</a:t>
            </a:r>
            <a:r>
              <a:rPr lang="en-US" altLang="ko-KR" sz="2400" dirty="0" smtClean="0"/>
              <a:t>), </a:t>
            </a:r>
            <a:r>
              <a:rPr lang="ko-KR" altLang="en-US" sz="2400" dirty="0" smtClean="0"/>
              <a:t>문자열에 있는 개별 문자에 접근함으로써 </a:t>
            </a:r>
            <a:r>
              <a:rPr lang="ko-KR" altLang="en-US" sz="2400" dirty="0" err="1" smtClean="0"/>
              <a:t>파싱하기</a:t>
            </a:r>
            <a:endParaRPr lang="en-US" altLang="ko-KR" sz="2400" dirty="0" smtClean="0"/>
          </a:p>
          <a:p>
            <a:pPr lvl="1"/>
            <a:r>
              <a:rPr lang="ko-KR" altLang="en-US" sz="2400" dirty="0" err="1" smtClean="0"/>
              <a:t>스트림</a:t>
            </a:r>
            <a:r>
              <a:rPr lang="ko-KR" altLang="en-US" sz="2400" dirty="0" smtClean="0"/>
              <a:t> 사용 </a:t>
            </a:r>
            <a:r>
              <a:rPr lang="en-US" altLang="ko-KR" sz="2400" dirty="0" smtClean="0"/>
              <a:t>: </a:t>
            </a:r>
            <a:r>
              <a:rPr lang="ko-KR" altLang="en-US" sz="2400" dirty="0" smtClean="0"/>
              <a:t>더 쉬울 수도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더 어려울 수도 있음</a:t>
            </a:r>
            <a:endParaRPr lang="ko-KR" altLang="en-US" sz="2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3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9719439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0" y="764704"/>
            <a:ext cx="7772400" cy="5331296"/>
          </a:xfrm>
        </p:spPr>
        <p:txBody>
          <a:bodyPr/>
          <a:lstStyle/>
          <a:p>
            <a:r>
              <a:rPr lang="en-US" altLang="ko-KR" sz="2400" b="1" dirty="0"/>
              <a:t>C </a:t>
            </a:r>
            <a:r>
              <a:rPr lang="ko-KR" altLang="en-US" sz="2400" b="1" dirty="0"/>
              <a:t>언어에서 </a:t>
            </a:r>
            <a:r>
              <a:rPr lang="en-US" altLang="ko-KR" sz="2400" b="1" dirty="0"/>
              <a:t>gets() </a:t>
            </a:r>
            <a:r>
              <a:rPr lang="ko-KR" altLang="en-US" sz="2400" b="1" dirty="0"/>
              <a:t>함수를 사용하면 오류 발생 가능성이 높으니 사용하지 말고 대신 </a:t>
            </a:r>
            <a:r>
              <a:rPr lang="en-US" altLang="ko-KR" sz="2400" b="1" dirty="0" err="1"/>
              <a:t>fgets</a:t>
            </a:r>
            <a:r>
              <a:rPr lang="en-US" altLang="ko-KR" sz="2400" b="1" dirty="0"/>
              <a:t>() </a:t>
            </a:r>
            <a:r>
              <a:rPr lang="ko-KR" altLang="en-US" sz="2400" b="1" dirty="0"/>
              <a:t>함수를 </a:t>
            </a:r>
            <a:r>
              <a:rPr lang="ko-KR" altLang="en-US" sz="2400" b="1" dirty="0" smtClean="0"/>
              <a:t>사용</a:t>
            </a:r>
            <a:endParaRPr lang="ko-KR" altLang="en-US" sz="2400" dirty="0"/>
          </a:p>
          <a:p>
            <a:r>
              <a:rPr lang="en-US" altLang="ko-KR" sz="2400" b="1" dirty="0"/>
              <a:t>gets() </a:t>
            </a:r>
            <a:r>
              <a:rPr lang="ko-KR" altLang="en-US" sz="2400" b="1" dirty="0"/>
              <a:t>함수는 문자 배열의 크기를 초월해서 읽어 들이다가 메모리 </a:t>
            </a:r>
            <a:r>
              <a:rPr lang="ko-KR" altLang="en-US" sz="2400" b="1" dirty="0" smtClean="0"/>
              <a:t>오류 발생가능</a:t>
            </a:r>
            <a:r>
              <a:rPr lang="en-US" altLang="ko-KR" sz="2400" b="1" dirty="0" smtClean="0"/>
              <a:t>. </a:t>
            </a:r>
            <a:r>
              <a:rPr lang="ko-KR" altLang="en-US" sz="2400" b="1" dirty="0"/>
              <a:t>아래 예제를 </a:t>
            </a:r>
            <a:r>
              <a:rPr lang="ko-KR" altLang="en-US" sz="2400" b="1" dirty="0" smtClean="0"/>
              <a:t>참고</a:t>
            </a:r>
            <a:r>
              <a:rPr lang="en-US" altLang="ko-KR" sz="2400" b="1" dirty="0" smtClean="0"/>
              <a:t>.</a:t>
            </a:r>
            <a:endParaRPr lang="ko-KR" altLang="en-US" sz="2400" dirty="0"/>
          </a:p>
          <a:p>
            <a:pPr marL="400050" lvl="1" indent="0">
              <a:buNone/>
            </a:pPr>
            <a:endParaRPr lang="en-US" altLang="ko-KR" sz="2000" b="1" dirty="0" smtClean="0"/>
          </a:p>
          <a:p>
            <a:pPr marL="400050" lvl="1" indent="0">
              <a:buNone/>
            </a:pPr>
            <a:r>
              <a:rPr lang="en-US" altLang="ko-KR" sz="2000" b="1" dirty="0" smtClean="0"/>
              <a:t>#</a:t>
            </a:r>
            <a:r>
              <a:rPr lang="en-US" altLang="ko-KR" sz="2000" b="1" dirty="0"/>
              <a:t>define BUFSIZE 80</a:t>
            </a:r>
            <a:endParaRPr lang="ko-KR" altLang="en-US" sz="2000" dirty="0"/>
          </a:p>
          <a:p>
            <a:pPr marL="400050" lvl="1" indent="0">
              <a:buNone/>
            </a:pPr>
            <a:r>
              <a:rPr lang="en-US" altLang="ko-KR" sz="2000" b="1" dirty="0"/>
              <a:t>char </a:t>
            </a:r>
            <a:r>
              <a:rPr lang="en-US" altLang="ko-KR" sz="2000" b="1" dirty="0" err="1"/>
              <a:t>buf</a:t>
            </a:r>
            <a:r>
              <a:rPr lang="en-US" altLang="ko-KR" sz="2000" b="1" dirty="0"/>
              <a:t>[BUFSIZE];</a:t>
            </a:r>
            <a:br>
              <a:rPr lang="en-US" altLang="ko-KR" sz="2000" b="1" dirty="0"/>
            </a:br>
            <a:endParaRPr lang="ko-KR" altLang="en-US" sz="2000" dirty="0"/>
          </a:p>
          <a:p>
            <a:pPr marL="400050" lvl="1" indent="0">
              <a:buNone/>
            </a:pPr>
            <a:r>
              <a:rPr lang="en-US" altLang="ko-KR" sz="2000" b="1" dirty="0"/>
              <a:t>while(</a:t>
            </a:r>
            <a:r>
              <a:rPr lang="en-US" altLang="ko-KR" sz="2000" dirty="0" err="1"/>
              <a:t>fgets</a:t>
            </a:r>
            <a:r>
              <a:rPr lang="en-US" altLang="ko-KR" sz="2000" b="1" dirty="0"/>
              <a:t>(</a:t>
            </a:r>
            <a:r>
              <a:rPr lang="en-US" altLang="ko-KR" sz="2000" dirty="0" err="1"/>
              <a:t>buf</a:t>
            </a:r>
            <a:r>
              <a:rPr lang="en-US" altLang="ko-KR" sz="2000" b="1" dirty="0"/>
              <a:t>,</a:t>
            </a:r>
            <a:r>
              <a:rPr lang="ko-KR" altLang="en-US" sz="2000" dirty="0"/>
              <a:t> </a:t>
            </a:r>
            <a:r>
              <a:rPr lang="en-US" altLang="ko-KR" sz="2000" dirty="0"/>
              <a:t>BUFSIZE</a:t>
            </a:r>
            <a:r>
              <a:rPr lang="en-US" altLang="ko-KR" sz="2000" b="1" dirty="0"/>
              <a:t>,</a:t>
            </a:r>
            <a:r>
              <a:rPr lang="ko-KR" altLang="en-US" sz="2000" dirty="0"/>
              <a:t> </a:t>
            </a:r>
            <a:r>
              <a:rPr lang="en-US" altLang="ko-KR" sz="2000" dirty="0" err="1"/>
              <a:t>stdin</a:t>
            </a:r>
            <a:r>
              <a:rPr lang="en-US" altLang="ko-KR" sz="2000" b="1" dirty="0"/>
              <a:t>)!=</a:t>
            </a:r>
            <a:r>
              <a:rPr lang="ko-KR" altLang="en-US" sz="2000" dirty="0"/>
              <a:t> </a:t>
            </a:r>
            <a:r>
              <a:rPr lang="en-US" altLang="ko-KR" sz="2000" dirty="0"/>
              <a:t>NULL</a:t>
            </a:r>
            <a:r>
              <a:rPr lang="en-US" altLang="ko-KR" sz="2000" b="1" dirty="0"/>
              <a:t>)</a:t>
            </a:r>
            <a:r>
              <a:rPr lang="en-US" altLang="ko-KR" sz="2000" dirty="0"/>
              <a:t>{</a:t>
            </a:r>
            <a:endParaRPr lang="ko-KR" altLang="en-US" sz="2000" dirty="0"/>
          </a:p>
          <a:p>
            <a:pPr marL="400050" lvl="1" indent="0">
              <a:buNone/>
            </a:pPr>
            <a:r>
              <a:rPr lang="en-US" altLang="ko-KR" sz="2000" dirty="0"/>
              <a:t>...</a:t>
            </a:r>
            <a:endParaRPr lang="ko-KR" altLang="en-US" sz="2000" dirty="0"/>
          </a:p>
          <a:p>
            <a:pPr marL="400050" lvl="1" indent="0">
              <a:buNone/>
            </a:pPr>
            <a:r>
              <a:rPr lang="en-US" altLang="ko-KR" sz="2000" dirty="0" smtClean="0"/>
              <a:t>}</a:t>
            </a:r>
          </a:p>
          <a:p>
            <a:pPr marL="400050" lvl="1" indent="0">
              <a:buNone/>
            </a:pPr>
            <a:endParaRPr lang="ko-KR" altLang="en-US" sz="2000" dirty="0"/>
          </a:p>
          <a:p>
            <a:r>
              <a:rPr lang="ko-KR" altLang="en-US" sz="2400" dirty="0"/>
              <a:t>추가사항</a:t>
            </a:r>
            <a:r>
              <a:rPr lang="en-US" altLang="ko-KR" sz="2400" dirty="0"/>
              <a:t>: gets()</a:t>
            </a:r>
            <a:r>
              <a:rPr lang="ko-KR" altLang="en-US" sz="2400" dirty="0"/>
              <a:t>는 </a:t>
            </a:r>
            <a:r>
              <a:rPr lang="ko-KR" altLang="en-US" sz="2400" dirty="0" err="1"/>
              <a:t>줄바꿈문자</a:t>
            </a:r>
            <a:r>
              <a:rPr lang="ko-KR" altLang="en-US" sz="2400" dirty="0"/>
              <a:t> 직전까지 읽는데</a:t>
            </a:r>
            <a:r>
              <a:rPr lang="en-US" altLang="ko-KR" sz="2400" dirty="0"/>
              <a:t>, </a:t>
            </a:r>
            <a:r>
              <a:rPr lang="en-US" altLang="ko-KR" sz="2400" dirty="0" err="1"/>
              <a:t>fgets</a:t>
            </a:r>
            <a:r>
              <a:rPr lang="en-US" altLang="ko-KR" sz="2400" dirty="0"/>
              <a:t>()</a:t>
            </a:r>
            <a:r>
              <a:rPr lang="ko-KR" altLang="en-US" sz="2400" dirty="0"/>
              <a:t>는 </a:t>
            </a:r>
            <a:r>
              <a:rPr lang="ko-KR" altLang="en-US" sz="2400" dirty="0" err="1"/>
              <a:t>줄바꿈문자를</a:t>
            </a:r>
            <a:r>
              <a:rPr lang="ko-KR" altLang="en-US" sz="2400" dirty="0"/>
              <a:t> 포함하여 </a:t>
            </a:r>
            <a:r>
              <a:rPr lang="ko-KR" altLang="en-US" sz="2400" dirty="0" smtClean="0"/>
              <a:t>읽어 들이는 차이</a:t>
            </a:r>
            <a:endParaRPr lang="ko-KR" altLang="en-US" sz="2400" dirty="0"/>
          </a:p>
          <a:p>
            <a:endParaRPr lang="ko-KR" altLang="en-US" sz="24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2750820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기본 자료 구조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800" dirty="0" smtClean="0"/>
              <a:t>기</a:t>
            </a:r>
            <a:r>
              <a:rPr lang="ko-KR" altLang="en-US" sz="2800" dirty="0"/>
              <a:t>본</a:t>
            </a:r>
            <a:r>
              <a:rPr lang="ko-KR" altLang="en-US" sz="2800" dirty="0" smtClean="0"/>
              <a:t> 구조 </a:t>
            </a:r>
            <a:r>
              <a:rPr lang="ko-KR" altLang="en-US" sz="2800" dirty="0" err="1" smtClean="0"/>
              <a:t>자료형</a:t>
            </a:r>
            <a:endParaRPr lang="en-US" altLang="ko-KR" sz="2800" dirty="0" smtClean="0"/>
          </a:p>
          <a:p>
            <a:pPr lvl="1"/>
            <a:r>
              <a:rPr lang="ko-KR" altLang="en-US" sz="2400" dirty="0" smtClean="0"/>
              <a:t>배열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레코드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다차원 배열</a:t>
            </a:r>
            <a:r>
              <a:rPr lang="en-US" altLang="ko-KR" sz="2400" dirty="0" smtClean="0"/>
              <a:t>, </a:t>
            </a:r>
            <a:r>
              <a:rPr lang="en-US" altLang="ko-KR" sz="2400" dirty="0" err="1" smtClean="0"/>
              <a:t>enum</a:t>
            </a:r>
            <a:r>
              <a:rPr lang="en-US" altLang="ko-KR" sz="2400" dirty="0" smtClean="0"/>
              <a:t> </a:t>
            </a:r>
            <a:r>
              <a:rPr lang="ko-KR" altLang="en-US" sz="2400" dirty="0" err="1" smtClean="0"/>
              <a:t>자료형</a:t>
            </a:r>
            <a:endParaRPr lang="en-US" altLang="ko-KR" sz="2400" dirty="0" smtClean="0"/>
          </a:p>
          <a:p>
            <a:r>
              <a:rPr lang="ko-KR" altLang="en-US" sz="2800" dirty="0" smtClean="0"/>
              <a:t>포인터 구조</a:t>
            </a:r>
            <a:endParaRPr lang="en-US" altLang="ko-KR" sz="2800" dirty="0" smtClean="0"/>
          </a:p>
          <a:p>
            <a:pPr lvl="1"/>
            <a:r>
              <a:rPr lang="ko-KR" altLang="en-US" sz="2400" dirty="0" smtClean="0"/>
              <a:t>링크된 구조 </a:t>
            </a:r>
            <a:r>
              <a:rPr lang="en-US" altLang="ko-KR" sz="2400" dirty="0" smtClean="0"/>
              <a:t>: </a:t>
            </a:r>
            <a:r>
              <a:rPr lang="ko-KR" altLang="en-US" sz="2400" dirty="0" smtClean="0"/>
              <a:t>메모리 사용에 대한 유연성 제공</a:t>
            </a:r>
            <a:endParaRPr lang="en-US" altLang="ko-KR" sz="2400" dirty="0" smtClean="0"/>
          </a:p>
          <a:p>
            <a:pPr lvl="1"/>
            <a:r>
              <a:rPr lang="ko-KR" altLang="en-US" sz="2400" dirty="0" smtClean="0"/>
              <a:t>최대 크기를 미리 알고 있을 때에는 불필요</a:t>
            </a:r>
            <a:endParaRPr lang="en-US" altLang="ko-KR" sz="2400" dirty="0" smtClean="0"/>
          </a:p>
          <a:p>
            <a:pPr lvl="1"/>
            <a:r>
              <a:rPr lang="ko-KR" altLang="en-US" sz="2400" dirty="0" smtClean="0"/>
              <a:t>일반적으로 배열보다 작업하거나 디버깅하기에 어려움</a:t>
            </a:r>
            <a:endParaRPr lang="en-US" altLang="ko-KR" sz="2400" dirty="0" smtClean="0"/>
          </a:p>
          <a:p>
            <a:r>
              <a:rPr lang="ko-KR" altLang="en-US" sz="2800" dirty="0" smtClean="0"/>
              <a:t>추상 데이터 형</a:t>
            </a:r>
            <a:endParaRPr lang="en-US" altLang="ko-KR" sz="2800" dirty="0" smtClean="0"/>
          </a:p>
          <a:p>
            <a:pPr lvl="1"/>
            <a:r>
              <a:rPr lang="en-US" altLang="ko-KR" sz="2400" dirty="0" smtClean="0"/>
              <a:t>“</a:t>
            </a:r>
            <a:r>
              <a:rPr lang="ko-KR" altLang="en-US" sz="2400" dirty="0" smtClean="0"/>
              <a:t>자료 구조</a:t>
            </a:r>
            <a:r>
              <a:rPr lang="en-US" altLang="ko-KR" sz="2400" dirty="0" smtClean="0"/>
              <a:t>”</a:t>
            </a:r>
            <a:r>
              <a:rPr lang="ko-KR" altLang="en-US" sz="2400" dirty="0" smtClean="0"/>
              <a:t>에 비해 높은 수준의 방법 제공</a:t>
            </a:r>
            <a:endParaRPr lang="ko-KR" altLang="en-US" sz="24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9416594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추상 자료 구조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800" dirty="0" smtClean="0"/>
              <a:t>주요 추상 자료 구조</a:t>
            </a:r>
            <a:endParaRPr lang="en-US" altLang="ko-KR" sz="2800" dirty="0" smtClean="0"/>
          </a:p>
          <a:p>
            <a:pPr lvl="1"/>
            <a:r>
              <a:rPr lang="ko-KR" altLang="en-US" sz="2400" dirty="0" err="1" smtClean="0"/>
              <a:t>스택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큐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사전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우선 순위 큐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집합</a:t>
            </a:r>
            <a:endParaRPr lang="en-US" altLang="ko-KR" sz="2400" dirty="0" smtClean="0"/>
          </a:p>
          <a:p>
            <a:r>
              <a:rPr lang="en-US" altLang="ko-KR" sz="2000" b="1" dirty="0"/>
              <a:t>Abstract data types </a:t>
            </a:r>
            <a:r>
              <a:rPr lang="en-US" altLang="ko-KR" sz="2000" dirty="0"/>
              <a:t>provide a higher-order way to think </a:t>
            </a:r>
            <a:r>
              <a:rPr lang="en-US" altLang="ko-KR" sz="2000" dirty="0" smtClean="0"/>
              <a:t>about program </a:t>
            </a:r>
            <a:r>
              <a:rPr lang="en-US" altLang="ko-KR" sz="2000" dirty="0"/>
              <a:t>organization than “data structures”.</a:t>
            </a:r>
          </a:p>
          <a:p>
            <a:r>
              <a:rPr lang="en-US" altLang="ko-KR" sz="2000" dirty="0"/>
              <a:t>Abstract data types are defined by the </a:t>
            </a:r>
            <a:r>
              <a:rPr lang="en-US" altLang="ko-KR" sz="2000" i="1" dirty="0"/>
              <a:t>operations </a:t>
            </a:r>
            <a:r>
              <a:rPr lang="en-US" altLang="ko-KR" sz="2000" dirty="0"/>
              <a:t>you want </a:t>
            </a:r>
            <a:r>
              <a:rPr lang="en-US" altLang="ko-KR" sz="2000" dirty="0" smtClean="0"/>
              <a:t>to perform </a:t>
            </a:r>
            <a:r>
              <a:rPr lang="en-US" altLang="ko-KR" sz="2000" dirty="0"/>
              <a:t>on the data. The correct implementation (i.e. </a:t>
            </a:r>
            <a:r>
              <a:rPr lang="en-US" altLang="ko-KR" sz="2000" dirty="0" smtClean="0"/>
              <a:t>arrays or </a:t>
            </a:r>
            <a:r>
              <a:rPr lang="en-US" altLang="ko-KR" sz="2000" dirty="0"/>
              <a:t>linked structures) is determined </a:t>
            </a:r>
            <a:r>
              <a:rPr lang="en-US" altLang="ko-KR" sz="2000" i="1" dirty="0"/>
              <a:t>after </a:t>
            </a:r>
            <a:r>
              <a:rPr lang="en-US" altLang="ko-KR" sz="2000" dirty="0"/>
              <a:t>you have defined </a:t>
            </a:r>
            <a:r>
              <a:rPr lang="en-US" altLang="ko-KR" sz="2000" dirty="0" smtClean="0"/>
              <a:t>the abstract </a:t>
            </a:r>
            <a:r>
              <a:rPr lang="en-US" altLang="ko-KR" sz="2000" dirty="0"/>
              <a:t>data type.</a:t>
            </a:r>
          </a:p>
          <a:p>
            <a:r>
              <a:rPr lang="en-US" altLang="ko-KR" sz="2000" dirty="0"/>
              <a:t>Modern object-oriented languages like C++ and Java </a:t>
            </a:r>
            <a:r>
              <a:rPr lang="en-US" altLang="ko-KR" sz="2000" dirty="0" smtClean="0"/>
              <a:t>come with </a:t>
            </a:r>
            <a:r>
              <a:rPr lang="en-US" altLang="ko-KR" sz="2000" dirty="0"/>
              <a:t>standard libraries of fundamental data structures.</a:t>
            </a:r>
          </a:p>
          <a:p>
            <a:pPr lvl="1"/>
            <a:r>
              <a:rPr lang="en-US" altLang="ko-KR" sz="1800" dirty="0"/>
              <a:t>These eliminate the need to reinvent the wheel, once </a:t>
            </a:r>
            <a:r>
              <a:rPr lang="en-US" altLang="ko-KR" sz="1800" dirty="0" smtClean="0"/>
              <a:t>you know </a:t>
            </a:r>
            <a:r>
              <a:rPr lang="en-US" altLang="ko-KR" sz="1800" dirty="0"/>
              <a:t>the wheel has been invented.</a:t>
            </a:r>
            <a:endParaRPr lang="en-US" altLang="ko-KR" sz="16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255260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Stacks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0" y="1981200"/>
            <a:ext cx="7772400" cy="4760168"/>
          </a:xfrm>
        </p:spPr>
        <p:txBody>
          <a:bodyPr/>
          <a:lstStyle/>
          <a:p>
            <a:r>
              <a:rPr lang="en-US" altLang="ko-KR" i="1" dirty="0"/>
              <a:t>Stacks </a:t>
            </a:r>
            <a:r>
              <a:rPr lang="en-US" altLang="ko-KR" dirty="0"/>
              <a:t>maintain </a:t>
            </a:r>
            <a:r>
              <a:rPr lang="en-US" altLang="ko-KR" i="1" dirty="0"/>
              <a:t>last-in, first-out </a:t>
            </a:r>
            <a:r>
              <a:rPr lang="en-US" altLang="ko-KR" dirty="0"/>
              <a:t>order.</a:t>
            </a:r>
            <a:endParaRPr lang="en-US" altLang="ko-KR" i="1" dirty="0" smtClean="0"/>
          </a:p>
          <a:p>
            <a:pPr lvl="1"/>
            <a:r>
              <a:rPr lang="en-US" altLang="ko-KR" i="1" dirty="0" smtClean="0"/>
              <a:t>Push(</a:t>
            </a:r>
            <a:r>
              <a:rPr lang="en-US" altLang="ko-KR" i="1" dirty="0" err="1" smtClean="0"/>
              <a:t>x,s</a:t>
            </a:r>
            <a:r>
              <a:rPr lang="en-US" altLang="ko-KR" i="1" dirty="0"/>
              <a:t>) </a:t>
            </a:r>
            <a:r>
              <a:rPr lang="en-US" altLang="ko-KR" dirty="0"/>
              <a:t>– Insert item x on top of stack s.</a:t>
            </a:r>
          </a:p>
          <a:p>
            <a:pPr lvl="1"/>
            <a:r>
              <a:rPr lang="en-US" altLang="ko-KR" i="1" dirty="0"/>
              <a:t>Pop(s) </a:t>
            </a:r>
            <a:r>
              <a:rPr lang="en-US" altLang="ko-KR" dirty="0"/>
              <a:t>– Return (and remove) the top item of stack s.</a:t>
            </a:r>
          </a:p>
          <a:p>
            <a:pPr lvl="1"/>
            <a:r>
              <a:rPr lang="en-US" altLang="ko-KR" i="1" dirty="0"/>
              <a:t>Initialize(s) </a:t>
            </a:r>
            <a:r>
              <a:rPr lang="en-US" altLang="ko-KR" dirty="0"/>
              <a:t>– Create an empty stack.</a:t>
            </a:r>
          </a:p>
          <a:p>
            <a:pPr lvl="1"/>
            <a:r>
              <a:rPr lang="en-US" altLang="ko-KR" i="1" dirty="0"/>
              <a:t>Full(s), Empty(s) </a:t>
            </a:r>
            <a:r>
              <a:rPr lang="en-US" altLang="ko-KR" dirty="0"/>
              <a:t>– Test whether the stack can accept </a:t>
            </a:r>
            <a:r>
              <a:rPr lang="en-US" altLang="ko-KR" dirty="0" smtClean="0"/>
              <a:t>more pushes </a:t>
            </a:r>
            <a:r>
              <a:rPr lang="en-US" altLang="ko-KR" dirty="0"/>
              <a:t>or pops, respectively.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7327370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Applications of Stacks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Processing parenthesized formulas (push on a “(”, pop </a:t>
            </a:r>
            <a:r>
              <a:rPr lang="en-US" altLang="ko-KR" dirty="0" smtClean="0"/>
              <a:t>on </a:t>
            </a:r>
            <a:r>
              <a:rPr lang="ko-KR" altLang="en-US" dirty="0" smtClean="0"/>
              <a:t>“</a:t>
            </a:r>
            <a:r>
              <a:rPr lang="en-US" altLang="ko-KR" dirty="0"/>
              <a:t>)”)</a:t>
            </a:r>
          </a:p>
          <a:p>
            <a:r>
              <a:rPr lang="en-US" altLang="ko-KR" dirty="0" smtClean="0"/>
              <a:t>Recursive </a:t>
            </a:r>
            <a:r>
              <a:rPr lang="en-US" altLang="ko-KR" dirty="0"/>
              <a:t>program calls (push on a procedure entry, </a:t>
            </a:r>
            <a:r>
              <a:rPr lang="en-US" altLang="ko-KR" dirty="0" smtClean="0"/>
              <a:t>pop on </a:t>
            </a:r>
            <a:r>
              <a:rPr lang="en-US" altLang="ko-KR" dirty="0"/>
              <a:t>a procedure exit), </a:t>
            </a:r>
            <a:r>
              <a:rPr lang="en-US" altLang="ko-KR" dirty="0" smtClean="0"/>
              <a:t>and</a:t>
            </a:r>
          </a:p>
          <a:p>
            <a:r>
              <a:rPr lang="en-US" altLang="ko-KR" dirty="0" smtClean="0"/>
              <a:t>Depth-first </a:t>
            </a:r>
            <a:r>
              <a:rPr lang="en-US" altLang="ko-KR" dirty="0"/>
              <a:t>traversals of graphs (push on discovering </a:t>
            </a:r>
            <a:r>
              <a:rPr lang="en-US" altLang="ko-KR" dirty="0" smtClean="0"/>
              <a:t>a vertex</a:t>
            </a:r>
            <a:r>
              <a:rPr lang="en-US" altLang="ko-KR" dirty="0"/>
              <a:t>, pop on leaving it for the last time).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8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3544639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Queues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i="1" dirty="0"/>
              <a:t>Queues </a:t>
            </a:r>
            <a:r>
              <a:rPr lang="en-US" altLang="ko-KR" dirty="0"/>
              <a:t>maintain </a:t>
            </a:r>
            <a:r>
              <a:rPr lang="en-US" altLang="ko-KR" i="1" dirty="0"/>
              <a:t>first-in, first-out </a:t>
            </a:r>
            <a:r>
              <a:rPr lang="en-US" altLang="ko-KR" dirty="0"/>
              <a:t>order.</a:t>
            </a:r>
          </a:p>
          <a:p>
            <a:pPr lvl="1"/>
            <a:r>
              <a:rPr lang="en-US" altLang="ko-KR" i="1" dirty="0" err="1"/>
              <a:t>Enqueue</a:t>
            </a:r>
            <a:r>
              <a:rPr lang="en-US" altLang="ko-KR" i="1" dirty="0"/>
              <a:t>(</a:t>
            </a:r>
            <a:r>
              <a:rPr lang="en-US" altLang="ko-KR" i="1" dirty="0" err="1"/>
              <a:t>x,q</a:t>
            </a:r>
            <a:r>
              <a:rPr lang="en-US" altLang="ko-KR" i="1" dirty="0"/>
              <a:t>) </a:t>
            </a:r>
            <a:r>
              <a:rPr lang="en-US" altLang="ko-KR" dirty="0"/>
              <a:t>– Insert item x at the back of queue q.</a:t>
            </a:r>
          </a:p>
          <a:p>
            <a:pPr lvl="1"/>
            <a:r>
              <a:rPr lang="en-US" altLang="ko-KR" i="1" dirty="0" err="1"/>
              <a:t>Dequeue</a:t>
            </a:r>
            <a:r>
              <a:rPr lang="en-US" altLang="ko-KR" i="1" dirty="0"/>
              <a:t>(q) </a:t>
            </a:r>
            <a:r>
              <a:rPr lang="en-US" altLang="ko-KR" dirty="0"/>
              <a:t>– Return (and remove) front item from queue q</a:t>
            </a:r>
          </a:p>
          <a:p>
            <a:pPr lvl="1"/>
            <a:r>
              <a:rPr lang="en-US" altLang="ko-KR" i="1" dirty="0"/>
              <a:t>Initialize(q), Full(q), Empty(q) </a:t>
            </a:r>
            <a:r>
              <a:rPr lang="en-US" altLang="ko-KR" dirty="0"/>
              <a:t>– Analogous to these </a:t>
            </a:r>
            <a:r>
              <a:rPr lang="en-US" altLang="ko-KR" dirty="0" smtClean="0"/>
              <a:t>operation on </a:t>
            </a:r>
            <a:r>
              <a:rPr lang="en-US" altLang="ko-KR" dirty="0"/>
              <a:t>stacks.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9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8781839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Applications of </a:t>
            </a:r>
            <a:r>
              <a:rPr lang="en-US" altLang="ko-KR" b="1" dirty="0" smtClean="0"/>
              <a:t>Queues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Applications </a:t>
            </a:r>
            <a:r>
              <a:rPr lang="en-US" altLang="ko-KR" dirty="0" smtClean="0"/>
              <a:t>include</a:t>
            </a:r>
          </a:p>
          <a:p>
            <a:pPr lvl="1"/>
            <a:r>
              <a:rPr lang="en-US" altLang="ko-KR" dirty="0" smtClean="0"/>
              <a:t>(1</a:t>
            </a:r>
            <a:r>
              <a:rPr lang="en-US" altLang="ko-KR" dirty="0"/>
              <a:t>) implementing buffers, 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(</a:t>
            </a:r>
            <a:r>
              <a:rPr lang="en-US" altLang="ko-KR" dirty="0"/>
              <a:t>2) </a:t>
            </a:r>
            <a:r>
              <a:rPr lang="en-US" altLang="ko-KR" dirty="0" smtClean="0"/>
              <a:t>simulating waiting </a:t>
            </a:r>
            <a:r>
              <a:rPr lang="en-US" altLang="ko-KR" dirty="0"/>
              <a:t>lines, and 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(</a:t>
            </a:r>
            <a:r>
              <a:rPr lang="en-US" altLang="ko-KR" dirty="0"/>
              <a:t>3) representing card decks for shuffling.</a:t>
            </a:r>
          </a:p>
          <a:p>
            <a:r>
              <a:rPr lang="en-US" altLang="ko-KR" dirty="0"/>
              <a:t>Implementations include circular queues and linked lists</a:t>
            </a:r>
            <a:r>
              <a:rPr lang="en-US" altLang="ko-KR" dirty="0" smtClean="0"/>
              <a:t>.</a:t>
            </a:r>
          </a:p>
          <a:p>
            <a:pPr lvl="1"/>
            <a:r>
              <a:rPr lang="ko-KR" altLang="en-US" sz="2400" dirty="0" smtClean="0">
                <a:solidFill>
                  <a:srgbClr val="FF0000"/>
                </a:solidFill>
              </a:rPr>
              <a:t>배열보다 연결 목록을 써서 구현하는 것이 더 편한 몇 안 되는 자료 구조 가운데 하나로 큐를 꼽을 수 있음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10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50710500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3568" y="188640"/>
            <a:ext cx="7772400" cy="6264696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800" dirty="0"/>
              <a:t>#include &lt;</a:t>
            </a:r>
            <a:r>
              <a:rPr lang="en-US" altLang="ko-KR" sz="1800" dirty="0" err="1"/>
              <a:t>stdio.h</a:t>
            </a:r>
            <a:r>
              <a:rPr lang="en-US" altLang="ko-KR" sz="1800" dirty="0"/>
              <a:t>&gt;</a:t>
            </a:r>
          </a:p>
          <a:p>
            <a:pPr marL="0" indent="0">
              <a:buNone/>
            </a:pPr>
            <a:r>
              <a:rPr lang="en-US" altLang="ko-KR" sz="1800" dirty="0"/>
              <a:t>#define QUEUESIZE 1000</a:t>
            </a:r>
          </a:p>
          <a:p>
            <a:pPr marL="0" indent="0">
              <a:buNone/>
            </a:pPr>
            <a:r>
              <a:rPr lang="en-US" altLang="ko-KR" sz="1800" dirty="0"/>
              <a:t>#define TRUE 1</a:t>
            </a:r>
          </a:p>
          <a:p>
            <a:pPr marL="0" indent="0">
              <a:buNone/>
            </a:pPr>
            <a:r>
              <a:rPr lang="en-US" altLang="ko-KR" sz="1800" dirty="0"/>
              <a:t>#define FALSE 0</a:t>
            </a:r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 err="1"/>
              <a:t>typedef</a:t>
            </a:r>
            <a:r>
              <a:rPr lang="en-US" altLang="ko-KR" sz="1800" dirty="0"/>
              <a:t> </a:t>
            </a:r>
            <a:r>
              <a:rPr lang="en-US" altLang="ko-KR" sz="1800" dirty="0" err="1"/>
              <a:t>struct</a:t>
            </a:r>
            <a:r>
              <a:rPr lang="en-US" altLang="ko-KR" sz="1800" dirty="0"/>
              <a:t> {</a:t>
            </a:r>
          </a:p>
          <a:p>
            <a:pPr marL="0" indent="0">
              <a:buNone/>
            </a:pPr>
            <a:r>
              <a:rPr lang="en-US" altLang="ko-KR" sz="1800" dirty="0"/>
              <a:t>    </a:t>
            </a:r>
            <a:r>
              <a:rPr lang="en-US" altLang="ko-KR" sz="1800" dirty="0" err="1"/>
              <a:t>int</a:t>
            </a:r>
            <a:r>
              <a:rPr lang="en-US" altLang="ko-KR" sz="1800" dirty="0"/>
              <a:t> q[QUEUESIZE+1]; // </a:t>
            </a:r>
            <a:r>
              <a:rPr lang="ko-KR" altLang="en-US" sz="1800" dirty="0"/>
              <a:t>큐 몸통</a:t>
            </a:r>
          </a:p>
          <a:p>
            <a:pPr marL="0" indent="0">
              <a:buNone/>
            </a:pPr>
            <a:r>
              <a:rPr lang="ko-KR" altLang="en-US" sz="1800" dirty="0"/>
              <a:t>    </a:t>
            </a:r>
            <a:r>
              <a:rPr lang="en-US" altLang="ko-KR" sz="1800" dirty="0" err="1"/>
              <a:t>int</a:t>
            </a:r>
            <a:r>
              <a:rPr lang="en-US" altLang="ko-KR" sz="1800" dirty="0"/>
              <a:t> first;          // </a:t>
            </a:r>
            <a:r>
              <a:rPr lang="ko-KR" altLang="en-US" sz="1800" dirty="0" err="1"/>
              <a:t>첫번째</a:t>
            </a:r>
            <a:r>
              <a:rPr lang="ko-KR" altLang="en-US" sz="1800" dirty="0"/>
              <a:t> 원소의 위치</a:t>
            </a:r>
          </a:p>
          <a:p>
            <a:pPr marL="0" indent="0">
              <a:buNone/>
            </a:pPr>
            <a:r>
              <a:rPr lang="ko-KR" altLang="en-US" sz="1800" dirty="0"/>
              <a:t>    </a:t>
            </a:r>
            <a:r>
              <a:rPr lang="en-US" altLang="ko-KR" sz="1800" dirty="0" err="1"/>
              <a:t>int</a:t>
            </a:r>
            <a:r>
              <a:rPr lang="en-US" altLang="ko-KR" sz="1800" dirty="0"/>
              <a:t> last;           // </a:t>
            </a:r>
            <a:r>
              <a:rPr lang="ko-KR" altLang="en-US" sz="1800" dirty="0"/>
              <a:t>마지막 원소의 위치</a:t>
            </a:r>
          </a:p>
          <a:p>
            <a:pPr marL="0" indent="0">
              <a:buNone/>
            </a:pPr>
            <a:r>
              <a:rPr lang="ko-KR" altLang="en-US" sz="1800" dirty="0"/>
              <a:t>    </a:t>
            </a:r>
            <a:r>
              <a:rPr lang="en-US" altLang="ko-KR" sz="1800" dirty="0" err="1"/>
              <a:t>int</a:t>
            </a:r>
            <a:r>
              <a:rPr lang="en-US" altLang="ko-KR" sz="1800" dirty="0"/>
              <a:t> count;          // </a:t>
            </a:r>
            <a:r>
              <a:rPr lang="ko-KR" altLang="en-US" sz="1800" dirty="0"/>
              <a:t>큐 원소의 개수</a:t>
            </a:r>
          </a:p>
          <a:p>
            <a:pPr marL="0" indent="0">
              <a:buNone/>
            </a:pPr>
            <a:r>
              <a:rPr lang="en-US" altLang="ko-KR" sz="1800" dirty="0"/>
              <a:t>} queue;</a:t>
            </a:r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 err="1"/>
              <a:t>init_queue</a:t>
            </a:r>
            <a:r>
              <a:rPr lang="en-US" altLang="ko-KR" sz="1800" dirty="0"/>
              <a:t>(queue *q)</a:t>
            </a:r>
          </a:p>
          <a:p>
            <a:pPr marL="0" indent="0">
              <a:buNone/>
            </a:pPr>
            <a:r>
              <a:rPr lang="en-US" altLang="ko-KR" sz="1800" dirty="0"/>
              <a:t>{</a:t>
            </a:r>
          </a:p>
          <a:p>
            <a:pPr marL="0" indent="0">
              <a:buNone/>
            </a:pPr>
            <a:r>
              <a:rPr lang="en-US" altLang="ko-KR" sz="1800" dirty="0"/>
              <a:t>    q-&gt;first = 0;</a:t>
            </a:r>
          </a:p>
          <a:p>
            <a:pPr marL="0" indent="0">
              <a:buNone/>
            </a:pPr>
            <a:r>
              <a:rPr lang="en-US" altLang="ko-KR" sz="1800" dirty="0"/>
              <a:t>    q-&gt;last = QUEUESIZE-1;</a:t>
            </a:r>
          </a:p>
          <a:p>
            <a:pPr marL="0" indent="0">
              <a:buNone/>
            </a:pPr>
            <a:r>
              <a:rPr lang="en-US" altLang="ko-KR" sz="1800" dirty="0"/>
              <a:t>    q-&gt;count = 0;</a:t>
            </a:r>
          </a:p>
          <a:p>
            <a:pPr marL="0" indent="0">
              <a:buNone/>
            </a:pPr>
            <a:r>
              <a:rPr lang="en-US" altLang="ko-KR" sz="1800" dirty="0"/>
              <a:t>}</a:t>
            </a:r>
          </a:p>
          <a:p>
            <a:pPr marL="0" indent="0">
              <a:buNone/>
            </a:pPr>
            <a:endParaRPr lang="en-US" altLang="ko-KR" sz="1800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1209003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3568" y="188640"/>
            <a:ext cx="7772400" cy="6264696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800" dirty="0" err="1"/>
              <a:t>enqueue</a:t>
            </a:r>
            <a:r>
              <a:rPr lang="en-US" altLang="ko-KR" sz="1800" dirty="0"/>
              <a:t>(queue *q, </a:t>
            </a:r>
            <a:r>
              <a:rPr lang="en-US" altLang="ko-KR" sz="1800" dirty="0" err="1"/>
              <a:t>int</a:t>
            </a:r>
            <a:r>
              <a:rPr lang="en-US" altLang="ko-KR" sz="1800" dirty="0"/>
              <a:t> x)</a:t>
            </a:r>
          </a:p>
          <a:p>
            <a:pPr marL="0" indent="0">
              <a:buNone/>
            </a:pPr>
            <a:r>
              <a:rPr lang="en-US" altLang="ko-KR" sz="1800" dirty="0"/>
              <a:t>{</a:t>
            </a:r>
          </a:p>
          <a:p>
            <a:pPr marL="0" indent="0">
              <a:buNone/>
            </a:pPr>
            <a:r>
              <a:rPr lang="en-US" altLang="ko-KR" sz="1800" dirty="0"/>
              <a:t>    if (q-&gt;count &gt;= QUEUESIZE)</a:t>
            </a:r>
          </a:p>
          <a:p>
            <a:pPr marL="0" indent="0">
              <a:buNone/>
            </a:pPr>
            <a:r>
              <a:rPr lang="en-US" altLang="ko-KR" sz="1800" dirty="0"/>
              <a:t>        </a:t>
            </a:r>
            <a:r>
              <a:rPr lang="en-US" altLang="ko-KR" sz="1800" dirty="0" err="1"/>
              <a:t>printf</a:t>
            </a:r>
            <a:r>
              <a:rPr lang="en-US" altLang="ko-KR" sz="1800" dirty="0"/>
              <a:t>("Warning: queue overflow </a:t>
            </a:r>
            <a:r>
              <a:rPr lang="en-US" altLang="ko-KR" sz="1800" dirty="0" err="1"/>
              <a:t>enqueue</a:t>
            </a:r>
            <a:r>
              <a:rPr lang="en-US" altLang="ko-KR" sz="1800" dirty="0"/>
              <a:t> x =%d\n", x);</a:t>
            </a:r>
          </a:p>
          <a:p>
            <a:pPr marL="0" indent="0">
              <a:buNone/>
            </a:pPr>
            <a:r>
              <a:rPr lang="en-US" altLang="ko-KR" sz="1800" dirty="0"/>
              <a:t>    else {</a:t>
            </a:r>
          </a:p>
          <a:p>
            <a:pPr marL="0" indent="0">
              <a:buNone/>
            </a:pPr>
            <a:r>
              <a:rPr lang="en-US" altLang="ko-KR" sz="1800" dirty="0"/>
              <a:t>        q-&gt;last = (q-&gt;last+1) % QUEUESIZE;</a:t>
            </a:r>
          </a:p>
          <a:p>
            <a:pPr marL="0" indent="0">
              <a:buNone/>
            </a:pPr>
            <a:r>
              <a:rPr lang="en-US" altLang="ko-KR" sz="1800" dirty="0"/>
              <a:t>        q-&gt;q[q-&gt;last] = x;</a:t>
            </a:r>
          </a:p>
          <a:p>
            <a:pPr marL="0" indent="0">
              <a:buNone/>
            </a:pPr>
            <a:r>
              <a:rPr lang="en-US" altLang="ko-KR" sz="1800" dirty="0"/>
              <a:t>        q-&gt;count = q-&gt;count + 1;</a:t>
            </a:r>
          </a:p>
          <a:p>
            <a:pPr marL="0" indent="0">
              <a:buNone/>
            </a:pPr>
            <a:r>
              <a:rPr lang="en-US" altLang="ko-KR" sz="1800" dirty="0"/>
              <a:t>    }</a:t>
            </a:r>
          </a:p>
          <a:p>
            <a:pPr marL="0" indent="0">
              <a:buNone/>
            </a:pPr>
            <a:r>
              <a:rPr lang="en-US" altLang="ko-KR" sz="1800" dirty="0"/>
              <a:t>}</a:t>
            </a:r>
          </a:p>
          <a:p>
            <a:pPr marL="0" indent="0">
              <a:buNone/>
            </a:pPr>
            <a:endParaRPr lang="en-US" altLang="ko-KR" sz="1800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9294556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3568" y="188640"/>
            <a:ext cx="7772400" cy="6264696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800" dirty="0" err="1" smtClean="0"/>
              <a:t>int</a:t>
            </a:r>
            <a:r>
              <a:rPr lang="en-US" altLang="ko-KR" sz="1800" dirty="0" smtClean="0"/>
              <a:t> </a:t>
            </a:r>
            <a:r>
              <a:rPr lang="en-US" altLang="ko-KR" sz="1800" dirty="0" err="1"/>
              <a:t>dequeue</a:t>
            </a:r>
            <a:r>
              <a:rPr lang="en-US" altLang="ko-KR" sz="1800" dirty="0"/>
              <a:t>(queue *q)</a:t>
            </a:r>
          </a:p>
          <a:p>
            <a:pPr marL="0" indent="0">
              <a:buNone/>
            </a:pPr>
            <a:r>
              <a:rPr lang="en-US" altLang="ko-KR" sz="1800" dirty="0"/>
              <a:t>{</a:t>
            </a:r>
          </a:p>
          <a:p>
            <a:pPr marL="0" indent="0">
              <a:buNone/>
            </a:pPr>
            <a:r>
              <a:rPr lang="en-US" altLang="ko-KR" sz="1800" dirty="0"/>
              <a:t>    </a:t>
            </a:r>
            <a:r>
              <a:rPr lang="en-US" altLang="ko-KR" sz="1800" dirty="0" err="1"/>
              <a:t>int</a:t>
            </a:r>
            <a:r>
              <a:rPr lang="en-US" altLang="ko-KR" sz="1800" dirty="0"/>
              <a:t> x;</a:t>
            </a:r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    if (q-&gt;count &lt;= 0) </a:t>
            </a:r>
            <a:r>
              <a:rPr lang="en-US" altLang="ko-KR" sz="1800" dirty="0" err="1"/>
              <a:t>printf</a:t>
            </a:r>
            <a:r>
              <a:rPr lang="en-US" altLang="ko-KR" sz="1800" dirty="0"/>
              <a:t>("Warning: empty queue </a:t>
            </a:r>
            <a:r>
              <a:rPr lang="en-US" altLang="ko-KR" sz="1800" dirty="0" err="1"/>
              <a:t>dequeue</a:t>
            </a:r>
            <a:r>
              <a:rPr lang="en-US" altLang="ko-KR" sz="1800" dirty="0"/>
              <a:t>.\n");</a:t>
            </a:r>
          </a:p>
          <a:p>
            <a:pPr marL="0" indent="0">
              <a:buNone/>
            </a:pPr>
            <a:r>
              <a:rPr lang="en-US" altLang="ko-KR" sz="1800" dirty="0"/>
              <a:t>    else {</a:t>
            </a:r>
          </a:p>
          <a:p>
            <a:pPr marL="0" indent="0">
              <a:buNone/>
            </a:pPr>
            <a:r>
              <a:rPr lang="en-US" altLang="ko-KR" sz="1800" dirty="0"/>
              <a:t>        x = q-&gt;q[q-&gt;first];</a:t>
            </a:r>
          </a:p>
          <a:p>
            <a:pPr marL="0" indent="0">
              <a:buNone/>
            </a:pPr>
            <a:r>
              <a:rPr lang="en-US" altLang="ko-KR" sz="1800" dirty="0"/>
              <a:t>        q-&gt;first = (q-&gt;first+1) % QUEUESIZE;</a:t>
            </a:r>
          </a:p>
          <a:p>
            <a:pPr marL="0" indent="0">
              <a:buNone/>
            </a:pPr>
            <a:r>
              <a:rPr lang="en-US" altLang="ko-KR" sz="1800" dirty="0"/>
              <a:t>        q-&gt;count = q-&gt;count - 1;</a:t>
            </a:r>
          </a:p>
          <a:p>
            <a:pPr marL="0" indent="0">
              <a:buNone/>
            </a:pPr>
            <a:r>
              <a:rPr lang="en-US" altLang="ko-KR" sz="1800" dirty="0"/>
              <a:t>    }</a:t>
            </a:r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    return(x);</a:t>
            </a:r>
          </a:p>
          <a:p>
            <a:pPr marL="0" indent="0">
              <a:buNone/>
            </a:pPr>
            <a:r>
              <a:rPr lang="en-US" altLang="ko-KR" sz="1800" dirty="0"/>
              <a:t>}</a:t>
            </a:r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 err="1"/>
              <a:t>int</a:t>
            </a:r>
            <a:r>
              <a:rPr lang="en-US" altLang="ko-KR" sz="1800" dirty="0"/>
              <a:t> empty(queue *q)</a:t>
            </a:r>
          </a:p>
          <a:p>
            <a:pPr marL="0" indent="0">
              <a:buNone/>
            </a:pPr>
            <a:r>
              <a:rPr lang="en-US" altLang="ko-KR" sz="1800" dirty="0"/>
              <a:t>{</a:t>
            </a:r>
          </a:p>
          <a:p>
            <a:pPr marL="0" indent="0">
              <a:buNone/>
            </a:pPr>
            <a:r>
              <a:rPr lang="en-US" altLang="ko-KR" sz="1800" dirty="0"/>
              <a:t>    if (q-&gt;count &lt;= 0) return (TRUE);</a:t>
            </a:r>
          </a:p>
          <a:p>
            <a:pPr marL="0" indent="0">
              <a:buNone/>
            </a:pPr>
            <a:r>
              <a:rPr lang="en-US" altLang="ko-KR" sz="1800" dirty="0"/>
              <a:t>    else return (FALSE);</a:t>
            </a:r>
          </a:p>
          <a:p>
            <a:pPr marL="0" indent="0">
              <a:buNone/>
            </a:pPr>
            <a:r>
              <a:rPr lang="en-US" altLang="ko-KR" sz="1800" dirty="0"/>
              <a:t>}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4994663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Dictionaries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Dictionaries permit content-based retrieval, unlike </a:t>
            </a:r>
            <a:r>
              <a:rPr lang="en-US" altLang="ko-KR" dirty="0" smtClean="0"/>
              <a:t>the position-based </a:t>
            </a:r>
            <a:r>
              <a:rPr lang="en-US" altLang="ko-KR" dirty="0"/>
              <a:t>retrieval of stacks and queues.</a:t>
            </a:r>
          </a:p>
          <a:p>
            <a:pPr lvl="1"/>
            <a:r>
              <a:rPr lang="en-US" altLang="ko-KR" i="1" dirty="0"/>
              <a:t>Insert(</a:t>
            </a:r>
            <a:r>
              <a:rPr lang="en-US" altLang="ko-KR" i="1" dirty="0" err="1"/>
              <a:t>x,d</a:t>
            </a:r>
            <a:r>
              <a:rPr lang="en-US" altLang="ko-KR" i="1" dirty="0"/>
              <a:t>) </a:t>
            </a:r>
            <a:r>
              <a:rPr lang="en-US" altLang="ko-KR" dirty="0"/>
              <a:t>– Insert item x into dictionary d.</a:t>
            </a:r>
          </a:p>
          <a:p>
            <a:pPr lvl="1"/>
            <a:r>
              <a:rPr lang="en-US" altLang="ko-KR" i="1" dirty="0"/>
              <a:t>Delete(</a:t>
            </a:r>
            <a:r>
              <a:rPr lang="en-US" altLang="ko-KR" i="1" dirty="0" err="1"/>
              <a:t>x,d</a:t>
            </a:r>
            <a:r>
              <a:rPr lang="en-US" altLang="ko-KR" i="1" dirty="0"/>
              <a:t>) </a:t>
            </a:r>
            <a:r>
              <a:rPr lang="en-US" altLang="ko-KR" dirty="0"/>
              <a:t>– Remove item x (or the item pointed to by </a:t>
            </a:r>
            <a:r>
              <a:rPr lang="en-US" altLang="ko-KR" dirty="0" smtClean="0"/>
              <a:t>x) from </a:t>
            </a:r>
            <a:r>
              <a:rPr lang="en-US" altLang="ko-KR" dirty="0"/>
              <a:t>dictionary d.</a:t>
            </a:r>
          </a:p>
          <a:p>
            <a:pPr lvl="1"/>
            <a:r>
              <a:rPr lang="en-US" altLang="ko-KR" i="1" dirty="0"/>
              <a:t>Search(</a:t>
            </a:r>
            <a:r>
              <a:rPr lang="en-US" altLang="ko-KR" i="1" dirty="0" err="1"/>
              <a:t>k,d</a:t>
            </a:r>
            <a:r>
              <a:rPr lang="en-US" altLang="ko-KR" i="1" dirty="0"/>
              <a:t>) </a:t>
            </a:r>
            <a:r>
              <a:rPr lang="en-US" altLang="ko-KR" dirty="0"/>
              <a:t>– Return an item with key k if one exists </a:t>
            </a:r>
            <a:r>
              <a:rPr lang="en-US" altLang="ko-KR" dirty="0" smtClean="0"/>
              <a:t>in dictionary </a:t>
            </a:r>
            <a:r>
              <a:rPr lang="en-US" altLang="ko-KR" dirty="0"/>
              <a:t>d.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14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58219094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Application of Dictionaries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Classical dictionary implementations include 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(</a:t>
            </a:r>
            <a:r>
              <a:rPr lang="en-US" altLang="ko-KR" dirty="0"/>
              <a:t>1) </a:t>
            </a:r>
            <a:r>
              <a:rPr lang="en-US" altLang="ko-KR" dirty="0" smtClean="0"/>
              <a:t>sorted arrays</a:t>
            </a:r>
            <a:r>
              <a:rPr lang="en-US" altLang="ko-KR" dirty="0"/>
              <a:t>, 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(</a:t>
            </a:r>
            <a:r>
              <a:rPr lang="en-US" altLang="ko-KR" dirty="0"/>
              <a:t>2) binary search trees, and 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(</a:t>
            </a:r>
            <a:r>
              <a:rPr lang="en-US" altLang="ko-KR" dirty="0"/>
              <a:t>3) hash tables.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Hash tables </a:t>
            </a:r>
            <a:r>
              <a:rPr lang="en-US" altLang="ko-KR" dirty="0"/>
              <a:t>are often the right answer in practice, for </a:t>
            </a:r>
            <a:r>
              <a:rPr lang="en-US" altLang="ko-KR" dirty="0" smtClean="0"/>
              <a:t>reasons of </a:t>
            </a:r>
            <a:r>
              <a:rPr lang="en-US" altLang="ko-KR" dirty="0"/>
              <a:t>simplicity and performance.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15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4100993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Priority Queues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i="1" dirty="0"/>
              <a:t>Priority queues </a:t>
            </a:r>
            <a:r>
              <a:rPr lang="en-US" altLang="ko-KR" dirty="0"/>
              <a:t>are data structures on sets of items </a:t>
            </a:r>
            <a:r>
              <a:rPr lang="en-US" altLang="ko-KR" dirty="0" smtClean="0"/>
              <a:t>supporting three </a:t>
            </a:r>
            <a:r>
              <a:rPr lang="en-US" altLang="ko-KR" dirty="0"/>
              <a:t>operations:</a:t>
            </a:r>
          </a:p>
          <a:p>
            <a:pPr lvl="1"/>
            <a:r>
              <a:rPr lang="en-US" altLang="ko-KR" i="1" dirty="0"/>
              <a:t>Insert(</a:t>
            </a:r>
            <a:r>
              <a:rPr lang="en-US" altLang="ko-KR" i="1" dirty="0" err="1"/>
              <a:t>x,p</a:t>
            </a:r>
            <a:r>
              <a:rPr lang="en-US" altLang="ko-KR" i="1" dirty="0"/>
              <a:t>) </a:t>
            </a:r>
            <a:r>
              <a:rPr lang="en-US" altLang="ko-KR" dirty="0"/>
              <a:t>– Insert item x into priority queue p.</a:t>
            </a:r>
          </a:p>
          <a:p>
            <a:pPr lvl="1"/>
            <a:r>
              <a:rPr lang="en-US" altLang="ko-KR" i="1" dirty="0"/>
              <a:t>Maximum(p) </a:t>
            </a:r>
            <a:r>
              <a:rPr lang="en-US" altLang="ko-KR" dirty="0"/>
              <a:t>– Return the item with the largest key in </a:t>
            </a:r>
            <a:r>
              <a:rPr lang="en-US" altLang="ko-KR" dirty="0" smtClean="0"/>
              <a:t>priority queue </a:t>
            </a:r>
            <a:r>
              <a:rPr lang="en-US" altLang="ko-KR" dirty="0"/>
              <a:t>p.</a:t>
            </a:r>
          </a:p>
          <a:p>
            <a:pPr lvl="1"/>
            <a:r>
              <a:rPr lang="en-US" altLang="ko-KR" i="1" dirty="0" err="1"/>
              <a:t>ExtractMax</a:t>
            </a:r>
            <a:r>
              <a:rPr lang="en-US" altLang="ko-KR" i="1" dirty="0"/>
              <a:t>(p) </a:t>
            </a:r>
            <a:r>
              <a:rPr lang="en-US" altLang="ko-KR" dirty="0"/>
              <a:t>– Return and remove the item with the </a:t>
            </a:r>
            <a:r>
              <a:rPr lang="en-US" altLang="ko-KR" dirty="0" smtClean="0"/>
              <a:t>largest key </a:t>
            </a:r>
            <a:r>
              <a:rPr lang="en-US" altLang="ko-KR" dirty="0"/>
              <a:t>in p.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6501733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dirty="0" smtClean="0"/>
              <a:t>Applications of Priority Queues</a:t>
            </a:r>
            <a:endParaRPr lang="ko-KR" altLang="en-US" sz="40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800" dirty="0"/>
              <a:t>Priority queues are used to </a:t>
            </a:r>
            <a:endParaRPr lang="en-US" altLang="ko-KR" sz="2800" dirty="0" smtClean="0"/>
          </a:p>
          <a:p>
            <a:pPr lvl="1"/>
            <a:r>
              <a:rPr lang="en-US" altLang="ko-KR" sz="2400" dirty="0" smtClean="0"/>
              <a:t>(</a:t>
            </a:r>
            <a:r>
              <a:rPr lang="en-US" altLang="ko-KR" sz="2400" dirty="0"/>
              <a:t>1) to maintain schedules </a:t>
            </a:r>
            <a:r>
              <a:rPr lang="en-US" altLang="ko-KR" sz="2400" dirty="0" smtClean="0"/>
              <a:t>and calendars </a:t>
            </a:r>
            <a:r>
              <a:rPr lang="en-US" altLang="ko-KR" sz="2400" dirty="0"/>
              <a:t>and </a:t>
            </a:r>
            <a:endParaRPr lang="en-US" altLang="ko-KR" sz="2400" dirty="0" smtClean="0"/>
          </a:p>
          <a:p>
            <a:pPr lvl="1"/>
            <a:r>
              <a:rPr lang="en-US" altLang="ko-KR" sz="2400" dirty="0" smtClean="0"/>
              <a:t>(</a:t>
            </a:r>
            <a:r>
              <a:rPr lang="en-US" altLang="ko-KR" sz="2400" dirty="0"/>
              <a:t>2) in </a:t>
            </a:r>
            <a:r>
              <a:rPr lang="en-US" altLang="ko-KR" sz="2400" dirty="0" smtClean="0">
                <a:hlinkClick r:id="rId2"/>
              </a:rPr>
              <a:t>sweep line </a:t>
            </a:r>
            <a:r>
              <a:rPr lang="en-US" altLang="ko-KR" sz="2400" dirty="0">
                <a:hlinkClick r:id="rId2"/>
              </a:rPr>
              <a:t>geometric algorithms </a:t>
            </a:r>
            <a:r>
              <a:rPr lang="en-US" altLang="ko-KR" sz="2400" dirty="0" smtClean="0"/>
              <a:t>where operations </a:t>
            </a:r>
            <a:r>
              <a:rPr lang="en-US" altLang="ko-KR" sz="2400" dirty="0"/>
              <a:t>go from left to right.</a:t>
            </a:r>
          </a:p>
          <a:p>
            <a:r>
              <a:rPr lang="en-US" altLang="ko-KR" sz="2800" dirty="0"/>
              <a:t>The most famous implementation of priority queues is </a:t>
            </a:r>
            <a:r>
              <a:rPr lang="en-US" altLang="ko-KR" sz="2800" dirty="0" smtClean="0"/>
              <a:t>the binary </a:t>
            </a:r>
            <a:r>
              <a:rPr lang="en-US" altLang="ko-KR" sz="2800" dirty="0"/>
              <a:t>heap, but it is often simpler to maintain a sorted </a:t>
            </a:r>
            <a:r>
              <a:rPr lang="en-US" altLang="ko-KR" sz="2800" dirty="0" smtClean="0"/>
              <a:t>array, particularly </a:t>
            </a:r>
            <a:r>
              <a:rPr lang="en-US" altLang="ko-KR" sz="2800" dirty="0"/>
              <a:t>if you will not be performing </a:t>
            </a:r>
            <a:r>
              <a:rPr lang="en-US" altLang="ko-KR" sz="2800" dirty="0" smtClean="0"/>
              <a:t>too many </a:t>
            </a:r>
            <a:r>
              <a:rPr lang="en-US" altLang="ko-KR" sz="2800" dirty="0"/>
              <a:t>insertions.</a:t>
            </a:r>
            <a:endParaRPr lang="ko-KR" altLang="en-US" sz="2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17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192020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Sets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800" dirty="0" smtClean="0"/>
              <a:t>Sets (or more strictly speaking </a:t>
            </a:r>
            <a:r>
              <a:rPr lang="en-US" altLang="ko-KR" sz="2800" i="1" dirty="0" smtClean="0"/>
              <a:t>subsets</a:t>
            </a:r>
            <a:r>
              <a:rPr lang="en-US" altLang="ko-KR" sz="2800" dirty="0" smtClean="0"/>
              <a:t>) are unordered collections of elements drawn from a given universal set U.</a:t>
            </a:r>
          </a:p>
          <a:p>
            <a:pPr lvl="1"/>
            <a:r>
              <a:rPr lang="en-US" altLang="ko-KR" sz="2400" i="1" dirty="0" smtClean="0"/>
              <a:t>Member(</a:t>
            </a:r>
            <a:r>
              <a:rPr lang="en-US" altLang="ko-KR" sz="2400" i="1" dirty="0" err="1" smtClean="0"/>
              <a:t>x,S</a:t>
            </a:r>
            <a:r>
              <a:rPr lang="en-US" altLang="ko-KR" sz="2400" i="1" dirty="0" smtClean="0"/>
              <a:t>) </a:t>
            </a:r>
            <a:r>
              <a:rPr lang="en-US" altLang="ko-KR" sz="2400" dirty="0" smtClean="0"/>
              <a:t>– Is an item x an element of subset S?</a:t>
            </a:r>
          </a:p>
          <a:p>
            <a:pPr lvl="1"/>
            <a:r>
              <a:rPr lang="en-US" altLang="ko-KR" sz="2400" i="1" dirty="0" smtClean="0"/>
              <a:t>Union(A,B) </a:t>
            </a:r>
            <a:r>
              <a:rPr lang="en-US" altLang="ko-KR" sz="2400" dirty="0" smtClean="0"/>
              <a:t>– Construct subset A∪B of all elements in subset A or in subset B.</a:t>
            </a:r>
          </a:p>
          <a:p>
            <a:pPr lvl="1"/>
            <a:r>
              <a:rPr lang="en-US" altLang="ko-KR" sz="2400" i="1" dirty="0"/>
              <a:t>Intersection(A,B) </a:t>
            </a:r>
            <a:r>
              <a:rPr lang="en-US" altLang="ko-KR" sz="2400" dirty="0"/>
              <a:t>– Construct subset </a:t>
            </a:r>
            <a:r>
              <a:rPr lang="en-US" altLang="ko-KR" sz="2400" dirty="0" smtClean="0"/>
              <a:t>A∩B </a:t>
            </a:r>
            <a:r>
              <a:rPr lang="en-US" altLang="ko-KR" sz="2400" dirty="0"/>
              <a:t>of all elements </a:t>
            </a:r>
            <a:r>
              <a:rPr lang="en-US" altLang="ko-KR" sz="2400" dirty="0" smtClean="0"/>
              <a:t>in subset </a:t>
            </a:r>
            <a:r>
              <a:rPr lang="en-US" altLang="ko-KR" sz="2400" dirty="0"/>
              <a:t>A and in subset B.</a:t>
            </a:r>
          </a:p>
          <a:p>
            <a:pPr lvl="1"/>
            <a:r>
              <a:rPr lang="en-US" altLang="ko-KR" sz="2400" i="1" dirty="0"/>
              <a:t>Insert(</a:t>
            </a:r>
            <a:r>
              <a:rPr lang="en-US" altLang="ko-KR" sz="2400" i="1" dirty="0" err="1"/>
              <a:t>x,S</a:t>
            </a:r>
            <a:r>
              <a:rPr lang="en-US" altLang="ko-KR" sz="2400" i="1" dirty="0"/>
              <a:t>), Delete(</a:t>
            </a:r>
            <a:r>
              <a:rPr lang="en-US" altLang="ko-KR" sz="2400" i="1" dirty="0" err="1"/>
              <a:t>x,S</a:t>
            </a:r>
            <a:r>
              <a:rPr lang="en-US" altLang="ko-KR" sz="2400" i="1" dirty="0"/>
              <a:t>) </a:t>
            </a:r>
            <a:r>
              <a:rPr lang="en-US" altLang="ko-KR" sz="2400" dirty="0"/>
              <a:t>– Insert/delete element x </a:t>
            </a:r>
            <a:r>
              <a:rPr lang="en-US" altLang="ko-KR" sz="2400" dirty="0" smtClean="0"/>
              <a:t>into/from subset </a:t>
            </a:r>
            <a:r>
              <a:rPr lang="en-US" altLang="ko-KR" sz="2400" dirty="0"/>
              <a:t>S.</a:t>
            </a:r>
            <a:endParaRPr lang="ko-KR" altLang="en-US" sz="24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18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1628162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Set Data Structures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800" dirty="0"/>
              <a:t>Set data structures get distinguished from dictionaries </a:t>
            </a:r>
            <a:r>
              <a:rPr lang="en-US" altLang="ko-KR" sz="2800" dirty="0" smtClean="0"/>
              <a:t>because there </a:t>
            </a:r>
            <a:r>
              <a:rPr lang="en-US" altLang="ko-KR" sz="2800" dirty="0"/>
              <a:t>is at least an implicit need to encode </a:t>
            </a:r>
            <a:r>
              <a:rPr lang="en-US" altLang="ko-KR" sz="2800" dirty="0" smtClean="0"/>
              <a:t>which elements </a:t>
            </a:r>
            <a:r>
              <a:rPr lang="en-US" altLang="ko-KR" sz="2800" dirty="0"/>
              <a:t>from U are </a:t>
            </a:r>
            <a:r>
              <a:rPr lang="en-US" altLang="ko-KR" sz="2800" i="1" dirty="0"/>
              <a:t>not </a:t>
            </a:r>
            <a:r>
              <a:rPr lang="en-US" altLang="ko-KR" sz="2800" dirty="0"/>
              <a:t>in the given subset.</a:t>
            </a:r>
          </a:p>
          <a:p>
            <a:r>
              <a:rPr lang="en-US" altLang="ko-KR" sz="2800" dirty="0"/>
              <a:t>For sets of a large or unbounded universe, the </a:t>
            </a:r>
            <a:r>
              <a:rPr lang="en-US" altLang="ko-KR" sz="2800" dirty="0" smtClean="0"/>
              <a:t>obvious solution </a:t>
            </a:r>
            <a:r>
              <a:rPr lang="en-US" altLang="ko-KR" sz="2800" dirty="0"/>
              <a:t>is representing a subset using a dictionary.</a:t>
            </a:r>
          </a:p>
          <a:p>
            <a:r>
              <a:rPr lang="en-US" altLang="ko-KR" sz="2800" dirty="0"/>
              <a:t>For sets drawn from small, unchanging universes, bit </a:t>
            </a:r>
            <a:r>
              <a:rPr lang="en-US" altLang="ko-KR" sz="2800" dirty="0" smtClean="0"/>
              <a:t>vectors provide </a:t>
            </a:r>
            <a:r>
              <a:rPr lang="en-US" altLang="ko-KR" sz="2800" dirty="0"/>
              <a:t>a convenient representation.</a:t>
            </a:r>
            <a:endParaRPr lang="ko-KR" altLang="en-US" sz="2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395507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Bit Vectors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800" dirty="0"/>
              <a:t>An n-bit vector or array can represent any subset S from </a:t>
            </a:r>
            <a:r>
              <a:rPr lang="en-US" altLang="ko-KR" sz="2800" dirty="0" smtClean="0"/>
              <a:t>an n-element </a:t>
            </a:r>
            <a:r>
              <a:rPr lang="en-US" altLang="ko-KR" sz="2800" dirty="0"/>
              <a:t>universe. Bit </a:t>
            </a:r>
            <a:r>
              <a:rPr lang="en-US" altLang="ko-KR" sz="2800" i="1" dirty="0" err="1"/>
              <a:t>i</a:t>
            </a:r>
            <a:r>
              <a:rPr lang="en-US" altLang="ko-KR" sz="2800" dirty="0"/>
              <a:t> will be 1 </a:t>
            </a:r>
            <a:r>
              <a:rPr lang="en-US" altLang="ko-KR" sz="2800" dirty="0" err="1"/>
              <a:t>iff</a:t>
            </a:r>
            <a:r>
              <a:rPr lang="en-US" altLang="ko-KR" sz="2800" dirty="0"/>
              <a:t> </a:t>
            </a:r>
            <a:r>
              <a:rPr lang="en-US" altLang="ko-KR" sz="2800" i="1" dirty="0" err="1"/>
              <a:t>i</a:t>
            </a:r>
            <a:r>
              <a:rPr lang="en-US" altLang="ko-KR" sz="2800" dirty="0"/>
              <a:t> </a:t>
            </a:r>
            <a:r>
              <a:rPr lang="en-US" altLang="ko-KR" sz="2800" dirty="0" smtClean="0"/>
              <a:t>∈ </a:t>
            </a:r>
            <a:r>
              <a:rPr lang="en-US" altLang="ko-KR" sz="2800" i="1" dirty="0"/>
              <a:t>S</a:t>
            </a:r>
            <a:r>
              <a:rPr lang="en-US" altLang="ko-KR" sz="2800" dirty="0"/>
              <a:t>.</a:t>
            </a:r>
          </a:p>
          <a:p>
            <a:r>
              <a:rPr lang="en-US" altLang="ko-KR" sz="2800" dirty="0"/>
              <a:t>Element insertion and deletion operations simply flip </a:t>
            </a:r>
            <a:r>
              <a:rPr lang="en-US" altLang="ko-KR" sz="2800" dirty="0" smtClean="0"/>
              <a:t>the appropriate </a:t>
            </a:r>
            <a:r>
              <a:rPr lang="en-US" altLang="ko-KR" sz="2800" dirty="0"/>
              <a:t>bit.</a:t>
            </a:r>
          </a:p>
          <a:p>
            <a:r>
              <a:rPr lang="en-US" altLang="ko-KR" sz="2800" dirty="0"/>
              <a:t>Intersection and union are done by “and-</a:t>
            </a:r>
            <a:r>
              <a:rPr lang="en-US" altLang="ko-KR" sz="2800" dirty="0" err="1"/>
              <a:t>ing</a:t>
            </a:r>
            <a:r>
              <a:rPr lang="en-US" altLang="ko-KR" sz="2800" dirty="0"/>
              <a:t>” or “or-</a:t>
            </a:r>
            <a:r>
              <a:rPr lang="en-US" altLang="ko-KR" sz="2800" dirty="0" err="1"/>
              <a:t>ing</a:t>
            </a:r>
            <a:r>
              <a:rPr lang="en-US" altLang="ko-KR" sz="2800" dirty="0"/>
              <a:t>” </a:t>
            </a:r>
            <a:r>
              <a:rPr lang="en-US" altLang="ko-KR" sz="2800" dirty="0" smtClean="0"/>
              <a:t>the corresponding </a:t>
            </a:r>
            <a:r>
              <a:rPr lang="en-US" altLang="ko-KR" sz="2800" dirty="0"/>
              <a:t>bits together.</a:t>
            </a:r>
            <a:endParaRPr lang="ko-KR" altLang="en-US" sz="2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20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0922743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The Efficiency of Bit Vectors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800" dirty="0"/>
              <a:t>Since only one bit is used per element, bit vectors can </a:t>
            </a:r>
            <a:r>
              <a:rPr lang="en-US" altLang="ko-KR" sz="2800" dirty="0" smtClean="0"/>
              <a:t>be space </a:t>
            </a:r>
            <a:r>
              <a:rPr lang="en-US" altLang="ko-KR" sz="2800" dirty="0"/>
              <a:t>efficient for surprisingly large values of |U</a:t>
            </a:r>
            <a:r>
              <a:rPr lang="en-US" altLang="ko-KR" sz="2800" dirty="0" smtClean="0"/>
              <a:t>|.</a:t>
            </a:r>
          </a:p>
          <a:p>
            <a:r>
              <a:rPr lang="en-US" altLang="ko-KR" sz="2800" dirty="0" smtClean="0"/>
              <a:t>For example</a:t>
            </a:r>
            <a:r>
              <a:rPr lang="en-US" altLang="ko-KR" sz="2800" dirty="0"/>
              <a:t>, an array of 1,000 standard four-byte integers </a:t>
            </a:r>
            <a:r>
              <a:rPr lang="en-US" altLang="ko-KR" sz="2800" dirty="0" smtClean="0"/>
              <a:t>can represent </a:t>
            </a:r>
            <a:r>
              <a:rPr lang="en-US" altLang="ko-KR" sz="2800" dirty="0"/>
              <a:t>any subset on 32,000 elements.</a:t>
            </a:r>
            <a:endParaRPr lang="ko-KR" altLang="en-US" sz="2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21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03750653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문제 </a:t>
            </a:r>
            <a:r>
              <a:rPr lang="en-US" altLang="ko-KR" dirty="0" smtClean="0"/>
              <a:t>9: </a:t>
            </a:r>
            <a:r>
              <a:rPr lang="ko-KR" altLang="en-US" dirty="0" smtClean="0"/>
              <a:t>유쾌한 점퍼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(Jolly Jumpers)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800" dirty="0" smtClean="0"/>
              <a:t>n</a:t>
            </a:r>
            <a:r>
              <a:rPr lang="ko-KR" altLang="en-US" sz="2800" dirty="0" smtClean="0"/>
              <a:t>개의 정수 </a:t>
            </a:r>
            <a:r>
              <a:rPr lang="en-US" altLang="ko-KR" sz="2800" dirty="0" smtClean="0"/>
              <a:t>(n &gt; 0)</a:t>
            </a:r>
            <a:r>
              <a:rPr lang="ko-KR" altLang="en-US" sz="2800" dirty="0" smtClean="0"/>
              <a:t>로 이루어진 수열에 대해 서로 인접해 있는 두 수의 차가 </a:t>
            </a:r>
            <a:r>
              <a:rPr lang="en-US" altLang="ko-KR" sz="2800" dirty="0" smtClean="0"/>
              <a:t>1</a:t>
            </a:r>
            <a:r>
              <a:rPr lang="ko-KR" altLang="en-US" sz="2800" dirty="0" smtClean="0"/>
              <a:t>에서 </a:t>
            </a:r>
            <a:r>
              <a:rPr lang="en-US" altLang="ko-KR" sz="2800" dirty="0" smtClean="0"/>
              <a:t>n-1</a:t>
            </a:r>
            <a:r>
              <a:rPr lang="ko-KR" altLang="en-US" sz="2800" dirty="0" smtClean="0"/>
              <a:t>까지의</a:t>
            </a:r>
            <a:r>
              <a:rPr lang="en-US" altLang="ko-KR" sz="2800" dirty="0" smtClean="0"/>
              <a:t> </a:t>
            </a:r>
            <a:r>
              <a:rPr lang="ko-KR" altLang="en-US" sz="2800" dirty="0" smtClean="0"/>
              <a:t>값을 모두 가지면 그 수열을 유쾌한 점퍼라고 부른다</a:t>
            </a:r>
            <a:r>
              <a:rPr lang="en-US" altLang="ko-KR" sz="2800" dirty="0" smtClean="0"/>
              <a:t>. </a:t>
            </a:r>
            <a:r>
              <a:rPr lang="ko-KR" altLang="en-US" sz="2800" dirty="0" smtClean="0"/>
              <a:t>예를 들어 다음과 같은 수열에서</a:t>
            </a:r>
            <a:endParaRPr lang="en-US" altLang="ko-KR" sz="2800" dirty="0" smtClean="0"/>
          </a:p>
          <a:p>
            <a:pPr marL="457200" lvl="1" indent="0">
              <a:buNone/>
            </a:pPr>
            <a:r>
              <a:rPr lang="en-US" altLang="ko-KR" sz="2400" dirty="0" smtClean="0"/>
              <a:t>1 4 2 3</a:t>
            </a:r>
          </a:p>
          <a:p>
            <a:r>
              <a:rPr lang="ko-KR" altLang="en-US" sz="2800" dirty="0" smtClean="0"/>
              <a:t>앞 뒤에 있는 숫자 차의 절대값이 각각 </a:t>
            </a:r>
            <a:r>
              <a:rPr lang="en-US" altLang="ko-KR" sz="2800" dirty="0" smtClean="0"/>
              <a:t>3, 2, 1</a:t>
            </a:r>
            <a:r>
              <a:rPr lang="ko-KR" altLang="en-US" sz="2800" dirty="0" smtClean="0"/>
              <a:t>이므로 이 수열은 유쾌한 점퍼가 된다</a:t>
            </a:r>
            <a:r>
              <a:rPr lang="en-US" altLang="ko-KR" sz="2800" dirty="0" smtClean="0"/>
              <a:t>. </a:t>
            </a:r>
            <a:r>
              <a:rPr lang="ko-KR" altLang="en-US" sz="2800" dirty="0" smtClean="0"/>
              <a:t>이 정의에 따르면 정수 하나로 된 수열도 유쾌한 점퍼다</a:t>
            </a:r>
            <a:r>
              <a:rPr lang="en-US" altLang="ko-KR" sz="2800" dirty="0" smtClean="0"/>
              <a:t>. </a:t>
            </a:r>
            <a:r>
              <a:rPr lang="ko-KR" altLang="en-US" sz="2800" dirty="0" smtClean="0"/>
              <a:t>어떤 수열이 유쾌한 점퍼인지 판단할 수 있는 프로그램을 작성하라</a:t>
            </a:r>
            <a:r>
              <a:rPr lang="en-US" altLang="ko-KR" sz="2800" dirty="0" smtClean="0"/>
              <a:t>.</a:t>
            </a:r>
            <a:endParaRPr lang="ko-KR" altLang="en-US" sz="2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22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4996555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0" y="836712"/>
            <a:ext cx="7772400" cy="2664296"/>
          </a:xfrm>
        </p:spPr>
        <p:txBody>
          <a:bodyPr/>
          <a:lstStyle/>
          <a:p>
            <a:r>
              <a:rPr lang="ko-KR" altLang="en-US" sz="2800" dirty="0" smtClean="0"/>
              <a:t>입력</a:t>
            </a:r>
            <a:endParaRPr lang="en-US" altLang="ko-KR" sz="2800" dirty="0" smtClean="0"/>
          </a:p>
          <a:p>
            <a:pPr lvl="1"/>
            <a:r>
              <a:rPr lang="ko-KR" altLang="en-US" sz="2400" dirty="0" smtClean="0"/>
              <a:t>각 줄 맨 앞에는 </a:t>
            </a:r>
            <a:r>
              <a:rPr lang="en-US" altLang="ko-KR" sz="2400" dirty="0" smtClean="0"/>
              <a:t>3,000 </a:t>
            </a:r>
            <a:r>
              <a:rPr lang="ko-KR" altLang="en-US" sz="2400" dirty="0" smtClean="0"/>
              <a:t>이하의 정수가 있으며 그 뒤에는 수열을 나타내는 </a:t>
            </a:r>
            <a:r>
              <a:rPr lang="en-US" altLang="ko-KR" sz="2400" dirty="0" smtClean="0"/>
              <a:t>n</a:t>
            </a:r>
            <a:r>
              <a:rPr lang="ko-KR" altLang="en-US" sz="2400" dirty="0" smtClean="0"/>
              <a:t>개의 정수가 입력된다</a:t>
            </a:r>
            <a:r>
              <a:rPr lang="en-US" altLang="ko-KR" sz="2400" dirty="0" smtClean="0"/>
              <a:t>.</a:t>
            </a:r>
          </a:p>
          <a:p>
            <a:r>
              <a:rPr lang="ko-KR" altLang="en-US" sz="2800" dirty="0" smtClean="0"/>
              <a:t>출력</a:t>
            </a:r>
            <a:endParaRPr lang="en-US" altLang="ko-KR" sz="2800" dirty="0" smtClean="0"/>
          </a:p>
          <a:p>
            <a:pPr lvl="1"/>
            <a:r>
              <a:rPr lang="ko-KR" altLang="en-US" sz="2400" dirty="0" smtClean="0"/>
              <a:t>입력된 각 줄에 대해 </a:t>
            </a:r>
            <a:r>
              <a:rPr lang="en-US" altLang="ko-KR" sz="2400" dirty="0" smtClean="0"/>
              <a:t>“Jolly” </a:t>
            </a:r>
            <a:r>
              <a:rPr lang="ko-KR" altLang="en-US" sz="2400" dirty="0" smtClean="0"/>
              <a:t>또는 </a:t>
            </a:r>
            <a:r>
              <a:rPr lang="en-US" altLang="ko-KR" sz="2400" dirty="0" smtClean="0"/>
              <a:t>“Not jolly”</a:t>
            </a:r>
            <a:r>
              <a:rPr lang="ko-KR" altLang="en-US" sz="2400" dirty="0" smtClean="0"/>
              <a:t>를 한 줄씩 출력한다</a:t>
            </a:r>
            <a:r>
              <a:rPr lang="en-US" altLang="ko-KR" sz="2400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23</a:t>
            </a:fld>
            <a:endParaRPr lang="en-US" altLang="ko-KR"/>
          </a:p>
        </p:txBody>
      </p:sp>
      <p:sp>
        <p:nvSpPr>
          <p:cNvPr id="5" name="내용 개체 틀 2"/>
          <p:cNvSpPr txBox="1">
            <a:spLocks/>
          </p:cNvSpPr>
          <p:nvPr/>
        </p:nvSpPr>
        <p:spPr bwMode="auto">
          <a:xfrm>
            <a:off x="683568" y="3573016"/>
            <a:ext cx="2541813" cy="2348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ko-KR" altLang="en-US" sz="2800" b="0" dirty="0" smtClean="0"/>
              <a:t>입력 예</a:t>
            </a:r>
            <a:endParaRPr lang="en-US" altLang="ko-KR" sz="2800" b="0" dirty="0" smtClean="0"/>
          </a:p>
          <a:p>
            <a:pPr marL="457200" lvl="1" indent="0">
              <a:buNone/>
            </a:pPr>
            <a:r>
              <a:rPr lang="en-US" altLang="ko-KR" sz="2400" b="0" dirty="0" smtClean="0"/>
              <a:t>4 1 4 2 3</a:t>
            </a:r>
          </a:p>
          <a:p>
            <a:pPr marL="457200" lvl="1" indent="0">
              <a:buNone/>
            </a:pPr>
            <a:r>
              <a:rPr lang="en-US" altLang="ko-KR" sz="2400" b="0" dirty="0" smtClean="0"/>
              <a:t>5 1 4 2 -1 6</a:t>
            </a:r>
            <a:endParaRPr lang="ko-KR" altLang="en-US" sz="2400" b="0" dirty="0"/>
          </a:p>
        </p:txBody>
      </p:sp>
      <p:sp>
        <p:nvSpPr>
          <p:cNvPr id="6" name="내용 개체 틀 2"/>
          <p:cNvSpPr txBox="1">
            <a:spLocks/>
          </p:cNvSpPr>
          <p:nvPr/>
        </p:nvSpPr>
        <p:spPr bwMode="auto">
          <a:xfrm>
            <a:off x="5054523" y="3573016"/>
            <a:ext cx="3117877" cy="2348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ko-KR" altLang="en-US" sz="2800" b="0" dirty="0" smtClean="0"/>
              <a:t>출력 예</a:t>
            </a:r>
            <a:endParaRPr lang="en-US" altLang="ko-KR" sz="2800" b="0" dirty="0" smtClean="0"/>
          </a:p>
          <a:p>
            <a:pPr marL="457200" lvl="1" indent="0">
              <a:buNone/>
            </a:pPr>
            <a:r>
              <a:rPr lang="en-US" altLang="ko-KR" sz="2400" b="0" dirty="0" smtClean="0"/>
              <a:t>Jolly</a:t>
            </a:r>
          </a:p>
          <a:p>
            <a:pPr marL="457200" lvl="1" indent="0">
              <a:buNone/>
            </a:pPr>
            <a:r>
              <a:rPr lang="en-US" altLang="ko-KR" sz="2400" b="0" dirty="0" smtClean="0"/>
              <a:t>Not jolly</a:t>
            </a:r>
            <a:endParaRPr lang="ko-KR" altLang="en-US" sz="2400" b="0" dirty="0"/>
          </a:p>
        </p:txBody>
      </p:sp>
    </p:spTree>
    <p:extLst>
      <p:ext uri="{BB962C8B-B14F-4D97-AF65-F5344CB8AC3E}">
        <p14:creationId xmlns:p14="http://schemas.microsoft.com/office/powerpoint/2010/main" val="330274323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dirty="0" smtClean="0"/>
              <a:t>문제 </a:t>
            </a:r>
            <a:r>
              <a:rPr lang="en-US" altLang="ko-KR" sz="3200" dirty="0" smtClean="0"/>
              <a:t>9 </a:t>
            </a:r>
            <a:r>
              <a:rPr lang="ko-KR" altLang="en-US" sz="3200" dirty="0" smtClean="0"/>
              <a:t>유쾌한 점퍼</a:t>
            </a:r>
            <a:r>
              <a:rPr lang="en-US" altLang="ko-KR" sz="3200" dirty="0" smtClean="0"/>
              <a:t>(Jolly Jumper) </a:t>
            </a:r>
            <a:r>
              <a:rPr lang="ko-KR" altLang="en-US" sz="3200" dirty="0" smtClean="0"/>
              <a:t>힌트</a:t>
            </a:r>
            <a:endParaRPr lang="ko-KR" altLang="en-US" sz="32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숫자를 </a:t>
            </a:r>
            <a:r>
              <a:rPr lang="ko-KR" altLang="en-US" sz="2400" dirty="0" smtClean="0"/>
              <a:t>입력 받을 </a:t>
            </a:r>
            <a:r>
              <a:rPr lang="ko-KR" altLang="en-US" sz="2400" dirty="0"/>
              <a:t>때마다 바로 이전에 있던 수와의 차를 구하고</a:t>
            </a:r>
            <a:r>
              <a:rPr lang="en-US" altLang="ko-KR" sz="2400" dirty="0"/>
              <a:t>, </a:t>
            </a:r>
            <a:r>
              <a:rPr lang="ko-KR" altLang="en-US" sz="2400" dirty="0"/>
              <a:t>그 값이 </a:t>
            </a:r>
            <a:r>
              <a:rPr lang="en-US" altLang="ko-KR" sz="2400" dirty="0"/>
              <a:t>1</a:t>
            </a:r>
            <a:r>
              <a:rPr lang="ko-KR" altLang="en-US" sz="2400" dirty="0"/>
              <a:t>에서 </a:t>
            </a:r>
            <a:r>
              <a:rPr lang="en-US" altLang="ko-KR" sz="2400" dirty="0" smtClean="0"/>
              <a:t>n-1 </a:t>
            </a:r>
            <a:r>
              <a:rPr lang="ko-KR" altLang="en-US" sz="2400" dirty="0" smtClean="0"/>
              <a:t>범위 </a:t>
            </a:r>
            <a:r>
              <a:rPr lang="ko-KR" altLang="en-US" sz="2400" dirty="0"/>
              <a:t>밖에 있거나 이전에 이미 나왔던 값 중 하나라면 </a:t>
            </a:r>
            <a:r>
              <a:rPr lang="en-US" altLang="ko-KR" sz="2400" dirty="0"/>
              <a:t>jolly </a:t>
            </a:r>
            <a:r>
              <a:rPr lang="en-US" altLang="ko-KR" sz="2400" dirty="0" smtClean="0"/>
              <a:t>jumper</a:t>
            </a:r>
            <a:r>
              <a:rPr lang="ko-KR" altLang="en-US" sz="2400" dirty="0"/>
              <a:t>가 될 수 없다</a:t>
            </a:r>
            <a:r>
              <a:rPr lang="en-US" altLang="ko-KR" sz="2400" dirty="0"/>
              <a:t>. </a:t>
            </a:r>
            <a:r>
              <a:rPr lang="ko-KR" altLang="en-US" sz="2400" dirty="0" smtClean="0"/>
              <a:t>역으로</a:t>
            </a:r>
            <a:r>
              <a:rPr lang="en-US" altLang="ko-KR" sz="2400" dirty="0"/>
              <a:t>, n</a:t>
            </a:r>
            <a:r>
              <a:rPr lang="ko-KR" altLang="en-US" sz="2400" dirty="0"/>
              <a:t>개의 수를 입력 받으면서 이 검사를 했는데 모두 통과했다면 </a:t>
            </a:r>
            <a:r>
              <a:rPr lang="en-US" altLang="ko-KR" sz="2400" dirty="0"/>
              <a:t>jolly jumper</a:t>
            </a:r>
            <a:r>
              <a:rPr lang="ko-KR" altLang="en-US" sz="2400" dirty="0" smtClean="0"/>
              <a:t>다</a:t>
            </a:r>
            <a:r>
              <a:rPr lang="en-US" altLang="ko-KR" sz="2400" dirty="0" smtClean="0"/>
              <a:t>. </a:t>
            </a:r>
            <a:r>
              <a:rPr lang="ko-KR" altLang="en-US" sz="2400" dirty="0"/>
              <a:t>왜냐하면 </a:t>
            </a:r>
            <a:r>
              <a:rPr lang="en-US" altLang="ko-KR" sz="2400" dirty="0"/>
              <a:t>n-1</a:t>
            </a:r>
            <a:r>
              <a:rPr lang="ko-KR" altLang="en-US" sz="2400" dirty="0"/>
              <a:t>개의 차들은 모두 정수고</a:t>
            </a:r>
            <a:r>
              <a:rPr lang="en-US" altLang="ko-KR" sz="2400" dirty="0"/>
              <a:t>, </a:t>
            </a:r>
            <a:r>
              <a:rPr lang="ko-KR" altLang="en-US" sz="2400" dirty="0"/>
              <a:t>이들이 모두 </a:t>
            </a:r>
            <a:r>
              <a:rPr lang="en-US" altLang="ko-KR" sz="2400" dirty="0"/>
              <a:t>1 ~ n-1 </a:t>
            </a:r>
            <a:r>
              <a:rPr lang="ko-KR" altLang="en-US" sz="2400" dirty="0"/>
              <a:t>범위 안에 </a:t>
            </a:r>
            <a:r>
              <a:rPr lang="ko-KR" altLang="en-US" sz="2400" dirty="0" smtClean="0"/>
              <a:t>있으면서도 한번도 </a:t>
            </a:r>
            <a:r>
              <a:rPr lang="ko-KR" altLang="en-US" sz="2400" dirty="0"/>
              <a:t>중복되지 않았다면 </a:t>
            </a:r>
            <a:r>
              <a:rPr lang="en-US" altLang="ko-KR" sz="2400" dirty="0"/>
              <a:t>1 ~ n-1 </a:t>
            </a:r>
            <a:r>
              <a:rPr lang="ko-KR" altLang="en-US" sz="2400" dirty="0"/>
              <a:t>의 값들이 정확히 한번씩 나타난 것임이 </a:t>
            </a:r>
            <a:r>
              <a:rPr lang="ko-KR" altLang="en-US" sz="2400" dirty="0" smtClean="0"/>
              <a:t>보장되기 때문이다</a:t>
            </a:r>
            <a:r>
              <a:rPr lang="en-US" altLang="ko-KR" sz="2400" dirty="0" smtClean="0"/>
              <a:t>.</a:t>
            </a:r>
          </a:p>
          <a:p>
            <a:r>
              <a:rPr lang="ko-KR" altLang="en-US" sz="2400" dirty="0" smtClean="0"/>
              <a:t>프로그램에서 </a:t>
            </a:r>
            <a:r>
              <a:rPr lang="en-US" altLang="ko-KR" sz="2400" dirty="0"/>
              <a:t>present </a:t>
            </a:r>
            <a:r>
              <a:rPr lang="ko-KR" altLang="en-US" sz="2400" dirty="0"/>
              <a:t>배열은 차 값이 이전에 나왔던 것인지를 체크하는 데 쓰인다</a:t>
            </a:r>
            <a:r>
              <a:rPr lang="en-US" altLang="ko-KR" sz="2400" dirty="0" smtClean="0"/>
              <a:t>. present[</a:t>
            </a:r>
            <a:r>
              <a:rPr lang="en-US" altLang="ko-KR" sz="2400" dirty="0" err="1" smtClean="0"/>
              <a:t>i</a:t>
            </a:r>
            <a:r>
              <a:rPr lang="en-US" altLang="ko-KR" sz="2400" dirty="0"/>
              <a:t>]=1</a:t>
            </a:r>
            <a:r>
              <a:rPr lang="ko-KR" altLang="en-US" sz="2400" dirty="0"/>
              <a:t>이면 차 </a:t>
            </a:r>
            <a:r>
              <a:rPr lang="en-US" altLang="ko-KR" sz="2400" dirty="0" err="1"/>
              <a:t>i</a:t>
            </a:r>
            <a:r>
              <a:rPr lang="ko-KR" altLang="en-US" sz="2400" dirty="0"/>
              <a:t>가 이미 한 번 나타났음을 의미한다</a:t>
            </a:r>
            <a:r>
              <a:rPr lang="en-US" altLang="ko-KR" sz="2400" dirty="0" smtClean="0"/>
              <a:t>.</a:t>
            </a:r>
            <a:endParaRPr lang="en-US" altLang="ko-KR" sz="24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24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8690985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3568" y="188640"/>
            <a:ext cx="7772400" cy="6264696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2000" dirty="0"/>
              <a:t>#include &lt;</a:t>
            </a:r>
            <a:r>
              <a:rPr lang="en-US" altLang="ko-KR" sz="2000" dirty="0" err="1"/>
              <a:t>stdio.h</a:t>
            </a:r>
            <a:r>
              <a:rPr lang="en-US" altLang="ko-KR" sz="2000" dirty="0"/>
              <a:t>&gt;</a:t>
            </a:r>
          </a:p>
          <a:p>
            <a:pPr marL="0" indent="0">
              <a:buNone/>
            </a:pPr>
            <a:r>
              <a:rPr lang="en-US" altLang="ko-KR" sz="2000" dirty="0"/>
              <a:t>#define MAX_N 3000</a:t>
            </a:r>
          </a:p>
          <a:p>
            <a:pPr marL="0" indent="0">
              <a:buNone/>
            </a:pPr>
            <a:r>
              <a:rPr lang="en-US" altLang="ko-KR" sz="2000" dirty="0"/>
              <a:t>#define abs(x) ((x) &lt; 0 ? (-(x)) : (x))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void main(void)</a:t>
            </a:r>
          </a:p>
          <a:p>
            <a:pPr marL="0" indent="0">
              <a:buNone/>
            </a:pPr>
            <a:r>
              <a:rPr lang="en-US" altLang="ko-KR" sz="2000" dirty="0"/>
              <a:t>{</a:t>
            </a:r>
          </a:p>
          <a:p>
            <a:pPr marL="0" indent="0">
              <a:buNone/>
            </a:pPr>
            <a:r>
              <a:rPr lang="en-US" altLang="ko-KR" sz="2000" dirty="0"/>
              <a:t>    </a:t>
            </a:r>
            <a:r>
              <a:rPr lang="en-US" altLang="ko-KR" sz="2000" dirty="0" err="1"/>
              <a:t>int</a:t>
            </a:r>
            <a:r>
              <a:rPr lang="en-US" altLang="ko-KR" sz="2000" dirty="0"/>
              <a:t> present[MAX_N];</a:t>
            </a:r>
          </a:p>
          <a:p>
            <a:pPr marL="0" indent="0">
              <a:buNone/>
            </a:pPr>
            <a:r>
              <a:rPr lang="en-US" altLang="ko-KR" sz="2000" dirty="0"/>
              <a:t>    </a:t>
            </a:r>
            <a:r>
              <a:rPr lang="en-US" altLang="ko-KR" sz="2000" dirty="0" err="1"/>
              <a:t>int</a:t>
            </a:r>
            <a:r>
              <a:rPr lang="en-US" altLang="ko-KR" sz="2000" dirty="0"/>
              <a:t> n, </a:t>
            </a:r>
            <a:r>
              <a:rPr lang="en-US" altLang="ko-KR" sz="2000" dirty="0" err="1"/>
              <a:t>i</a:t>
            </a:r>
            <a:r>
              <a:rPr lang="en-US" altLang="ko-KR" sz="2000" dirty="0"/>
              <a:t>, </a:t>
            </a:r>
            <a:r>
              <a:rPr lang="en-US" altLang="ko-KR" sz="2000" dirty="0" err="1"/>
              <a:t>prev</a:t>
            </a:r>
            <a:r>
              <a:rPr lang="en-US" altLang="ko-KR" sz="2000" dirty="0"/>
              <a:t>, </a:t>
            </a:r>
            <a:r>
              <a:rPr lang="en-US" altLang="ko-KR" sz="2000" dirty="0" err="1"/>
              <a:t>curr</a:t>
            </a:r>
            <a:r>
              <a:rPr lang="en-US" altLang="ko-KR" sz="2000" dirty="0"/>
              <a:t>, diff, jolly;</a:t>
            </a:r>
          </a:p>
          <a:p>
            <a:pPr marL="0" indent="0">
              <a:buNone/>
            </a:pPr>
            <a:r>
              <a:rPr lang="en-US" altLang="ko-KR" sz="2000" dirty="0"/>
              <a:t>    char line[5000];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while (</a:t>
            </a:r>
            <a:r>
              <a:rPr lang="en-US" altLang="ko-KR" sz="2000" dirty="0" err="1"/>
              <a:t>scanf</a:t>
            </a:r>
            <a:r>
              <a:rPr lang="en-US" altLang="ko-KR" sz="2000" dirty="0"/>
              <a:t>("%d", &amp;n) == 1) {</a:t>
            </a:r>
          </a:p>
          <a:p>
            <a:pPr marL="0" indent="0">
              <a:buNone/>
            </a:pPr>
            <a:r>
              <a:rPr lang="en-US" altLang="ko-KR" sz="2000" dirty="0"/>
              <a:t>        jolly = 1;</a:t>
            </a:r>
          </a:p>
          <a:p>
            <a:pPr marL="0" indent="0">
              <a:buNone/>
            </a:pPr>
            <a:r>
              <a:rPr lang="en-US" altLang="ko-KR" sz="2000" dirty="0"/>
              <a:t>        for (</a:t>
            </a:r>
            <a:r>
              <a:rPr lang="en-US" altLang="ko-KR" sz="2000" dirty="0" err="1"/>
              <a:t>i</a:t>
            </a:r>
            <a:r>
              <a:rPr lang="en-US" altLang="ko-KR" sz="2000" dirty="0"/>
              <a:t> = 1; </a:t>
            </a:r>
            <a:r>
              <a:rPr lang="en-US" altLang="ko-KR" sz="2000" dirty="0" err="1"/>
              <a:t>i</a:t>
            </a:r>
            <a:r>
              <a:rPr lang="en-US" altLang="ko-KR" sz="2000" dirty="0"/>
              <a:t> &lt;= n; </a:t>
            </a:r>
            <a:r>
              <a:rPr lang="en-US" altLang="ko-KR" sz="2000" dirty="0" err="1"/>
              <a:t>i</a:t>
            </a:r>
            <a:r>
              <a:rPr lang="en-US" altLang="ko-KR" sz="2000" dirty="0"/>
              <a:t>++)</a:t>
            </a:r>
          </a:p>
          <a:p>
            <a:pPr marL="0" indent="0">
              <a:buNone/>
            </a:pPr>
            <a:r>
              <a:rPr lang="en-US" altLang="ko-KR" sz="2000" dirty="0"/>
              <a:t>            present[</a:t>
            </a:r>
            <a:r>
              <a:rPr lang="en-US" altLang="ko-KR" sz="2000" dirty="0" err="1"/>
              <a:t>i</a:t>
            </a:r>
            <a:r>
              <a:rPr lang="en-US" altLang="ko-KR" sz="2000" dirty="0"/>
              <a:t>] = 0;</a:t>
            </a:r>
          </a:p>
          <a:p>
            <a:pPr marL="0" indent="0">
              <a:buNone/>
            </a:pPr>
            <a:r>
              <a:rPr lang="en-US" altLang="ko-KR" sz="2000" dirty="0"/>
              <a:t>        </a:t>
            </a:r>
            <a:r>
              <a:rPr lang="en-US" altLang="ko-KR" sz="2000" dirty="0" err="1"/>
              <a:t>scanf</a:t>
            </a:r>
            <a:r>
              <a:rPr lang="en-US" altLang="ko-KR" sz="2000" dirty="0"/>
              <a:t>("%d", &amp;</a:t>
            </a:r>
            <a:r>
              <a:rPr lang="en-US" altLang="ko-KR" sz="2000" dirty="0" err="1"/>
              <a:t>prev</a:t>
            </a:r>
            <a:r>
              <a:rPr lang="en-US" altLang="ko-KR" sz="2000" dirty="0"/>
              <a:t>);</a:t>
            </a:r>
          </a:p>
          <a:p>
            <a:pPr marL="0" indent="0">
              <a:buNone/>
            </a:pPr>
            <a:r>
              <a:rPr lang="en-US" altLang="ko-KR" sz="2000" dirty="0"/>
              <a:t>        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25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0833997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3568" y="188640"/>
            <a:ext cx="7772400" cy="6264696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2000" dirty="0" smtClean="0"/>
              <a:t>        for </a:t>
            </a:r>
            <a:r>
              <a:rPr lang="en-US" altLang="ko-KR" sz="2000" dirty="0"/>
              <a:t>(</a:t>
            </a:r>
            <a:r>
              <a:rPr lang="en-US" altLang="ko-KR" sz="2000" dirty="0" err="1"/>
              <a:t>i</a:t>
            </a:r>
            <a:r>
              <a:rPr lang="en-US" altLang="ko-KR" sz="2000" dirty="0"/>
              <a:t> = 1; </a:t>
            </a:r>
            <a:r>
              <a:rPr lang="en-US" altLang="ko-KR" sz="2000" dirty="0" err="1"/>
              <a:t>i</a:t>
            </a:r>
            <a:r>
              <a:rPr lang="en-US" altLang="ko-KR" sz="2000" dirty="0"/>
              <a:t> &lt; n; </a:t>
            </a:r>
            <a:r>
              <a:rPr lang="en-US" altLang="ko-KR" sz="2000" dirty="0" err="1"/>
              <a:t>i</a:t>
            </a:r>
            <a:r>
              <a:rPr lang="en-US" altLang="ko-KR" sz="2000" dirty="0"/>
              <a:t>++) {</a:t>
            </a:r>
          </a:p>
          <a:p>
            <a:pPr marL="0" indent="0">
              <a:buNone/>
            </a:pPr>
            <a:r>
              <a:rPr lang="en-US" altLang="ko-KR" sz="2000" dirty="0"/>
              <a:t>            </a:t>
            </a:r>
            <a:r>
              <a:rPr lang="en-US" altLang="ko-KR" sz="2000" dirty="0" err="1"/>
              <a:t>scanf</a:t>
            </a:r>
            <a:r>
              <a:rPr lang="en-US" altLang="ko-KR" sz="2000" dirty="0"/>
              <a:t>("%d", &amp;</a:t>
            </a:r>
            <a:r>
              <a:rPr lang="en-US" altLang="ko-KR" sz="2000" dirty="0" err="1"/>
              <a:t>curr</a:t>
            </a:r>
            <a:r>
              <a:rPr lang="en-US" altLang="ko-KR" sz="2000" dirty="0"/>
              <a:t>);</a:t>
            </a:r>
          </a:p>
          <a:p>
            <a:pPr marL="0" indent="0">
              <a:buNone/>
            </a:pPr>
            <a:r>
              <a:rPr lang="en-US" altLang="ko-KR" sz="2000" dirty="0"/>
              <a:t>            diff = abs(</a:t>
            </a:r>
            <a:r>
              <a:rPr lang="en-US" altLang="ko-KR" sz="2000" dirty="0" err="1"/>
              <a:t>curr</a:t>
            </a:r>
            <a:r>
              <a:rPr lang="en-US" altLang="ko-KR" sz="2000" dirty="0"/>
              <a:t> - </a:t>
            </a:r>
            <a:r>
              <a:rPr lang="en-US" altLang="ko-KR" sz="2000" dirty="0" err="1"/>
              <a:t>prev</a:t>
            </a:r>
            <a:r>
              <a:rPr lang="en-US" altLang="ko-KR" sz="2000" dirty="0"/>
              <a:t>);</a:t>
            </a:r>
          </a:p>
          <a:p>
            <a:pPr marL="0" indent="0">
              <a:buNone/>
            </a:pPr>
            <a:r>
              <a:rPr lang="en-US" altLang="ko-KR" sz="2000" dirty="0"/>
              <a:t>            if (diff &lt;= 0 || diff &gt;= n || present[diff]) {</a:t>
            </a:r>
          </a:p>
          <a:p>
            <a:pPr marL="0" indent="0">
              <a:buNone/>
            </a:pPr>
            <a:r>
              <a:rPr lang="en-US" altLang="ko-KR" sz="2000" dirty="0"/>
              <a:t>                jolly = 0;</a:t>
            </a:r>
          </a:p>
          <a:p>
            <a:pPr marL="0" indent="0">
              <a:buNone/>
            </a:pPr>
            <a:r>
              <a:rPr lang="en-US" altLang="ko-KR" sz="2000" dirty="0"/>
              <a:t>                // jolly jumper</a:t>
            </a:r>
            <a:r>
              <a:rPr lang="ko-KR" altLang="en-US" sz="2000" dirty="0"/>
              <a:t>가 아니면 </a:t>
            </a:r>
            <a:r>
              <a:rPr lang="ko-KR" altLang="en-US" sz="2000" dirty="0" smtClean="0"/>
              <a:t>더 이상 </a:t>
            </a:r>
            <a:r>
              <a:rPr lang="ko-KR" altLang="en-US" sz="2000" dirty="0"/>
              <a:t>검사하지 </a:t>
            </a:r>
            <a:r>
              <a:rPr lang="ko-KR" altLang="en-US" sz="2000" dirty="0" smtClean="0"/>
              <a:t>않고</a:t>
            </a:r>
            <a:endParaRPr lang="en-US" altLang="ko-KR" sz="2000" dirty="0" smtClean="0"/>
          </a:p>
          <a:p>
            <a:pPr marL="0" indent="0">
              <a:buNone/>
            </a:pPr>
            <a:r>
              <a:rPr lang="en-US" altLang="ko-KR" sz="2000" dirty="0"/>
              <a:t>	 </a:t>
            </a:r>
            <a:r>
              <a:rPr lang="en-US" altLang="ko-KR" sz="2000" dirty="0" smtClean="0"/>
              <a:t>    //</a:t>
            </a:r>
            <a:r>
              <a:rPr lang="ko-KR" altLang="en-US" sz="2000" dirty="0" smtClean="0"/>
              <a:t> </a:t>
            </a:r>
            <a:r>
              <a:rPr lang="ko-KR" altLang="en-US" sz="2000" dirty="0"/>
              <a:t>루프를 빠져 나옴</a:t>
            </a:r>
          </a:p>
          <a:p>
            <a:pPr marL="0" indent="0">
              <a:buNone/>
            </a:pPr>
            <a:r>
              <a:rPr lang="ko-KR" altLang="en-US" sz="2000" dirty="0"/>
              <a:t>                </a:t>
            </a:r>
            <a:r>
              <a:rPr lang="en-US" altLang="ko-KR" sz="2000" dirty="0"/>
              <a:t>break;</a:t>
            </a:r>
          </a:p>
          <a:p>
            <a:pPr marL="0" indent="0">
              <a:buNone/>
            </a:pPr>
            <a:r>
              <a:rPr lang="en-US" altLang="ko-KR" sz="2000" dirty="0"/>
              <a:t>            }</a:t>
            </a:r>
          </a:p>
          <a:p>
            <a:pPr marL="0" indent="0">
              <a:buNone/>
            </a:pPr>
            <a:r>
              <a:rPr lang="en-US" altLang="ko-KR" sz="2000" dirty="0"/>
              <a:t>            present[diff] = 1;</a:t>
            </a:r>
          </a:p>
          <a:p>
            <a:pPr marL="0" indent="0">
              <a:buNone/>
            </a:pPr>
            <a:r>
              <a:rPr lang="en-US" altLang="ko-KR" sz="2000" dirty="0"/>
              <a:t>            </a:t>
            </a:r>
            <a:r>
              <a:rPr lang="en-US" altLang="ko-KR" sz="2000" dirty="0" err="1"/>
              <a:t>prev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curr</a:t>
            </a:r>
            <a:r>
              <a:rPr lang="en-US" altLang="ko-KR" sz="2000" dirty="0"/>
              <a:t>;</a:t>
            </a:r>
          </a:p>
          <a:p>
            <a:pPr marL="0" indent="0">
              <a:buNone/>
            </a:pPr>
            <a:r>
              <a:rPr lang="en-US" altLang="ko-KR" sz="2000" dirty="0"/>
              <a:t>        }</a:t>
            </a:r>
          </a:p>
          <a:p>
            <a:pPr marL="0" indent="0">
              <a:buNone/>
            </a:pPr>
            <a:r>
              <a:rPr lang="en-US" altLang="ko-KR" sz="2000" dirty="0"/>
              <a:t>        // </a:t>
            </a:r>
            <a:r>
              <a:rPr lang="ko-KR" altLang="en-US" sz="2000" dirty="0"/>
              <a:t>한 줄을 다 읽지 않은 상태일 수도 있으므로</a:t>
            </a:r>
            <a:r>
              <a:rPr lang="en-US" altLang="ko-KR" sz="2000" dirty="0"/>
              <a:t>, </a:t>
            </a:r>
            <a:endParaRPr lang="en-US" altLang="ko-KR" sz="2000" dirty="0" smtClean="0"/>
          </a:p>
          <a:p>
            <a:pPr marL="0" indent="0">
              <a:buNone/>
            </a:pPr>
            <a:r>
              <a:rPr lang="en-US" altLang="ko-KR" sz="2000" dirty="0"/>
              <a:t> </a:t>
            </a:r>
            <a:r>
              <a:rPr lang="en-US" altLang="ko-KR" sz="2000" dirty="0" smtClean="0"/>
              <a:t>       // </a:t>
            </a:r>
            <a:r>
              <a:rPr lang="ko-KR" altLang="en-US" sz="2000" dirty="0" smtClean="0"/>
              <a:t>무조건 </a:t>
            </a:r>
            <a:r>
              <a:rPr lang="ko-KR" altLang="en-US" sz="2000" dirty="0"/>
              <a:t>한번 </a:t>
            </a:r>
            <a:r>
              <a:rPr lang="ko-KR" altLang="en-US" sz="2000" dirty="0" err="1"/>
              <a:t>줄바꿈을</a:t>
            </a:r>
            <a:r>
              <a:rPr lang="ko-KR" altLang="en-US" sz="2000" dirty="0"/>
              <a:t> 한다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r>
              <a:rPr lang="en-US" altLang="ko-KR" sz="2000" dirty="0"/>
              <a:t>        gets(line);</a:t>
            </a:r>
          </a:p>
          <a:p>
            <a:pPr marL="0" indent="0">
              <a:buNone/>
            </a:pPr>
            <a:r>
              <a:rPr lang="en-US" altLang="ko-KR" sz="2000" dirty="0"/>
              <a:t>        puts(jolly ? "Jolly" : "Not jolly");</a:t>
            </a:r>
          </a:p>
          <a:p>
            <a:pPr marL="0" indent="0">
              <a:buNone/>
            </a:pPr>
            <a:r>
              <a:rPr lang="en-US" altLang="ko-KR" sz="2000" dirty="0"/>
              <a:t>    }</a:t>
            </a:r>
          </a:p>
          <a:p>
            <a:pPr marL="0" indent="0">
              <a:buNone/>
            </a:pPr>
            <a:r>
              <a:rPr lang="en-US" altLang="ko-KR" sz="2000" dirty="0"/>
              <a:t>}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26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1500766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바탕" pitchFamily="18" charset="-127"/>
            <a:ea typeface="바탕" pitchFamily="18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바탕" pitchFamily="18" charset="-127"/>
            <a:ea typeface="바탕" pitchFamily="18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6329</TotalTime>
  <Words>1729</Words>
  <Application>Microsoft Office PowerPoint</Application>
  <PresentationFormat>화면 슬라이드 쇼(4:3)</PresentationFormat>
  <Paragraphs>254</Paragraphs>
  <Slides>26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27" baseType="lpstr">
      <vt:lpstr>기본 디자인</vt:lpstr>
      <vt:lpstr>제 2장 자료 구조(1)</vt:lpstr>
      <vt:lpstr>PowerPoint 프레젠테이션</vt:lpstr>
      <vt:lpstr>문자열/문자 입출력</vt:lpstr>
      <vt:lpstr>PowerPoint 프레젠테이션</vt:lpstr>
      <vt:lpstr>기본 자료 구조</vt:lpstr>
      <vt:lpstr>추상 자료 구조</vt:lpstr>
      <vt:lpstr>Stacks</vt:lpstr>
      <vt:lpstr>Applications of Stacks</vt:lpstr>
      <vt:lpstr>Queues</vt:lpstr>
      <vt:lpstr>Applications of Queues</vt:lpstr>
      <vt:lpstr>PowerPoint 프레젠테이션</vt:lpstr>
      <vt:lpstr>PowerPoint 프레젠테이션</vt:lpstr>
      <vt:lpstr>PowerPoint 프레젠테이션</vt:lpstr>
      <vt:lpstr>Dictionaries</vt:lpstr>
      <vt:lpstr>Application of Dictionaries</vt:lpstr>
      <vt:lpstr>Priority Queues</vt:lpstr>
      <vt:lpstr>Applications of Priority Queues</vt:lpstr>
      <vt:lpstr>Sets</vt:lpstr>
      <vt:lpstr>Set Data Structures</vt:lpstr>
      <vt:lpstr>Bit Vectors</vt:lpstr>
      <vt:lpstr>The Efficiency of Bit Vectors</vt:lpstr>
      <vt:lpstr>문제 9: 유쾌한 점퍼 (Jolly Jumpers)</vt:lpstr>
      <vt:lpstr>PowerPoint 프레젠테이션</vt:lpstr>
      <vt:lpstr>문제 9 유쾌한 점퍼(Jolly Jumper) 힌트</vt:lpstr>
      <vt:lpstr>PowerPoint 프레젠테이션</vt:lpstr>
      <vt:lpstr>PowerPoint 프레젠테이션</vt:lpstr>
    </vt:vector>
  </TitlesOfParts>
  <Company>design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inje</dc:creator>
  <cp:lastModifiedBy>하진영</cp:lastModifiedBy>
  <cp:revision>328</cp:revision>
  <dcterms:created xsi:type="dcterms:W3CDTF">2003-02-22T04:47:49Z</dcterms:created>
  <dcterms:modified xsi:type="dcterms:W3CDTF">2016-10-19T06:40:25Z</dcterms:modified>
</cp:coreProperties>
</file>