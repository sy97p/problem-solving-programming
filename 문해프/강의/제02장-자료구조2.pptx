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434" r:id="rId2"/>
    <p:sldId id="457" r:id="rId3"/>
    <p:sldId id="437" r:id="rId4"/>
    <p:sldId id="458" r:id="rId5"/>
    <p:sldId id="459" r:id="rId6"/>
    <p:sldId id="423" r:id="rId7"/>
    <p:sldId id="461" r:id="rId8"/>
    <p:sldId id="460" r:id="rId9"/>
    <p:sldId id="485" r:id="rId10"/>
    <p:sldId id="462" r:id="rId11"/>
    <p:sldId id="463" r:id="rId12"/>
    <p:sldId id="464" r:id="rId13"/>
    <p:sldId id="492" r:id="rId14"/>
    <p:sldId id="493" r:id="rId15"/>
    <p:sldId id="488" r:id="rId16"/>
    <p:sldId id="486" r:id="rId17"/>
    <p:sldId id="487" r:id="rId18"/>
    <p:sldId id="489" r:id="rId19"/>
    <p:sldId id="490" r:id="rId20"/>
    <p:sldId id="494" r:id="rId21"/>
    <p:sldId id="491" r:id="rId22"/>
    <p:sldId id="466" r:id="rId23"/>
    <p:sldId id="476" r:id="rId24"/>
    <p:sldId id="484" r:id="rId25"/>
    <p:sldId id="477" r:id="rId26"/>
    <p:sldId id="467" r:id="rId27"/>
    <p:sldId id="465" r:id="rId28"/>
    <p:sldId id="468" r:id="rId29"/>
    <p:sldId id="469" r:id="rId30"/>
    <p:sldId id="478" r:id="rId31"/>
    <p:sldId id="480" r:id="rId32"/>
    <p:sldId id="479" r:id="rId33"/>
    <p:sldId id="470" r:id="rId34"/>
    <p:sldId id="471" r:id="rId35"/>
    <p:sldId id="472" r:id="rId36"/>
    <p:sldId id="473" r:id="rId37"/>
    <p:sldId id="474" r:id="rId38"/>
    <p:sldId id="475" r:id="rId39"/>
    <p:sldId id="481" r:id="rId40"/>
    <p:sldId id="482" r:id="rId41"/>
  </p:sldIdLst>
  <p:sldSz cx="9144000" cy="6858000" type="screen4x3"/>
  <p:notesSz cx="6858000" cy="95742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7ACCB7"/>
    <a:srgbClr val="7BB0E5"/>
    <a:srgbClr val="0066FF"/>
    <a:srgbClr val="89B2DB"/>
    <a:srgbClr val="3D81C5"/>
    <a:srgbClr val="B4B4B4"/>
    <a:srgbClr val="8F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4003" autoAdjust="0"/>
  </p:normalViewPr>
  <p:slideViewPr>
    <p:cSldViewPr>
      <p:cViewPr varScale="1">
        <p:scale>
          <a:sx n="85" d="100"/>
          <a:sy n="85" d="100"/>
        </p:scale>
        <p:origin x="1212" y="90"/>
      </p:cViewPr>
      <p:guideLst>
        <p:guide orient="horz" pos="2160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C0A8F9-D868-4AAD-9DD5-4BFC86FA08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554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8225" y="719138"/>
            <a:ext cx="4783138" cy="3587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48188"/>
            <a:ext cx="50292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62EA2C-6A7B-4AE4-9565-91AC0F95E9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2869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7832E-844D-470C-8C0F-12EE8280A2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217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A3A84-ADC4-40BE-9831-816FDDEFB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3653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0D486-035F-41F5-9170-0500B9C707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9386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A648-85B3-4977-8B2A-E12A6F1734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3068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F8AA5-3C2C-4A68-83B0-B42998F3D2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4800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486B-732A-410C-8533-00AA0C15C6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20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FAE050-7BCF-4ADD-864F-F96DD2DFD2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18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37C71-214F-4A0E-94EE-F9A3CF6F6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585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F2BEE-6B22-4F95-871D-0836B757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221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C7C7C-63DE-45E6-9CFD-1FC765F37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99822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F21C-FE8B-4C09-993B-6B9FA0C0D0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823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D8EDF84B-17EA-4A1E-8C40-DE4CA9254A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cafe.naver.com/cppmaster/1655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holaxprogramming.com/2014/02/12/java-list-interfac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deranch.com/t/497299/java/java/Splitting-String-character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제 </a:t>
            </a:r>
            <a:r>
              <a:rPr lang="en-US" altLang="ko-KR" dirty="0" smtClean="0"/>
              <a:t>2</a:t>
            </a:r>
            <a:r>
              <a:rPr lang="ko-KR" altLang="en-US" dirty="0" smtClean="0"/>
              <a:t>장 자료 구조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강원대학교</a:t>
            </a:r>
            <a:endParaRPr lang="en-US" altLang="ko-KR" dirty="0" smtClean="0"/>
          </a:p>
          <a:p>
            <a:r>
              <a:rPr lang="ko-KR" altLang="en-US" dirty="0" smtClean="0"/>
              <a:t>하진</a:t>
            </a:r>
            <a:r>
              <a:rPr lang="ko-KR" altLang="en-US" dirty="0"/>
              <a:t>영</a:t>
            </a:r>
          </a:p>
        </p:txBody>
      </p:sp>
    </p:spTree>
    <p:extLst>
      <p:ext uri="{BB962C8B-B14F-4D97-AF65-F5344CB8AC3E}">
        <p14:creationId xmlns:p14="http://schemas.microsoft.com/office/powerpoint/2010/main" val="3449141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주차별 수업 계획 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8" name="Rectangle 739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aphicFrame>
        <p:nvGraphicFramePr>
          <p:cNvPr id="217037" name="Group 9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047447"/>
              </p:ext>
            </p:extLst>
          </p:nvPr>
        </p:nvGraphicFramePr>
        <p:xfrm>
          <a:off x="1116013" y="1154113"/>
          <a:ext cx="7561263" cy="5395913"/>
        </p:xfrm>
        <a:graphic>
          <a:graphicData uri="http://schemas.openxmlformats.org/drawingml/2006/table">
            <a:tbl>
              <a:tblPr/>
              <a:tblGrid>
                <a:gridCol w="809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2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주차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수업내용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교재 범위 및 과제물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교과목 소개 및 실습 환경 점검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2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자료 구조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3</a:t>
                      </a:r>
                      <a:endParaRPr kumimoji="1" lang="en-US" altLang="ko-K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effectLst/>
                        </a:rPr>
                        <a:t>자료 구조</a:t>
                      </a:r>
                      <a:r>
                        <a:rPr lang="en-US" altLang="ko-KR" sz="1600" b="1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11, 12</a:t>
                      </a:r>
                      <a:endParaRPr kumimoji="1" lang="ko-KR" altLang="ko-K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4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문자열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1</a:t>
                      </a:r>
                      <a:r>
                        <a:rPr lang="ko-KR" altLang="en-US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altLang="ko-KR" sz="1600" dirty="0" smtClean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17, 18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5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문자열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20, 21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6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정렬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25, 29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7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조합론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41, 46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8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중간 고사</a:t>
                      </a:r>
                      <a:endParaRPr kumimoji="1" lang="ko-KR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필기시험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0962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추상 자료 구조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dirty="0" smtClean="0"/>
              <a:t>주요 추상 자료 구조</a:t>
            </a:r>
            <a:endParaRPr lang="en-US" altLang="ko-KR" sz="2800" dirty="0" smtClean="0"/>
          </a:p>
          <a:p>
            <a:pPr lvl="1"/>
            <a:r>
              <a:rPr lang="ko-KR" altLang="en-US" sz="2400" dirty="0" err="1" smtClean="0"/>
              <a:t>스택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큐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사전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우선 순위 큐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집합</a:t>
            </a:r>
            <a:endParaRPr lang="en-US" altLang="ko-KR" sz="2400" dirty="0" smtClean="0"/>
          </a:p>
          <a:p>
            <a:r>
              <a:rPr lang="en-US" altLang="ko-KR" sz="2800" dirty="0" smtClean="0"/>
              <a:t>Modern </a:t>
            </a:r>
            <a:r>
              <a:rPr lang="en-US" altLang="ko-KR" sz="2800" dirty="0"/>
              <a:t>object-oriented languages like C++ and Java </a:t>
            </a:r>
            <a:r>
              <a:rPr lang="en-US" altLang="ko-KR" sz="2800" dirty="0" smtClean="0"/>
              <a:t>come with </a:t>
            </a:r>
            <a:r>
              <a:rPr lang="en-US" altLang="ko-KR" sz="2800" dirty="0"/>
              <a:t>standard libraries of fundamental data structures.</a:t>
            </a:r>
          </a:p>
          <a:p>
            <a:pPr lvl="1"/>
            <a:r>
              <a:rPr lang="en-US" altLang="ko-KR" sz="2400" dirty="0"/>
              <a:t>These eliminate the need to reinvent the wheel, once </a:t>
            </a:r>
            <a:r>
              <a:rPr lang="en-US" altLang="ko-KR" sz="2400" dirty="0" smtClean="0"/>
              <a:t>you know </a:t>
            </a:r>
            <a:r>
              <a:rPr lang="en-US" altLang="ko-KR" sz="2400" dirty="0"/>
              <a:t>the wheel has been invented.</a:t>
            </a:r>
            <a:endParaRPr lang="en-US" altLang="ko-KR" sz="20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5526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C++ </a:t>
            </a:r>
            <a:r>
              <a:rPr lang="ko-KR" altLang="en-US" dirty="0" smtClean="0"/>
              <a:t>표준 템플릿 라이브러리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916832"/>
            <a:ext cx="7772400" cy="4114800"/>
          </a:xfrm>
        </p:spPr>
        <p:txBody>
          <a:bodyPr/>
          <a:lstStyle/>
          <a:p>
            <a:r>
              <a:rPr lang="en-US" altLang="ko-KR" dirty="0" smtClean="0"/>
              <a:t>STL (Standard Template Library)</a:t>
            </a:r>
          </a:p>
          <a:p>
            <a:pPr lvl="1"/>
            <a:r>
              <a:rPr lang="ko-KR" altLang="en-US" dirty="0" smtClean="0"/>
              <a:t>템플릿이라는 메커니즘을 이용해서 형식에 따라 </a:t>
            </a:r>
            <a:r>
              <a:rPr lang="ko-KR" altLang="en-US" dirty="0" err="1" smtClean="0"/>
              <a:t>매개변수화될</a:t>
            </a:r>
            <a:r>
              <a:rPr lang="ko-KR" altLang="en-US" dirty="0" smtClean="0"/>
              <a:t> 수 있는 추상적인 객체 정의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매우 다양한 자료 구조를 구현해서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 객체는 컴파일 시에 원소 형식이 고정되어 있어야 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0749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404664"/>
            <a:ext cx="7772400" cy="6237312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ko-KR" altLang="en-US" sz="2400" dirty="0" err="1" smtClean="0"/>
              <a:t>스택</a:t>
            </a:r>
            <a:endParaRPr lang="en-US" altLang="ko-KR" sz="2400" dirty="0" smtClean="0"/>
          </a:p>
          <a:p>
            <a:pPr lvl="1">
              <a:spcBef>
                <a:spcPts val="400"/>
              </a:spcBef>
            </a:pPr>
            <a:r>
              <a:rPr lang="en-US" altLang="ko-KR" sz="2000" dirty="0" err="1" smtClean="0"/>
              <a:t>S.push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S.top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S.pop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S.empty</a:t>
            </a:r>
            <a:r>
              <a:rPr lang="en-US" altLang="ko-KR" sz="2000" dirty="0" smtClean="0"/>
              <a:t>()</a:t>
            </a:r>
          </a:p>
          <a:p>
            <a:pPr lvl="2">
              <a:spcBef>
                <a:spcPts val="400"/>
              </a:spcBef>
            </a:pPr>
            <a:r>
              <a:rPr lang="en-US" altLang="ko-KR" sz="2000" dirty="0" smtClean="0"/>
              <a:t>top(): </a:t>
            </a:r>
            <a:r>
              <a:rPr lang="ko-KR" altLang="en-US" sz="2000" dirty="0" smtClean="0"/>
              <a:t>맨 위에 있는 원소를 리턴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삭제하지는 않음</a:t>
            </a:r>
            <a:r>
              <a:rPr lang="en-US" altLang="ko-KR" sz="2000" dirty="0" smtClean="0"/>
              <a:t>)</a:t>
            </a:r>
          </a:p>
          <a:p>
            <a:pPr lvl="2">
              <a:spcBef>
                <a:spcPts val="400"/>
              </a:spcBef>
            </a:pPr>
            <a:r>
              <a:rPr lang="en-US" altLang="ko-KR" sz="2000" dirty="0" smtClean="0"/>
              <a:t>pop(): </a:t>
            </a:r>
            <a:r>
              <a:rPr lang="ko-KR" altLang="en-US" sz="2000" dirty="0" smtClean="0"/>
              <a:t>맨 위에 있는 원소를 삭제 </a:t>
            </a: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리턴하지는</a:t>
            </a:r>
            <a:r>
              <a:rPr lang="ko-KR" altLang="en-US" sz="2000" dirty="0" smtClean="0"/>
              <a:t> 않음</a:t>
            </a:r>
            <a:r>
              <a:rPr lang="en-US" altLang="ko-KR" sz="2000" dirty="0" smtClean="0"/>
              <a:t>)</a:t>
            </a:r>
          </a:p>
          <a:p>
            <a:pPr lvl="2">
              <a:spcBef>
                <a:spcPts val="400"/>
              </a:spcBef>
            </a:pPr>
            <a:r>
              <a:rPr lang="ko-KR" altLang="en-US" sz="2000" dirty="0" smtClean="0"/>
              <a:t>참고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2"/>
              </a:rPr>
              <a:t>http://cafe.naver.com/cppmaster/1655</a:t>
            </a:r>
            <a:endParaRPr lang="en-US" altLang="ko-KR" sz="2000" dirty="0" smtClean="0"/>
          </a:p>
          <a:p>
            <a:pPr>
              <a:spcBef>
                <a:spcPts val="400"/>
              </a:spcBef>
            </a:pPr>
            <a:r>
              <a:rPr lang="ko-KR" altLang="en-US" sz="2400" dirty="0" smtClean="0"/>
              <a:t>큐</a:t>
            </a:r>
            <a:endParaRPr lang="en-US" altLang="ko-KR" sz="2400" dirty="0" smtClean="0"/>
          </a:p>
          <a:p>
            <a:pPr lvl="1">
              <a:spcBef>
                <a:spcPts val="400"/>
              </a:spcBef>
            </a:pPr>
            <a:r>
              <a:rPr lang="en-US" altLang="ko-KR" sz="2000" dirty="0" err="1" smtClean="0"/>
              <a:t>Q.push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Q.front</a:t>
            </a:r>
            <a:r>
              <a:rPr lang="en-US" altLang="ko-KR" sz="2000" dirty="0"/>
              <a:t>(), </a:t>
            </a:r>
            <a:r>
              <a:rPr lang="en-US" altLang="ko-KR" sz="2000" dirty="0" err="1"/>
              <a:t>Q.pop</a:t>
            </a:r>
            <a:r>
              <a:rPr lang="en-US" altLang="ko-KR" sz="2000" dirty="0"/>
              <a:t>(), </a:t>
            </a:r>
            <a:r>
              <a:rPr lang="en-US" altLang="ko-KR" sz="2000" dirty="0" err="1" smtClean="0"/>
              <a:t>Q.back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Q.empty</a:t>
            </a:r>
            <a:r>
              <a:rPr lang="en-US" altLang="ko-KR" sz="2000" dirty="0" smtClean="0"/>
              <a:t>()</a:t>
            </a:r>
          </a:p>
          <a:p>
            <a:pPr>
              <a:spcBef>
                <a:spcPts val="400"/>
              </a:spcBef>
            </a:pPr>
            <a:r>
              <a:rPr lang="ko-KR" altLang="en-US" sz="2400" dirty="0" smtClean="0"/>
              <a:t>사전</a:t>
            </a:r>
            <a:endParaRPr lang="en-US" altLang="ko-KR" sz="2400" dirty="0" smtClean="0"/>
          </a:p>
          <a:p>
            <a:pPr lvl="1">
              <a:spcBef>
                <a:spcPts val="400"/>
              </a:spcBef>
            </a:pPr>
            <a:r>
              <a:rPr lang="en-US" altLang="ko-KR" sz="2000" dirty="0" err="1" smtClean="0"/>
              <a:t>hash_map</a:t>
            </a:r>
            <a:r>
              <a:rPr lang="ko-KR" altLang="en-US" sz="2000" dirty="0" smtClean="0"/>
              <a:t>을 비롯한 다양한 컨테이너 이용</a:t>
            </a:r>
            <a:endParaRPr lang="en-US" altLang="ko-KR" sz="2000" dirty="0" smtClean="0"/>
          </a:p>
          <a:p>
            <a:pPr lvl="1">
              <a:spcBef>
                <a:spcPts val="400"/>
              </a:spcBef>
            </a:pPr>
            <a:r>
              <a:rPr lang="en-US" altLang="ko-KR" sz="2000" dirty="0" err="1" smtClean="0"/>
              <a:t>H.erase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H.find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H.insert</a:t>
            </a:r>
            <a:r>
              <a:rPr lang="en-US" altLang="ko-KR" sz="2000" dirty="0" smtClean="0"/>
              <a:t>()</a:t>
            </a:r>
          </a:p>
          <a:p>
            <a:pPr>
              <a:spcBef>
                <a:spcPts val="400"/>
              </a:spcBef>
            </a:pPr>
            <a:r>
              <a:rPr lang="ko-KR" altLang="en-US" sz="2400" dirty="0" smtClean="0"/>
              <a:t>우선 순위 큐</a:t>
            </a:r>
            <a:endParaRPr lang="en-US" altLang="ko-KR" sz="2400" dirty="0" smtClean="0"/>
          </a:p>
          <a:p>
            <a:pPr lvl="1">
              <a:spcBef>
                <a:spcPts val="400"/>
              </a:spcBef>
            </a:pPr>
            <a:r>
              <a:rPr lang="en-US" altLang="ko-KR" sz="2000" dirty="0" err="1" smtClean="0"/>
              <a:t>priority_queue</a:t>
            </a:r>
            <a:r>
              <a:rPr lang="en-US" altLang="ko-KR" sz="2000" dirty="0" smtClean="0"/>
              <a:t>&lt;</a:t>
            </a:r>
            <a:r>
              <a:rPr lang="en-US" altLang="ko-KR" sz="2000" dirty="0" err="1" smtClean="0"/>
              <a:t>int</a:t>
            </a:r>
            <a:r>
              <a:rPr lang="en-US" altLang="ko-KR" sz="2000" dirty="0" smtClean="0"/>
              <a:t>&gt; Q;</a:t>
            </a:r>
            <a:r>
              <a:rPr lang="ko-KR" altLang="en-US" sz="2000" dirty="0" smtClean="0"/>
              <a:t>로 선언</a:t>
            </a:r>
            <a:endParaRPr lang="en-US" altLang="ko-KR" sz="2000" dirty="0" smtClean="0"/>
          </a:p>
          <a:p>
            <a:pPr lvl="1">
              <a:spcBef>
                <a:spcPts val="400"/>
              </a:spcBef>
            </a:pPr>
            <a:r>
              <a:rPr lang="en-US" altLang="ko-KR" sz="2000" dirty="0" err="1" smtClean="0"/>
              <a:t>Q.top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Q.push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Q.pop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Q.empty</a:t>
            </a:r>
            <a:r>
              <a:rPr lang="en-US" altLang="ko-KR" sz="2000" dirty="0" smtClean="0"/>
              <a:t>()</a:t>
            </a:r>
          </a:p>
          <a:p>
            <a:pPr>
              <a:spcBef>
                <a:spcPts val="400"/>
              </a:spcBef>
            </a:pPr>
            <a:r>
              <a:rPr lang="ko-KR" altLang="en-US" sz="2400" dirty="0" smtClean="0"/>
              <a:t>집합</a:t>
            </a:r>
            <a:endParaRPr lang="en-US" altLang="ko-KR" sz="2400" dirty="0" smtClean="0"/>
          </a:p>
          <a:p>
            <a:pPr lvl="1">
              <a:spcBef>
                <a:spcPts val="400"/>
              </a:spcBef>
            </a:pPr>
            <a:r>
              <a:rPr lang="en-US" altLang="ko-KR" sz="2000" dirty="0" smtClean="0"/>
              <a:t>set&lt;</a:t>
            </a:r>
            <a:r>
              <a:rPr lang="en-US" altLang="ko-KR" sz="2000" dirty="0" err="1" smtClean="0"/>
              <a:t>key,comparision</a:t>
            </a:r>
            <a:r>
              <a:rPr lang="en-US" altLang="ko-KR" sz="2000" dirty="0" smtClean="0"/>
              <a:t>&gt;</a:t>
            </a:r>
            <a:r>
              <a:rPr lang="ko-KR" altLang="en-US" sz="2000" dirty="0" smtClean="0"/>
              <a:t>으로 선언되어 정렬된 연관 컨테이너로 표현</a:t>
            </a:r>
            <a:endParaRPr lang="en-US" altLang="ko-KR" sz="2000" dirty="0" smtClean="0"/>
          </a:p>
          <a:p>
            <a:pPr lvl="1">
              <a:spcBef>
                <a:spcPts val="400"/>
              </a:spcBef>
            </a:pPr>
            <a:r>
              <a:rPr lang="en-US" altLang="ko-KR" sz="2000" dirty="0" err="1" smtClean="0"/>
              <a:t>set_union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set_intersection</a:t>
            </a:r>
            <a:r>
              <a:rPr lang="en-US" altLang="ko-KR" sz="2000" dirty="0" smtClean="0"/>
              <a:t>(), </a:t>
            </a:r>
            <a:r>
              <a:rPr lang="en-US" altLang="ko-KR" sz="2000" dirty="0" err="1" smtClean="0"/>
              <a:t>set_difference</a:t>
            </a:r>
            <a:r>
              <a:rPr lang="en-US" altLang="ko-KR" sz="2000" dirty="0" smtClean="0"/>
              <a:t>()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67377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/>
              <a:t>#include &lt;</a:t>
            </a:r>
            <a:r>
              <a:rPr lang="en-US" altLang="ko-KR" sz="1800" dirty="0" err="1"/>
              <a:t>iostream</a:t>
            </a:r>
            <a:r>
              <a:rPr lang="en-US" altLang="ko-KR" sz="1800" dirty="0"/>
              <a:t>&gt;</a:t>
            </a:r>
          </a:p>
          <a:p>
            <a:pPr marL="0" indent="0">
              <a:buNone/>
            </a:pPr>
            <a:r>
              <a:rPr lang="en-US" altLang="ko-KR" sz="1800" dirty="0"/>
              <a:t>#include &lt;stack&gt;    //</a:t>
            </a:r>
            <a:r>
              <a:rPr lang="ko-KR" altLang="en-US" sz="1800" dirty="0" err="1"/>
              <a:t>스택이</a:t>
            </a:r>
            <a:r>
              <a:rPr lang="ko-KR" altLang="en-US" sz="1800" dirty="0"/>
              <a:t> 정의된 헤더파일</a:t>
            </a:r>
          </a:p>
          <a:p>
            <a:pPr marL="0" indent="0">
              <a:buNone/>
            </a:pPr>
            <a:r>
              <a:rPr lang="ko-KR" altLang="en-US" sz="1800" dirty="0"/>
              <a:t> </a:t>
            </a:r>
          </a:p>
          <a:p>
            <a:pPr marL="0" indent="0">
              <a:buNone/>
            </a:pPr>
            <a:r>
              <a:rPr lang="en-US" altLang="ko-KR" sz="1800" dirty="0"/>
              <a:t>using namespace </a:t>
            </a:r>
            <a:r>
              <a:rPr lang="en-US" altLang="ko-KR" sz="1800" dirty="0" err="1"/>
              <a:t>std</a:t>
            </a:r>
            <a:r>
              <a:rPr lang="en-US" altLang="ko-KR" sz="1800" dirty="0"/>
              <a:t>;    //</a:t>
            </a:r>
            <a:r>
              <a:rPr lang="ko-KR" altLang="en-US" sz="1800" dirty="0"/>
              <a:t>표준 네임스페이스 사용</a:t>
            </a:r>
          </a:p>
          <a:p>
            <a:pPr marL="0" indent="0">
              <a:buNone/>
            </a:pPr>
            <a:r>
              <a:rPr lang="ko-KR" altLang="en-US" sz="1800" dirty="0"/>
              <a:t> </a:t>
            </a:r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main(void) {</a:t>
            </a:r>
          </a:p>
          <a:p>
            <a:pPr marL="0" indent="0">
              <a:buNone/>
            </a:pPr>
            <a:r>
              <a:rPr lang="en-US" altLang="ko-KR" sz="1800" dirty="0"/>
              <a:t>    stack&lt;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&gt; S;    //S</a:t>
            </a:r>
            <a:r>
              <a:rPr lang="ko-KR" altLang="en-US" sz="1800" dirty="0"/>
              <a:t>라는 이름의 </a:t>
            </a:r>
            <a:r>
              <a:rPr lang="en-US" altLang="ko-KR" sz="1800" dirty="0" err="1"/>
              <a:t>int</a:t>
            </a:r>
            <a:r>
              <a:rPr lang="ko-KR" altLang="en-US" sz="1800" dirty="0"/>
              <a:t>형 요소를 취급하는 </a:t>
            </a:r>
            <a:r>
              <a:rPr lang="ko-KR" altLang="en-US" sz="1800" dirty="0" err="1"/>
              <a:t>스택</a:t>
            </a:r>
            <a:r>
              <a:rPr lang="ko-KR" altLang="en-US" sz="1800" dirty="0"/>
              <a:t> 객체 생성</a:t>
            </a:r>
          </a:p>
          <a:p>
            <a:pPr marL="0" indent="0">
              <a:buNone/>
            </a:pPr>
            <a:r>
              <a:rPr lang="ko-KR" altLang="en-US" sz="1800" dirty="0"/>
              <a:t> 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S.push</a:t>
            </a:r>
            <a:r>
              <a:rPr lang="en-US" altLang="ko-KR" sz="1800" dirty="0"/>
              <a:t>(2);        //2 </a:t>
            </a:r>
            <a:r>
              <a:rPr lang="ko-KR" altLang="en-US" sz="1800" dirty="0"/>
              <a:t>삽입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S.push</a:t>
            </a:r>
            <a:r>
              <a:rPr lang="en-US" altLang="ko-KR" sz="1800" dirty="0"/>
              <a:t>(0);        //0 </a:t>
            </a:r>
            <a:r>
              <a:rPr lang="ko-KR" altLang="en-US" sz="1800" dirty="0"/>
              <a:t>삽입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S.push</a:t>
            </a:r>
            <a:r>
              <a:rPr lang="en-US" altLang="ko-KR" sz="1800" dirty="0"/>
              <a:t>(1);        //1 </a:t>
            </a:r>
            <a:r>
              <a:rPr lang="ko-KR" altLang="en-US" sz="1800" dirty="0"/>
              <a:t>삽입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S.push</a:t>
            </a:r>
            <a:r>
              <a:rPr lang="en-US" altLang="ko-KR" sz="1800" dirty="0"/>
              <a:t>(4);        //4 </a:t>
            </a:r>
            <a:r>
              <a:rPr lang="ko-KR" altLang="en-US" sz="1800" dirty="0"/>
              <a:t>삽입</a:t>
            </a:r>
          </a:p>
          <a:p>
            <a:pPr marL="0" indent="0">
              <a:buNone/>
            </a:pPr>
            <a:r>
              <a:rPr lang="ko-KR" altLang="en-US" sz="1800" dirty="0"/>
              <a:t> 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/>
              <a:t>while(</a:t>
            </a:r>
            <a:r>
              <a:rPr lang="en-US" altLang="ko-KR" sz="1800" dirty="0" err="1"/>
              <a:t>S.empty</a:t>
            </a:r>
            <a:r>
              <a:rPr lang="en-US" altLang="ko-KR" sz="1800" dirty="0"/>
              <a:t>() == false) {        //stack</a:t>
            </a:r>
            <a:r>
              <a:rPr lang="ko-KR" altLang="en-US" sz="1800" dirty="0"/>
              <a:t>이 비어있지 않다면</a:t>
            </a:r>
            <a:r>
              <a:rPr lang="en-US" altLang="ko-KR" sz="1800" dirty="0"/>
              <a:t>,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cout</a:t>
            </a:r>
            <a:r>
              <a:rPr lang="en-US" altLang="ko-KR" sz="1800" dirty="0"/>
              <a:t> &lt;&lt; </a:t>
            </a:r>
            <a:r>
              <a:rPr lang="en-US" altLang="ko-KR" sz="1800" dirty="0" err="1"/>
              <a:t>S.top</a:t>
            </a:r>
            <a:r>
              <a:rPr lang="en-US" altLang="ko-KR" sz="1800" dirty="0"/>
              <a:t>() &lt;&lt; ", ";    //top </a:t>
            </a:r>
            <a:r>
              <a:rPr lang="ko-KR" altLang="en-US" sz="1800" dirty="0"/>
              <a:t>요소 출력</a:t>
            </a:r>
          </a:p>
          <a:p>
            <a:pPr marL="0" indent="0">
              <a:buNone/>
            </a:pPr>
            <a:r>
              <a:rPr lang="ko-KR" altLang="en-US" sz="1800" dirty="0"/>
              <a:t>        </a:t>
            </a:r>
            <a:r>
              <a:rPr lang="en-US" altLang="ko-KR" sz="1800" dirty="0" err="1"/>
              <a:t>S.pop</a:t>
            </a:r>
            <a:r>
              <a:rPr lang="en-US" altLang="ko-KR" sz="1800" dirty="0"/>
              <a:t>();                    //top</a:t>
            </a:r>
            <a:r>
              <a:rPr lang="ko-KR" altLang="en-US" sz="1800" dirty="0"/>
              <a:t>에 있는 요소 제거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/>
              <a:t>}</a:t>
            </a:r>
          </a:p>
          <a:p>
            <a:pPr marL="0" indent="0">
              <a:buNone/>
            </a:pPr>
            <a:r>
              <a:rPr lang="en-US" altLang="ko-KR" sz="1800" dirty="0"/>
              <a:t>  </a:t>
            </a:r>
            <a:r>
              <a:rPr lang="en-US" altLang="ko-KR" sz="1800" dirty="0" smtClean="0"/>
              <a:t>  </a:t>
            </a:r>
            <a:r>
              <a:rPr lang="en-US" altLang="ko-KR" sz="1800" dirty="0" err="1" smtClean="0"/>
              <a:t>cout</a:t>
            </a:r>
            <a:r>
              <a:rPr lang="en-US" altLang="ko-KR" sz="1800" dirty="0" smtClean="0"/>
              <a:t> &lt;&lt; </a:t>
            </a:r>
            <a:r>
              <a:rPr lang="en-US" altLang="ko-KR" sz="1800" dirty="0" err="1" smtClean="0"/>
              <a:t>endl</a:t>
            </a:r>
            <a:r>
              <a:rPr lang="en-US" altLang="ko-KR" sz="1800" dirty="0" smtClean="0"/>
              <a:t>;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return 0;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2090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/>
              <a:t>#include &lt;</a:t>
            </a:r>
            <a:r>
              <a:rPr lang="en-US" altLang="ko-KR" sz="1800" dirty="0" err="1"/>
              <a:t>iostream</a:t>
            </a:r>
            <a:r>
              <a:rPr lang="en-US" altLang="ko-KR" sz="1800" dirty="0"/>
              <a:t>&gt;</a:t>
            </a:r>
          </a:p>
          <a:p>
            <a:pPr marL="0" indent="0">
              <a:buNone/>
            </a:pPr>
            <a:r>
              <a:rPr lang="en-US" altLang="ko-KR" sz="1800" dirty="0"/>
              <a:t>#include &lt;queue&gt;    //</a:t>
            </a:r>
            <a:r>
              <a:rPr lang="ko-KR" altLang="en-US" sz="1800" dirty="0"/>
              <a:t>큐가 정의된 헤더파일</a:t>
            </a:r>
          </a:p>
          <a:p>
            <a:pPr marL="0" indent="0">
              <a:buNone/>
            </a:pPr>
            <a:endParaRPr lang="ko-KR" altLang="en-US" sz="1800" dirty="0"/>
          </a:p>
          <a:p>
            <a:pPr marL="0" indent="0">
              <a:buNone/>
            </a:pPr>
            <a:r>
              <a:rPr lang="en-US" altLang="ko-KR" sz="1800" dirty="0"/>
              <a:t>using namespace </a:t>
            </a:r>
            <a:r>
              <a:rPr lang="en-US" altLang="ko-KR" sz="1800" dirty="0" err="1"/>
              <a:t>std</a:t>
            </a:r>
            <a:r>
              <a:rPr lang="en-US" altLang="ko-KR" sz="1800" dirty="0"/>
              <a:t>;    //</a:t>
            </a:r>
            <a:r>
              <a:rPr lang="ko-KR" altLang="en-US" sz="1800" dirty="0"/>
              <a:t>표준 네임스페이스 사용</a:t>
            </a:r>
          </a:p>
          <a:p>
            <a:pPr marL="0" indent="0">
              <a:buNone/>
            </a:pPr>
            <a:endParaRPr lang="ko-KR" altLang="en-US" sz="1800" dirty="0"/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main(void) {</a:t>
            </a:r>
          </a:p>
          <a:p>
            <a:pPr marL="0" indent="0">
              <a:buNone/>
            </a:pPr>
            <a:r>
              <a:rPr lang="en-US" altLang="ko-KR" sz="1800" dirty="0"/>
              <a:t>    queue&lt;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&gt; Q;    //Q</a:t>
            </a:r>
            <a:r>
              <a:rPr lang="ko-KR" altLang="en-US" sz="1800" dirty="0"/>
              <a:t>라는 이름의 </a:t>
            </a:r>
            <a:r>
              <a:rPr lang="en-US" altLang="ko-KR" sz="1800" dirty="0" err="1"/>
              <a:t>int</a:t>
            </a:r>
            <a:r>
              <a:rPr lang="ko-KR" altLang="en-US" sz="1800" dirty="0"/>
              <a:t>형 요소를 취급하는 큐 객체 생성</a:t>
            </a:r>
          </a:p>
          <a:p>
            <a:pPr marL="0" indent="0">
              <a:buNone/>
            </a:pPr>
            <a:endParaRPr lang="ko-KR" altLang="en-US" sz="1800" dirty="0"/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Q.push</a:t>
            </a:r>
            <a:r>
              <a:rPr lang="en-US" altLang="ko-KR" sz="1800" dirty="0"/>
              <a:t>(2);        //2 </a:t>
            </a:r>
            <a:r>
              <a:rPr lang="ko-KR" altLang="en-US" sz="1800" dirty="0"/>
              <a:t>삽입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Q.push</a:t>
            </a:r>
            <a:r>
              <a:rPr lang="en-US" altLang="ko-KR" sz="1800" dirty="0"/>
              <a:t>(0);        //0 </a:t>
            </a:r>
            <a:r>
              <a:rPr lang="ko-KR" altLang="en-US" sz="1800" dirty="0"/>
              <a:t>삽입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Q.push</a:t>
            </a:r>
            <a:r>
              <a:rPr lang="en-US" altLang="ko-KR" sz="1800" dirty="0"/>
              <a:t>(1);        //1 </a:t>
            </a:r>
            <a:r>
              <a:rPr lang="ko-KR" altLang="en-US" sz="1800" dirty="0"/>
              <a:t>삽입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Q.push</a:t>
            </a:r>
            <a:r>
              <a:rPr lang="en-US" altLang="ko-KR" sz="1800" dirty="0"/>
              <a:t>(4);        //4 </a:t>
            </a:r>
            <a:r>
              <a:rPr lang="ko-KR" altLang="en-US" sz="1800" dirty="0"/>
              <a:t>삽입</a:t>
            </a:r>
          </a:p>
          <a:p>
            <a:pPr marL="0" indent="0">
              <a:buNone/>
            </a:pPr>
            <a:endParaRPr lang="ko-KR" altLang="en-US" sz="1800" dirty="0"/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/>
              <a:t>while(</a:t>
            </a:r>
            <a:r>
              <a:rPr lang="en-US" altLang="ko-KR" sz="1800" dirty="0" err="1"/>
              <a:t>Q.empty</a:t>
            </a:r>
            <a:r>
              <a:rPr lang="en-US" altLang="ko-KR" sz="1800" dirty="0"/>
              <a:t>() == false) {        //</a:t>
            </a:r>
            <a:r>
              <a:rPr lang="ko-KR" altLang="en-US" sz="1800" dirty="0"/>
              <a:t>큐가 비어있지 않다면</a:t>
            </a:r>
            <a:r>
              <a:rPr lang="en-US" altLang="ko-KR" sz="1800" dirty="0"/>
              <a:t>,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cout</a:t>
            </a:r>
            <a:r>
              <a:rPr lang="en-US" altLang="ko-KR" sz="1800" dirty="0"/>
              <a:t> &lt;&lt; </a:t>
            </a:r>
            <a:r>
              <a:rPr lang="en-US" altLang="ko-KR" sz="1800" dirty="0" err="1"/>
              <a:t>Q.front</a:t>
            </a:r>
            <a:r>
              <a:rPr lang="en-US" altLang="ko-KR" sz="1800" dirty="0"/>
              <a:t>() &lt;&lt; ", ";    //front </a:t>
            </a:r>
            <a:r>
              <a:rPr lang="ko-KR" altLang="en-US" sz="1800" dirty="0"/>
              <a:t>요소 출력</a:t>
            </a:r>
          </a:p>
          <a:p>
            <a:pPr marL="0" indent="0">
              <a:buNone/>
            </a:pPr>
            <a:r>
              <a:rPr lang="ko-KR" altLang="en-US" sz="1800" dirty="0"/>
              <a:t>        </a:t>
            </a:r>
            <a:r>
              <a:rPr lang="en-US" altLang="ko-KR" sz="1800" dirty="0" err="1"/>
              <a:t>Q.pop</a:t>
            </a:r>
            <a:r>
              <a:rPr lang="en-US" altLang="ko-KR" sz="1800" dirty="0"/>
              <a:t>();                    //front</a:t>
            </a:r>
            <a:r>
              <a:rPr lang="ko-KR" altLang="en-US" sz="1800" dirty="0"/>
              <a:t>에 있는 요소 제거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/>
              <a:t>}</a:t>
            </a:r>
          </a:p>
          <a:p>
            <a:pPr marL="0" indent="0">
              <a:buNone/>
            </a:pPr>
            <a:r>
              <a:rPr lang="en-US" altLang="ko-KR" sz="1800" dirty="0" smtClean="0"/>
              <a:t>    </a:t>
            </a:r>
            <a:r>
              <a:rPr lang="en-US" altLang="ko-KR" sz="1800" dirty="0" err="1"/>
              <a:t>cout</a:t>
            </a:r>
            <a:r>
              <a:rPr lang="en-US" altLang="ko-KR" sz="1800" dirty="0"/>
              <a:t> &lt;&lt; </a:t>
            </a:r>
            <a:r>
              <a:rPr lang="en-US" altLang="ko-KR" sz="1800" dirty="0" err="1"/>
              <a:t>endl</a:t>
            </a:r>
            <a:r>
              <a:rPr lang="en-US" altLang="ko-KR" sz="1800" dirty="0"/>
              <a:t>;</a:t>
            </a:r>
          </a:p>
          <a:p>
            <a:pPr marL="0" indent="0">
              <a:buNone/>
            </a:pPr>
            <a:r>
              <a:rPr lang="en-US" altLang="ko-KR" sz="1800" dirty="0"/>
              <a:t>    return 0;</a:t>
            </a:r>
          </a:p>
          <a:p>
            <a:pPr marL="0" indent="0">
              <a:buNone/>
            </a:pPr>
            <a:r>
              <a:rPr lang="en-US" altLang="ko-KR" sz="1800" dirty="0" smtClean="0"/>
              <a:t>}</a:t>
            </a:r>
            <a:endParaRPr lang="en-US" altLang="ko-KR" sz="18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65338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55" y="548680"/>
            <a:ext cx="6774559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55" y="3789040"/>
            <a:ext cx="6776005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76278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138113"/>
            <a:ext cx="9048750" cy="658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41551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자바의 </a:t>
            </a:r>
            <a:r>
              <a:rPr lang="en-US" altLang="ko-KR" dirty="0" err="1" smtClean="0"/>
              <a:t>java.util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java.util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여러 가지 유용한 표준 자바 클래스 포함</a:t>
            </a:r>
            <a:endParaRPr lang="en-US" altLang="ko-KR" dirty="0" smtClean="0"/>
          </a:p>
          <a:p>
            <a:r>
              <a:rPr lang="ko-KR" altLang="en-US" dirty="0" smtClean="0"/>
              <a:t>범용 자료 구조 객체 선언 위해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인터페이스 또는 추상 클래스로 선언한 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그것을 상속해서 구상 클래스를 만들고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그 </a:t>
            </a:r>
            <a:r>
              <a:rPr lang="ko-KR" altLang="en-US" dirty="0" err="1" smtClean="0"/>
              <a:t>인스턴스를</a:t>
            </a:r>
            <a:r>
              <a:rPr lang="ko-KR" altLang="en-US" dirty="0" smtClean="0"/>
              <a:t> 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52508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예</a:t>
            </a:r>
            <a:endParaRPr lang="en-US" altLang="ko-KR" dirty="0" smtClean="0"/>
          </a:p>
          <a:p>
            <a:pPr lvl="1"/>
            <a:r>
              <a:rPr lang="en-US" altLang="ko-KR" dirty="0"/>
              <a:t>Map </a:t>
            </a:r>
            <a:r>
              <a:rPr lang="en-US" altLang="ko-KR" dirty="0" err="1"/>
              <a:t>myMap</a:t>
            </a:r>
            <a:r>
              <a:rPr lang="en-US" altLang="ko-KR" dirty="0"/>
              <a:t> = new </a:t>
            </a:r>
            <a:r>
              <a:rPr lang="en-US" altLang="ko-KR" dirty="0" err="1"/>
              <a:t>HashMap</a:t>
            </a:r>
            <a:r>
              <a:rPr lang="en-US" altLang="ko-KR" dirty="0"/>
              <a:t>();</a:t>
            </a:r>
          </a:p>
          <a:p>
            <a:pPr lvl="2"/>
            <a:r>
              <a:rPr lang="en-US" altLang="ko-KR" dirty="0" err="1" smtClean="0"/>
              <a:t>myMap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Map </a:t>
            </a:r>
            <a:r>
              <a:rPr lang="ko-KR" altLang="en-US" dirty="0" smtClean="0"/>
              <a:t>클래스의 객체로 간주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HashMap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myMap</a:t>
            </a:r>
            <a:r>
              <a:rPr lang="en-US" altLang="ko-KR" dirty="0" smtClean="0"/>
              <a:t> = new </a:t>
            </a:r>
            <a:r>
              <a:rPr lang="en-US" altLang="ko-KR" dirty="0" err="1" smtClean="0"/>
              <a:t>HashMap</a:t>
            </a:r>
            <a:r>
              <a:rPr lang="en-US" altLang="ko-KR" dirty="0" smtClean="0"/>
              <a:t>();</a:t>
            </a:r>
          </a:p>
          <a:p>
            <a:pPr lvl="2"/>
            <a:r>
              <a:rPr lang="ko-KR" altLang="en-US" dirty="0" smtClean="0"/>
              <a:t>구상 클래스로 선언한 후 그 구상 클래스의 </a:t>
            </a:r>
            <a:r>
              <a:rPr lang="ko-KR" altLang="en-US" dirty="0" err="1" smtClean="0"/>
              <a:t>인스턴스</a:t>
            </a:r>
            <a:r>
              <a:rPr lang="ko-KR" altLang="en-US" dirty="0" smtClean="0"/>
              <a:t> 생성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myMap</a:t>
            </a:r>
            <a:r>
              <a:rPr lang="ko-KR" altLang="en-US" dirty="0" smtClean="0"/>
              <a:t>은 그냥 </a:t>
            </a:r>
            <a:r>
              <a:rPr lang="en-US" altLang="ko-KR" dirty="0" err="1" smtClean="0"/>
              <a:t>HashMap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클래스의 객체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68323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905751"/>
              </p:ext>
            </p:extLst>
          </p:nvPr>
        </p:nvGraphicFramePr>
        <p:xfrm>
          <a:off x="467544" y="1196752"/>
          <a:ext cx="8458200" cy="4131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9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자료구조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추상 클래스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구상 클래스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메소드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스택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인터페이스 없음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Stack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pop, push, empty, peek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2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큐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List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err="1" smtClean="0"/>
                        <a:t>ArrayList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en-US" altLang="ko-KR" sz="2000" dirty="0" err="1" smtClean="0"/>
                        <a:t>LinkedList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add</a:t>
                      </a:r>
                      <a:r>
                        <a:rPr lang="en-US" altLang="ko-KR" sz="2000" baseline="30000" dirty="0" smtClean="0"/>
                        <a:t>*</a:t>
                      </a:r>
                      <a:r>
                        <a:rPr lang="en-US" altLang="ko-KR" sz="2000" dirty="0" smtClean="0"/>
                        <a:t>, remove, offer, poll, </a:t>
                      </a:r>
                      <a:r>
                        <a:rPr lang="en-US" altLang="ko-KR" sz="2000" dirty="0" smtClean="0"/>
                        <a:t>clear, peek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84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사전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Map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err="1" smtClean="0"/>
                        <a:t>HashMap</a:t>
                      </a:r>
                      <a:r>
                        <a:rPr lang="en-US" altLang="ko-KR" sz="2000" dirty="0" smtClean="0"/>
                        <a:t>, </a:t>
                      </a:r>
                      <a:r>
                        <a:rPr lang="en-US" altLang="ko-KR" sz="2000" dirty="0" err="1" smtClean="0"/>
                        <a:t>HashTable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put, get, </a:t>
                      </a:r>
                      <a:r>
                        <a:rPr lang="en-US" altLang="ko-KR" sz="2000" baseline="0" dirty="0" err="1" smtClean="0"/>
                        <a:t>containsKey</a:t>
                      </a:r>
                      <a:r>
                        <a:rPr lang="en-US" altLang="ko-KR" sz="2000" baseline="0" dirty="0" smtClean="0"/>
                        <a:t>, </a:t>
                      </a:r>
                      <a:r>
                        <a:rPr lang="en-US" altLang="ko-KR" sz="2000" baseline="0" dirty="0" err="1" smtClean="0"/>
                        <a:t>containsValue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err="1" smtClean="0"/>
                        <a:t>우선순위큐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err="1" smtClean="0"/>
                        <a:t>SortedMap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err="1" smtClean="0"/>
                        <a:t>TreeMap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put, get,</a:t>
                      </a:r>
                      <a:r>
                        <a:rPr lang="en-US" altLang="ko-KR" sz="2000" baseline="0" dirty="0" smtClean="0"/>
                        <a:t> </a:t>
                      </a:r>
                      <a:r>
                        <a:rPr lang="en-US" altLang="ko-KR" sz="2000" baseline="0" dirty="0" err="1" smtClean="0"/>
                        <a:t>containsKey</a:t>
                      </a:r>
                      <a:r>
                        <a:rPr lang="en-US" altLang="ko-KR" sz="2000" baseline="0" dirty="0" smtClean="0"/>
                        <a:t>, </a:t>
                      </a:r>
                      <a:r>
                        <a:rPr lang="en-US" altLang="ko-KR" sz="2000" baseline="0" dirty="0" err="1" smtClean="0"/>
                        <a:t>containsValue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집합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Set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err="1" smtClean="0"/>
                        <a:t>HashSet</a:t>
                      </a:r>
                      <a:r>
                        <a:rPr lang="en-US" altLang="ko-KR" sz="2000" baseline="30000" dirty="0" smtClean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add, remove, contains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12</a:t>
            </a:fld>
            <a:endParaRPr lang="en-US" altLang="ko-KR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467544" y="476672"/>
            <a:ext cx="7772400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smtClean="0"/>
              <a:t>기본적인 자료 구조는 다음과 같은 클래스로 구현</a:t>
            </a:r>
            <a:endParaRPr lang="ko-KR" alt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467544" y="5517232"/>
            <a:ext cx="8529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aseline="30000" dirty="0" smtClean="0"/>
              <a:t>*</a:t>
            </a:r>
            <a:r>
              <a:rPr lang="en-US" altLang="ko-KR" sz="1800" dirty="0" smtClean="0"/>
              <a:t> add</a:t>
            </a:r>
            <a:r>
              <a:rPr lang="ko-KR" altLang="en-US" sz="1800" dirty="0"/>
              <a:t>와 </a:t>
            </a:r>
            <a:r>
              <a:rPr lang="en-US" altLang="ko-KR" sz="1800" dirty="0"/>
              <a:t>remove</a:t>
            </a:r>
            <a:r>
              <a:rPr lang="ko-KR" altLang="en-US" sz="1800" dirty="0"/>
              <a:t>의 경우</a:t>
            </a:r>
            <a:r>
              <a:rPr lang="en-US" altLang="ko-KR" sz="1800" dirty="0"/>
              <a:t>, </a:t>
            </a:r>
            <a:r>
              <a:rPr lang="ko-KR" altLang="en-US" sz="1800" dirty="0"/>
              <a:t>개체를 저장해야 하는데</a:t>
            </a:r>
            <a:r>
              <a:rPr lang="en-US" altLang="ko-KR" sz="1800" dirty="0"/>
              <a:t>, </a:t>
            </a:r>
            <a:r>
              <a:rPr lang="ko-KR" altLang="en-US" sz="1800" dirty="0"/>
              <a:t>저장할 공간이 부족하거나</a:t>
            </a:r>
            <a:r>
              <a:rPr lang="en-US" altLang="ko-KR" sz="1800" dirty="0"/>
              <a:t>, </a:t>
            </a:r>
            <a:r>
              <a:rPr lang="ko-KR" altLang="en-US" sz="1800" dirty="0"/>
              <a:t>개체를 꺼내와야 하는데</a:t>
            </a:r>
            <a:r>
              <a:rPr lang="en-US" altLang="ko-KR" sz="1800" dirty="0"/>
              <a:t>, </a:t>
            </a:r>
            <a:r>
              <a:rPr lang="ko-KR" altLang="en-US" sz="1800" dirty="0"/>
              <a:t>개체가 없을 때</a:t>
            </a:r>
            <a:r>
              <a:rPr lang="en-US" altLang="ko-KR" sz="1800" dirty="0"/>
              <a:t>, Exception </a:t>
            </a:r>
            <a:r>
              <a:rPr lang="ko-KR" altLang="en-US" sz="1800" dirty="0"/>
              <a:t>을 발생시키고</a:t>
            </a:r>
            <a:r>
              <a:rPr lang="en-US" altLang="ko-KR" sz="1800" dirty="0"/>
              <a:t>, offer</a:t>
            </a:r>
            <a:r>
              <a:rPr lang="ko-KR" altLang="en-US" sz="1800" dirty="0"/>
              <a:t>와 </a:t>
            </a:r>
            <a:r>
              <a:rPr lang="en-US" altLang="ko-KR" sz="1800" dirty="0"/>
              <a:t>poll</a:t>
            </a:r>
            <a:r>
              <a:rPr lang="ko-KR" altLang="en-US" sz="1800" dirty="0"/>
              <a:t>의 경우는 </a:t>
            </a:r>
            <a:r>
              <a:rPr lang="en-US" altLang="ko-KR" sz="1800" dirty="0"/>
              <a:t>false</a:t>
            </a:r>
            <a:r>
              <a:rPr lang="ko-KR" altLang="en-US" sz="1800" dirty="0"/>
              <a:t>와 </a:t>
            </a:r>
            <a:r>
              <a:rPr lang="en-US" altLang="ko-KR" sz="1800" dirty="0"/>
              <a:t>null</a:t>
            </a:r>
            <a:r>
              <a:rPr lang="ko-KR" altLang="en-US" sz="1800" dirty="0"/>
              <a:t>을 </a:t>
            </a:r>
            <a:r>
              <a:rPr lang="ko-KR" altLang="en-US" sz="1800" dirty="0" smtClean="0"/>
              <a:t>반환</a:t>
            </a:r>
            <a:endParaRPr lang="en-US" altLang="ko-KR" sz="1800" dirty="0" smtClean="0"/>
          </a:p>
          <a:p>
            <a:r>
              <a:rPr lang="ko-KR" altLang="en-US" sz="1800" strike="sngStrike" baseline="30000" dirty="0"/>
              <a:t>**</a:t>
            </a:r>
            <a:r>
              <a:rPr lang="ko-KR" altLang="en-US" sz="1800" dirty="0"/>
              <a:t> </a:t>
            </a:r>
            <a:r>
              <a:rPr lang="en-US" altLang="ko-KR" sz="1800" dirty="0" err="1" smtClean="0"/>
              <a:t>TreeSet</a:t>
            </a:r>
            <a:r>
              <a:rPr lang="en-US" altLang="ko-KR" sz="1800" dirty="0" smtClean="0"/>
              <a:t> </a:t>
            </a:r>
            <a:r>
              <a:rPr lang="en-US" altLang="ko-KR" sz="1800" dirty="0"/>
              <a:t>(</a:t>
            </a:r>
            <a:r>
              <a:rPr lang="ko-KR" altLang="en-US" sz="1800" dirty="0"/>
              <a:t>항목이 정렬된 상태로 접근 가능</a:t>
            </a:r>
            <a:r>
              <a:rPr lang="en-US" altLang="ko-KR" sz="1800" dirty="0" smtClean="0"/>
              <a:t>)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7132500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619328"/>
          </a:xfrm>
        </p:spPr>
        <p:txBody>
          <a:bodyPr/>
          <a:lstStyle/>
          <a:p>
            <a:r>
              <a:rPr lang="en-US" altLang="ko-KR" dirty="0" err="1" smtClean="0"/>
              <a:t>ArrayList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LinkedList</a:t>
            </a:r>
            <a:r>
              <a:rPr lang="ko-KR" altLang="en-US" dirty="0" smtClean="0"/>
              <a:t>의 비</a:t>
            </a:r>
            <a:r>
              <a:rPr lang="ko-KR" altLang="en-US" dirty="0" smtClean="0"/>
              <a:t>교</a:t>
            </a:r>
            <a:endParaRPr lang="en-US" altLang="ko-KR" dirty="0" smtClean="0"/>
          </a:p>
          <a:p>
            <a:pPr lvl="1"/>
            <a:r>
              <a:rPr lang="en-US" altLang="ko-KR" sz="2000" dirty="0" err="1"/>
              <a:t>ArrayList</a:t>
            </a:r>
            <a:r>
              <a:rPr lang="ko-KR" altLang="en-US" sz="2000" dirty="0"/>
              <a:t>는 내부적으로 데이터를 배열에서 관리하며 데이터의 추가</a:t>
            </a:r>
            <a:r>
              <a:rPr lang="en-US" altLang="ko-KR" sz="2000" dirty="0"/>
              <a:t>, </a:t>
            </a:r>
            <a:r>
              <a:rPr lang="ko-KR" altLang="en-US" sz="2000" dirty="0"/>
              <a:t>삭제를 위해 아래와 같이 임시 배열을 생성해 데이터를 복사 하는 방법을 </a:t>
            </a:r>
            <a:r>
              <a:rPr lang="ko-KR" altLang="en-US" sz="2000" dirty="0" smtClean="0"/>
              <a:t>사용</a:t>
            </a:r>
            <a:endParaRPr lang="en-US" altLang="ko-KR" sz="2000" dirty="0" smtClean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 smtClean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 smtClean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 err="1"/>
              <a:t>LinkedList</a:t>
            </a:r>
            <a:r>
              <a:rPr lang="ko-KR" altLang="en-US" sz="2000" dirty="0"/>
              <a:t>는 데이터를 저장하는 각 노드가 이전 노드와 다음 노드의 상태만 알고 있다고 </a:t>
            </a:r>
            <a:r>
              <a:rPr lang="ko-KR" altLang="en-US" sz="2000" dirty="0" smtClean="0"/>
              <a:t>가정</a:t>
            </a:r>
            <a:endParaRPr lang="en-US" altLang="ko-KR" sz="2000" dirty="0" smtClean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pPr lvl="1"/>
            <a:r>
              <a:rPr lang="ko-KR" altLang="en-US" sz="2000" dirty="0" smtClean="0"/>
              <a:t>참조</a:t>
            </a:r>
            <a:r>
              <a:rPr lang="en-US" altLang="ko-KR" sz="2000" dirty="0" smtClean="0"/>
              <a:t>: </a:t>
            </a:r>
            <a:r>
              <a:rPr lang="en-US" altLang="ko-KR" sz="2000" dirty="0" smtClean="0">
                <a:hlinkClick r:id="rId2"/>
              </a:rPr>
              <a:t>https</a:t>
            </a:r>
            <a:r>
              <a:rPr lang="en-US" altLang="ko-KR" sz="2000" dirty="0">
                <a:hlinkClick r:id="rId2"/>
              </a:rPr>
              <a:t>://www.holaxprogramming.com/2014/02/12/java-list-interface</a:t>
            </a:r>
            <a:r>
              <a:rPr lang="en-US" altLang="ko-KR" sz="2000" dirty="0" smtClean="0">
                <a:hlinkClick r:id="rId2"/>
              </a:rPr>
              <a:t>/</a:t>
            </a:r>
            <a:endParaRPr lang="en-US" altLang="ko-KR" sz="20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060848"/>
            <a:ext cx="2333625" cy="1666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4614863"/>
            <a:ext cx="39433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80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데이터의 검색</a:t>
            </a:r>
            <a:r>
              <a:rPr lang="en-US" altLang="ko-KR" sz="3200" dirty="0"/>
              <a:t>, </a:t>
            </a:r>
            <a:r>
              <a:rPr lang="ko-KR" altLang="en-US" sz="3200" dirty="0"/>
              <a:t>삽입</a:t>
            </a:r>
            <a:r>
              <a:rPr lang="en-US" altLang="ko-KR" sz="3200" dirty="0"/>
              <a:t>, </a:t>
            </a:r>
            <a:r>
              <a:rPr lang="ko-KR" altLang="en-US" sz="3200" dirty="0" smtClean="0"/>
              <a:t>삭제 시 </a:t>
            </a:r>
            <a:r>
              <a:rPr lang="ko-KR" altLang="en-US" sz="3200" dirty="0"/>
              <a:t>성능 비교</a:t>
            </a:r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639656"/>
              </p:ext>
            </p:extLst>
          </p:nvPr>
        </p:nvGraphicFramePr>
        <p:xfrm>
          <a:off x="685800" y="1780209"/>
          <a:ext cx="7772400" cy="4133850"/>
        </p:xfrm>
        <a:graphic>
          <a:graphicData uri="http://schemas.openxmlformats.org/drawingml/2006/table">
            <a:tbl>
              <a:tblPr/>
              <a:tblGrid>
                <a:gridCol w="1653952">
                  <a:extLst>
                    <a:ext uri="{9D8B030D-6E8A-4147-A177-3AD203B41FA5}">
                      <a16:colId xmlns:a16="http://schemas.microsoft.com/office/drawing/2014/main" val="610156838"/>
                    </a:ext>
                  </a:extLst>
                </a:gridCol>
                <a:gridCol w="6118448">
                  <a:extLst>
                    <a:ext uri="{9D8B030D-6E8A-4147-A177-3AD203B41FA5}">
                      <a16:colId xmlns:a16="http://schemas.microsoft.com/office/drawing/2014/main" val="2960653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2400" b="1" dirty="0">
                          <a:effectLst/>
                        </a:rPr>
                        <a:t>리스트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b="1" dirty="0">
                          <a:effectLst/>
                        </a:rPr>
                        <a:t>설명 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447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Array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ko-KR" altLang="en-US" sz="2400" dirty="0">
                          <a:effectLst/>
                        </a:rPr>
                        <a:t>정적인 길이를 제공하는 배열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089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Vector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2400" dirty="0">
                          <a:effectLst/>
                        </a:rPr>
                        <a:t>Java 1.0 </a:t>
                      </a:r>
                      <a:r>
                        <a:rPr lang="ko-KR" altLang="en-US" sz="2400" dirty="0">
                          <a:effectLst/>
                        </a:rPr>
                        <a:t>에서 추가</a:t>
                      </a:r>
                      <a:r>
                        <a:rPr lang="en-US" altLang="ko-KR" sz="2400" dirty="0">
                          <a:effectLst/>
                        </a:rPr>
                        <a:t>. </a:t>
                      </a:r>
                      <a:r>
                        <a:rPr lang="ko-KR" altLang="en-US" sz="2400" dirty="0">
                          <a:effectLst/>
                        </a:rPr>
                        <a:t>동기화 기능이 제공되는 가변이 가능한 자료구조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140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ArrayList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2400" dirty="0">
                          <a:effectLst/>
                        </a:rPr>
                        <a:t>Java 1.2 </a:t>
                      </a:r>
                      <a:r>
                        <a:rPr lang="ko-KR" altLang="en-US" sz="2400" dirty="0">
                          <a:effectLst/>
                        </a:rPr>
                        <a:t>에서 추가</a:t>
                      </a:r>
                      <a:r>
                        <a:rPr lang="en-US" altLang="ko-KR" sz="2400" dirty="0">
                          <a:effectLst/>
                        </a:rPr>
                        <a:t>. </a:t>
                      </a:r>
                      <a:r>
                        <a:rPr lang="ko-KR" altLang="en-US" sz="2400" dirty="0">
                          <a:effectLst/>
                        </a:rPr>
                        <a:t>동기화가 제공되지 않음</a:t>
                      </a:r>
                      <a:r>
                        <a:rPr lang="en-US" altLang="ko-KR" sz="2400" dirty="0">
                          <a:effectLst/>
                        </a:rPr>
                        <a:t>. </a:t>
                      </a:r>
                      <a:r>
                        <a:rPr lang="ko-KR" altLang="en-US" sz="2400" dirty="0">
                          <a:effectLst/>
                        </a:rPr>
                        <a:t>데이터의 검색에 유리하며 추가</a:t>
                      </a:r>
                      <a:r>
                        <a:rPr lang="en-US" altLang="ko-KR" sz="2400" dirty="0">
                          <a:effectLst/>
                        </a:rPr>
                        <a:t>, </a:t>
                      </a:r>
                      <a:r>
                        <a:rPr lang="ko-KR" altLang="en-US" sz="2400" dirty="0">
                          <a:effectLst/>
                        </a:rPr>
                        <a:t>삭제에는 성능을 고려해야 한다</a:t>
                      </a:r>
                      <a:r>
                        <a:rPr lang="en-US" altLang="ko-KR" sz="2400" dirty="0">
                          <a:effectLst/>
                        </a:rPr>
                        <a:t>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095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LinkedList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ko-KR" sz="2400" dirty="0">
                          <a:effectLst/>
                        </a:rPr>
                        <a:t>Java 1.2 </a:t>
                      </a:r>
                      <a:r>
                        <a:rPr lang="ko-KR" altLang="en-US" sz="2400" dirty="0">
                          <a:effectLst/>
                        </a:rPr>
                        <a:t>에서 추가</a:t>
                      </a:r>
                      <a:r>
                        <a:rPr lang="en-US" altLang="ko-KR" sz="2400" dirty="0">
                          <a:effectLst/>
                        </a:rPr>
                        <a:t>. </a:t>
                      </a:r>
                      <a:r>
                        <a:rPr lang="en-US" altLang="ko-KR" sz="2400" dirty="0" err="1">
                          <a:effectLst/>
                        </a:rPr>
                        <a:t>ArrayList</a:t>
                      </a:r>
                      <a:r>
                        <a:rPr lang="en-US" altLang="ko-KR" sz="2400" dirty="0">
                          <a:effectLst/>
                        </a:rPr>
                        <a:t> </a:t>
                      </a:r>
                      <a:r>
                        <a:rPr lang="ko-KR" altLang="en-US" sz="2400" dirty="0">
                          <a:effectLst/>
                        </a:rPr>
                        <a:t>에 비해 데이터의 추가</a:t>
                      </a:r>
                      <a:r>
                        <a:rPr lang="en-US" altLang="ko-KR" sz="2400" dirty="0">
                          <a:effectLst/>
                        </a:rPr>
                        <a:t>, </a:t>
                      </a:r>
                      <a:r>
                        <a:rPr lang="ko-KR" altLang="en-US" sz="2400" dirty="0">
                          <a:effectLst/>
                        </a:rPr>
                        <a:t>삭제에 유리하며 데이터 검색 시에는 성능을 고려해야 한다</a:t>
                      </a:r>
                      <a:r>
                        <a:rPr lang="en-US" altLang="ko-KR" sz="2400" dirty="0">
                          <a:effectLst/>
                        </a:rPr>
                        <a:t>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301822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42700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04664"/>
            <a:ext cx="7772400" cy="5691336"/>
          </a:xfrm>
        </p:spPr>
        <p:txBody>
          <a:bodyPr/>
          <a:lstStyle/>
          <a:p>
            <a:r>
              <a:rPr lang="en-US" altLang="ko-KR" sz="2000" b="1" dirty="0" err="1"/>
              <a:t>HashMap</a:t>
            </a:r>
            <a:endParaRPr lang="en-US" altLang="ko-KR" sz="2000" b="1" dirty="0"/>
          </a:p>
          <a:p>
            <a:pPr lvl="1"/>
            <a:r>
              <a:rPr lang="ko-KR" altLang="en-US" sz="1800" dirty="0"/>
              <a:t>내부적으로 </a:t>
            </a:r>
            <a:r>
              <a:rPr lang="en-US" altLang="ko-KR" sz="1800" b="1" dirty="0"/>
              <a:t>Entry&lt;K,V&gt;[]</a:t>
            </a:r>
            <a:r>
              <a:rPr lang="ko-KR" altLang="en-US" sz="1800" dirty="0"/>
              <a:t> </a:t>
            </a:r>
            <a:r>
              <a:rPr lang="en-US" altLang="ko-KR" sz="1800" dirty="0"/>
              <a:t>Entry </a:t>
            </a:r>
            <a:r>
              <a:rPr lang="ko-KR" altLang="en-US" sz="1800" dirty="0"/>
              <a:t>의 </a:t>
            </a:r>
            <a:r>
              <a:rPr lang="en-US" altLang="ko-KR" sz="1800" dirty="0"/>
              <a:t>array </a:t>
            </a:r>
            <a:r>
              <a:rPr lang="ko-KR" altLang="en-US" sz="1800" dirty="0"/>
              <a:t>로 되어 있다</a:t>
            </a:r>
            <a:r>
              <a:rPr lang="en-US" altLang="ko-KR" sz="1800" dirty="0"/>
              <a:t>. </a:t>
            </a:r>
            <a:r>
              <a:rPr lang="ko-KR" altLang="en-US" sz="1800" dirty="0"/>
              <a:t>해당 </a:t>
            </a:r>
            <a:r>
              <a:rPr lang="en-US" altLang="ko-KR" sz="1800" dirty="0" smtClean="0"/>
              <a:t>array</a:t>
            </a:r>
            <a:r>
              <a:rPr lang="ko-KR" altLang="en-US" sz="1800" dirty="0" smtClean="0"/>
              <a:t>에 </a:t>
            </a:r>
            <a:r>
              <a:rPr lang="en-US" altLang="ko-KR" sz="1800" dirty="0" smtClean="0"/>
              <a:t>index</a:t>
            </a:r>
            <a:r>
              <a:rPr lang="ko-KR" altLang="en-US" sz="1800" dirty="0" smtClean="0"/>
              <a:t>는 </a:t>
            </a:r>
            <a:r>
              <a:rPr lang="ko-KR" altLang="en-US" sz="1800" dirty="0"/>
              <a:t>내부 </a:t>
            </a:r>
            <a:r>
              <a:rPr lang="ko-KR" altLang="en-US" sz="1800" dirty="0" err="1"/>
              <a:t>해쉬</a:t>
            </a:r>
            <a:r>
              <a:rPr lang="ko-KR" altLang="en-US" sz="1800" dirty="0"/>
              <a:t> 함수를 통해 계산된다</a:t>
            </a:r>
            <a:r>
              <a:rPr lang="en-US" altLang="ko-KR" sz="1800" dirty="0"/>
              <a:t>. </a:t>
            </a:r>
          </a:p>
          <a:p>
            <a:pPr lvl="2"/>
            <a:r>
              <a:rPr lang="en-US" altLang="ko-KR" sz="1600" dirty="0" smtClean="0"/>
              <a:t>String</a:t>
            </a:r>
            <a:r>
              <a:rPr lang="ko-KR" altLang="en-US" sz="1600" dirty="0" smtClean="0"/>
              <a:t>은 </a:t>
            </a:r>
            <a:r>
              <a:rPr lang="en-US" altLang="ko-KR" sz="1600" b="1" dirty="0"/>
              <a:t>sun.misc.Hashing.stringHash32</a:t>
            </a:r>
            <a:r>
              <a:rPr lang="ko-KR" altLang="en-US" sz="1600" dirty="0"/>
              <a:t> 함수를 사용하고 일반 </a:t>
            </a:r>
            <a:r>
              <a:rPr lang="en-US" altLang="ko-KR" sz="1600" dirty="0"/>
              <a:t>Object</a:t>
            </a:r>
            <a:r>
              <a:rPr lang="ko-KR" altLang="en-US" sz="1600" dirty="0"/>
              <a:t>는 내부 </a:t>
            </a:r>
            <a:r>
              <a:rPr lang="en-US" altLang="ko-KR" sz="1600" dirty="0" err="1"/>
              <a:t>hashcode</a:t>
            </a:r>
            <a:r>
              <a:rPr lang="en-US" altLang="ko-KR" sz="1600" dirty="0"/>
              <a:t> </a:t>
            </a:r>
            <a:r>
              <a:rPr lang="ko-KR" altLang="en-US" sz="1600" dirty="0"/>
              <a:t>함수와 </a:t>
            </a:r>
            <a:r>
              <a:rPr lang="ko-KR" altLang="en-US" sz="1600" dirty="0" smtClean="0"/>
              <a:t>비트연산으로 계산</a:t>
            </a:r>
            <a:endParaRPr lang="en-US" altLang="ko-KR" sz="1600" dirty="0" smtClean="0"/>
          </a:p>
          <a:p>
            <a:pPr lvl="2"/>
            <a:r>
              <a:rPr lang="ko-KR" altLang="en-US" sz="1600" dirty="0" smtClean="0"/>
              <a:t>내부 </a:t>
            </a:r>
            <a:r>
              <a:rPr lang="en-US" altLang="ko-KR" sz="1600" dirty="0"/>
              <a:t>hash </a:t>
            </a:r>
            <a:r>
              <a:rPr lang="ko-KR" altLang="en-US" sz="1600" dirty="0"/>
              <a:t>값에 따라서 키순서가 정해지므로 특정 </a:t>
            </a:r>
            <a:r>
              <a:rPr lang="ko-KR" altLang="en-US" sz="1600" dirty="0" smtClean="0"/>
              <a:t>규칙 없이 </a:t>
            </a:r>
            <a:r>
              <a:rPr lang="ko-KR" altLang="en-US" sz="1600" dirty="0"/>
              <a:t>출력됨</a:t>
            </a:r>
            <a:r>
              <a:rPr lang="en-US" altLang="ko-KR" sz="1600" dirty="0" smtClean="0"/>
              <a:t>!</a:t>
            </a:r>
          </a:p>
          <a:p>
            <a:r>
              <a:rPr lang="en-US" altLang="ko-KR" sz="2000" b="1" dirty="0" err="1"/>
              <a:t>TreeMap</a:t>
            </a:r>
            <a:endParaRPr lang="en-US" altLang="ko-KR" sz="2000" b="1" dirty="0"/>
          </a:p>
          <a:p>
            <a:pPr lvl="1"/>
            <a:r>
              <a:rPr lang="ko-KR" altLang="en-US" sz="1800" dirty="0"/>
              <a:t>내부적으로 </a:t>
            </a:r>
            <a:r>
              <a:rPr lang="en-US" altLang="ko-KR" sz="1800" dirty="0" err="1"/>
              <a:t>RedBlack</a:t>
            </a:r>
            <a:r>
              <a:rPr lang="en-US" altLang="ko-KR" sz="1800" dirty="0"/>
              <a:t> Tree</a:t>
            </a:r>
            <a:r>
              <a:rPr lang="ko-KR" altLang="en-US" sz="1800" dirty="0"/>
              <a:t>로 저장됨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키값에</a:t>
            </a:r>
            <a:r>
              <a:rPr lang="ko-KR" altLang="en-US" sz="1800" dirty="0"/>
              <a:t> 대한 </a:t>
            </a:r>
            <a:r>
              <a:rPr lang="en-US" altLang="ko-KR" sz="1800" dirty="0" err="1"/>
              <a:t>Compartor</a:t>
            </a:r>
            <a:r>
              <a:rPr lang="en-US" altLang="ko-KR" sz="1800" dirty="0"/>
              <a:t> </a:t>
            </a:r>
            <a:r>
              <a:rPr lang="ko-KR" altLang="en-US" sz="1800" dirty="0"/>
              <a:t>구현으로 정렬 순서를 </a:t>
            </a:r>
            <a:r>
              <a:rPr lang="ko-KR" altLang="en-US" sz="1800" dirty="0" smtClean="0"/>
              <a:t>바꿀 수 </a:t>
            </a:r>
            <a:r>
              <a:rPr lang="ko-KR" altLang="en-US" sz="1800" dirty="0"/>
              <a:t>있다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err="1"/>
              <a:t>키값이</a:t>
            </a:r>
            <a:r>
              <a:rPr lang="ko-KR" altLang="en-US" sz="1800" dirty="0"/>
              <a:t> 알파벳 순서대로 정렬된다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트리에</a:t>
            </a:r>
            <a:r>
              <a:rPr lang="ko-KR" altLang="en-US" sz="1800" dirty="0"/>
              <a:t> 저장되므로 </a:t>
            </a:r>
            <a:r>
              <a:rPr lang="ko-KR" altLang="en-US" sz="1800" dirty="0" err="1"/>
              <a:t>키값은</a:t>
            </a:r>
            <a:r>
              <a:rPr lang="ko-KR" altLang="en-US" sz="1800" dirty="0"/>
              <a:t> 일정 기준으로 정렬된 상태로 출력된다</a:t>
            </a:r>
            <a:r>
              <a:rPr lang="en-US" altLang="ko-KR" sz="1800" dirty="0" smtClean="0"/>
              <a:t>.</a:t>
            </a:r>
          </a:p>
          <a:p>
            <a:r>
              <a:rPr lang="en-US" altLang="ko-KR" sz="2000" b="1" dirty="0" err="1"/>
              <a:t>LinkedHashMap</a:t>
            </a:r>
            <a:endParaRPr lang="en-US" altLang="ko-KR" sz="2000" b="1" dirty="0"/>
          </a:p>
          <a:p>
            <a:pPr lvl="1"/>
            <a:r>
              <a:rPr lang="ko-KR" altLang="en-US" sz="1800" dirty="0" err="1"/>
              <a:t>링크드</a:t>
            </a:r>
            <a:r>
              <a:rPr lang="ko-KR" altLang="en-US" sz="1800" dirty="0"/>
              <a:t> 리스트로 </a:t>
            </a:r>
            <a:r>
              <a:rPr lang="ko-KR" altLang="en-US" sz="1800" dirty="0" smtClean="0"/>
              <a:t>저장됨</a:t>
            </a:r>
            <a:endParaRPr lang="en-US" altLang="ko-KR" sz="1800" dirty="0" smtClean="0"/>
          </a:p>
          <a:p>
            <a:pPr lvl="1"/>
            <a:r>
              <a:rPr lang="ko-KR" altLang="en-US" sz="1800" dirty="0" err="1"/>
              <a:t>키값은</a:t>
            </a:r>
            <a:r>
              <a:rPr lang="ko-KR" altLang="en-US" sz="1800" dirty="0"/>
              <a:t> 입력 순서대로 출력되어서 나온다</a:t>
            </a:r>
            <a:r>
              <a:rPr lang="en-US" altLang="ko-KR" sz="1800" dirty="0" smtClean="0"/>
              <a:t>.</a:t>
            </a:r>
          </a:p>
          <a:p>
            <a:r>
              <a:rPr lang="ko-KR" altLang="en-US" sz="2000" dirty="0" smtClean="0"/>
              <a:t>선택 방법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특별한 </a:t>
            </a:r>
            <a:r>
              <a:rPr lang="ko-KR" altLang="en-US" sz="1800" dirty="0"/>
              <a:t>이유가 없다면 검색 성능이 좋은</a:t>
            </a:r>
            <a:r>
              <a:rPr lang="en-US" altLang="ko-KR" sz="1800" dirty="0"/>
              <a:t>(O(1)) </a:t>
            </a:r>
            <a:r>
              <a:rPr lang="en-US" altLang="ko-KR" sz="1800" dirty="0" err="1" smtClean="0"/>
              <a:t>HashMap</a:t>
            </a:r>
            <a:r>
              <a:rPr lang="ko-KR" altLang="en-US" sz="1800" dirty="0" smtClean="0"/>
              <a:t>을 사용</a:t>
            </a:r>
            <a:endParaRPr lang="ko-KR" altLang="en-US" sz="1800" dirty="0"/>
          </a:p>
          <a:p>
            <a:pPr lvl="1"/>
            <a:r>
              <a:rPr lang="ko-KR" altLang="en-US" sz="1800" dirty="0" err="1" smtClean="0"/>
              <a:t>키값이</a:t>
            </a:r>
            <a:r>
              <a:rPr lang="ko-KR" altLang="en-US" sz="1800" dirty="0" smtClean="0"/>
              <a:t> </a:t>
            </a:r>
            <a:r>
              <a:rPr lang="ko-KR" altLang="en-US" sz="1800" dirty="0"/>
              <a:t>일정한 수준대로 </a:t>
            </a:r>
            <a:r>
              <a:rPr lang="en-US" altLang="ko-KR" sz="1800" dirty="0"/>
              <a:t>iterate </a:t>
            </a:r>
            <a:r>
              <a:rPr lang="ko-KR" altLang="en-US" sz="1800" dirty="0"/>
              <a:t>하려고 한다면 </a:t>
            </a:r>
            <a:r>
              <a:rPr lang="en-US" altLang="ko-KR" sz="1800" dirty="0" err="1" smtClean="0"/>
              <a:t>TreeMap</a:t>
            </a:r>
            <a:r>
              <a:rPr lang="ko-KR" altLang="en-US" sz="1800" dirty="0" smtClean="0"/>
              <a:t>을 사용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하지만 </a:t>
            </a:r>
            <a:r>
              <a:rPr lang="ko-KR" altLang="en-US" sz="1800" dirty="0"/>
              <a:t>랜덤 접근에 대해서는 </a:t>
            </a:r>
            <a:r>
              <a:rPr lang="en-US" altLang="ko-KR" sz="1800" dirty="0" smtClean="0"/>
              <a:t>O(log n</a:t>
            </a:r>
            <a:r>
              <a:rPr lang="en-US" altLang="ko-KR" sz="1800" dirty="0"/>
              <a:t>) </a:t>
            </a:r>
            <a:r>
              <a:rPr lang="ko-KR" altLang="en-US" sz="1800" dirty="0" smtClean="0"/>
              <a:t>성능</a:t>
            </a:r>
            <a:endParaRPr lang="en-US" altLang="ko-KR" sz="1800" dirty="0"/>
          </a:p>
          <a:p>
            <a:pPr lvl="1"/>
            <a:r>
              <a:rPr lang="ko-KR" altLang="en-US" sz="1800" dirty="0" smtClean="0"/>
              <a:t>입력 </a:t>
            </a:r>
            <a:r>
              <a:rPr lang="ko-KR" altLang="en-US" sz="1800" dirty="0"/>
              <a:t>순서가 </a:t>
            </a:r>
            <a:r>
              <a:rPr lang="ko-KR" altLang="en-US" sz="1800" dirty="0" smtClean="0"/>
              <a:t>의미 있다면 </a:t>
            </a:r>
            <a:r>
              <a:rPr lang="en-US" altLang="ko-KR" sz="1800" dirty="0" err="1" smtClean="0"/>
              <a:t>LinkedHashMap</a:t>
            </a:r>
            <a:r>
              <a:rPr lang="ko-KR" altLang="en-US" sz="1800" dirty="0" smtClean="0"/>
              <a:t>을 사용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랜덤 </a:t>
            </a:r>
            <a:r>
              <a:rPr lang="ko-KR" altLang="en-US" sz="1800" dirty="0"/>
              <a:t>접근에 대해 </a:t>
            </a:r>
            <a:r>
              <a:rPr lang="en-US" altLang="ko-KR" sz="1800" dirty="0"/>
              <a:t>O(n) </a:t>
            </a:r>
            <a:r>
              <a:rPr lang="ko-KR" altLang="en-US" sz="1800" dirty="0" smtClean="0"/>
              <a:t>성능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1905000" cy="457200"/>
          </a:xfrm>
        </p:spPr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95910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54"/>
            <a:ext cx="6822331" cy="687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323528" y="836712"/>
            <a:ext cx="1279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 Queue</a:t>
            </a:r>
          </a:p>
          <a:p>
            <a:r>
              <a:rPr lang="en-US" altLang="ko-KR" dirty="0" smtClean="0"/>
              <a:t>Example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20143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17</a:t>
            </a:fld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-258"/>
            <a:ext cx="4608512" cy="6833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23528" y="836712"/>
            <a:ext cx="2010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 </a:t>
            </a:r>
            <a:r>
              <a:rPr lang="en-US" altLang="ko-KR" dirty="0" err="1" smtClean="0"/>
              <a:t>PriorityQueue</a:t>
            </a:r>
            <a:endParaRPr lang="en-US" altLang="ko-KR" dirty="0" smtClean="0"/>
          </a:p>
          <a:p>
            <a:r>
              <a:rPr lang="en-US" altLang="ko-KR" dirty="0" smtClean="0"/>
              <a:t>Example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95223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18</a:t>
            </a:fld>
            <a:endParaRPr lang="en-US" altLang="ko-KR" dirty="0"/>
          </a:p>
        </p:txBody>
      </p:sp>
      <p:sp>
        <p:nvSpPr>
          <p:cNvPr id="7" name="TextBox 6"/>
          <p:cNvSpPr txBox="1"/>
          <p:nvPr/>
        </p:nvSpPr>
        <p:spPr>
          <a:xfrm>
            <a:off x="323528" y="836712"/>
            <a:ext cx="1545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 </a:t>
            </a:r>
            <a:r>
              <a:rPr lang="en-US" altLang="ko-KR" dirty="0" err="1" smtClean="0"/>
              <a:t>TreeMap</a:t>
            </a:r>
            <a:endParaRPr lang="en-US" altLang="ko-KR" dirty="0" smtClean="0"/>
          </a:p>
          <a:p>
            <a:r>
              <a:rPr lang="en-US" altLang="ko-KR" dirty="0" smtClean="0"/>
              <a:t>Example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2123728" y="148471"/>
            <a:ext cx="660648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java.util.TreeMap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java.util.Set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java.util.Iterator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java.util.Map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Details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 smtClean="0"/>
              <a:t>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[]) {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/* </a:t>
            </a:r>
            <a:r>
              <a:rPr lang="ko-KR" altLang="en-US" sz="1400" dirty="0" err="1"/>
              <a:t>This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how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to</a:t>
            </a:r>
            <a:r>
              <a:rPr lang="ko-KR" altLang="en-US" sz="1400" dirty="0"/>
              <a:t> </a:t>
            </a:r>
            <a:r>
              <a:rPr lang="ko-KR" altLang="en-US" sz="1400" dirty="0" err="1"/>
              <a:t>declare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TreeMap</a:t>
            </a:r>
            <a:r>
              <a:rPr lang="ko-KR" altLang="en-US" sz="1400" dirty="0"/>
              <a:t> */</a:t>
            </a:r>
          </a:p>
          <a:p>
            <a:r>
              <a:rPr lang="ko-KR" altLang="en-US" sz="1400" dirty="0"/>
              <a:t>      </a:t>
            </a:r>
            <a:r>
              <a:rPr lang="ko-KR" altLang="en-US" sz="1400" dirty="0" err="1"/>
              <a:t>TreeMap</a:t>
            </a:r>
            <a:r>
              <a:rPr lang="ko-KR" altLang="en-US" sz="1400" dirty="0"/>
              <a:t>&lt;</a:t>
            </a:r>
            <a:r>
              <a:rPr lang="ko-KR" altLang="en-US" sz="1400" dirty="0" err="1"/>
              <a:t>Integer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&gt; </a:t>
            </a:r>
            <a:r>
              <a:rPr lang="ko-KR" altLang="en-US" sz="1400" dirty="0" err="1"/>
              <a:t>tmap</a:t>
            </a:r>
            <a:r>
              <a:rPr lang="ko-KR" altLang="en-US" sz="1400" dirty="0"/>
              <a:t> = </a:t>
            </a:r>
          </a:p>
          <a:p>
            <a:r>
              <a:rPr lang="ko-KR" altLang="en-US" sz="1400" dirty="0"/>
              <a:t>            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TreeMap</a:t>
            </a:r>
            <a:r>
              <a:rPr lang="ko-KR" altLang="en-US" sz="1400" dirty="0"/>
              <a:t>&lt;</a:t>
            </a:r>
            <a:r>
              <a:rPr lang="ko-KR" altLang="en-US" sz="1400" dirty="0" err="1"/>
              <a:t>Integer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&gt;();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/*</a:t>
            </a:r>
            <a:r>
              <a:rPr lang="ko-KR" altLang="en-US" sz="1400" dirty="0" err="1"/>
              <a:t>Adding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elements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to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TreeMap</a:t>
            </a:r>
            <a:r>
              <a:rPr lang="ko-KR" altLang="en-US" sz="1400" dirty="0"/>
              <a:t>*/</a:t>
            </a:r>
          </a:p>
          <a:p>
            <a:r>
              <a:rPr lang="ko-KR" altLang="en-US" sz="1400" dirty="0"/>
              <a:t>      </a:t>
            </a:r>
            <a:r>
              <a:rPr lang="ko-KR" altLang="en-US" sz="1400" dirty="0" err="1"/>
              <a:t>tmap.put</a:t>
            </a:r>
            <a:r>
              <a:rPr lang="ko-KR" altLang="en-US" sz="1400" dirty="0"/>
              <a:t>(1, "Data1");</a:t>
            </a:r>
          </a:p>
          <a:p>
            <a:r>
              <a:rPr lang="ko-KR" altLang="en-US" sz="1400" dirty="0"/>
              <a:t>      </a:t>
            </a:r>
            <a:r>
              <a:rPr lang="ko-KR" altLang="en-US" sz="1400" dirty="0" err="1"/>
              <a:t>tmap.put</a:t>
            </a:r>
            <a:r>
              <a:rPr lang="ko-KR" altLang="en-US" sz="1400" dirty="0"/>
              <a:t>(23, "Data2");</a:t>
            </a:r>
          </a:p>
          <a:p>
            <a:r>
              <a:rPr lang="ko-KR" altLang="en-US" sz="1400" dirty="0"/>
              <a:t>      </a:t>
            </a:r>
            <a:r>
              <a:rPr lang="ko-KR" altLang="en-US" sz="1400" dirty="0" err="1"/>
              <a:t>tmap.put</a:t>
            </a:r>
            <a:r>
              <a:rPr lang="ko-KR" altLang="en-US" sz="1400" dirty="0"/>
              <a:t>(70, "Data3");</a:t>
            </a:r>
          </a:p>
          <a:p>
            <a:r>
              <a:rPr lang="ko-KR" altLang="en-US" sz="1400" dirty="0"/>
              <a:t>      </a:t>
            </a:r>
            <a:r>
              <a:rPr lang="ko-KR" altLang="en-US" sz="1400" dirty="0" err="1"/>
              <a:t>tmap.put</a:t>
            </a:r>
            <a:r>
              <a:rPr lang="ko-KR" altLang="en-US" sz="1400" dirty="0"/>
              <a:t>(4, "Data4");</a:t>
            </a:r>
          </a:p>
          <a:p>
            <a:r>
              <a:rPr lang="ko-KR" altLang="en-US" sz="1400" dirty="0"/>
              <a:t>      </a:t>
            </a:r>
            <a:r>
              <a:rPr lang="ko-KR" altLang="en-US" sz="1400" dirty="0" err="1"/>
              <a:t>tmap.put</a:t>
            </a:r>
            <a:r>
              <a:rPr lang="ko-KR" altLang="en-US" sz="1400" dirty="0"/>
              <a:t>(2, "Data5");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/* </a:t>
            </a:r>
            <a:r>
              <a:rPr lang="ko-KR" altLang="en-US" sz="1400" dirty="0" err="1"/>
              <a:t>Display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content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using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Iterator</a:t>
            </a:r>
            <a:r>
              <a:rPr lang="ko-KR" altLang="en-US" sz="1400" dirty="0"/>
              <a:t>*/</a:t>
            </a:r>
          </a:p>
          <a:p>
            <a:r>
              <a:rPr lang="ko-KR" altLang="en-US" sz="1400" dirty="0"/>
              <a:t>      </a:t>
            </a:r>
            <a:r>
              <a:rPr lang="ko-KR" altLang="en-US" sz="1400" dirty="0" err="1"/>
              <a:t>Set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set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tmap.entrySet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  </a:t>
            </a:r>
            <a:r>
              <a:rPr lang="ko-KR" altLang="en-US" sz="1400" dirty="0" err="1"/>
              <a:t>Iterator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iterator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set.iterator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  </a:t>
            </a:r>
            <a:r>
              <a:rPr lang="ko-KR" altLang="en-US" sz="1400" dirty="0" err="1"/>
              <a:t>while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iterator.hasNext</a:t>
            </a:r>
            <a:r>
              <a:rPr lang="ko-KR" altLang="en-US" sz="1400" dirty="0"/>
              <a:t>()) {</a:t>
            </a:r>
          </a:p>
          <a:p>
            <a:r>
              <a:rPr lang="ko-KR" altLang="en-US" sz="1400" dirty="0"/>
              <a:t>         </a:t>
            </a:r>
            <a:r>
              <a:rPr lang="ko-KR" altLang="en-US" sz="1400" dirty="0" err="1"/>
              <a:t>Map.Entry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mentry</a:t>
            </a:r>
            <a:r>
              <a:rPr lang="ko-KR" altLang="en-US" sz="1400" dirty="0"/>
              <a:t> = (</a:t>
            </a:r>
            <a:r>
              <a:rPr lang="ko-KR" altLang="en-US" sz="1400" dirty="0" err="1"/>
              <a:t>Map.Entry</a:t>
            </a:r>
            <a:r>
              <a:rPr lang="ko-KR" altLang="en-US" sz="1400" dirty="0"/>
              <a:t>)</a:t>
            </a:r>
            <a:r>
              <a:rPr lang="ko-KR" altLang="en-US" sz="1400" dirty="0" err="1"/>
              <a:t>iterator.next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     </a:t>
            </a:r>
            <a:r>
              <a:rPr lang="ko-KR" altLang="en-US" sz="1400" dirty="0" err="1"/>
              <a:t>System.out.print</a:t>
            </a:r>
            <a:r>
              <a:rPr lang="ko-KR" altLang="en-US" sz="1400" dirty="0"/>
              <a:t>("</a:t>
            </a:r>
            <a:r>
              <a:rPr lang="ko-KR" altLang="en-US" sz="1400" dirty="0" err="1"/>
              <a:t>key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is</a:t>
            </a:r>
            <a:r>
              <a:rPr lang="ko-KR" altLang="en-US" sz="1400" dirty="0"/>
              <a:t>: "+ </a:t>
            </a:r>
            <a:r>
              <a:rPr lang="ko-KR" altLang="en-US" sz="1400" dirty="0" err="1"/>
              <a:t>mentry.getKey</a:t>
            </a:r>
            <a:r>
              <a:rPr lang="ko-KR" altLang="en-US" sz="1400" dirty="0"/>
              <a:t>() + " &amp; </a:t>
            </a:r>
            <a:r>
              <a:rPr lang="ko-KR" altLang="en-US" sz="1400" dirty="0" err="1"/>
              <a:t>Value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is</a:t>
            </a:r>
            <a:r>
              <a:rPr lang="ko-KR" altLang="en-US" sz="1400" dirty="0"/>
              <a:t>: ");</a:t>
            </a:r>
          </a:p>
          <a:p>
            <a:r>
              <a:rPr lang="ko-KR" altLang="en-US" sz="1400" dirty="0"/>
              <a:t>         </a:t>
            </a:r>
            <a:r>
              <a:rPr lang="ko-KR" altLang="en-US" sz="1400" dirty="0" err="1"/>
              <a:t>System.out.println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mentry.getValue</a:t>
            </a:r>
            <a:r>
              <a:rPr lang="ko-KR" altLang="en-US" sz="1400" dirty="0"/>
              <a:t>());</a:t>
            </a:r>
          </a:p>
          <a:p>
            <a:r>
              <a:rPr lang="ko-KR" altLang="en-US" sz="1400" dirty="0"/>
              <a:t>      }</a:t>
            </a:r>
          </a:p>
          <a:p>
            <a:r>
              <a:rPr lang="ko-KR" altLang="en-US" sz="1400" dirty="0" smtClean="0"/>
              <a:t>   </a:t>
            </a:r>
            <a:r>
              <a:rPr lang="ko-KR" altLang="en-US" sz="1400" dirty="0"/>
              <a:t>}</a:t>
            </a:r>
          </a:p>
          <a:p>
            <a:r>
              <a:rPr lang="ko-KR" altLang="en-US" sz="1400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9221" y="2852936"/>
            <a:ext cx="291137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2"/>
                </a:solidFill>
              </a:rPr>
              <a:t>output</a:t>
            </a:r>
          </a:p>
          <a:p>
            <a:endParaRPr lang="en-US" altLang="ko-KR" dirty="0" smtClean="0">
              <a:solidFill>
                <a:schemeClr val="accent2"/>
              </a:solidFill>
            </a:endParaRPr>
          </a:p>
          <a:p>
            <a:r>
              <a:rPr lang="en-US" altLang="ko-KR" dirty="0" smtClean="0">
                <a:solidFill>
                  <a:schemeClr val="accent2"/>
                </a:solidFill>
              </a:rPr>
              <a:t>key </a:t>
            </a:r>
            <a:r>
              <a:rPr lang="en-US" altLang="ko-KR" dirty="0">
                <a:solidFill>
                  <a:schemeClr val="accent2"/>
                </a:solidFill>
              </a:rPr>
              <a:t>is: 1 &amp; Value is: Data1</a:t>
            </a:r>
          </a:p>
          <a:p>
            <a:r>
              <a:rPr lang="en-US" altLang="ko-KR" dirty="0">
                <a:solidFill>
                  <a:schemeClr val="accent2"/>
                </a:solidFill>
              </a:rPr>
              <a:t>key is: 2 &amp; Value is: Data5</a:t>
            </a:r>
          </a:p>
          <a:p>
            <a:r>
              <a:rPr lang="en-US" altLang="ko-KR" dirty="0">
                <a:solidFill>
                  <a:schemeClr val="accent2"/>
                </a:solidFill>
              </a:rPr>
              <a:t>key is: 4 &amp; Value is: Data4</a:t>
            </a:r>
          </a:p>
          <a:p>
            <a:r>
              <a:rPr lang="en-US" altLang="ko-KR" dirty="0">
                <a:solidFill>
                  <a:schemeClr val="accent2"/>
                </a:solidFill>
              </a:rPr>
              <a:t>key is: 23 &amp; Value is: Data2</a:t>
            </a:r>
          </a:p>
          <a:p>
            <a:r>
              <a:rPr lang="en-US" altLang="ko-KR" dirty="0">
                <a:solidFill>
                  <a:schemeClr val="accent2"/>
                </a:solidFill>
              </a:rPr>
              <a:t>key is: 70 &amp; Value is: Data3</a:t>
            </a:r>
            <a:endParaRPr lang="ko-KR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1729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730" y="10526"/>
            <a:ext cx="5092693" cy="6730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20272" y="6367747"/>
            <a:ext cx="1905000" cy="457200"/>
          </a:xfrm>
        </p:spPr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19</a:t>
            </a:fld>
            <a:endParaRPr lang="en-US" altLang="ko-KR" dirty="0"/>
          </a:p>
        </p:txBody>
      </p:sp>
      <p:sp>
        <p:nvSpPr>
          <p:cNvPr id="7" name="TextBox 6"/>
          <p:cNvSpPr txBox="1"/>
          <p:nvPr/>
        </p:nvSpPr>
        <p:spPr>
          <a:xfrm>
            <a:off x="335117" y="548680"/>
            <a:ext cx="2989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 Stack Example (</a:t>
            </a:r>
            <a:r>
              <a:rPr lang="ko-KR" altLang="en-US" dirty="0" smtClean="0"/>
              <a:t>캔 쌓기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9563" y="1196752"/>
            <a:ext cx="393916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0" dirty="0"/>
              <a:t>순서대로 캔을 쌓고</a:t>
            </a:r>
            <a:r>
              <a:rPr lang="en-US" altLang="ko-KR" sz="1400" b="0" dirty="0"/>
              <a:t>, * </a:t>
            </a:r>
            <a:r>
              <a:rPr lang="ko-KR" altLang="en-US" sz="1400" b="0" dirty="0"/>
              <a:t>기호가 들어오면 맨 위쪽에 있는 캔을 버려야 한다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예를 들어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en-US" altLang="ko-KR" sz="1400" b="0" dirty="0"/>
              <a:t>Coke Sprite Fanta * 7-up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ko-KR" altLang="en-US" sz="1400" b="0" dirty="0"/>
              <a:t>의 경우</a:t>
            </a:r>
            <a:r>
              <a:rPr lang="en-US" altLang="ko-KR" sz="1400" b="0" dirty="0"/>
              <a:t>, Coke</a:t>
            </a:r>
            <a:r>
              <a:rPr lang="ko-KR" altLang="en-US" sz="1400" b="0" dirty="0"/>
              <a:t>를 맨 밑에 놓고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그 위에 </a:t>
            </a:r>
            <a:r>
              <a:rPr lang="en-US" altLang="ko-KR" sz="1400" b="0" dirty="0"/>
              <a:t>Sprite, </a:t>
            </a:r>
            <a:r>
              <a:rPr lang="ko-KR" altLang="en-US" sz="1400" b="0" dirty="0"/>
              <a:t>그 위에 </a:t>
            </a:r>
            <a:r>
              <a:rPr lang="en-US" altLang="ko-KR" sz="1400" b="0" dirty="0"/>
              <a:t>Fanta</a:t>
            </a:r>
            <a:r>
              <a:rPr lang="ko-KR" altLang="en-US" sz="1400" b="0" dirty="0"/>
              <a:t>를 올린다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다음은 * 기호니까 맨 위에 있던 </a:t>
            </a:r>
            <a:r>
              <a:rPr lang="en-US" altLang="ko-KR" sz="1400" b="0" dirty="0"/>
              <a:t>Fanta</a:t>
            </a:r>
            <a:r>
              <a:rPr lang="ko-KR" altLang="en-US" sz="1400" b="0" dirty="0"/>
              <a:t>를 버리고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다시 </a:t>
            </a:r>
            <a:r>
              <a:rPr lang="en-US" altLang="ko-KR" sz="1400" b="0" dirty="0"/>
              <a:t>7-up</a:t>
            </a:r>
            <a:r>
              <a:rPr lang="ko-KR" altLang="en-US" sz="1400" b="0" dirty="0"/>
              <a:t>을 올린다</a:t>
            </a:r>
            <a:r>
              <a:rPr lang="en-US" altLang="ko-KR" sz="1400" b="0" dirty="0"/>
              <a:t>.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ko-KR" altLang="en-US" sz="1400" b="0" dirty="0"/>
              <a:t>캔 쌓기가 끝나면 제일 위에 있는 캔부터 무엇인지 출력한다</a:t>
            </a:r>
            <a:r>
              <a:rPr lang="en-US" altLang="ko-KR" sz="1400" b="0" dirty="0"/>
              <a:t>.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ko-KR" altLang="en-US" sz="1400" b="0" dirty="0"/>
              <a:t>입력 각 줄에는 최대 </a:t>
            </a:r>
            <a:r>
              <a:rPr lang="en-US" altLang="ko-KR" sz="1400" b="0" dirty="0"/>
              <a:t>1000</a:t>
            </a:r>
            <a:r>
              <a:rPr lang="ko-KR" altLang="en-US" sz="1400" b="0" dirty="0"/>
              <a:t>개의 캔이 있으며 한 캔의 이름은 최대 </a:t>
            </a:r>
            <a:r>
              <a:rPr lang="en-US" altLang="ko-KR" sz="1400" b="0" dirty="0"/>
              <a:t>10</a:t>
            </a:r>
            <a:r>
              <a:rPr lang="ko-KR" altLang="en-US" sz="1400" b="0" dirty="0"/>
              <a:t>글자이다</a:t>
            </a:r>
            <a:r>
              <a:rPr lang="en-US" altLang="ko-KR" sz="1400" b="0" dirty="0"/>
              <a:t>.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ko-KR" altLang="en-US" sz="1400" dirty="0"/>
              <a:t>입력</a:t>
            </a:r>
            <a:br>
              <a:rPr lang="ko-KR" altLang="en-US" sz="1400" dirty="0"/>
            </a:br>
            <a:r>
              <a:rPr lang="en-US" altLang="ko-KR" sz="1400" b="0" dirty="0"/>
              <a:t>Coke Sprite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en-US" altLang="ko-KR" sz="1400" b="0" dirty="0"/>
              <a:t>Coke Sprite Fanta * 7-up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en-US" altLang="ko-KR" sz="1400" b="0" dirty="0"/>
              <a:t>Sprite Coke Sprite </a:t>
            </a:r>
            <a:r>
              <a:rPr lang="en-US" altLang="ko-KR" sz="1400" b="0" dirty="0" err="1"/>
              <a:t>Sprite</a:t>
            </a:r>
            <a:r>
              <a:rPr lang="en-US" altLang="ko-KR" sz="1400" b="0" dirty="0"/>
              <a:t> * Fanta * * Fanta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ko-KR" altLang="en-US" sz="1400" dirty="0"/>
              <a:t>출력</a:t>
            </a:r>
            <a:br>
              <a:rPr lang="ko-KR" altLang="en-US" sz="1400" dirty="0"/>
            </a:br>
            <a:r>
              <a:rPr lang="en-US" altLang="ko-KR" sz="1400" b="0" dirty="0"/>
              <a:t>Sprite Coke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en-US" altLang="ko-KR" sz="1400" b="0" dirty="0"/>
              <a:t>7-up Sprite Coke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en-US" altLang="ko-KR" sz="1400" b="0" dirty="0"/>
              <a:t>Fanta Coke Sprite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247495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5" name="직사각형 4"/>
          <p:cNvSpPr/>
          <p:nvPr/>
        </p:nvSpPr>
        <p:spPr>
          <a:xfrm>
            <a:off x="827584" y="404664"/>
            <a:ext cx="806489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자바에서 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split() 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함수를 사용해서 문자열을 개별 문자로 분할하려면</a:t>
            </a:r>
          </a:p>
          <a:p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 </a:t>
            </a:r>
            <a:r>
              <a:rPr lang="en-US" altLang="ko-KR" sz="2000" b="0" dirty="0" err="1">
                <a:solidFill>
                  <a:srgbClr val="595959"/>
                </a:solidFill>
                <a:latin typeface="Open Sans"/>
              </a:rPr>
              <a:t>input.nextLine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().split(""); 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처럼 사용하면 안되고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,</a:t>
            </a:r>
          </a:p>
          <a:p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 </a:t>
            </a:r>
            <a:r>
              <a:rPr lang="en-US" altLang="ko-KR" sz="2000" b="0" dirty="0" err="1">
                <a:solidFill>
                  <a:srgbClr val="595959"/>
                </a:solidFill>
                <a:latin typeface="Open Sans"/>
              </a:rPr>
              <a:t>input.nextLine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().split("(?&lt;!^)");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과 같이 사용해야 분리된 결과 중 맨 앞에 널 문자열이 나오는 것을 방지할 수 있습니다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.</a:t>
            </a:r>
          </a:p>
          <a:p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 </a:t>
            </a:r>
          </a:p>
          <a:p>
            <a:pPr marL="152400" indent="-152400"/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예를 들어 아래 소스의 결과는 “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A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”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, 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“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M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”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, 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“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I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”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, T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” 가 아니라 “”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, 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“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A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”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, 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“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M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”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, 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“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I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”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, T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”와 같이 처음에 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NULL 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문자열이 들어가게 됩니다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. </a:t>
            </a:r>
            <a:endParaRPr lang="ko-KR" altLang="en-US" sz="2000" b="0" dirty="0">
              <a:solidFill>
                <a:srgbClr val="595959"/>
              </a:solidFill>
              <a:latin typeface="Open Sans"/>
            </a:endParaRPr>
          </a:p>
          <a:p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 </a:t>
            </a:r>
          </a:p>
          <a:p>
            <a:pPr latinLnBrk="0"/>
            <a:r>
              <a:rPr lang="en-US" altLang="ko-KR" sz="2000" b="0" dirty="0">
                <a:solidFill>
                  <a:srgbClr val="595959"/>
                </a:solidFill>
                <a:latin typeface="굴림체" panose="020B0609000101010101" pitchFamily="49" charset="-127"/>
              </a:rPr>
              <a:t>String </a:t>
            </a:r>
            <a:r>
              <a:rPr lang="en-US" altLang="ko-KR" sz="2000" b="0" dirty="0" err="1">
                <a:solidFill>
                  <a:srgbClr val="595959"/>
                </a:solidFill>
                <a:latin typeface="굴림체" panose="020B0609000101010101" pitchFamily="49" charset="-127"/>
              </a:rPr>
              <a:t>str</a:t>
            </a:r>
            <a:r>
              <a:rPr lang="en-US" altLang="ko-KR" sz="2000" b="0" dirty="0">
                <a:solidFill>
                  <a:srgbClr val="595959"/>
                </a:solidFill>
                <a:latin typeface="굴림체" panose="020B0609000101010101" pitchFamily="49" charset="-127"/>
              </a:rPr>
              <a:t> = "AMIT";</a:t>
            </a:r>
            <a:endParaRPr lang="ko-KR" altLang="en-US" sz="2000" b="0" dirty="0">
              <a:solidFill>
                <a:srgbClr val="595959"/>
              </a:solidFill>
              <a:latin typeface="Open Sans"/>
            </a:endParaRPr>
          </a:p>
          <a:p>
            <a:pPr latinLnBrk="0"/>
            <a:r>
              <a:rPr lang="en-US" altLang="ko-KR" sz="2000" b="0" dirty="0">
                <a:solidFill>
                  <a:srgbClr val="595959"/>
                </a:solidFill>
                <a:latin typeface="굴림체" panose="020B0609000101010101" pitchFamily="49" charset="-127"/>
              </a:rPr>
              <a:t>String[] </a:t>
            </a:r>
            <a:r>
              <a:rPr lang="en-US" altLang="ko-KR" sz="2000" b="0" dirty="0" err="1">
                <a:solidFill>
                  <a:srgbClr val="595959"/>
                </a:solidFill>
                <a:latin typeface="굴림체" panose="020B0609000101010101" pitchFamily="49" charset="-127"/>
              </a:rPr>
              <a:t>arr</a:t>
            </a:r>
            <a:r>
              <a:rPr lang="en-US" altLang="ko-KR" sz="2000" b="0" dirty="0">
                <a:solidFill>
                  <a:srgbClr val="595959"/>
                </a:solidFill>
                <a:latin typeface="굴림체" panose="020B0609000101010101" pitchFamily="49" charset="-127"/>
              </a:rPr>
              <a:t> = </a:t>
            </a:r>
            <a:r>
              <a:rPr lang="en-US" altLang="ko-KR" sz="2000" b="0" dirty="0" err="1">
                <a:solidFill>
                  <a:srgbClr val="595959"/>
                </a:solidFill>
                <a:latin typeface="굴림체" panose="020B0609000101010101" pitchFamily="49" charset="-127"/>
              </a:rPr>
              <a:t>str.split</a:t>
            </a:r>
            <a:r>
              <a:rPr lang="en-US" altLang="ko-KR" sz="2000" b="0" dirty="0">
                <a:solidFill>
                  <a:srgbClr val="595959"/>
                </a:solidFill>
                <a:latin typeface="굴림체" panose="020B0609000101010101" pitchFamily="49" charset="-127"/>
              </a:rPr>
              <a:t>("");</a:t>
            </a:r>
            <a:endParaRPr lang="ko-KR" altLang="en-US" sz="2000" b="0" dirty="0">
              <a:solidFill>
                <a:srgbClr val="595959"/>
              </a:solidFill>
              <a:latin typeface="Open Sans"/>
            </a:endParaRPr>
          </a:p>
          <a:p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 </a:t>
            </a:r>
          </a:p>
          <a:p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이 문제를 해결하는 방법은 </a:t>
            </a:r>
            <a:r>
              <a:rPr lang="en-US" altLang="ko-KR" sz="2000" b="0" dirty="0">
                <a:solidFill>
                  <a:srgbClr val="595959"/>
                </a:solidFill>
                <a:latin typeface="굴림체" panose="020B0609000101010101" pitchFamily="49" charset="-127"/>
              </a:rPr>
              <a:t>String[] </a:t>
            </a:r>
            <a:r>
              <a:rPr lang="en-US" altLang="ko-KR" sz="2000" b="0" dirty="0" err="1">
                <a:solidFill>
                  <a:srgbClr val="595959"/>
                </a:solidFill>
                <a:latin typeface="굴림체" panose="020B0609000101010101" pitchFamily="49" charset="-127"/>
              </a:rPr>
              <a:t>arr</a:t>
            </a:r>
            <a:r>
              <a:rPr lang="en-US" altLang="ko-KR" sz="2000" b="0" dirty="0">
                <a:solidFill>
                  <a:srgbClr val="595959"/>
                </a:solidFill>
                <a:latin typeface="굴림체" panose="020B0609000101010101" pitchFamily="49" charset="-127"/>
              </a:rPr>
              <a:t> = </a:t>
            </a:r>
            <a:r>
              <a:rPr lang="en-US" altLang="ko-KR" sz="2000" b="0" dirty="0" err="1">
                <a:solidFill>
                  <a:srgbClr val="595959"/>
                </a:solidFill>
                <a:latin typeface="굴림체" panose="020B0609000101010101" pitchFamily="49" charset="-127"/>
              </a:rPr>
              <a:t>str.split</a:t>
            </a:r>
            <a:r>
              <a:rPr lang="en-US" altLang="ko-KR" sz="2000" b="0" dirty="0">
                <a:solidFill>
                  <a:srgbClr val="595959"/>
                </a:solidFill>
                <a:latin typeface="굴림체" panose="020B0609000101010101" pitchFamily="49" charset="-127"/>
              </a:rPr>
              <a:t>("(?&lt;!^)");</a:t>
            </a:r>
            <a:endParaRPr lang="ko-KR" altLang="en-US" sz="2000" b="0" dirty="0">
              <a:solidFill>
                <a:srgbClr val="595959"/>
              </a:solidFill>
              <a:latin typeface="Open Sans"/>
            </a:endParaRPr>
          </a:p>
          <a:p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을 사용하는 것인데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, 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처음 위치는 무시하고 나머지 위치부터 분리하라는 뜻입니다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.</a:t>
            </a:r>
            <a:endParaRPr lang="ko-KR" altLang="en-US" sz="2000" b="0" dirty="0">
              <a:solidFill>
                <a:srgbClr val="595959"/>
              </a:solidFill>
              <a:latin typeface="Open Sans"/>
            </a:endParaRPr>
          </a:p>
          <a:p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 </a:t>
            </a:r>
          </a:p>
          <a:p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아래 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URL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>도 참고하기 바랍니다</a:t>
            </a:r>
            <a:r>
              <a:rPr lang="en-US" altLang="ko-KR" sz="2000" b="0" dirty="0">
                <a:solidFill>
                  <a:srgbClr val="595959"/>
                </a:solidFill>
                <a:latin typeface="Open Sans"/>
              </a:rPr>
              <a:t>.</a:t>
            </a:r>
            <a:r>
              <a:rPr lang="ko-KR" altLang="en-US" sz="2000" b="0" dirty="0">
                <a:solidFill>
                  <a:srgbClr val="595959"/>
                </a:solidFill>
                <a:latin typeface="Open Sans"/>
              </a:rPr>
              <a:t/>
            </a:r>
            <a:br>
              <a:rPr lang="ko-KR" altLang="en-US" sz="2000" b="0" dirty="0">
                <a:solidFill>
                  <a:srgbClr val="595959"/>
                </a:solidFill>
                <a:latin typeface="Open Sans"/>
              </a:rPr>
            </a:br>
            <a:endParaRPr lang="ko-KR" altLang="en-US" sz="2000" b="0" dirty="0">
              <a:solidFill>
                <a:srgbClr val="595959"/>
              </a:solidFill>
              <a:latin typeface="Open Sans"/>
            </a:endParaRPr>
          </a:p>
          <a:p>
            <a:r>
              <a:rPr lang="en-US" altLang="ko-KR" sz="2000" b="0" dirty="0" smtClean="0">
                <a:solidFill>
                  <a:srgbClr val="2D2D2D"/>
                </a:solidFill>
                <a:latin typeface="Open Sans"/>
                <a:hlinkClick r:id="rId2"/>
              </a:rPr>
              <a:t>http</a:t>
            </a:r>
            <a:r>
              <a:rPr lang="en-US" altLang="ko-KR" sz="2000" b="0" dirty="0">
                <a:solidFill>
                  <a:srgbClr val="2D2D2D"/>
                </a:solidFill>
                <a:latin typeface="Open Sans"/>
                <a:hlinkClick r:id="rId2"/>
              </a:rPr>
              <a:t>://www.coderanch.com/t/497299/java/java/Splitting-String-characters</a:t>
            </a:r>
            <a:endParaRPr lang="ko-KR" altLang="en-US" sz="2000" b="0" i="0" dirty="0">
              <a:solidFill>
                <a:srgbClr val="595959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6685824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2699792" y="188640"/>
            <a:ext cx="604867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#</a:t>
            </a:r>
            <a:r>
              <a:rPr lang="en-US" altLang="ko-KR" sz="1400" dirty="0"/>
              <a:t>include &lt;</a:t>
            </a:r>
            <a:r>
              <a:rPr lang="en-US" altLang="ko-KR" sz="1400" dirty="0" err="1"/>
              <a:t>stdio.h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#include &lt;</a:t>
            </a:r>
            <a:r>
              <a:rPr lang="en-US" altLang="ko-KR" sz="1400" dirty="0" err="1"/>
              <a:t>string.h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 smtClean="0"/>
              <a:t>#</a:t>
            </a:r>
            <a:r>
              <a:rPr lang="en-US" altLang="ko-KR" sz="1400" dirty="0"/>
              <a:t>define BUFSIZE 12000</a:t>
            </a:r>
          </a:p>
          <a:p>
            <a:r>
              <a:rPr lang="en-US" altLang="ko-KR" sz="1400" dirty="0"/>
              <a:t>#define MAXNAME 10</a:t>
            </a:r>
          </a:p>
          <a:p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main(void)</a:t>
            </a:r>
          </a:p>
          <a:p>
            <a:r>
              <a:rPr lang="en-US" altLang="ko-KR" sz="1400" dirty="0"/>
              <a:t>{</a:t>
            </a:r>
          </a:p>
          <a:p>
            <a:r>
              <a:rPr lang="en-US" altLang="ko-KR" sz="1400" dirty="0"/>
              <a:t>    char cans[1000][MAXNAME];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index;</a:t>
            </a:r>
          </a:p>
          <a:p>
            <a:r>
              <a:rPr lang="en-US" altLang="ko-KR" sz="1400" dirty="0"/>
              <a:t>    char </a:t>
            </a:r>
            <a:r>
              <a:rPr lang="en-US" altLang="ko-KR" sz="1400" dirty="0" err="1"/>
              <a:t>buf</a:t>
            </a:r>
            <a:r>
              <a:rPr lang="en-US" altLang="ko-KR" sz="1400" dirty="0"/>
              <a:t>[BUFSIZE];</a:t>
            </a:r>
          </a:p>
          <a:p>
            <a:r>
              <a:rPr lang="en-US" altLang="ko-KR" sz="1400" dirty="0"/>
              <a:t>    char *temp;</a:t>
            </a:r>
          </a:p>
          <a:p>
            <a:r>
              <a:rPr lang="en-US" altLang="ko-KR" sz="1400" dirty="0" smtClean="0"/>
              <a:t>    </a:t>
            </a:r>
            <a:r>
              <a:rPr lang="en-US" altLang="ko-KR" sz="1400" dirty="0"/>
              <a:t>while (</a:t>
            </a:r>
            <a:r>
              <a:rPr lang="en-US" altLang="ko-KR" sz="1400" dirty="0" err="1"/>
              <a:t>fgets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buf</a:t>
            </a:r>
            <a:r>
              <a:rPr lang="en-US" altLang="ko-KR" sz="1400" dirty="0"/>
              <a:t>, BUFSIZE, </a:t>
            </a:r>
            <a:r>
              <a:rPr lang="en-US" altLang="ko-KR" sz="1400" dirty="0" err="1"/>
              <a:t>stdin</a:t>
            </a:r>
            <a:r>
              <a:rPr lang="en-US" altLang="ko-KR" sz="1400" dirty="0"/>
              <a:t>) != NULL) {</a:t>
            </a:r>
          </a:p>
          <a:p>
            <a:r>
              <a:rPr lang="en-US" altLang="ko-KR" sz="1400" dirty="0"/>
              <a:t>        index = 0;</a:t>
            </a:r>
          </a:p>
          <a:p>
            <a:r>
              <a:rPr lang="en-US" altLang="ko-KR" sz="1400" dirty="0"/>
              <a:t>        temp = </a:t>
            </a:r>
            <a:r>
              <a:rPr lang="en-US" altLang="ko-KR" sz="1400" dirty="0" err="1"/>
              <a:t>strtok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buf</a:t>
            </a:r>
            <a:r>
              <a:rPr lang="en-US" altLang="ko-KR" sz="1400" dirty="0"/>
              <a:t>, " \n");</a:t>
            </a:r>
          </a:p>
          <a:p>
            <a:r>
              <a:rPr lang="en-US" altLang="ko-KR" sz="1400" dirty="0"/>
              <a:t>        while (temp != NULL) {</a:t>
            </a:r>
          </a:p>
          <a:p>
            <a:r>
              <a:rPr lang="en-US" altLang="ko-KR" sz="1400" dirty="0"/>
              <a:t>            if (temp[0] == '*') {</a:t>
            </a:r>
          </a:p>
          <a:p>
            <a:r>
              <a:rPr lang="en-US" altLang="ko-KR" sz="1400" dirty="0"/>
              <a:t>                if (index &gt; 0) index--;</a:t>
            </a:r>
          </a:p>
          <a:p>
            <a:r>
              <a:rPr lang="en-US" altLang="ko-KR" sz="1400" dirty="0"/>
              <a:t>            }</a:t>
            </a:r>
          </a:p>
          <a:p>
            <a:r>
              <a:rPr lang="en-US" altLang="ko-KR" sz="1400" dirty="0"/>
              <a:t>            else {</a:t>
            </a:r>
          </a:p>
          <a:p>
            <a:r>
              <a:rPr lang="en-US" altLang="ko-KR" sz="1400" dirty="0"/>
              <a:t>                </a:t>
            </a:r>
            <a:r>
              <a:rPr lang="en-US" altLang="ko-KR" sz="1400" dirty="0" err="1"/>
              <a:t>strncpy</a:t>
            </a:r>
            <a:r>
              <a:rPr lang="en-US" altLang="ko-KR" sz="1400" dirty="0"/>
              <a:t>(cans[index], temp, MAXNAME);</a:t>
            </a:r>
          </a:p>
          <a:p>
            <a:r>
              <a:rPr lang="en-US" altLang="ko-KR" sz="1400" dirty="0"/>
              <a:t>                index++;</a:t>
            </a:r>
          </a:p>
          <a:p>
            <a:r>
              <a:rPr lang="en-US" altLang="ko-KR" sz="1400" dirty="0"/>
              <a:t>            }</a:t>
            </a:r>
          </a:p>
          <a:p>
            <a:r>
              <a:rPr lang="en-US" altLang="ko-KR" sz="1400" dirty="0"/>
              <a:t>            temp = </a:t>
            </a:r>
            <a:r>
              <a:rPr lang="en-US" altLang="ko-KR" sz="1400" dirty="0" err="1"/>
              <a:t>strtok</a:t>
            </a:r>
            <a:r>
              <a:rPr lang="en-US" altLang="ko-KR" sz="1400" dirty="0"/>
              <a:t>(NULL, " \n");</a:t>
            </a:r>
          </a:p>
          <a:p>
            <a:r>
              <a:rPr lang="en-US" altLang="ko-KR" sz="1400" dirty="0"/>
              <a:t>        }</a:t>
            </a:r>
          </a:p>
          <a:p>
            <a:r>
              <a:rPr lang="en-US" altLang="ko-KR" sz="1400" dirty="0"/>
              <a:t>        for (; index--; index &gt;= 0) {</a:t>
            </a:r>
          </a:p>
          <a:p>
            <a:r>
              <a:rPr lang="en-US" altLang="ko-KR" sz="1400" dirty="0"/>
              <a:t>            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("%s ", cans[index]);</a:t>
            </a:r>
          </a:p>
          <a:p>
            <a:r>
              <a:rPr lang="en-US" altLang="ko-KR" sz="1400" dirty="0"/>
              <a:t>        }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("\n");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 smtClean="0"/>
              <a:t>    </a:t>
            </a:r>
            <a:r>
              <a:rPr lang="en-US" altLang="ko-KR" sz="1400" dirty="0"/>
              <a:t>return 0;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335117" y="548680"/>
            <a:ext cx="21130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 Example (</a:t>
            </a:r>
            <a:r>
              <a:rPr lang="ko-KR" altLang="en-US" dirty="0" smtClean="0"/>
              <a:t>캔 쌓기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1054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 </a:t>
            </a:r>
            <a:r>
              <a:rPr lang="en-US" altLang="ko-KR" dirty="0" smtClean="0"/>
              <a:t>11 </a:t>
            </a:r>
            <a:r>
              <a:rPr lang="ko-KR" altLang="en-US" dirty="0" smtClean="0"/>
              <a:t>동맹 휴업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Hartal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dirty="0" smtClean="0"/>
              <a:t>각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당의 동맹 휴업 지수</a:t>
            </a:r>
            <a:r>
              <a:rPr lang="en-US" altLang="ko-KR" sz="2800" dirty="0" smtClean="0"/>
              <a:t>(</a:t>
            </a:r>
            <a:r>
              <a:rPr lang="en-US" altLang="ko-KR" sz="2800" dirty="0" err="1" smtClean="0"/>
              <a:t>hartal</a:t>
            </a:r>
            <a:r>
              <a:rPr lang="en-US" altLang="ko-KR" sz="2800" dirty="0" smtClean="0"/>
              <a:t> parameter)</a:t>
            </a:r>
            <a:r>
              <a:rPr lang="ko-KR" altLang="en-US" sz="2800" dirty="0" smtClean="0"/>
              <a:t>라고 부르는 </a:t>
            </a:r>
            <a:r>
              <a:rPr lang="en-US" altLang="ko-KR" sz="2800" dirty="0" smtClean="0"/>
              <a:t>h</a:t>
            </a:r>
            <a:r>
              <a:rPr lang="ko-KR" altLang="en-US" sz="2800" dirty="0" smtClean="0"/>
              <a:t>라는 양의 정수</a:t>
            </a:r>
            <a:r>
              <a:rPr lang="en-US" altLang="ko-KR" sz="2800" dirty="0" smtClean="0"/>
              <a:t>: </a:t>
            </a:r>
            <a:r>
              <a:rPr lang="ko-KR" altLang="en-US" sz="2800" dirty="0" smtClean="0"/>
              <a:t>한 동맹 휴업과 다음 동맹 휴업 사이의 기간을 날짜 수로 표시한 값</a:t>
            </a:r>
            <a:endParaRPr lang="en-US" altLang="ko-KR" sz="28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84797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619328"/>
          </a:xfrm>
        </p:spPr>
        <p:txBody>
          <a:bodyPr/>
          <a:lstStyle/>
          <a:p>
            <a:r>
              <a:rPr lang="ko-KR" altLang="en-US" sz="2800" dirty="0"/>
              <a:t>세 개의 정당이 있을 때</a:t>
            </a:r>
            <a:endParaRPr lang="en-US" altLang="ko-KR" sz="2800" dirty="0"/>
          </a:p>
          <a:p>
            <a:pPr lvl="1"/>
            <a:r>
              <a:rPr lang="en-US" altLang="ko-KR" sz="2400" dirty="0"/>
              <a:t>hi : </a:t>
            </a:r>
            <a:r>
              <a:rPr lang="en-US" altLang="ko-KR" sz="2400" dirty="0" err="1"/>
              <a:t>i</a:t>
            </a:r>
            <a:r>
              <a:rPr lang="ko-KR" altLang="en-US" sz="2400" dirty="0"/>
              <a:t>번째 당의 동맹 휴업 지수</a:t>
            </a:r>
            <a:endParaRPr lang="en-US" altLang="ko-KR" sz="2400" dirty="0"/>
          </a:p>
          <a:p>
            <a:pPr lvl="1"/>
            <a:r>
              <a:rPr lang="ko-KR" altLang="en-US" sz="2400" dirty="0"/>
              <a:t>가정</a:t>
            </a:r>
            <a:endParaRPr lang="en-US" altLang="ko-KR" sz="2400" dirty="0"/>
          </a:p>
          <a:p>
            <a:pPr lvl="2"/>
            <a:r>
              <a:rPr lang="en-US" altLang="ko-KR" sz="2000" dirty="0"/>
              <a:t>h1 = 3, h2 = 4, h3 = 8</a:t>
            </a:r>
            <a:endParaRPr lang="ko-KR" altLang="en-US" sz="2000" dirty="0"/>
          </a:p>
          <a:p>
            <a:pPr lvl="1"/>
            <a:r>
              <a:rPr lang="en-US" altLang="ko-KR" sz="2400" dirty="0" smtClean="0"/>
              <a:t>N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(N=14)</a:t>
            </a:r>
            <a:r>
              <a:rPr lang="ko-KR" altLang="en-US" sz="2400" dirty="0" smtClean="0"/>
              <a:t>일 동안 의 세 당의 행보를 시뮬레이션</a:t>
            </a:r>
            <a:endParaRPr lang="en-US" altLang="ko-KR" sz="2400" dirty="0" smtClean="0"/>
          </a:p>
          <a:p>
            <a:pPr lvl="2"/>
            <a:r>
              <a:rPr lang="ko-KR" altLang="en-US" sz="2000" dirty="0" smtClean="0"/>
              <a:t>일요일에 시작하며 금요일과 토요일에는 동맹휴업 없다는 가정</a:t>
            </a:r>
            <a:endParaRPr lang="en-US" altLang="ko-KR" sz="2000" dirty="0" smtClean="0"/>
          </a:p>
          <a:p>
            <a:pPr lvl="2"/>
            <a:r>
              <a:rPr lang="en-US" altLang="ko-KR" sz="2000" dirty="0" smtClean="0"/>
              <a:t>5</a:t>
            </a:r>
            <a:r>
              <a:rPr lang="ko-KR" altLang="en-US" sz="2000" dirty="0" smtClean="0"/>
              <a:t>번의 동맹 휴업</a:t>
            </a:r>
            <a:r>
              <a:rPr lang="en-US" altLang="ko-KR" sz="2000" dirty="0" smtClean="0"/>
              <a:t>(3, 4, 8, 9, 12</a:t>
            </a:r>
            <a:r>
              <a:rPr lang="ko-KR" altLang="en-US" sz="2000" dirty="0" smtClean="0"/>
              <a:t>일</a:t>
            </a:r>
            <a:r>
              <a:rPr lang="en-US" altLang="ko-KR" sz="2000" dirty="0" smtClean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23</a:t>
            </a:fld>
            <a:endParaRPr lang="en-US" altLang="ko-KR" dirty="0"/>
          </a:p>
        </p:txBody>
      </p:sp>
      <p:graphicFrame>
        <p:nvGraphicFramePr>
          <p:cNvPr id="5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8537995"/>
              </p:ext>
            </p:extLst>
          </p:nvPr>
        </p:nvGraphicFramePr>
        <p:xfrm>
          <a:off x="251520" y="3861048"/>
          <a:ext cx="77724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6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/>
                        <a:t>요일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1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일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2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월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3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화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4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수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5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목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6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금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7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토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8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일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9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월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10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화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11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수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12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목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13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금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14</a:t>
                      </a:r>
                    </a:p>
                    <a:p>
                      <a:pPr algn="ctr" latinLnBrk="1"/>
                      <a:r>
                        <a:rPr lang="ko-KR" altLang="en-US" sz="1600" b="1" dirty="0" smtClean="0"/>
                        <a:t>토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1</a:t>
                      </a:r>
                      <a:r>
                        <a:rPr lang="ko-KR" altLang="en-US" sz="1600" b="1" dirty="0" smtClean="0"/>
                        <a:t>번 정당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X</a:t>
                      </a:r>
                      <a:endParaRPr lang="ko-KR" altLang="en-US" sz="1600" b="1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2</a:t>
                      </a:r>
                      <a:r>
                        <a:rPr lang="ko-KR" altLang="en-US" sz="1600" b="1" dirty="0" smtClean="0"/>
                        <a:t>번 정당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3</a:t>
                      </a:r>
                      <a:r>
                        <a:rPr lang="ko-KR" altLang="en-US" sz="1600" b="1" dirty="0" smtClean="0"/>
                        <a:t>번 정당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/>
                        <a:t>동맹 휴업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1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2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3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4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smtClean="0"/>
                        <a:t>5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9392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619328"/>
          </a:xfrm>
        </p:spPr>
        <p:txBody>
          <a:bodyPr/>
          <a:lstStyle/>
          <a:p>
            <a:r>
              <a:rPr lang="ko-KR" altLang="en-US" sz="2800" dirty="0" smtClean="0"/>
              <a:t>입력</a:t>
            </a:r>
            <a:endParaRPr lang="en-US" altLang="ko-KR" sz="2800" dirty="0" smtClean="0"/>
          </a:p>
          <a:p>
            <a:pPr lvl="1"/>
            <a:r>
              <a:rPr lang="ko-KR" altLang="en-US" sz="2000" dirty="0" smtClean="0"/>
              <a:t>입력의 첫 번째 줄에는 입력될 테스트 케이스의 개수를 나타내는 하나의 정수 </a:t>
            </a:r>
            <a:r>
              <a:rPr lang="en-US" altLang="ko-KR" sz="2000" dirty="0" smtClean="0"/>
              <a:t>T</a:t>
            </a:r>
          </a:p>
          <a:p>
            <a:pPr lvl="1"/>
            <a:r>
              <a:rPr lang="ko-KR" altLang="en-US" sz="2000" dirty="0" smtClean="0"/>
              <a:t>각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테스트 케이스의 첫 번째 줄에는 한 개의 정수 </a:t>
            </a:r>
            <a:r>
              <a:rPr lang="en-US" altLang="ko-KR" sz="2000" dirty="0" smtClean="0"/>
              <a:t>N(7≤N≤3,650): </a:t>
            </a:r>
            <a:r>
              <a:rPr lang="ko-KR" altLang="en-US" sz="2000" dirty="0" smtClean="0"/>
              <a:t>시뮬레이션을 돌릴 날수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그 다음 줄에는 정당의 개수를 나타내는 정수 </a:t>
            </a:r>
            <a:r>
              <a:rPr lang="en-US" altLang="ko-KR" sz="2000" dirty="0" smtClean="0"/>
              <a:t>P(1≤P≤100)</a:t>
            </a:r>
          </a:p>
          <a:p>
            <a:pPr lvl="1"/>
            <a:r>
              <a:rPr lang="ko-KR" altLang="en-US" sz="2000" dirty="0" smtClean="0"/>
              <a:t>그 다음부터 시작하는 </a:t>
            </a:r>
            <a:r>
              <a:rPr lang="en-US" altLang="ko-KR" sz="2000" dirty="0" smtClean="0"/>
              <a:t>P</a:t>
            </a:r>
            <a:r>
              <a:rPr lang="ko-KR" altLang="en-US" sz="2000" dirty="0" smtClean="0"/>
              <a:t>개의 줄 가운데 </a:t>
            </a:r>
            <a:r>
              <a:rPr lang="en-US" altLang="ko-KR" sz="2000" dirty="0" err="1" smtClean="0"/>
              <a:t>i</a:t>
            </a:r>
            <a:r>
              <a:rPr lang="ko-KR" altLang="en-US" sz="2000" dirty="0" smtClean="0"/>
              <a:t>번째 줄</a:t>
            </a:r>
            <a:r>
              <a:rPr lang="en-US" altLang="ko-KR" sz="2000" dirty="0" smtClean="0"/>
              <a:t>(</a:t>
            </a:r>
            <a:r>
              <a:rPr lang="en-US" altLang="ko-KR" sz="2000" dirty="0"/>
              <a:t>1</a:t>
            </a:r>
            <a:r>
              <a:rPr lang="en-US" altLang="ko-KR" sz="2000" dirty="0" smtClean="0"/>
              <a:t>≤i≤P)</a:t>
            </a:r>
            <a:r>
              <a:rPr lang="ko-KR" altLang="en-US" sz="2000" dirty="0" smtClean="0"/>
              <a:t>에는 </a:t>
            </a:r>
            <a:r>
              <a:rPr lang="en-US" altLang="ko-KR" sz="2000" dirty="0" err="1" smtClean="0"/>
              <a:t>i</a:t>
            </a:r>
            <a:r>
              <a:rPr lang="ko-KR" altLang="en-US" sz="2000" dirty="0" smtClean="0"/>
              <a:t>번째 정당의 동맹 휴업 지수를 나타내는 양의 정수 </a:t>
            </a:r>
            <a:r>
              <a:rPr lang="en-US" altLang="ko-KR" sz="2000" dirty="0" smtClean="0"/>
              <a:t>hi(7</a:t>
            </a:r>
            <a:r>
              <a:rPr lang="ko-KR" altLang="en-US" sz="2000" dirty="0" smtClean="0"/>
              <a:t>의 배수는 아님</a:t>
            </a:r>
            <a:r>
              <a:rPr lang="en-US" altLang="ko-KR" sz="2000" dirty="0" smtClean="0"/>
              <a:t>)</a:t>
            </a:r>
          </a:p>
          <a:p>
            <a:r>
              <a:rPr lang="ko-KR" altLang="en-US" sz="2800" dirty="0" smtClean="0"/>
              <a:t>출력</a:t>
            </a:r>
            <a:endParaRPr lang="en-US" altLang="ko-KR" sz="2800" dirty="0"/>
          </a:p>
          <a:p>
            <a:pPr lvl="1"/>
            <a:r>
              <a:rPr lang="ko-KR" altLang="en-US" sz="2000" dirty="0" smtClean="0"/>
              <a:t>각 테스트 케이스에 대해 손실된 근무 일수를 한 줄에 하나씩 출력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690490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3568" y="620688"/>
            <a:ext cx="4752528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800" b="0" dirty="0" smtClean="0"/>
              <a:t>입력 예</a:t>
            </a:r>
            <a:endParaRPr lang="en-US" altLang="ko-KR" sz="2800" b="0" dirty="0" smtClean="0"/>
          </a:p>
          <a:p>
            <a:pPr marL="457200" lvl="1" indent="0">
              <a:buNone/>
            </a:pPr>
            <a:r>
              <a:rPr lang="en-US" altLang="ko-KR" sz="2400" b="0" dirty="0" smtClean="0"/>
              <a:t>2		// # of test cases</a:t>
            </a:r>
            <a:endParaRPr lang="en-US" altLang="ko-KR" sz="2400" b="0" dirty="0"/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70C0"/>
                </a:solidFill>
              </a:rPr>
              <a:t>14		// simulation days</a:t>
            </a:r>
            <a:endParaRPr lang="en-US" altLang="ko-KR" sz="2400" b="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70C0"/>
                </a:solidFill>
              </a:rPr>
              <a:t>3		// # of parties</a:t>
            </a:r>
            <a:endParaRPr lang="en-US" altLang="ko-KR" sz="2400" b="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70C0"/>
                </a:solidFill>
              </a:rPr>
              <a:t>3		// h1</a:t>
            </a:r>
            <a:endParaRPr lang="en-US" altLang="ko-KR" sz="2400" b="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70C0"/>
                </a:solidFill>
              </a:rPr>
              <a:t>4		// h2</a:t>
            </a:r>
            <a:endParaRPr lang="en-US" altLang="ko-KR" sz="2400" b="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70C0"/>
                </a:solidFill>
              </a:rPr>
              <a:t>8		// h3</a:t>
            </a:r>
            <a:endParaRPr lang="en-US" altLang="ko-KR" sz="2400" b="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ko-KR" sz="2400" b="0" dirty="0">
                <a:solidFill>
                  <a:srgbClr val="00B050"/>
                </a:solidFill>
              </a:rPr>
              <a:t>100	</a:t>
            </a:r>
            <a:r>
              <a:rPr lang="en-US" altLang="ko-KR" sz="2400" b="0" dirty="0" smtClean="0">
                <a:solidFill>
                  <a:srgbClr val="00B050"/>
                </a:solidFill>
              </a:rPr>
              <a:t>// </a:t>
            </a:r>
            <a:r>
              <a:rPr lang="en-US" altLang="ko-KR" sz="2400" b="0" dirty="0">
                <a:solidFill>
                  <a:srgbClr val="00B050"/>
                </a:solidFill>
              </a:rPr>
              <a:t>simulation days</a:t>
            </a:r>
          </a:p>
          <a:p>
            <a:pPr marL="457200" lvl="1" indent="0">
              <a:buNone/>
            </a:pPr>
            <a:r>
              <a:rPr lang="en-US" altLang="ko-KR" sz="2400" b="0" dirty="0">
                <a:solidFill>
                  <a:srgbClr val="00B050"/>
                </a:solidFill>
              </a:rPr>
              <a:t>4	</a:t>
            </a:r>
            <a:r>
              <a:rPr lang="en-US" altLang="ko-KR" sz="2400" b="0" dirty="0" smtClean="0">
                <a:solidFill>
                  <a:srgbClr val="00B050"/>
                </a:solidFill>
              </a:rPr>
              <a:t>	// </a:t>
            </a:r>
            <a:r>
              <a:rPr lang="en-US" altLang="ko-KR" sz="2400" b="0" dirty="0">
                <a:solidFill>
                  <a:srgbClr val="00B050"/>
                </a:solidFill>
              </a:rPr>
              <a:t># of </a:t>
            </a:r>
            <a:r>
              <a:rPr lang="en-US" altLang="ko-KR" sz="2400" b="0" dirty="0" smtClean="0">
                <a:solidFill>
                  <a:srgbClr val="00B050"/>
                </a:solidFill>
              </a:rPr>
              <a:t>parties</a:t>
            </a:r>
            <a:endParaRPr lang="en-US" altLang="ko-KR" sz="2400" b="0" dirty="0">
              <a:solidFill>
                <a:srgbClr val="00B050"/>
              </a:solidFill>
            </a:endParaRPr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B050"/>
                </a:solidFill>
              </a:rPr>
              <a:t>12		// h1</a:t>
            </a:r>
            <a:endParaRPr lang="en-US" altLang="ko-KR" sz="2400" b="0" dirty="0">
              <a:solidFill>
                <a:srgbClr val="00B050"/>
              </a:solidFill>
            </a:endParaRPr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B050"/>
                </a:solidFill>
              </a:rPr>
              <a:t>15		// h2</a:t>
            </a:r>
            <a:endParaRPr lang="en-US" altLang="ko-KR" sz="2400" b="0" dirty="0">
              <a:solidFill>
                <a:srgbClr val="00B050"/>
              </a:solidFill>
            </a:endParaRPr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B050"/>
                </a:solidFill>
              </a:rPr>
              <a:t>25		// h3</a:t>
            </a:r>
            <a:endParaRPr lang="en-US" altLang="ko-KR" sz="2400" b="0" dirty="0">
              <a:solidFill>
                <a:srgbClr val="00B050"/>
              </a:solidFill>
            </a:endParaRPr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B050"/>
                </a:solidFill>
              </a:rPr>
              <a:t>40		// h4</a:t>
            </a:r>
            <a:endParaRPr lang="en-US" altLang="ko-KR" sz="2400" b="0" dirty="0">
              <a:solidFill>
                <a:srgbClr val="00B05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6062635" y="620688"/>
            <a:ext cx="2613821" cy="5301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800" b="0" dirty="0" smtClean="0"/>
              <a:t>출력 예</a:t>
            </a:r>
            <a:endParaRPr lang="en-US" altLang="ko-KR" sz="2800" b="0" dirty="0" smtClean="0"/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70C0"/>
                </a:solidFill>
              </a:rPr>
              <a:t>5</a:t>
            </a:r>
          </a:p>
          <a:p>
            <a:pPr marL="457200" lvl="1" indent="0">
              <a:buNone/>
            </a:pPr>
            <a:r>
              <a:rPr lang="en-US" altLang="ko-KR" sz="2400" b="0" dirty="0" smtClean="0">
                <a:solidFill>
                  <a:srgbClr val="00B050"/>
                </a:solidFill>
              </a:rPr>
              <a:t>15</a:t>
            </a:r>
            <a:endParaRPr lang="ko-KR" altLang="en-US" sz="2400" b="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2417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11 </a:t>
            </a:r>
            <a:r>
              <a:rPr lang="ko-KR" altLang="en-US" sz="3200" dirty="0"/>
              <a:t>동맹 휴업</a:t>
            </a:r>
            <a:r>
              <a:rPr lang="en-US" altLang="ko-KR" sz="3200" dirty="0"/>
              <a:t>(</a:t>
            </a:r>
            <a:r>
              <a:rPr lang="en-US" altLang="ko-KR" sz="3200" dirty="0" err="1"/>
              <a:t>Hartal</a:t>
            </a:r>
            <a:r>
              <a:rPr lang="en-US" altLang="ko-KR" sz="3200" dirty="0"/>
              <a:t>)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 err="1"/>
              <a:t>i</a:t>
            </a:r>
            <a:r>
              <a:rPr lang="ko-KR" altLang="en-US" sz="2400" dirty="0"/>
              <a:t>번째 당의 휴업지수를 </a:t>
            </a:r>
            <a:r>
              <a:rPr lang="en-US" altLang="ko-KR" sz="2400" dirty="0"/>
              <a:t>h[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라고 할 때</a:t>
            </a:r>
            <a:r>
              <a:rPr lang="en-US" altLang="ko-KR" sz="2400" dirty="0"/>
              <a:t>, </a:t>
            </a:r>
            <a:r>
              <a:rPr lang="ko-KR" altLang="en-US" sz="2400" dirty="0"/>
              <a:t>오늘 날짜가 </a:t>
            </a:r>
            <a:r>
              <a:rPr lang="en-US" altLang="ko-KR" sz="2400" dirty="0"/>
              <a:t>d</a:t>
            </a:r>
            <a:r>
              <a:rPr lang="ko-KR" altLang="en-US" sz="2400" dirty="0"/>
              <a:t>라면 </a:t>
            </a:r>
            <a:r>
              <a:rPr lang="en-US" altLang="ko-KR" sz="2400" dirty="0"/>
              <a:t>d</a:t>
            </a:r>
            <a:r>
              <a:rPr lang="ko-KR" altLang="en-US" sz="2400" dirty="0"/>
              <a:t>가 </a:t>
            </a:r>
            <a:r>
              <a:rPr lang="en-US" altLang="ko-KR" sz="2400" dirty="0"/>
              <a:t>h[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로 나누어 떨어지면 </a:t>
            </a:r>
            <a:r>
              <a:rPr lang="en-US" altLang="ko-KR" sz="2400" dirty="0" err="1"/>
              <a:t>i</a:t>
            </a:r>
            <a:r>
              <a:rPr lang="ko-KR" altLang="en-US" sz="2400" dirty="0"/>
              <a:t>번째 당은 오늘 휴업하는 날임을 알 수 있다</a:t>
            </a:r>
            <a:r>
              <a:rPr lang="en-US" altLang="ko-KR" sz="2400" dirty="0"/>
              <a:t>. </a:t>
            </a:r>
            <a:r>
              <a:rPr lang="ko-KR" altLang="en-US" sz="2400" dirty="0"/>
              <a:t>최소한 한 당이 휴업하는 날은 손실된 근무일로 간주되므로</a:t>
            </a:r>
            <a:r>
              <a:rPr lang="en-US" altLang="ko-KR" sz="2400" dirty="0"/>
              <a:t>, </a:t>
            </a:r>
            <a:r>
              <a:rPr lang="ko-KR" altLang="en-US" sz="2400" dirty="0"/>
              <a:t>같은 날에 대해서는 다른 당의 휴업 여부를 검사할 필요가 없다</a:t>
            </a:r>
            <a:r>
              <a:rPr lang="en-US" altLang="ko-KR" sz="2400" dirty="0"/>
              <a:t>(</a:t>
            </a:r>
            <a:r>
              <a:rPr lang="ko-KR" altLang="en-US" sz="2400" dirty="0"/>
              <a:t>프로그램을 보면 </a:t>
            </a:r>
            <a:r>
              <a:rPr lang="en-US" altLang="ko-KR" sz="2400" dirty="0"/>
              <a:t>break</a:t>
            </a:r>
            <a:r>
              <a:rPr lang="ko-KR" altLang="en-US" sz="2400" dirty="0"/>
              <a:t>문으로 루프를 바로 빠져 나온다</a:t>
            </a:r>
            <a:r>
              <a:rPr lang="en-US" altLang="ko-KR" sz="2400" dirty="0"/>
              <a:t>).</a:t>
            </a:r>
          </a:p>
          <a:p>
            <a:r>
              <a:rPr lang="ko-KR" altLang="en-US" sz="2400" dirty="0"/>
              <a:t>단</a:t>
            </a:r>
            <a:r>
              <a:rPr lang="en-US" altLang="ko-KR" sz="2400" dirty="0"/>
              <a:t>, </a:t>
            </a:r>
            <a:r>
              <a:rPr lang="ko-KR" altLang="en-US" sz="2400" dirty="0"/>
              <a:t>이렇게 할 경우</a:t>
            </a:r>
            <a:r>
              <a:rPr lang="en-US" altLang="ko-KR" sz="2400" dirty="0"/>
              <a:t>, h[] </a:t>
            </a:r>
            <a:r>
              <a:rPr lang="ko-KR" altLang="en-US" sz="2400" dirty="0"/>
              <a:t>배열을 오름차순으로 정렬해놓고 시작하면 프로그램 수행이 더 빨라질 수 있다</a:t>
            </a:r>
            <a:r>
              <a:rPr lang="en-US" altLang="ko-KR" sz="24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12774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400" dirty="0"/>
              <a:t>#include &lt;</a:t>
            </a:r>
            <a:r>
              <a:rPr lang="en-US" altLang="ko-KR" sz="2400" dirty="0" err="1"/>
              <a:t>stdio.h</a:t>
            </a:r>
            <a:r>
              <a:rPr lang="en-US" altLang="ko-KR" sz="2400" dirty="0"/>
              <a:t>&gt;</a:t>
            </a:r>
          </a:p>
          <a:p>
            <a:pPr marL="0" indent="0">
              <a:buNone/>
            </a:pPr>
            <a:r>
              <a:rPr lang="en-US" altLang="ko-KR" sz="2400" dirty="0"/>
              <a:t>#define MAX_N 3650</a:t>
            </a:r>
          </a:p>
          <a:p>
            <a:pPr marL="0" indent="0">
              <a:buNone/>
            </a:pPr>
            <a:r>
              <a:rPr lang="en-US" altLang="ko-KR" sz="2400" dirty="0"/>
              <a:t>#define MAX_P 100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void main(void)</a:t>
            </a:r>
          </a:p>
          <a:p>
            <a:pPr marL="0" indent="0">
              <a:buNone/>
            </a:pPr>
            <a:r>
              <a:rPr lang="en-US" altLang="ko-KR" sz="2400" dirty="0"/>
              <a:t>{</a:t>
            </a:r>
          </a:p>
          <a:p>
            <a:pPr marL="0" indent="0">
              <a:buNone/>
            </a:pPr>
            <a:r>
              <a:rPr lang="en-US" altLang="ko-KR" sz="2400" dirty="0"/>
              <a:t>    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</a:t>
            </a:r>
            <a:r>
              <a:rPr lang="en-US" altLang="ko-KR" sz="2400" dirty="0" err="1"/>
              <a:t>num_cases</a:t>
            </a:r>
            <a:r>
              <a:rPr lang="en-US" altLang="ko-KR" sz="2400" dirty="0"/>
              <a:t>, n, p,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, j, k, lost;</a:t>
            </a:r>
          </a:p>
          <a:p>
            <a:pPr marL="0" indent="0">
              <a:buNone/>
            </a:pPr>
            <a:r>
              <a:rPr lang="en-US" altLang="ko-KR" sz="2400" dirty="0"/>
              <a:t>    </a:t>
            </a:r>
            <a:r>
              <a:rPr lang="en-US" altLang="ko-KR" sz="2400" dirty="0" err="1"/>
              <a:t>int</a:t>
            </a:r>
            <a:r>
              <a:rPr lang="en-US" altLang="ko-KR" sz="2400" dirty="0"/>
              <a:t> h[MAX_P];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</a:t>
            </a:r>
            <a:r>
              <a:rPr lang="en-US" altLang="ko-KR" sz="2400" dirty="0" err="1"/>
              <a:t>scanf</a:t>
            </a:r>
            <a:r>
              <a:rPr lang="en-US" altLang="ko-KR" sz="2400" dirty="0"/>
              <a:t>("%d", &amp;</a:t>
            </a:r>
            <a:r>
              <a:rPr lang="en-US" altLang="ko-KR" sz="2400" dirty="0" err="1"/>
              <a:t>num_cases</a:t>
            </a:r>
            <a:r>
              <a:rPr lang="en-US" altLang="ko-KR" sz="2400" dirty="0"/>
              <a:t>);</a:t>
            </a:r>
          </a:p>
          <a:p>
            <a:pPr marL="0" indent="0">
              <a:buNone/>
            </a:pPr>
            <a:r>
              <a:rPr lang="en-US" altLang="ko-KR" sz="2400" dirty="0"/>
              <a:t>    for (</a:t>
            </a:r>
            <a:r>
              <a:rPr lang="en-US" altLang="ko-KR" sz="2400" dirty="0" err="1"/>
              <a:t>i</a:t>
            </a:r>
            <a:r>
              <a:rPr lang="en-US" altLang="ko-KR" sz="2400" dirty="0"/>
              <a:t> = 0;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 &lt; </a:t>
            </a:r>
            <a:r>
              <a:rPr lang="en-US" altLang="ko-KR" sz="2400" dirty="0" err="1"/>
              <a:t>num_cases</a:t>
            </a:r>
            <a:r>
              <a:rPr lang="en-US" altLang="ko-KR" sz="2400" dirty="0"/>
              <a:t>;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++) {</a:t>
            </a:r>
          </a:p>
          <a:p>
            <a:pPr marL="0" indent="0">
              <a:buNone/>
            </a:pPr>
            <a:r>
              <a:rPr lang="en-US" altLang="ko-KR" sz="2400" dirty="0"/>
              <a:t>        </a:t>
            </a:r>
            <a:r>
              <a:rPr lang="en-US" altLang="ko-KR" sz="2400" dirty="0" err="1"/>
              <a:t>scanf</a:t>
            </a:r>
            <a:r>
              <a:rPr lang="en-US" altLang="ko-KR" sz="2400" dirty="0"/>
              <a:t>("%d", &amp;n);</a:t>
            </a:r>
          </a:p>
          <a:p>
            <a:pPr marL="0" indent="0">
              <a:buNone/>
            </a:pPr>
            <a:r>
              <a:rPr lang="en-US" altLang="ko-KR" sz="2400" dirty="0"/>
              <a:t>        </a:t>
            </a:r>
            <a:r>
              <a:rPr lang="en-US" altLang="ko-KR" sz="2400" dirty="0" err="1"/>
              <a:t>scanf</a:t>
            </a:r>
            <a:r>
              <a:rPr lang="en-US" altLang="ko-KR" sz="2400" dirty="0"/>
              <a:t>("%d", &amp;p);</a:t>
            </a:r>
          </a:p>
          <a:p>
            <a:pPr marL="0" indent="0">
              <a:buNone/>
            </a:pPr>
            <a:r>
              <a:rPr lang="en-US" altLang="ko-KR" sz="2400" dirty="0"/>
              <a:t>        for (j = 0; j &lt; p; j++)</a:t>
            </a:r>
          </a:p>
          <a:p>
            <a:pPr marL="0" indent="0">
              <a:buNone/>
            </a:pPr>
            <a:r>
              <a:rPr lang="en-US" altLang="ko-KR" sz="2400" dirty="0"/>
              <a:t>            </a:t>
            </a:r>
            <a:r>
              <a:rPr lang="en-US" altLang="ko-KR" sz="2400" dirty="0" err="1"/>
              <a:t>scanf</a:t>
            </a:r>
            <a:r>
              <a:rPr lang="en-US" altLang="ko-KR" sz="2400" dirty="0"/>
              <a:t>("%d", &amp;h[j</a:t>
            </a:r>
            <a:r>
              <a:rPr lang="en-US" altLang="ko-KR" sz="2400" dirty="0" smtClean="0"/>
              <a:t>]);</a:t>
            </a:r>
            <a:endParaRPr lang="en-US" altLang="ko-KR" sz="2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44920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400" dirty="0" smtClean="0"/>
              <a:t>        lost </a:t>
            </a:r>
            <a:r>
              <a:rPr lang="en-US" altLang="ko-KR" sz="2400" dirty="0"/>
              <a:t>= 0;</a:t>
            </a:r>
          </a:p>
          <a:p>
            <a:pPr marL="0" indent="0">
              <a:buNone/>
            </a:pPr>
            <a:r>
              <a:rPr lang="en-US" altLang="ko-KR" sz="2400" dirty="0"/>
              <a:t>        for (j = 1; j &lt;= n; j++)</a:t>
            </a:r>
          </a:p>
          <a:p>
            <a:pPr marL="0" indent="0">
              <a:buNone/>
            </a:pPr>
            <a:r>
              <a:rPr lang="en-US" altLang="ko-KR" sz="2400" dirty="0"/>
              <a:t>            if ((j - 1) % 7 &lt; 5) // </a:t>
            </a:r>
            <a:r>
              <a:rPr lang="ko-KR" altLang="en-US" sz="2400" dirty="0"/>
              <a:t>금</a:t>
            </a:r>
            <a:r>
              <a:rPr lang="en-US" altLang="ko-KR" sz="2400" dirty="0"/>
              <a:t>/</a:t>
            </a:r>
            <a:r>
              <a:rPr lang="ko-KR" altLang="en-US" sz="2400" dirty="0"/>
              <a:t>토요일은 무시</a:t>
            </a:r>
          </a:p>
          <a:p>
            <a:pPr marL="0" indent="0">
              <a:buNone/>
            </a:pPr>
            <a:r>
              <a:rPr lang="ko-KR" altLang="en-US" sz="2400" dirty="0"/>
              <a:t>                </a:t>
            </a:r>
            <a:r>
              <a:rPr lang="en-US" altLang="ko-KR" sz="2400" dirty="0"/>
              <a:t>for (k = 0; k &lt; p; k++)</a:t>
            </a:r>
          </a:p>
          <a:p>
            <a:pPr marL="0" indent="0">
              <a:buNone/>
            </a:pPr>
            <a:r>
              <a:rPr lang="en-US" altLang="ko-KR" sz="2400" dirty="0"/>
              <a:t>                    if (j % h[k] == 0) {</a:t>
            </a:r>
          </a:p>
          <a:p>
            <a:pPr marL="0" indent="0">
              <a:buNone/>
            </a:pPr>
            <a:r>
              <a:rPr lang="en-US" altLang="ko-KR" sz="2400" dirty="0"/>
              <a:t>                        lost++;</a:t>
            </a:r>
          </a:p>
          <a:p>
            <a:pPr marL="0" indent="0">
              <a:buNone/>
            </a:pPr>
            <a:r>
              <a:rPr lang="en-US" altLang="ko-KR" sz="2400" dirty="0"/>
              <a:t>                        break;</a:t>
            </a:r>
          </a:p>
          <a:p>
            <a:pPr marL="0" indent="0">
              <a:buNone/>
            </a:pPr>
            <a:r>
              <a:rPr lang="en-US" altLang="ko-KR" sz="2400" dirty="0"/>
              <a:t>                    }</a:t>
            </a:r>
          </a:p>
          <a:p>
            <a:pPr marL="0" indent="0">
              <a:buNone/>
            </a:pPr>
            <a:r>
              <a:rPr lang="en-US" altLang="ko-KR" sz="2400" dirty="0"/>
              <a:t>        </a:t>
            </a:r>
            <a:r>
              <a:rPr lang="en-US" altLang="ko-KR" sz="2400" dirty="0" err="1"/>
              <a:t>printf</a:t>
            </a:r>
            <a:r>
              <a:rPr lang="en-US" altLang="ko-KR" sz="2400" dirty="0"/>
              <a:t>("%d\n", lost);</a:t>
            </a:r>
          </a:p>
          <a:p>
            <a:pPr marL="0" indent="0">
              <a:buNone/>
            </a:pPr>
            <a:r>
              <a:rPr lang="en-US" altLang="ko-KR" sz="2400" dirty="0"/>
              <a:t>    }</a:t>
            </a:r>
          </a:p>
          <a:p>
            <a:pPr marL="0" indent="0">
              <a:buNone/>
            </a:pPr>
            <a:r>
              <a:rPr lang="en-US" altLang="ko-KR" sz="24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0226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dirty="0" smtClean="0"/>
              <a:t>문제 </a:t>
            </a:r>
            <a:r>
              <a:rPr lang="en-US" altLang="ko-KR" sz="4000" dirty="0" smtClean="0"/>
              <a:t>12 </a:t>
            </a:r>
            <a:r>
              <a:rPr lang="ko-KR" altLang="en-US" sz="4000" dirty="0" err="1" smtClean="0"/>
              <a:t>암호깨기</a:t>
            </a:r>
            <a:r>
              <a:rPr lang="en-US" altLang="ko-KR" sz="4000" dirty="0" smtClean="0"/>
              <a:t>(Crypt Kicker)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dirty="0" smtClean="0"/>
              <a:t>알파벳 글자를 치환하여 텍스트를 암호화</a:t>
            </a:r>
            <a:endParaRPr lang="en-US" altLang="ko-KR" sz="2800" dirty="0" smtClean="0"/>
          </a:p>
          <a:p>
            <a:r>
              <a:rPr lang="ko-KR" altLang="en-US" sz="2800" dirty="0" smtClean="0"/>
              <a:t>암호화한 것을 다시 원래대로 되돌릴 수 있으려면 두 개의 서로 다른 글자가 같은 글자로 치환되지 않아야 함</a:t>
            </a:r>
            <a:endParaRPr lang="en-US" altLang="ko-KR" sz="2800" dirty="0" smtClean="0"/>
          </a:p>
          <a:p>
            <a:r>
              <a:rPr lang="ko-KR" altLang="en-US" sz="2800" dirty="0" smtClean="0"/>
              <a:t>암호화된 텍스트가 한 줄 이상 입력되는데</a:t>
            </a:r>
            <a:r>
              <a:rPr lang="en-US" altLang="ko-KR" sz="2800" dirty="0" smtClean="0"/>
              <a:t>, </a:t>
            </a:r>
            <a:r>
              <a:rPr lang="ko-KR" altLang="en-US" sz="2800" dirty="0" smtClean="0"/>
              <a:t>각 줄마다 서로 다른 치환 방법 적용</a:t>
            </a:r>
            <a:endParaRPr lang="en-US" altLang="ko-KR" sz="2800" dirty="0" smtClean="0"/>
          </a:p>
          <a:p>
            <a:r>
              <a:rPr lang="ko-KR" altLang="en-US" sz="2800" dirty="0" smtClean="0"/>
              <a:t>암호화 이전의 텍스트에 있는 단어는 모두 주어진 사전에 들어있는 단어라고 가정하고</a:t>
            </a:r>
            <a:r>
              <a:rPr lang="en-US" altLang="ko-KR" sz="2800" dirty="0" smtClean="0"/>
              <a:t>, </a:t>
            </a:r>
            <a:r>
              <a:rPr lang="ko-KR" altLang="en-US" sz="2800" dirty="0" smtClean="0"/>
              <a:t>암호화된 텍스트를 해독하여 원래 텍스트를 알아내자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09964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619328"/>
          </a:xfrm>
        </p:spPr>
        <p:txBody>
          <a:bodyPr/>
          <a:lstStyle/>
          <a:p>
            <a:r>
              <a:rPr lang="ko-KR" altLang="en-US" sz="2800" dirty="0" smtClean="0"/>
              <a:t>입력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한 개의 정수 </a:t>
            </a:r>
            <a:r>
              <a:rPr lang="en-US" altLang="ko-KR" sz="2400" dirty="0" smtClean="0"/>
              <a:t>n</a:t>
            </a:r>
            <a:r>
              <a:rPr lang="ko-KR" altLang="en-US" sz="2400" dirty="0" smtClean="0"/>
              <a:t>이 들어 있는 행으로 시작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그 다음 줄부터는 한 줄에 하나씩 </a:t>
            </a:r>
            <a:r>
              <a:rPr lang="en-US" altLang="ko-KR" sz="2400" dirty="0" smtClean="0"/>
              <a:t>n</a:t>
            </a:r>
            <a:r>
              <a:rPr lang="ko-KR" altLang="en-US" sz="2400" dirty="0" smtClean="0"/>
              <a:t>개의 소문자로 쓰인 단어들이 알파벳 순으로 입력</a:t>
            </a:r>
            <a:endParaRPr lang="en-US" altLang="ko-KR" sz="2400" dirty="0" smtClean="0"/>
          </a:p>
          <a:p>
            <a:pPr lvl="2"/>
            <a:r>
              <a:rPr lang="ko-KR" altLang="en-US" sz="2000" dirty="0" err="1" smtClean="0"/>
              <a:t>복호화된</a:t>
            </a:r>
            <a:r>
              <a:rPr lang="ko-KR" altLang="en-US" sz="2000" dirty="0" smtClean="0"/>
              <a:t> 텍스트에 들어갈 수 있는 단어로 구성된 사전</a:t>
            </a:r>
            <a:endParaRPr lang="en-US" altLang="ko-KR" sz="2000" dirty="0" smtClean="0"/>
          </a:p>
          <a:p>
            <a:pPr lvl="1"/>
            <a:r>
              <a:rPr lang="ko-KR" altLang="en-US" sz="2400" dirty="0" smtClean="0"/>
              <a:t>사전 뒤에는 몇 줄의 텍스트가 입력됨</a:t>
            </a:r>
            <a:endParaRPr lang="en-US" altLang="ko-KR" sz="2400" dirty="0" smtClean="0"/>
          </a:p>
          <a:p>
            <a:pPr lvl="2"/>
            <a:r>
              <a:rPr lang="ko-KR" altLang="en-US" sz="2000" dirty="0" smtClean="0"/>
              <a:t>각 줄은 앞의 방법으로 암호화된 것임</a:t>
            </a:r>
            <a:endParaRPr lang="en-US" altLang="ko-KR" sz="2000" dirty="0" smtClean="0"/>
          </a:p>
          <a:p>
            <a:pPr lvl="1"/>
            <a:r>
              <a:rPr lang="ko-KR" altLang="en-US" sz="2400" dirty="0" smtClean="0"/>
              <a:t>가정</a:t>
            </a:r>
            <a:endParaRPr lang="en-US" altLang="ko-KR" sz="2400" dirty="0" smtClean="0"/>
          </a:p>
          <a:p>
            <a:pPr lvl="2"/>
            <a:r>
              <a:rPr lang="ko-KR" altLang="en-US" sz="2000" dirty="0" smtClean="0"/>
              <a:t>사전의 단어 개수는 </a:t>
            </a:r>
            <a:r>
              <a:rPr lang="en-US" altLang="ko-KR" sz="2000" dirty="0" smtClean="0"/>
              <a:t>1,000</a:t>
            </a:r>
            <a:r>
              <a:rPr lang="ko-KR" altLang="en-US" sz="2000" dirty="0" smtClean="0"/>
              <a:t>개를 넘지 않음</a:t>
            </a:r>
            <a:endParaRPr lang="en-US" altLang="ko-KR" sz="2000" dirty="0" smtClean="0"/>
          </a:p>
          <a:p>
            <a:pPr lvl="2"/>
            <a:r>
              <a:rPr lang="ko-KR" altLang="en-US" sz="2000" dirty="0" smtClean="0"/>
              <a:t>단어의 길이는 </a:t>
            </a:r>
            <a:r>
              <a:rPr lang="en-US" altLang="ko-KR" sz="2000" dirty="0" smtClean="0"/>
              <a:t>16</a:t>
            </a:r>
            <a:r>
              <a:rPr lang="ko-KR" altLang="en-US" sz="2000" dirty="0" smtClean="0"/>
              <a:t>글자를 넘지 않음</a:t>
            </a:r>
            <a:endParaRPr lang="en-US" altLang="ko-KR" sz="2000" dirty="0" smtClean="0"/>
          </a:p>
          <a:p>
            <a:pPr lvl="2"/>
            <a:r>
              <a:rPr lang="ko-KR" altLang="en-US" sz="2000" dirty="0" smtClean="0"/>
              <a:t>암호화된 텍스트에는 소문자와 스페이스만 있고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한 줄의 길이는 </a:t>
            </a:r>
            <a:r>
              <a:rPr lang="en-US" altLang="ko-KR" sz="2000" dirty="0" smtClean="0"/>
              <a:t>80</a:t>
            </a:r>
            <a:r>
              <a:rPr lang="ko-KR" altLang="en-US" sz="2000" dirty="0" smtClean="0"/>
              <a:t>글자를 넘지 않음</a:t>
            </a:r>
            <a:endParaRPr lang="en-US" altLang="ko-KR" sz="20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918841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619328"/>
          </a:xfrm>
        </p:spPr>
        <p:txBody>
          <a:bodyPr/>
          <a:lstStyle/>
          <a:p>
            <a:r>
              <a:rPr lang="ko-KR" altLang="en-US" dirty="0" smtClean="0"/>
              <a:t>출력</a:t>
            </a:r>
            <a:endParaRPr lang="en-US" altLang="ko-KR" dirty="0" smtClean="0"/>
          </a:p>
          <a:p>
            <a:pPr lvl="1"/>
            <a:r>
              <a:rPr lang="ko-KR" altLang="en-US" sz="2400" dirty="0" smtClean="0"/>
              <a:t>각 줄을 </a:t>
            </a:r>
            <a:r>
              <a:rPr lang="ko-KR" altLang="en-US" sz="2400" dirty="0" err="1" smtClean="0"/>
              <a:t>복호화하여</a:t>
            </a:r>
            <a:r>
              <a:rPr lang="ko-KR" altLang="en-US" sz="2400" dirty="0" smtClean="0"/>
              <a:t> 표준 출력으로 출력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여러 문장으로 </a:t>
            </a:r>
            <a:r>
              <a:rPr lang="ko-KR" altLang="en-US" sz="2400" dirty="0" err="1" smtClean="0"/>
              <a:t>복호화할</a:t>
            </a:r>
            <a:r>
              <a:rPr lang="ko-KR" altLang="en-US" sz="2400" dirty="0" smtClean="0"/>
              <a:t> 수 있다면 그 중 아무 결과나 출력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가능한 풀이가 없다면 알파벳 모든 문자를 </a:t>
            </a:r>
            <a:r>
              <a:rPr lang="en-US" altLang="ko-KR" sz="2400" dirty="0" smtClean="0"/>
              <a:t>*</a:t>
            </a:r>
            <a:r>
              <a:rPr lang="ko-KR" altLang="en-US" sz="2400" dirty="0" smtClean="0"/>
              <a:t>로 변경하여 출력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52931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3568" y="404664"/>
            <a:ext cx="7992888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dirty="0" smtClean="0"/>
              <a:t>입력 예</a:t>
            </a:r>
            <a:endParaRPr lang="en-US" altLang="ko-KR" sz="2400" b="0" dirty="0" smtClean="0"/>
          </a:p>
          <a:p>
            <a:pPr marL="457200" lvl="1" indent="0">
              <a:buNone/>
            </a:pPr>
            <a:r>
              <a:rPr lang="en-US" altLang="ko-KR" sz="2400" b="0" dirty="0"/>
              <a:t>6</a:t>
            </a:r>
          </a:p>
          <a:p>
            <a:pPr marL="457200" lvl="1" indent="0">
              <a:buNone/>
            </a:pPr>
            <a:r>
              <a:rPr lang="en-US" altLang="ko-KR" sz="2400" b="0" dirty="0"/>
              <a:t>and</a:t>
            </a:r>
          </a:p>
          <a:p>
            <a:pPr marL="457200" lvl="1" indent="0">
              <a:buNone/>
            </a:pPr>
            <a:r>
              <a:rPr lang="en-US" altLang="ko-KR" sz="2400" b="0" dirty="0"/>
              <a:t>dick</a:t>
            </a:r>
          </a:p>
          <a:p>
            <a:pPr marL="457200" lvl="1" indent="0">
              <a:buNone/>
            </a:pPr>
            <a:r>
              <a:rPr lang="en-US" altLang="ko-KR" sz="2400" b="0" dirty="0" err="1"/>
              <a:t>jane</a:t>
            </a:r>
            <a:endParaRPr lang="en-US" altLang="ko-KR" sz="2400" b="0" dirty="0"/>
          </a:p>
          <a:p>
            <a:pPr marL="457200" lvl="1" indent="0">
              <a:buNone/>
            </a:pPr>
            <a:r>
              <a:rPr lang="en-US" altLang="ko-KR" sz="2400" b="0" dirty="0"/>
              <a:t>puff</a:t>
            </a:r>
          </a:p>
          <a:p>
            <a:pPr marL="457200" lvl="1" indent="0">
              <a:buNone/>
            </a:pPr>
            <a:r>
              <a:rPr lang="en-US" altLang="ko-KR" sz="2400" b="0" dirty="0"/>
              <a:t>spot</a:t>
            </a:r>
          </a:p>
          <a:p>
            <a:pPr marL="457200" lvl="1" indent="0">
              <a:buNone/>
            </a:pPr>
            <a:r>
              <a:rPr lang="en-US" altLang="ko-KR" sz="2400" b="0" dirty="0" err="1"/>
              <a:t>yertle</a:t>
            </a:r>
            <a:endParaRPr lang="en-US" altLang="ko-KR" sz="2400" b="0" dirty="0"/>
          </a:p>
          <a:p>
            <a:pPr marL="457200" lvl="1" indent="0">
              <a:buNone/>
            </a:pPr>
            <a:r>
              <a:rPr lang="en-US" altLang="ko-KR" sz="2400" b="0" dirty="0" err="1"/>
              <a:t>bjvg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xsb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hxsn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xsb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qymm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xsb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rqat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xsb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pnetfn</a:t>
            </a:r>
            <a:endParaRPr lang="en-US" altLang="ko-KR" sz="2400" b="0" dirty="0"/>
          </a:p>
          <a:p>
            <a:pPr marL="457200" lvl="1" indent="0">
              <a:buNone/>
            </a:pPr>
            <a:r>
              <a:rPr lang="en-US" altLang="ko-KR" sz="2400" b="0" dirty="0" err="1"/>
              <a:t>xxxx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yyy</a:t>
            </a:r>
            <a:r>
              <a:rPr lang="en-US" altLang="ko-KR" sz="2400" b="0" dirty="0"/>
              <a:t> zzzz www </a:t>
            </a:r>
            <a:r>
              <a:rPr lang="en-US" altLang="ko-KR" sz="2400" b="0" dirty="0" err="1"/>
              <a:t>yyyy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aaa</a:t>
            </a:r>
            <a:r>
              <a:rPr lang="en-US" altLang="ko-KR" sz="2400" b="0" dirty="0"/>
              <a:t> </a:t>
            </a:r>
            <a:r>
              <a:rPr lang="en-US" altLang="ko-KR" sz="2400" b="0" dirty="0" err="1"/>
              <a:t>bbbb</a:t>
            </a:r>
            <a:r>
              <a:rPr lang="en-US" altLang="ko-KR" sz="2400" b="0" dirty="0"/>
              <a:t> ccc </a:t>
            </a:r>
            <a:r>
              <a:rPr lang="en-US" altLang="ko-KR" sz="2400" b="0" dirty="0" err="1" smtClean="0"/>
              <a:t>dddddd</a:t>
            </a:r>
            <a:endParaRPr lang="en-US" altLang="ko-KR" sz="2400" b="0" dirty="0" smtClean="0"/>
          </a:p>
          <a:p>
            <a:pPr marL="457200" lvl="1" indent="0">
              <a:buNone/>
            </a:pPr>
            <a:endParaRPr lang="en-US" altLang="ko-KR" sz="2400" b="0" dirty="0" smtClean="0"/>
          </a:p>
          <a:p>
            <a:r>
              <a:rPr lang="ko-KR" altLang="en-US" sz="2400" b="0" dirty="0"/>
              <a:t>출력 예</a:t>
            </a:r>
            <a:endParaRPr lang="en-US" altLang="ko-KR" sz="2400" b="0" dirty="0"/>
          </a:p>
          <a:p>
            <a:pPr marL="457200" lvl="1" indent="0">
              <a:buNone/>
            </a:pPr>
            <a:r>
              <a:rPr lang="en-US" altLang="ko-KR" sz="2400" b="0" dirty="0"/>
              <a:t>dick and </a:t>
            </a:r>
            <a:r>
              <a:rPr lang="en-US" altLang="ko-KR" sz="2400" b="0" dirty="0" err="1"/>
              <a:t>jane</a:t>
            </a:r>
            <a:r>
              <a:rPr lang="en-US" altLang="ko-KR" sz="2400" b="0" dirty="0"/>
              <a:t> and puff and spot and </a:t>
            </a:r>
            <a:r>
              <a:rPr lang="en-US" altLang="ko-KR" sz="2400" b="0" dirty="0" err="1"/>
              <a:t>yertle</a:t>
            </a:r>
            <a:endParaRPr lang="en-US" altLang="ko-KR" sz="2400" b="0" dirty="0"/>
          </a:p>
          <a:p>
            <a:pPr marL="457200" lvl="1" indent="0">
              <a:buNone/>
            </a:pPr>
            <a:r>
              <a:rPr lang="en-US" altLang="ko-KR" sz="2400" b="0" dirty="0"/>
              <a:t>**** *** **** *** **** *** **** *** ******</a:t>
            </a:r>
          </a:p>
          <a:p>
            <a:pPr marL="457200" lvl="1" indent="0">
              <a:buNone/>
            </a:pPr>
            <a:endParaRPr lang="en-US" altLang="ko-KR" sz="2400" b="0" dirty="0"/>
          </a:p>
        </p:txBody>
      </p:sp>
    </p:spTree>
    <p:extLst>
      <p:ext uri="{BB962C8B-B14F-4D97-AF65-F5344CB8AC3E}">
        <p14:creationId xmlns:p14="http://schemas.microsoft.com/office/powerpoint/2010/main" val="35088733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12 </a:t>
            </a:r>
            <a:r>
              <a:rPr lang="ko-KR" altLang="en-US" sz="3200" dirty="0" smtClean="0"/>
              <a:t>암호 깨</a:t>
            </a:r>
            <a:r>
              <a:rPr lang="ko-KR" altLang="en-US" sz="3200" dirty="0"/>
              <a:t>기</a:t>
            </a:r>
            <a:r>
              <a:rPr lang="en-US" altLang="ko-KR" sz="3200" dirty="0" smtClean="0"/>
              <a:t>(Crypt Kicker)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우선 사전에 넣은 단어들을 입력 받아 배열</a:t>
            </a:r>
            <a:r>
              <a:rPr lang="en-US" altLang="ko-KR" sz="2000" dirty="0"/>
              <a:t>(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[])</a:t>
            </a:r>
            <a:r>
              <a:rPr lang="ko-KR" altLang="en-US" sz="2000" dirty="0"/>
              <a:t>에 저장해둔다</a:t>
            </a:r>
            <a:r>
              <a:rPr lang="en-US" altLang="ko-KR" sz="2000" dirty="0"/>
              <a:t>. </a:t>
            </a:r>
            <a:r>
              <a:rPr lang="ko-KR" altLang="en-US" sz="2000" dirty="0"/>
              <a:t>입력 받은 각 암호 문장 하나에 </a:t>
            </a:r>
            <a:r>
              <a:rPr lang="ko-KR" altLang="en-US" sz="2000" dirty="0" smtClean="0"/>
              <a:t>대하여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평문을</a:t>
            </a:r>
            <a:r>
              <a:rPr lang="ko-KR" altLang="en-US" sz="2000" dirty="0"/>
              <a:t> 암호문으로 대체하기 위한 </a:t>
            </a:r>
            <a:r>
              <a:rPr lang="ko-KR" altLang="en-US" sz="2000" dirty="0" err="1"/>
              <a:t>매핑</a:t>
            </a:r>
            <a:r>
              <a:rPr lang="ko-KR" altLang="en-US" sz="2000" dirty="0"/>
              <a:t> 하나를 찾아내기만 하면 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 smtClean="0"/>
              <a:t>우선 </a:t>
            </a:r>
            <a:r>
              <a:rPr lang="ko-KR" altLang="en-US" sz="2000" dirty="0"/>
              <a:t>문장의 </a:t>
            </a:r>
            <a:r>
              <a:rPr lang="ko-KR" altLang="en-US" sz="2000" dirty="0" err="1"/>
              <a:t>첫번째</a:t>
            </a:r>
            <a:r>
              <a:rPr lang="ko-KR" altLang="en-US" sz="2000" dirty="0"/>
              <a:t> 단어에 대하여</a:t>
            </a:r>
            <a:r>
              <a:rPr lang="en-US" altLang="ko-KR" sz="2000" dirty="0"/>
              <a:t>, </a:t>
            </a:r>
            <a:r>
              <a:rPr lang="ko-KR" altLang="en-US" sz="2000" dirty="0"/>
              <a:t>사전에서 길이가 같은 단어들을 골라낸다</a:t>
            </a:r>
            <a:r>
              <a:rPr lang="en-US" altLang="ko-KR" sz="2000" dirty="0"/>
              <a:t>. </a:t>
            </a:r>
            <a:r>
              <a:rPr lang="ko-KR" altLang="en-US" sz="2000" dirty="0"/>
              <a:t>그리고 둘을 일치시켰을 때 같은 위치에 있는 문자 쌍을 </a:t>
            </a:r>
            <a:r>
              <a:rPr lang="ko-KR" altLang="en-US" sz="2000" dirty="0" err="1"/>
              <a:t>매핑에</a:t>
            </a:r>
            <a:r>
              <a:rPr lang="ko-KR" altLang="en-US" sz="2000" dirty="0"/>
              <a:t> 추가한다</a:t>
            </a:r>
            <a:r>
              <a:rPr lang="en-US" altLang="ko-KR" sz="2000" dirty="0"/>
              <a:t>. </a:t>
            </a:r>
            <a:r>
              <a:rPr lang="ko-KR" altLang="en-US" sz="2000" dirty="0"/>
              <a:t>예를 들어 사전에 </a:t>
            </a:r>
            <a:r>
              <a:rPr lang="en-US" altLang="ko-KR" sz="2000" dirty="0"/>
              <a:t>dick</a:t>
            </a:r>
            <a:r>
              <a:rPr lang="ko-KR" altLang="en-US" sz="2000" dirty="0"/>
              <a:t>이라는 단어가 있고 문장의 </a:t>
            </a:r>
            <a:r>
              <a:rPr lang="ko-KR" altLang="en-US" sz="2000" dirty="0" err="1"/>
              <a:t>첫번째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단어가 </a:t>
            </a:r>
            <a:r>
              <a:rPr lang="en-US" altLang="ko-KR" sz="2000" dirty="0" err="1"/>
              <a:t>bjvg</a:t>
            </a:r>
            <a:r>
              <a:rPr lang="ko-KR" altLang="en-US" sz="2000" dirty="0"/>
              <a:t>라면 </a:t>
            </a:r>
            <a:r>
              <a:rPr lang="en-US" altLang="ko-KR" sz="2000" dirty="0"/>
              <a:t>b-&gt;d, j-&gt;</a:t>
            </a:r>
            <a:r>
              <a:rPr lang="en-US" altLang="ko-KR" sz="2000" dirty="0" err="1"/>
              <a:t>i</a:t>
            </a:r>
            <a:r>
              <a:rPr lang="en-US" altLang="ko-KR" sz="2000" dirty="0"/>
              <a:t>, v-&gt;c, g-&gt;k</a:t>
            </a:r>
            <a:r>
              <a:rPr lang="ko-KR" altLang="en-US" sz="2000" dirty="0"/>
              <a:t>로 </a:t>
            </a:r>
            <a:r>
              <a:rPr lang="ko-KR" altLang="en-US" sz="2000" dirty="0" err="1"/>
              <a:t>매핑이</a:t>
            </a:r>
            <a:r>
              <a:rPr lang="ko-KR" altLang="en-US" sz="2000" dirty="0"/>
              <a:t> 가능함을 알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그러나 </a:t>
            </a:r>
            <a:r>
              <a:rPr lang="en-US" altLang="ko-KR" sz="2000" dirty="0"/>
              <a:t>puff</a:t>
            </a:r>
            <a:r>
              <a:rPr lang="ko-KR" altLang="en-US" sz="2000" dirty="0"/>
              <a:t>와 같은 단어는 길이는 같지만 </a:t>
            </a:r>
            <a:r>
              <a:rPr lang="en-US" altLang="ko-KR" sz="2000" dirty="0"/>
              <a:t>f</a:t>
            </a:r>
            <a:r>
              <a:rPr lang="ko-KR" altLang="en-US" sz="2000" dirty="0"/>
              <a:t>가 </a:t>
            </a:r>
            <a:r>
              <a:rPr lang="en-US" altLang="ko-KR" sz="2000" dirty="0"/>
              <a:t>c</a:t>
            </a:r>
            <a:r>
              <a:rPr lang="ko-KR" altLang="en-US" sz="2000" dirty="0"/>
              <a:t>와 </a:t>
            </a:r>
            <a:r>
              <a:rPr lang="en-US" altLang="ko-KR" sz="2000" dirty="0"/>
              <a:t>k</a:t>
            </a:r>
            <a:r>
              <a:rPr lang="ko-KR" altLang="en-US" sz="2000" dirty="0"/>
              <a:t>에 동시에 대응될 수 없으므로 선택에서 제외된다</a:t>
            </a:r>
            <a:r>
              <a:rPr lang="en-US" altLang="ko-KR" sz="2000" dirty="0"/>
              <a:t>. </a:t>
            </a:r>
            <a:r>
              <a:rPr lang="ko-KR" altLang="en-US" sz="2000" dirty="0"/>
              <a:t>이렇게 </a:t>
            </a:r>
            <a:r>
              <a:rPr lang="ko-KR" altLang="en-US" sz="2000" dirty="0" err="1"/>
              <a:t>첫번째</a:t>
            </a:r>
            <a:r>
              <a:rPr lang="ko-KR" altLang="en-US" sz="2000" dirty="0"/>
              <a:t> 단어를 일치시킬 수 </a:t>
            </a:r>
            <a:r>
              <a:rPr lang="ko-KR" altLang="en-US" sz="2000" dirty="0" smtClean="0"/>
              <a:t>있는 </a:t>
            </a:r>
            <a:r>
              <a:rPr lang="ko-KR" altLang="en-US" sz="2000" dirty="0"/>
              <a:t>각각의 부분 </a:t>
            </a:r>
            <a:r>
              <a:rPr lang="ko-KR" altLang="en-US" sz="2000" dirty="0" err="1"/>
              <a:t>매핑에</a:t>
            </a:r>
            <a:r>
              <a:rPr lang="ko-KR" altLang="en-US" sz="2000" dirty="0"/>
              <a:t> 대하여</a:t>
            </a:r>
            <a:r>
              <a:rPr lang="en-US" altLang="ko-KR" sz="2000" dirty="0"/>
              <a:t>, </a:t>
            </a:r>
            <a:r>
              <a:rPr lang="ko-KR" altLang="en-US" sz="2000" dirty="0"/>
              <a:t>이 </a:t>
            </a:r>
            <a:r>
              <a:rPr lang="ko-KR" altLang="en-US" sz="2000" dirty="0" err="1"/>
              <a:t>매핑을</a:t>
            </a:r>
            <a:r>
              <a:rPr lang="ko-KR" altLang="en-US" sz="2000" dirty="0"/>
              <a:t> 깨뜨리지 않은 상태에서 </a:t>
            </a:r>
            <a:r>
              <a:rPr lang="ko-KR" altLang="en-US" sz="2000" dirty="0" err="1"/>
              <a:t>두번째</a:t>
            </a:r>
            <a:r>
              <a:rPr lang="ko-KR" altLang="en-US" sz="2000" dirty="0"/>
              <a:t> 단어를 사전의 어느 단어에 </a:t>
            </a:r>
            <a:r>
              <a:rPr lang="ko-KR" altLang="en-US" sz="2000" dirty="0" smtClean="0"/>
              <a:t>일치시킬 </a:t>
            </a:r>
            <a:r>
              <a:rPr lang="ko-KR" altLang="en-US" sz="2000" dirty="0"/>
              <a:t>수 있는지 조사하고 </a:t>
            </a:r>
            <a:r>
              <a:rPr lang="ko-KR" altLang="en-US" sz="2000" dirty="0" err="1"/>
              <a:t>매핑을</a:t>
            </a:r>
            <a:r>
              <a:rPr lang="ko-KR" altLang="en-US" sz="2000" dirty="0"/>
              <a:t> 업데이트한다</a:t>
            </a:r>
            <a:r>
              <a:rPr lang="en-US" altLang="ko-KR" sz="2000" dirty="0"/>
              <a:t>. </a:t>
            </a:r>
            <a:r>
              <a:rPr lang="ko-KR" altLang="en-US" sz="2000" dirty="0"/>
              <a:t>이와 같은 식으로 마지막 단어까지 대응시킬 수 있는지 </a:t>
            </a:r>
            <a:r>
              <a:rPr lang="ko-KR" altLang="en-US" sz="2000" dirty="0" smtClean="0"/>
              <a:t>여부를 </a:t>
            </a:r>
            <a:r>
              <a:rPr lang="ko-KR" altLang="en-US" sz="2000" dirty="0"/>
              <a:t>조사한다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83276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908720"/>
            <a:ext cx="7772400" cy="5760640"/>
          </a:xfrm>
        </p:spPr>
        <p:txBody>
          <a:bodyPr/>
          <a:lstStyle/>
          <a:p>
            <a:r>
              <a:rPr lang="ko-KR" altLang="en-US" sz="2000" dirty="0"/>
              <a:t>보다 일반화된 관점으로 기술하자면</a:t>
            </a:r>
            <a:r>
              <a:rPr lang="en-US" altLang="ko-KR" sz="2000" dirty="0"/>
              <a:t>, </a:t>
            </a:r>
            <a:r>
              <a:rPr lang="ko-KR" altLang="en-US" sz="2000" dirty="0" err="1" smtClean="0"/>
              <a:t>백트랙킹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알고리즘을 이용하여 문장의 모든 단어들을 각각 사전의 </a:t>
            </a:r>
            <a:r>
              <a:rPr lang="ko-KR" altLang="en-US" sz="2000" dirty="0" smtClean="0"/>
              <a:t>특정 </a:t>
            </a:r>
            <a:r>
              <a:rPr lang="ko-KR" altLang="en-US" sz="2000" dirty="0"/>
              <a:t>단어에 대응시킬 수 있는 가능한 조합들을 탐색하면서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매핑이</a:t>
            </a:r>
            <a:r>
              <a:rPr lang="ko-KR" altLang="en-US" sz="2000" dirty="0"/>
              <a:t> 일관되지 않게 되는 순간에는 </a:t>
            </a:r>
            <a:r>
              <a:rPr lang="ko-KR" altLang="en-US" sz="2000" dirty="0" smtClean="0"/>
              <a:t>더 이상 앞으로 </a:t>
            </a:r>
            <a:r>
              <a:rPr lang="ko-KR" altLang="en-US" sz="2000" dirty="0"/>
              <a:t>나아가지 않고 </a:t>
            </a:r>
            <a:r>
              <a:rPr lang="ko-KR" altLang="en-US" sz="2000" dirty="0" err="1" smtClean="0"/>
              <a:t>백트랙하는</a:t>
            </a:r>
            <a:r>
              <a:rPr lang="ko-KR" altLang="en-US" sz="2000" dirty="0" smtClean="0"/>
              <a:t> 방법이다</a:t>
            </a:r>
            <a:r>
              <a:rPr lang="en-US" altLang="ko-KR" sz="2000" dirty="0" smtClean="0"/>
              <a:t>.</a:t>
            </a:r>
            <a:endParaRPr lang="en-US" altLang="ko-KR" sz="2000" dirty="0"/>
          </a:p>
          <a:p>
            <a:r>
              <a:rPr lang="en-US" altLang="ko-KR" sz="2000" dirty="0" smtClean="0"/>
              <a:t>'</a:t>
            </a:r>
            <a:r>
              <a:rPr lang="ko-KR" altLang="en-US" sz="2000" dirty="0"/>
              <a:t>일관되지 않은 </a:t>
            </a:r>
            <a:r>
              <a:rPr lang="ko-KR" altLang="en-US" sz="2000" dirty="0" err="1"/>
              <a:t>매핑</a:t>
            </a:r>
            <a:r>
              <a:rPr lang="en-US" altLang="ko-KR" sz="2000" dirty="0"/>
              <a:t>'</a:t>
            </a:r>
            <a:r>
              <a:rPr lang="ko-KR" altLang="en-US" sz="2000" dirty="0"/>
              <a:t>을 좀더 엄밀하게 말한다면</a:t>
            </a:r>
            <a:r>
              <a:rPr lang="en-US" altLang="ko-KR" sz="2000" dirty="0"/>
              <a:t>, </a:t>
            </a:r>
            <a:r>
              <a:rPr lang="ko-KR" altLang="en-US" sz="2000" dirty="0"/>
              <a:t>다음과 같이 기술할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문제의 조건으로부터</a:t>
            </a:r>
            <a:r>
              <a:rPr lang="en-US" altLang="ko-KR" sz="2000" dirty="0"/>
              <a:t>, </a:t>
            </a:r>
            <a:r>
              <a:rPr lang="ko-KR" altLang="en-US" sz="2000" dirty="0" smtClean="0"/>
              <a:t>다음 </a:t>
            </a:r>
            <a:r>
              <a:rPr lang="ko-KR" altLang="en-US" sz="2000" dirty="0"/>
              <a:t>두 가지가 만족되어야 한다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1600" dirty="0" smtClean="0"/>
              <a:t>한 </a:t>
            </a:r>
            <a:r>
              <a:rPr lang="ko-KR" altLang="en-US" sz="1600" dirty="0"/>
              <a:t>문자가 서로 다른 두 문자로 </a:t>
            </a:r>
            <a:r>
              <a:rPr lang="ko-KR" altLang="en-US" sz="1600" dirty="0" err="1"/>
              <a:t>매핑되어서는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안된다</a:t>
            </a:r>
            <a:r>
              <a:rPr lang="en-US" altLang="ko-KR" sz="1600" dirty="0"/>
              <a:t>. </a:t>
            </a:r>
            <a:r>
              <a:rPr lang="ko-KR" altLang="en-US" sz="1600" dirty="0"/>
              <a:t>즉 </a:t>
            </a:r>
            <a:r>
              <a:rPr lang="en-US" altLang="ko-KR" sz="1600" dirty="0"/>
              <a:t>a-&gt;x, a-&gt;y</a:t>
            </a:r>
            <a:r>
              <a:rPr lang="ko-KR" altLang="en-US" sz="1600" dirty="0"/>
              <a:t>와 같은 </a:t>
            </a:r>
            <a:r>
              <a:rPr lang="ko-KR" altLang="en-US" sz="1600" dirty="0" err="1"/>
              <a:t>매핑이</a:t>
            </a:r>
            <a:r>
              <a:rPr lang="ko-KR" altLang="en-US" sz="1600" dirty="0"/>
              <a:t> 공존할 수 없다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 smtClean="0"/>
              <a:t>서로 </a:t>
            </a:r>
            <a:r>
              <a:rPr lang="ko-KR" altLang="en-US" sz="1600" dirty="0"/>
              <a:t>다른 두 문자가 같은 문자로 </a:t>
            </a:r>
            <a:r>
              <a:rPr lang="ko-KR" altLang="en-US" sz="1600" dirty="0" err="1"/>
              <a:t>매핑될</a:t>
            </a:r>
            <a:r>
              <a:rPr lang="ko-KR" altLang="en-US" sz="1600" dirty="0"/>
              <a:t> 수 없다</a:t>
            </a:r>
            <a:r>
              <a:rPr lang="en-US" altLang="ko-KR" sz="1600" dirty="0"/>
              <a:t>. </a:t>
            </a:r>
            <a:r>
              <a:rPr lang="ko-KR" altLang="en-US" sz="1600" dirty="0"/>
              <a:t>즉 </a:t>
            </a:r>
            <a:r>
              <a:rPr lang="en-US" altLang="ko-KR" sz="1600" dirty="0"/>
              <a:t>a-&gt;x, b-&gt;x</a:t>
            </a:r>
            <a:r>
              <a:rPr lang="ko-KR" altLang="en-US" sz="1600" dirty="0"/>
              <a:t>와 같은 경우는 있을 수 없다</a:t>
            </a:r>
            <a:r>
              <a:rPr lang="en-US" altLang="ko-KR" sz="1600" dirty="0"/>
              <a:t>.</a:t>
            </a:r>
          </a:p>
          <a:p>
            <a:r>
              <a:rPr lang="ko-KR" altLang="en-US" sz="2000" dirty="0" smtClean="0"/>
              <a:t>프로그램 </a:t>
            </a:r>
            <a:r>
              <a:rPr lang="ko-KR" altLang="en-US" sz="2000" dirty="0"/>
              <a:t>코드에서 </a:t>
            </a:r>
            <a:r>
              <a:rPr lang="en-US" altLang="ko-KR" sz="2000" dirty="0"/>
              <a:t>map</a:t>
            </a:r>
            <a:r>
              <a:rPr lang="ko-KR" altLang="en-US" sz="2000" dirty="0"/>
              <a:t>과 </a:t>
            </a:r>
            <a:r>
              <a:rPr lang="en-US" altLang="ko-KR" sz="2000" dirty="0" err="1"/>
              <a:t>inv</a:t>
            </a:r>
            <a:r>
              <a:rPr lang="ko-KR" altLang="en-US" sz="2000" dirty="0"/>
              <a:t>라는 배열을 볼 수 있을 것이다</a:t>
            </a:r>
            <a:r>
              <a:rPr lang="en-US" altLang="ko-KR" sz="2000" dirty="0"/>
              <a:t>. map</a:t>
            </a:r>
            <a:r>
              <a:rPr lang="ko-KR" altLang="en-US" sz="2000" dirty="0"/>
              <a:t>은 </a:t>
            </a:r>
            <a:r>
              <a:rPr lang="ko-KR" altLang="en-US" sz="2000" dirty="0" err="1"/>
              <a:t>매핑</a:t>
            </a:r>
            <a:r>
              <a:rPr lang="en-US" altLang="ko-KR" sz="2000" dirty="0"/>
              <a:t>, </a:t>
            </a:r>
            <a:r>
              <a:rPr lang="ko-KR" altLang="en-US" sz="2000" dirty="0"/>
              <a:t>그리고 </a:t>
            </a:r>
            <a:r>
              <a:rPr lang="en-US" altLang="ko-KR" sz="2000" dirty="0" err="1"/>
              <a:t>inv</a:t>
            </a:r>
            <a:r>
              <a:rPr lang="ko-KR" altLang="en-US" sz="2000" dirty="0"/>
              <a:t>는 </a:t>
            </a:r>
            <a:r>
              <a:rPr lang="en-US" altLang="ko-KR" sz="2000" dirty="0"/>
              <a:t>map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역변환을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저장한다</a:t>
            </a:r>
            <a:r>
              <a:rPr lang="en-US" altLang="ko-KR" sz="2000" dirty="0"/>
              <a:t>. </a:t>
            </a:r>
            <a:r>
              <a:rPr lang="ko-KR" altLang="en-US" sz="2000" dirty="0"/>
              <a:t>즉 </a:t>
            </a:r>
            <a:r>
              <a:rPr lang="en-US" altLang="ko-KR" sz="2000" dirty="0"/>
              <a:t>a-&gt;x</a:t>
            </a:r>
            <a:r>
              <a:rPr lang="ko-KR" altLang="en-US" sz="2000" dirty="0"/>
              <a:t>라는 </a:t>
            </a:r>
            <a:r>
              <a:rPr lang="ko-KR" altLang="en-US" sz="2000" dirty="0" err="1"/>
              <a:t>매핑은</a:t>
            </a:r>
            <a:r>
              <a:rPr lang="ko-KR" altLang="en-US" sz="2000" dirty="0"/>
              <a:t> </a:t>
            </a:r>
            <a:r>
              <a:rPr lang="en-US" altLang="ko-KR" sz="2000" dirty="0"/>
              <a:t>map['a'] == x </a:t>
            </a:r>
            <a:r>
              <a:rPr lang="ko-KR" altLang="en-US" sz="2000" dirty="0"/>
              <a:t>및 </a:t>
            </a:r>
            <a:r>
              <a:rPr lang="en-US" altLang="ko-KR" sz="2000" dirty="0" err="1"/>
              <a:t>inv</a:t>
            </a:r>
            <a:r>
              <a:rPr lang="en-US" altLang="ko-KR" sz="2000" dirty="0"/>
              <a:t>['x'] == 'a'</a:t>
            </a:r>
            <a:r>
              <a:rPr lang="ko-KR" altLang="en-US" sz="2000" dirty="0"/>
              <a:t>로 표현된다</a:t>
            </a:r>
            <a:r>
              <a:rPr lang="en-US" altLang="ko-KR" sz="2000" dirty="0"/>
              <a:t>. </a:t>
            </a:r>
            <a:r>
              <a:rPr lang="ko-KR" altLang="en-US" sz="2000" dirty="0"/>
              <a:t>구체적인 구현은 코드를 </a:t>
            </a:r>
            <a:r>
              <a:rPr lang="ko-KR" altLang="en-US" sz="2000" dirty="0" smtClean="0"/>
              <a:t>참고한다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31446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/>
              <a:t>#include &lt;</a:t>
            </a:r>
            <a:r>
              <a:rPr lang="en-US" altLang="ko-KR" sz="2000" dirty="0" err="1"/>
              <a:t>stdio.h</a:t>
            </a:r>
            <a:r>
              <a:rPr lang="en-US" altLang="ko-KR" sz="2000" dirty="0"/>
              <a:t>&gt;</a:t>
            </a:r>
          </a:p>
          <a:p>
            <a:pPr marL="0" indent="0">
              <a:buNone/>
            </a:pPr>
            <a:r>
              <a:rPr lang="en-US" altLang="ko-KR" sz="2000" dirty="0"/>
              <a:t>#include &lt;</a:t>
            </a:r>
            <a:r>
              <a:rPr lang="en-US" altLang="ko-KR" sz="2000" dirty="0" err="1"/>
              <a:t>string.h</a:t>
            </a:r>
            <a:r>
              <a:rPr lang="en-US" altLang="ko-KR" sz="2000" dirty="0"/>
              <a:t>&gt;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#define MAX_DIC_SIZE 1000</a:t>
            </a:r>
          </a:p>
          <a:p>
            <a:pPr marL="0" indent="0">
              <a:buNone/>
            </a:pPr>
            <a:r>
              <a:rPr lang="en-US" altLang="ko-KR" sz="2000" dirty="0"/>
              <a:t>#define MAX_LINE_LENGTH 80</a:t>
            </a:r>
          </a:p>
          <a:p>
            <a:pPr marL="0" indent="0">
              <a:buNone/>
            </a:pPr>
            <a:r>
              <a:rPr lang="en-US" altLang="ko-KR" sz="2000" dirty="0"/>
              <a:t>#define MAX_WORD_LENGTH 16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static char 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[MAX_DIC_SIZE][MAX_WORD_LENGTH + 1];</a:t>
            </a:r>
          </a:p>
          <a:p>
            <a:pPr marL="0" indent="0">
              <a:buNone/>
            </a:pPr>
            <a:r>
              <a:rPr lang="en-US" altLang="ko-KR" sz="2000" dirty="0"/>
              <a:t>static char line[MAX_LINE_LENGTH + 1];</a:t>
            </a:r>
          </a:p>
          <a:p>
            <a:pPr marL="0" indent="0">
              <a:buNone/>
            </a:pPr>
            <a:r>
              <a:rPr lang="en-US" altLang="ko-KR" sz="2000" dirty="0"/>
              <a:t>static unsigned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dic_size</a:t>
            </a:r>
            <a:r>
              <a:rPr lang="en-US" altLang="ko-KR" sz="2000" dirty="0"/>
              <a:t>;</a:t>
            </a:r>
          </a:p>
          <a:p>
            <a:pPr marL="0" indent="0">
              <a:buNone/>
            </a:pPr>
            <a:r>
              <a:rPr lang="en-US" altLang="ko-KR" sz="2000" dirty="0"/>
              <a:t>static unsigned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line_len</a:t>
            </a:r>
            <a:r>
              <a:rPr lang="en-US" altLang="ko-KR" sz="2000" dirty="0"/>
              <a:t>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// </a:t>
            </a:r>
            <a:r>
              <a:rPr lang="ko-KR" altLang="en-US" sz="2000" dirty="0"/>
              <a:t>암호문 </a:t>
            </a:r>
            <a:r>
              <a:rPr lang="en-US" altLang="ko-KR" sz="2000" dirty="0"/>
              <a:t>line</a:t>
            </a:r>
            <a:r>
              <a:rPr lang="ko-KR" altLang="en-US" sz="2000" dirty="0"/>
              <a:t>의 </a:t>
            </a:r>
            <a:r>
              <a:rPr lang="en-US" altLang="ko-KR" sz="2000" dirty="0"/>
              <a:t>k</a:t>
            </a:r>
            <a:r>
              <a:rPr lang="ko-KR" altLang="en-US" sz="2000" dirty="0"/>
              <a:t>번째 위치 이후에 처음 나타나는 단어를 </a:t>
            </a:r>
            <a:r>
              <a:rPr lang="ko-KR" altLang="en-US" sz="2000" dirty="0" smtClean="0"/>
              <a:t>사전의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 smtClean="0"/>
              <a:t>//</a:t>
            </a:r>
            <a:r>
              <a:rPr lang="ko-KR" altLang="en-US" sz="2000" dirty="0" smtClean="0"/>
              <a:t> 단어와</a:t>
            </a:r>
            <a:r>
              <a:rPr lang="en-US" altLang="ko-KR" sz="2000" dirty="0" smtClean="0"/>
              <a:t> </a:t>
            </a:r>
            <a:r>
              <a:rPr lang="ko-KR" altLang="en-US" sz="2000" dirty="0"/>
              <a:t>일치시켜 보고</a:t>
            </a:r>
            <a:r>
              <a:rPr lang="en-US" altLang="ko-KR" sz="2000" dirty="0"/>
              <a:t>, map/</a:t>
            </a:r>
            <a:r>
              <a:rPr lang="en-US" altLang="ko-KR" sz="2000" dirty="0" err="1"/>
              <a:t>inv</a:t>
            </a:r>
            <a:r>
              <a:rPr lang="ko-KR" altLang="en-US" sz="2000" dirty="0"/>
              <a:t>와 일관되는 </a:t>
            </a:r>
            <a:r>
              <a:rPr lang="en-US" altLang="ko-KR" sz="2000" dirty="0"/>
              <a:t>mapping</a:t>
            </a:r>
            <a:r>
              <a:rPr lang="ko-KR" altLang="en-US" sz="2000" dirty="0" smtClean="0"/>
              <a:t>인지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 smtClean="0"/>
              <a:t>//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검사하면서 계속 탐색한다</a:t>
            </a:r>
            <a:r>
              <a:rPr lang="en-US" altLang="ko-KR" sz="2000" dirty="0" smtClean="0"/>
              <a:t>.</a:t>
            </a:r>
            <a:endParaRPr lang="en-US" altLang="ko-KR" sz="20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91081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 err="1"/>
              <a:t>int</a:t>
            </a:r>
            <a:r>
              <a:rPr lang="en-US" altLang="ko-KR" sz="2000" dirty="0"/>
              <a:t> search(unsigned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k, char *map, char *</a:t>
            </a:r>
            <a:r>
              <a:rPr lang="en-US" altLang="ko-KR" sz="2000" dirty="0" err="1"/>
              <a:t>inv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{</a:t>
            </a:r>
          </a:p>
          <a:p>
            <a:pPr marL="0" indent="0">
              <a:buNone/>
            </a:pPr>
            <a:r>
              <a:rPr lang="en-US" altLang="ko-KR" sz="2000" dirty="0"/>
              <a:t>    char word[MAX_WORD_LENGTH + 1];</a:t>
            </a:r>
          </a:p>
          <a:p>
            <a:pPr marL="0" indent="0">
              <a:buNone/>
            </a:pPr>
            <a:r>
              <a:rPr lang="en-US" altLang="ko-KR" sz="2000" dirty="0"/>
              <a:t>    char map2['z' + 1], inv2['z' + 1];</a:t>
            </a:r>
          </a:p>
          <a:p>
            <a:pPr marL="0" indent="0">
              <a:buNone/>
            </a:pPr>
            <a:r>
              <a:rPr lang="en-US" altLang="ko-KR" sz="2000" dirty="0"/>
              <a:t>    unsigned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, j, t;</a:t>
            </a:r>
          </a:p>
          <a:p>
            <a:pPr marL="0" indent="0">
              <a:buNone/>
            </a:pPr>
            <a:r>
              <a:rPr lang="en-US" altLang="ko-KR" sz="2000" dirty="0"/>
              <a:t>    char c;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while (line[k] == ' ') k++;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if (k &gt;= </a:t>
            </a:r>
            <a:r>
              <a:rPr lang="en-US" altLang="ko-KR" sz="2000" dirty="0" err="1"/>
              <a:t>line_len</a:t>
            </a:r>
            <a:r>
              <a:rPr lang="en-US" altLang="ko-KR" sz="2000" dirty="0"/>
              <a:t>) { // </a:t>
            </a:r>
            <a:r>
              <a:rPr lang="ko-KR" altLang="en-US" sz="2000" dirty="0"/>
              <a:t>문장 끝까지 도달했음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    // </a:t>
            </a:r>
            <a:r>
              <a:rPr lang="ko-KR" altLang="en-US" sz="2000" dirty="0" err="1"/>
              <a:t>평문을</a:t>
            </a:r>
            <a:r>
              <a:rPr lang="ko-KR" altLang="en-US" sz="2000" dirty="0"/>
              <a:t> 출력하고 돌아간다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    for 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 0;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&lt; </a:t>
            </a:r>
            <a:r>
              <a:rPr lang="en-US" altLang="ko-KR" sz="2000" dirty="0" err="1"/>
              <a:t>line_len</a:t>
            </a:r>
            <a:r>
              <a:rPr lang="en-US" altLang="ko-KR" sz="2000" dirty="0"/>
              <a:t>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++)</a:t>
            </a:r>
          </a:p>
          <a:p>
            <a:pPr marL="0" indent="0">
              <a:buNone/>
            </a:pPr>
            <a:r>
              <a:rPr lang="en-US" altLang="ko-KR" sz="2000" dirty="0"/>
              <a:t>            </a:t>
            </a:r>
            <a:r>
              <a:rPr lang="en-US" altLang="ko-KR" sz="2000" dirty="0" err="1"/>
              <a:t>putchar</a:t>
            </a:r>
            <a:r>
              <a:rPr lang="en-US" altLang="ko-KR" sz="2000" dirty="0"/>
              <a:t>(line[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 == ' ' ? ' ' : map[line[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]]);</a:t>
            </a:r>
          </a:p>
          <a:p>
            <a:pPr marL="0" indent="0">
              <a:buNone/>
            </a:pPr>
            <a:r>
              <a:rPr lang="en-US" altLang="ko-KR" sz="2000" dirty="0"/>
              <a:t>        </a:t>
            </a:r>
            <a:r>
              <a:rPr lang="en-US" altLang="ko-KR" sz="2000" dirty="0" err="1"/>
              <a:t>putchar</a:t>
            </a:r>
            <a:r>
              <a:rPr lang="en-US" altLang="ko-KR" sz="2000" dirty="0"/>
              <a:t>('\n');</a:t>
            </a:r>
          </a:p>
          <a:p>
            <a:pPr marL="0" indent="0">
              <a:buNone/>
            </a:pPr>
            <a:r>
              <a:rPr lang="en-US" altLang="ko-KR" sz="2000" dirty="0"/>
              <a:t>        return 1;</a:t>
            </a:r>
          </a:p>
          <a:p>
            <a:pPr marL="0" indent="0">
              <a:buNone/>
            </a:pPr>
            <a:r>
              <a:rPr lang="en-US" altLang="ko-KR" sz="2000" dirty="0"/>
              <a:t>    }</a:t>
            </a:r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56798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 // </a:t>
            </a:r>
            <a:r>
              <a:rPr lang="en-US" altLang="ko-KR" sz="2000" dirty="0"/>
              <a:t>k</a:t>
            </a:r>
            <a:r>
              <a:rPr lang="ko-KR" altLang="en-US" sz="2000" dirty="0"/>
              <a:t>번째 위치 이후의 </a:t>
            </a:r>
            <a:r>
              <a:rPr lang="ko-KR" altLang="en-US" sz="2000" dirty="0" err="1"/>
              <a:t>첫번째</a:t>
            </a:r>
            <a:r>
              <a:rPr lang="ko-KR" altLang="en-US" sz="2000" dirty="0"/>
              <a:t> 단어를 얻어낸다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for (t = 0; line[k + t] &gt;= 'a' &amp;&amp; line[k + t] &lt;= 'z'; t++)</a:t>
            </a:r>
          </a:p>
          <a:p>
            <a:pPr marL="0" indent="0">
              <a:buNone/>
            </a:pPr>
            <a:r>
              <a:rPr lang="en-US" altLang="ko-KR" sz="2000" dirty="0"/>
              <a:t>        word[t] = line[k + t];</a:t>
            </a:r>
          </a:p>
          <a:p>
            <a:pPr marL="0" indent="0">
              <a:buNone/>
            </a:pPr>
            <a:r>
              <a:rPr lang="en-US" altLang="ko-KR" sz="2000" dirty="0"/>
              <a:t>    word[t] = '\0';</a:t>
            </a:r>
          </a:p>
          <a:p>
            <a:pPr marL="0" indent="0">
              <a:buNone/>
            </a:pPr>
            <a:r>
              <a:rPr lang="en-US" altLang="ko-KR" sz="2000" dirty="0"/>
              <a:t>    for 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 0;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&lt; </a:t>
            </a:r>
            <a:r>
              <a:rPr lang="en-US" altLang="ko-KR" sz="2000" dirty="0" err="1"/>
              <a:t>dic_size</a:t>
            </a:r>
            <a:r>
              <a:rPr lang="en-US" altLang="ko-KR" sz="2000" dirty="0"/>
              <a:t>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++) {</a:t>
            </a:r>
          </a:p>
          <a:p>
            <a:pPr marL="0" indent="0">
              <a:buNone/>
            </a:pPr>
            <a:r>
              <a:rPr lang="en-US" altLang="ko-KR" sz="2000" dirty="0"/>
              <a:t>        // </a:t>
            </a:r>
            <a:r>
              <a:rPr lang="ko-KR" altLang="en-US" sz="2000" dirty="0"/>
              <a:t>사전에서 길이가 같은 단어를 검색</a:t>
            </a:r>
          </a:p>
          <a:p>
            <a:pPr marL="0" indent="0">
              <a:buNone/>
            </a:pPr>
            <a:r>
              <a:rPr lang="ko-KR" altLang="en-US" sz="2000" dirty="0"/>
              <a:t>        </a:t>
            </a:r>
            <a:r>
              <a:rPr lang="en-US" altLang="ko-KR" sz="2000" dirty="0"/>
              <a:t>if (</a:t>
            </a:r>
            <a:r>
              <a:rPr lang="en-US" altLang="ko-KR" sz="2000" dirty="0" err="1"/>
              <a:t>strlen</a:t>
            </a:r>
            <a:r>
              <a:rPr lang="en-US" altLang="ko-KR" sz="2000" dirty="0"/>
              <a:t>(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]) == t) {</a:t>
            </a:r>
          </a:p>
          <a:p>
            <a:pPr marL="0" indent="0">
              <a:buNone/>
            </a:pPr>
            <a:r>
              <a:rPr lang="en-US" altLang="ko-KR" sz="2000" dirty="0"/>
              <a:t>            for (c = 'a'; c &lt;= 'z'; </a:t>
            </a:r>
            <a:r>
              <a:rPr lang="en-US" altLang="ko-KR" sz="2000" dirty="0" err="1"/>
              <a:t>c++</a:t>
            </a:r>
            <a:r>
              <a:rPr lang="en-US" altLang="ko-KR" sz="2000" dirty="0"/>
              <a:t>) {</a:t>
            </a:r>
          </a:p>
          <a:p>
            <a:pPr marL="0" indent="0">
              <a:buNone/>
            </a:pPr>
            <a:r>
              <a:rPr lang="en-US" altLang="ko-KR" sz="2000" dirty="0"/>
              <a:t>                map2[c] = map[c];</a:t>
            </a:r>
          </a:p>
          <a:p>
            <a:pPr marL="0" indent="0">
              <a:buNone/>
            </a:pPr>
            <a:r>
              <a:rPr lang="en-US" altLang="ko-KR" sz="2000" dirty="0"/>
              <a:t>                inv2[c] = </a:t>
            </a:r>
            <a:r>
              <a:rPr lang="en-US" altLang="ko-KR" sz="2000" dirty="0" err="1"/>
              <a:t>inv</a:t>
            </a:r>
            <a:r>
              <a:rPr lang="en-US" altLang="ko-KR" sz="2000" dirty="0"/>
              <a:t>[c];</a:t>
            </a:r>
          </a:p>
          <a:p>
            <a:pPr marL="0" indent="0">
              <a:buNone/>
            </a:pPr>
            <a:r>
              <a:rPr lang="en-US" altLang="ko-KR" sz="2000" dirty="0"/>
              <a:t>            </a:t>
            </a:r>
            <a:r>
              <a:rPr lang="en-US" altLang="ko-KR" sz="2000" dirty="0" smtClean="0"/>
              <a:t>}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        // </a:t>
            </a:r>
            <a:r>
              <a:rPr lang="en-US" altLang="ko-KR" sz="2000" dirty="0"/>
              <a:t>word</a:t>
            </a:r>
            <a:r>
              <a:rPr lang="ko-KR" altLang="en-US" sz="2000" dirty="0"/>
              <a:t>를 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</a:t>
            </a:r>
            <a:r>
              <a:rPr lang="ko-KR" altLang="en-US" sz="2000" dirty="0"/>
              <a:t>에 일치시키면서</a:t>
            </a:r>
            <a:r>
              <a:rPr lang="en-US" altLang="ko-KR" sz="2000" dirty="0"/>
              <a:t>, mapping</a:t>
            </a:r>
            <a:r>
              <a:rPr lang="ko-KR" altLang="en-US" sz="2000" dirty="0"/>
              <a:t>의 </a:t>
            </a:r>
            <a:r>
              <a:rPr lang="ko-KR" altLang="en-US" sz="2000" dirty="0" smtClean="0"/>
              <a:t>일관성이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        //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유지되는지 검사한다</a:t>
            </a:r>
          </a:p>
          <a:p>
            <a:pPr marL="0" indent="0">
              <a:buNone/>
            </a:pPr>
            <a:r>
              <a:rPr lang="ko-KR" altLang="en-US" sz="2000" dirty="0" smtClean="0"/>
              <a:t>           </a:t>
            </a:r>
            <a:r>
              <a:rPr lang="en-US" altLang="ko-KR" sz="2000" dirty="0" smtClean="0"/>
              <a:t>for (j = 0; j &lt; t; j++)</a:t>
            </a:r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217036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8208912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 smtClean="0"/>
              <a:t>               // </a:t>
            </a:r>
            <a:r>
              <a:rPr lang="ko-KR" altLang="en-US" sz="2000" dirty="0"/>
              <a:t>일관성을 깨뜨리는 두 가지 조건 검사</a:t>
            </a:r>
            <a:r>
              <a:rPr lang="en-US" altLang="ko-KR" sz="2000" dirty="0"/>
              <a:t>(</a:t>
            </a:r>
            <a:r>
              <a:rPr lang="ko-KR" altLang="en-US" sz="2000" dirty="0"/>
              <a:t>문제 설명 참조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               if (map2[word[j]] &amp;&amp; map2[word[j]] != 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][j]</a:t>
            </a:r>
          </a:p>
          <a:p>
            <a:pPr marL="0" indent="0">
              <a:buNone/>
            </a:pPr>
            <a:r>
              <a:rPr lang="en-US" altLang="ko-KR" sz="2000" dirty="0"/>
              <a:t>                    || inv2[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][j]] &amp;&amp; inv2[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][j]] != word[j])</a:t>
            </a:r>
          </a:p>
          <a:p>
            <a:pPr marL="0" indent="0">
              <a:buNone/>
            </a:pPr>
            <a:r>
              <a:rPr lang="en-US" altLang="ko-KR" sz="2000" dirty="0"/>
              <a:t>                    </a:t>
            </a:r>
            <a:r>
              <a:rPr lang="en-US" altLang="ko-KR" sz="2000" dirty="0" err="1"/>
              <a:t>goto</a:t>
            </a:r>
            <a:r>
              <a:rPr lang="en-US" altLang="ko-KR" sz="2000" dirty="0"/>
              <a:t> </a:t>
            </a:r>
            <a:r>
              <a:rPr lang="en-US" altLang="ko-KR" sz="2000" dirty="0" err="1"/>
              <a:t>end_of_loop_i</a:t>
            </a:r>
            <a:r>
              <a:rPr lang="en-US" altLang="ko-KR" sz="2000" dirty="0"/>
              <a:t>;</a:t>
            </a:r>
          </a:p>
          <a:p>
            <a:pPr marL="0" indent="0">
              <a:buNone/>
            </a:pPr>
            <a:r>
              <a:rPr lang="en-US" altLang="ko-KR" sz="2000" dirty="0"/>
              <a:t>                else {</a:t>
            </a:r>
          </a:p>
          <a:p>
            <a:pPr marL="0" indent="0">
              <a:buNone/>
            </a:pPr>
            <a:r>
              <a:rPr lang="en-US" altLang="ko-KR" sz="2000" dirty="0"/>
              <a:t>                    // mapping</a:t>
            </a:r>
            <a:r>
              <a:rPr lang="ko-KR" altLang="en-US" sz="2000" dirty="0"/>
              <a:t>을 업데이트한다</a:t>
            </a:r>
          </a:p>
          <a:p>
            <a:pPr marL="0" indent="0">
              <a:buNone/>
            </a:pPr>
            <a:r>
              <a:rPr lang="ko-KR" altLang="en-US" sz="2000" dirty="0"/>
              <a:t>                    </a:t>
            </a:r>
            <a:r>
              <a:rPr lang="en-US" altLang="ko-KR" sz="2000" dirty="0"/>
              <a:t>map2[word[j]] = 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][j];</a:t>
            </a:r>
          </a:p>
          <a:p>
            <a:pPr marL="0" indent="0">
              <a:buNone/>
            </a:pPr>
            <a:r>
              <a:rPr lang="en-US" altLang="ko-KR" sz="2000" dirty="0"/>
              <a:t>                    inv2[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][j]] = word[j];</a:t>
            </a:r>
          </a:p>
          <a:p>
            <a:pPr marL="0" indent="0">
              <a:buNone/>
            </a:pPr>
            <a:r>
              <a:rPr lang="en-US" altLang="ko-KR" sz="2000" dirty="0"/>
              <a:t>                }</a:t>
            </a:r>
          </a:p>
          <a:p>
            <a:pPr marL="0" indent="0">
              <a:buNone/>
            </a:pPr>
            <a:r>
              <a:rPr lang="en-US" altLang="ko-KR" sz="2000" dirty="0"/>
              <a:t>            // word</a:t>
            </a:r>
            <a:r>
              <a:rPr lang="ko-KR" altLang="en-US" sz="2000" dirty="0"/>
              <a:t>를 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</a:t>
            </a:r>
            <a:r>
              <a:rPr lang="ko-KR" altLang="en-US" sz="2000" dirty="0"/>
              <a:t>에 일치시킬 수 있는 경우</a:t>
            </a:r>
          </a:p>
          <a:p>
            <a:pPr marL="0" indent="0">
              <a:buNone/>
            </a:pPr>
            <a:r>
              <a:rPr lang="ko-KR" altLang="en-US" sz="2000" dirty="0"/>
              <a:t>            </a:t>
            </a:r>
            <a:r>
              <a:rPr lang="en-US" altLang="ko-KR" sz="2000" dirty="0"/>
              <a:t>// </a:t>
            </a:r>
            <a:r>
              <a:rPr lang="ko-KR" altLang="en-US" sz="2000" dirty="0"/>
              <a:t>다음 단어를 찾기 위해 탐색을 계속한다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        if (search(k + t, map2, inv2))</a:t>
            </a:r>
          </a:p>
          <a:p>
            <a:pPr marL="0" indent="0">
              <a:buNone/>
            </a:pPr>
            <a:r>
              <a:rPr lang="en-US" altLang="ko-KR" sz="2000" dirty="0"/>
              <a:t>                return 1;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end_of_loop_i</a:t>
            </a:r>
            <a:r>
              <a:rPr lang="en-US" altLang="ko-KR" sz="2000" dirty="0"/>
              <a:t>: ;</a:t>
            </a:r>
          </a:p>
          <a:p>
            <a:pPr marL="0" indent="0">
              <a:buNone/>
            </a:pPr>
            <a:r>
              <a:rPr lang="en-US" altLang="ko-KR" sz="2000" dirty="0"/>
              <a:t>        }</a:t>
            </a:r>
          </a:p>
          <a:p>
            <a:pPr marL="0" indent="0">
              <a:buNone/>
            </a:pPr>
            <a:r>
              <a:rPr lang="en-US" altLang="ko-KR" sz="2000" dirty="0"/>
              <a:t>    }</a:t>
            </a:r>
          </a:p>
          <a:p>
            <a:pPr marL="0" indent="0">
              <a:buNone/>
            </a:pPr>
            <a:r>
              <a:rPr lang="en-US" altLang="ko-KR" sz="2000" dirty="0"/>
              <a:t>    return 0;</a:t>
            </a:r>
          </a:p>
          <a:p>
            <a:pPr marL="0" indent="0">
              <a:buNone/>
            </a:pPr>
            <a:r>
              <a:rPr lang="en-US" altLang="ko-KR" sz="20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66143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8208912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/>
              <a:t>void main(void)</a:t>
            </a:r>
          </a:p>
          <a:p>
            <a:pPr marL="0" indent="0">
              <a:buNone/>
            </a:pPr>
            <a:r>
              <a:rPr lang="en-US" altLang="ko-KR" sz="2000" dirty="0"/>
              <a:t>{</a:t>
            </a:r>
          </a:p>
          <a:p>
            <a:pPr marL="0" indent="0">
              <a:buNone/>
            </a:pPr>
            <a:r>
              <a:rPr lang="en-US" altLang="ko-KR" sz="2000" dirty="0"/>
              <a:t>    char map['z' + 1], </a:t>
            </a:r>
            <a:r>
              <a:rPr lang="en-US" altLang="ko-KR" sz="2000" dirty="0" err="1"/>
              <a:t>inv</a:t>
            </a:r>
            <a:r>
              <a:rPr lang="en-US" altLang="ko-KR" sz="2000" dirty="0"/>
              <a:t>['z' + 1];</a:t>
            </a:r>
          </a:p>
          <a:p>
            <a:pPr marL="0" indent="0">
              <a:buNone/>
            </a:pPr>
            <a:r>
              <a:rPr lang="en-US" altLang="ko-KR" sz="2000" dirty="0"/>
              <a:t>    unsigned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scanf</a:t>
            </a:r>
            <a:r>
              <a:rPr lang="en-US" altLang="ko-KR" sz="2000" dirty="0"/>
              <a:t>("%d", &amp;</a:t>
            </a:r>
            <a:r>
              <a:rPr lang="en-US" altLang="ko-KR" sz="2000" dirty="0" err="1"/>
              <a:t>dic_size</a:t>
            </a:r>
            <a:r>
              <a:rPr lang="en-US" altLang="ko-KR" sz="2000" dirty="0"/>
              <a:t>);</a:t>
            </a:r>
          </a:p>
          <a:p>
            <a:pPr marL="0" indent="0">
              <a:buNone/>
            </a:pPr>
            <a:r>
              <a:rPr lang="en-US" altLang="ko-KR" sz="2000" dirty="0"/>
              <a:t>    gets(line);</a:t>
            </a:r>
          </a:p>
          <a:p>
            <a:pPr marL="0" indent="0">
              <a:buNone/>
            </a:pPr>
            <a:r>
              <a:rPr lang="en-US" altLang="ko-KR" sz="2000" dirty="0"/>
              <a:t>    for 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 0;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&lt; </a:t>
            </a:r>
            <a:r>
              <a:rPr lang="en-US" altLang="ko-KR" sz="2000" dirty="0" err="1"/>
              <a:t>dic_size</a:t>
            </a:r>
            <a:r>
              <a:rPr lang="en-US" altLang="ko-KR" sz="2000" dirty="0"/>
              <a:t>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++)</a:t>
            </a:r>
          </a:p>
          <a:p>
            <a:pPr marL="0" indent="0">
              <a:buNone/>
            </a:pPr>
            <a:r>
              <a:rPr lang="en-US" altLang="ko-KR" sz="2000" dirty="0"/>
              <a:t>        gets(</a:t>
            </a:r>
            <a:r>
              <a:rPr lang="en-US" altLang="ko-KR" sz="2000" dirty="0" err="1"/>
              <a:t>dic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]);</a:t>
            </a:r>
          </a:p>
          <a:p>
            <a:pPr marL="0" indent="0">
              <a:buNone/>
            </a:pPr>
            <a:r>
              <a:rPr lang="en-US" altLang="ko-KR" sz="2000" dirty="0"/>
              <a:t>    while (gets(line) &amp;&amp; *line != EOF) {</a:t>
            </a:r>
          </a:p>
          <a:p>
            <a:pPr marL="0" indent="0">
              <a:buNone/>
            </a:pPr>
            <a:r>
              <a:rPr lang="en-US" altLang="ko-KR" sz="2000" dirty="0"/>
              <a:t>        </a:t>
            </a:r>
            <a:r>
              <a:rPr lang="en-US" altLang="ko-KR" sz="2000" dirty="0" err="1"/>
              <a:t>line_len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strlen</a:t>
            </a:r>
            <a:r>
              <a:rPr lang="en-US" altLang="ko-KR" sz="2000" dirty="0"/>
              <a:t>(line);</a:t>
            </a:r>
          </a:p>
          <a:p>
            <a:pPr marL="0" indent="0">
              <a:buNone/>
            </a:pPr>
            <a:r>
              <a:rPr lang="en-US" altLang="ko-KR" sz="2000" dirty="0"/>
              <a:t>        for 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 'a';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&lt;= 'z';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++) {</a:t>
            </a:r>
          </a:p>
          <a:p>
            <a:pPr marL="0" indent="0">
              <a:buNone/>
            </a:pPr>
            <a:r>
              <a:rPr lang="en-US" altLang="ko-KR" sz="2000" dirty="0"/>
              <a:t>            map[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 = '\0';</a:t>
            </a:r>
          </a:p>
          <a:p>
            <a:pPr marL="0" indent="0">
              <a:buNone/>
            </a:pPr>
            <a:r>
              <a:rPr lang="en-US" altLang="ko-KR" sz="2000" dirty="0"/>
              <a:t>            </a:t>
            </a:r>
            <a:r>
              <a:rPr lang="en-US" altLang="ko-KR" sz="2000" dirty="0" err="1"/>
              <a:t>inv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 = '\0';</a:t>
            </a:r>
          </a:p>
          <a:p>
            <a:pPr marL="0" indent="0">
              <a:buNone/>
            </a:pPr>
            <a:r>
              <a:rPr lang="en-US" altLang="ko-KR" sz="2000" dirty="0"/>
              <a:t>        </a:t>
            </a:r>
            <a:r>
              <a:rPr lang="en-US" altLang="ko-KR" sz="2000" dirty="0" smtClean="0"/>
              <a:t>}</a:t>
            </a:r>
            <a:endParaRPr lang="en-US" altLang="ko-KR" sz="20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55943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8208912" cy="6264696"/>
          </a:xfrm>
        </p:spPr>
        <p:txBody>
          <a:bodyPr/>
          <a:lstStyle/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if (!search(0, map, </a:t>
            </a:r>
            <a:r>
              <a:rPr lang="en-US" altLang="ko-KR" sz="2000" dirty="0" err="1"/>
              <a:t>inv</a:t>
            </a:r>
            <a:r>
              <a:rPr lang="en-US" altLang="ko-KR" sz="2000" dirty="0"/>
              <a:t>)) {</a:t>
            </a:r>
          </a:p>
          <a:p>
            <a:pPr marL="0" indent="0">
              <a:buNone/>
            </a:pPr>
            <a:r>
              <a:rPr lang="en-US" altLang="ko-KR" sz="2000" dirty="0"/>
              <a:t>            for 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 0;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&lt; </a:t>
            </a:r>
            <a:r>
              <a:rPr lang="en-US" altLang="ko-KR" sz="2000" dirty="0" err="1"/>
              <a:t>line_len</a:t>
            </a:r>
            <a:r>
              <a:rPr lang="en-US" altLang="ko-KR" sz="2000" dirty="0"/>
              <a:t>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++)</a:t>
            </a:r>
          </a:p>
          <a:p>
            <a:pPr marL="0" indent="0">
              <a:buNone/>
            </a:pPr>
            <a:r>
              <a:rPr lang="en-US" altLang="ko-KR" sz="2000" dirty="0"/>
              <a:t>                </a:t>
            </a:r>
            <a:r>
              <a:rPr lang="en-US" altLang="ko-KR" sz="2000" dirty="0" err="1"/>
              <a:t>putchar</a:t>
            </a:r>
            <a:r>
              <a:rPr lang="en-US" altLang="ko-KR" sz="2000" dirty="0"/>
              <a:t>(line[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 == ' ' ? ' ' : '*');</a:t>
            </a:r>
          </a:p>
          <a:p>
            <a:pPr marL="0" indent="0">
              <a:buNone/>
            </a:pPr>
            <a:r>
              <a:rPr lang="en-US" altLang="ko-KR" sz="2000" dirty="0"/>
              <a:t>            </a:t>
            </a:r>
            <a:r>
              <a:rPr lang="en-US" altLang="ko-KR" sz="2000" dirty="0" err="1"/>
              <a:t>putchar</a:t>
            </a:r>
            <a:r>
              <a:rPr lang="en-US" altLang="ko-KR" sz="2000" dirty="0"/>
              <a:t>('\n');</a:t>
            </a:r>
          </a:p>
          <a:p>
            <a:pPr marL="0" indent="0">
              <a:buNone/>
            </a:pPr>
            <a:r>
              <a:rPr lang="en-US" altLang="ko-KR" sz="2000" dirty="0"/>
              <a:t>        }</a:t>
            </a:r>
          </a:p>
          <a:p>
            <a:pPr marL="0" indent="0">
              <a:buNone/>
            </a:pPr>
            <a:r>
              <a:rPr lang="en-US" altLang="ko-KR" sz="2000" dirty="0"/>
              <a:t>    }</a:t>
            </a:r>
          </a:p>
          <a:p>
            <a:pPr marL="0" indent="0">
              <a:buNone/>
            </a:pPr>
            <a:r>
              <a:rPr lang="en-US" altLang="ko-KR" sz="2000" dirty="0" smtClean="0"/>
              <a:t>}</a:t>
            </a:r>
            <a:endParaRPr lang="en-US" altLang="ko-KR" sz="20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046249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7510</TotalTime>
  <Words>2967</Words>
  <Application>Microsoft Office PowerPoint</Application>
  <PresentationFormat>화면 슬라이드 쇼(4:3)</PresentationFormat>
  <Paragraphs>544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Open Sans</vt:lpstr>
      <vt:lpstr>굴림</vt:lpstr>
      <vt:lpstr>굴림체</vt:lpstr>
      <vt:lpstr>바탕</vt:lpstr>
      <vt:lpstr>산돌명조 M</vt:lpstr>
      <vt:lpstr>기본 디자인</vt:lpstr>
      <vt:lpstr>제 2장 자료 구조(2)</vt:lpstr>
      <vt:lpstr>PowerPoint 프레젠테이션</vt:lpstr>
      <vt:lpstr>추상 자료 구조</vt:lpstr>
      <vt:lpstr>C++ 표준 템플릿 라이브러리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자바의 java.util 패키지</vt:lpstr>
      <vt:lpstr>PowerPoint 프레젠테이션</vt:lpstr>
      <vt:lpstr>PowerPoint 프레젠테이션</vt:lpstr>
      <vt:lpstr>PowerPoint 프레젠테이션</vt:lpstr>
      <vt:lpstr>데이터의 검색, 삽입, 삭제 시 성능 비교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문제 11 동맹 휴업(Hartal)</vt:lpstr>
      <vt:lpstr>PowerPoint 프레젠테이션</vt:lpstr>
      <vt:lpstr>PowerPoint 프레젠테이션</vt:lpstr>
      <vt:lpstr>PowerPoint 프레젠테이션</vt:lpstr>
      <vt:lpstr>문제 11 동맹 휴업(Hartal)힌트</vt:lpstr>
      <vt:lpstr>PowerPoint 프레젠테이션</vt:lpstr>
      <vt:lpstr>PowerPoint 프레젠테이션</vt:lpstr>
      <vt:lpstr>문제 12 암호깨기(Crypt Kicker)</vt:lpstr>
      <vt:lpstr>PowerPoint 프레젠테이션</vt:lpstr>
      <vt:lpstr>PowerPoint 프레젠테이션</vt:lpstr>
      <vt:lpstr>PowerPoint 프레젠테이션</vt:lpstr>
      <vt:lpstr>문제 12 암호 깨기(Crypt Kicker)힌트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</dc:creator>
  <cp:lastModifiedBy>하 진영</cp:lastModifiedBy>
  <cp:revision>357</cp:revision>
  <dcterms:created xsi:type="dcterms:W3CDTF">2003-02-22T04:47:49Z</dcterms:created>
  <dcterms:modified xsi:type="dcterms:W3CDTF">2019-09-16T06:56:09Z</dcterms:modified>
</cp:coreProperties>
</file>