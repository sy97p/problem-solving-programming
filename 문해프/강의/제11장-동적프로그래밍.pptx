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434" r:id="rId2"/>
    <p:sldId id="457" r:id="rId3"/>
    <p:sldId id="581" r:id="rId4"/>
    <p:sldId id="437" r:id="rId5"/>
    <p:sldId id="644" r:id="rId6"/>
    <p:sldId id="645" r:id="rId7"/>
    <p:sldId id="562" r:id="rId8"/>
    <p:sldId id="602" r:id="rId9"/>
    <p:sldId id="603" r:id="rId10"/>
    <p:sldId id="604" r:id="rId11"/>
    <p:sldId id="606" r:id="rId12"/>
    <p:sldId id="607" r:id="rId13"/>
    <p:sldId id="629" r:id="rId14"/>
    <p:sldId id="541" r:id="rId15"/>
    <p:sldId id="611" r:id="rId16"/>
    <p:sldId id="612" r:id="rId17"/>
    <p:sldId id="565" r:id="rId18"/>
    <p:sldId id="613" r:id="rId19"/>
    <p:sldId id="634" r:id="rId20"/>
    <p:sldId id="635" r:id="rId21"/>
    <p:sldId id="636" r:id="rId22"/>
    <p:sldId id="633" r:id="rId23"/>
    <p:sldId id="614" r:id="rId24"/>
    <p:sldId id="615" r:id="rId25"/>
    <p:sldId id="617" r:id="rId26"/>
    <p:sldId id="661" r:id="rId27"/>
    <p:sldId id="662" r:id="rId28"/>
    <p:sldId id="671" r:id="rId29"/>
    <p:sldId id="666" r:id="rId30"/>
    <p:sldId id="667" r:id="rId31"/>
    <p:sldId id="668" r:id="rId32"/>
    <p:sldId id="669" r:id="rId33"/>
    <p:sldId id="495" r:id="rId34"/>
    <p:sldId id="618" r:id="rId35"/>
    <p:sldId id="518" r:id="rId36"/>
    <p:sldId id="496" r:id="rId37"/>
    <p:sldId id="637" r:id="rId38"/>
    <p:sldId id="585" r:id="rId39"/>
    <p:sldId id="586" r:id="rId40"/>
    <p:sldId id="639" r:id="rId41"/>
    <p:sldId id="619" r:id="rId42"/>
    <p:sldId id="587" r:id="rId43"/>
    <p:sldId id="589" r:id="rId44"/>
    <p:sldId id="640" r:id="rId45"/>
    <p:sldId id="643" r:id="rId46"/>
    <p:sldId id="641" r:id="rId47"/>
    <p:sldId id="642" r:id="rId48"/>
    <p:sldId id="646" r:id="rId49"/>
    <p:sldId id="648" r:id="rId50"/>
    <p:sldId id="649" r:id="rId51"/>
    <p:sldId id="650" r:id="rId52"/>
    <p:sldId id="651" r:id="rId53"/>
    <p:sldId id="652" r:id="rId54"/>
    <p:sldId id="653" r:id="rId55"/>
    <p:sldId id="654" r:id="rId56"/>
    <p:sldId id="655" r:id="rId57"/>
    <p:sldId id="657" r:id="rId58"/>
    <p:sldId id="658" r:id="rId59"/>
    <p:sldId id="659" r:id="rId60"/>
    <p:sldId id="660" r:id="rId61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6600"/>
    <a:srgbClr val="B4B4B4"/>
    <a:srgbClr val="7ACCB7"/>
    <a:srgbClr val="FFCC00"/>
    <a:srgbClr val="7BB0E5"/>
    <a:srgbClr val="89B2DB"/>
    <a:srgbClr val="3D81C5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1" d="100"/>
          <a:sy n="121" d="100"/>
        </p:scale>
        <p:origin x="-1320" y="-9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장 동적 프로그래밍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 dirty="0" err="1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</a:t>
            </a: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11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08110"/>
              </p:ext>
            </p:extLst>
          </p:nvPr>
        </p:nvGraphicFramePr>
        <p:xfrm>
          <a:off x="1116013" y="1135063"/>
          <a:ext cx="7632699" cy="5084762"/>
        </p:xfrm>
        <a:graphic>
          <a:graphicData uri="http://schemas.openxmlformats.org/drawingml/2006/table">
            <a:tbl>
              <a:tblPr/>
              <a:tblGrid>
                <a:gridCol w="809638"/>
                <a:gridCol w="3078584"/>
                <a:gridCol w="2016530"/>
                <a:gridCol w="1727947"/>
              </a:tblGrid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20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9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10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순회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65, 71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12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알고리즘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73, 74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13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동적 프로그래밍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4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14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동적 프로그래밍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84, 86, 87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27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기말고사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바탕" pitchFamily="18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Dynamic programming </a:t>
            </a:r>
            <a:r>
              <a:rPr lang="en-US" altLang="ko-KR" sz="2400" dirty="0">
                <a:latin typeface="Times New Roman"/>
              </a:rPr>
              <a:t>is a very powerful, general tool </a:t>
            </a:r>
            <a:r>
              <a:rPr lang="en-US" altLang="ko-KR" sz="2400" dirty="0" smtClean="0">
                <a:latin typeface="Times New Roman"/>
              </a:rPr>
              <a:t>for solving </a:t>
            </a:r>
            <a:r>
              <a:rPr lang="en-US" altLang="ko-KR" sz="2400" dirty="0">
                <a:latin typeface="Times New Roman"/>
              </a:rPr>
              <a:t>optimization problems on left-right-ordered </a:t>
            </a:r>
            <a:r>
              <a:rPr lang="en-US" altLang="ko-KR" sz="2400" dirty="0" smtClean="0">
                <a:latin typeface="Times New Roman"/>
              </a:rPr>
              <a:t>items such </a:t>
            </a:r>
            <a:r>
              <a:rPr lang="en-US" altLang="ko-KR" sz="2400" dirty="0">
                <a:latin typeface="Times New Roman"/>
              </a:rPr>
              <a:t>as character strings. Once understood it is relatively </a:t>
            </a:r>
            <a:r>
              <a:rPr lang="en-US" altLang="ko-KR" sz="2400" dirty="0" smtClean="0">
                <a:latin typeface="Times New Roman"/>
              </a:rPr>
              <a:t>easy to </a:t>
            </a:r>
            <a:r>
              <a:rPr lang="en-US" altLang="ko-KR" sz="2400" dirty="0">
                <a:latin typeface="Times New Roman"/>
              </a:rPr>
              <a:t>apply, but many people have trouble understanding it.</a:t>
            </a:r>
          </a:p>
          <a:p>
            <a:r>
              <a:rPr lang="en-US" altLang="ko-KR" sz="2400" dirty="0">
                <a:latin typeface="Times New Roman"/>
              </a:rPr>
              <a:t>Start by reviewing the </a:t>
            </a:r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binomial coefficient function </a:t>
            </a:r>
            <a:r>
              <a:rPr lang="en-US" altLang="ko-KR" sz="2400" dirty="0">
                <a:latin typeface="Times New Roman"/>
              </a:rPr>
              <a:t>in </a:t>
            </a:r>
            <a:r>
              <a:rPr lang="en-US" altLang="ko-KR" sz="2400" dirty="0" smtClean="0">
                <a:latin typeface="Times New Roman"/>
              </a:rPr>
              <a:t>the </a:t>
            </a:r>
            <a:r>
              <a:rPr lang="en-US" altLang="ko-KR" sz="2400" dirty="0" err="1" smtClean="0">
                <a:latin typeface="Times New Roman"/>
              </a:rPr>
              <a:t>combinatorics</a:t>
            </a:r>
            <a:r>
              <a:rPr lang="en-US" altLang="ko-KR" sz="2400" dirty="0" smtClean="0">
                <a:latin typeface="Times New Roman"/>
              </a:rPr>
              <a:t> </a:t>
            </a:r>
            <a:r>
              <a:rPr lang="en-US" altLang="ko-KR" sz="2400" dirty="0">
                <a:latin typeface="Times New Roman"/>
              </a:rPr>
              <a:t>section, as an example of </a:t>
            </a:r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how we stored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/>
              </a:rPr>
              <a:t>partial results</a:t>
            </a:r>
            <a:r>
              <a:rPr lang="en-US" altLang="ko-KR" sz="2400" dirty="0" smtClean="0">
                <a:latin typeface="Times New Roman"/>
              </a:rPr>
              <a:t> </a:t>
            </a:r>
            <a:r>
              <a:rPr lang="en-US" altLang="ko-KR" sz="2400" dirty="0">
                <a:latin typeface="Times New Roman"/>
              </a:rPr>
              <a:t>to help us compute what we were looking for.</a:t>
            </a:r>
          </a:p>
          <a:p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Floyd’s all-pairs shortest-path algorithm </a:t>
            </a:r>
            <a:r>
              <a:rPr lang="en-US" altLang="ko-KR" sz="2400" dirty="0">
                <a:latin typeface="Times New Roman"/>
              </a:rPr>
              <a:t>discussed in </a:t>
            </a:r>
            <a:r>
              <a:rPr lang="en-US" altLang="ko-KR" sz="2400" dirty="0" smtClean="0">
                <a:latin typeface="Times New Roman"/>
              </a:rPr>
              <a:t>the graph </a:t>
            </a:r>
            <a:r>
              <a:rPr lang="en-US" altLang="ko-KR" sz="2400" dirty="0">
                <a:latin typeface="Times New Roman"/>
              </a:rPr>
              <a:t>algorithms chapter is another example of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/>
              </a:rPr>
              <a:t>dynamic programming</a:t>
            </a:r>
            <a:r>
              <a:rPr lang="en-US" altLang="ko-KR" sz="2400" dirty="0">
                <a:latin typeface="Times New Roman"/>
              </a:rPr>
              <a:t>.</a:t>
            </a:r>
            <a:endParaRPr lang="en-US" altLang="ko-KR" sz="2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95611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Greedy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1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focus on making the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local choice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each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point. For example, a natural way to compute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shortest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from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might be to walk out 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 following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cheapest edge until we get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Natural,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wrong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absence of a correctness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proof,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very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 to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us a way to design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 algorithms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systematically search all possibilities (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guaranteeing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while </a:t>
            </a:r>
            <a:r>
              <a:rPr lang="en-US" altLang="ko-KR" sz="2400" dirty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storing results to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</a:t>
            </a:r>
            <a:r>
              <a:rPr lang="en-US" altLang="ko-KR" sz="2400" dirty="0" err="1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recomputing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(thus providing efficiency).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" y="188640"/>
            <a:ext cx="9073283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97900" y="6151039"/>
            <a:ext cx="414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Greedy algorithm</a:t>
            </a:r>
            <a:r>
              <a:rPr lang="ko-KR" altLang="en-US" dirty="0" smtClean="0"/>
              <a:t>으로 해결할 수 </a:t>
            </a:r>
            <a:r>
              <a:rPr lang="ko-KR" altLang="en-US" dirty="0" smtClean="0">
                <a:solidFill>
                  <a:srgbClr val="0066FF"/>
                </a:solidFill>
              </a:rPr>
              <a:t>있는</a:t>
            </a:r>
            <a:r>
              <a:rPr lang="ko-KR" altLang="en-US" dirty="0" smtClean="0"/>
              <a:t> 경우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9602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" y="27718"/>
            <a:ext cx="9143301" cy="590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97900" y="6151039"/>
            <a:ext cx="414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Greedy algorithm</a:t>
            </a:r>
            <a:r>
              <a:rPr lang="ko-KR" altLang="en-US" dirty="0" smtClean="0"/>
              <a:t>으로 해결할 수 </a:t>
            </a:r>
            <a:r>
              <a:rPr lang="ko-KR" altLang="en-US" dirty="0" smtClean="0">
                <a:solidFill>
                  <a:srgbClr val="FF0000"/>
                </a:solidFill>
              </a:rPr>
              <a:t>없는</a:t>
            </a:r>
            <a:r>
              <a:rPr lang="ko-KR" altLang="en-US" dirty="0" smtClean="0"/>
              <a:t> 경우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6074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Evaluating Recurrence Relations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Dynamic programming algorithms are defined by </a:t>
            </a:r>
            <a:r>
              <a:rPr lang="en-US" altLang="ko-KR" sz="2400" dirty="0" smtClean="0">
                <a:latin typeface="Times New Roman"/>
              </a:rPr>
              <a:t>recursive algorithms/functions </a:t>
            </a:r>
            <a:r>
              <a:rPr lang="en-US" altLang="ko-KR" sz="2400" dirty="0">
                <a:latin typeface="Times New Roman"/>
              </a:rPr>
              <a:t>that describe the solution to the </a:t>
            </a:r>
            <a:r>
              <a:rPr lang="en-US" altLang="ko-KR" sz="2400" dirty="0" smtClean="0">
                <a:latin typeface="Times New Roman"/>
              </a:rPr>
              <a:t>entire problem </a:t>
            </a:r>
            <a:r>
              <a:rPr lang="en-US" altLang="ko-KR" sz="2400" dirty="0">
                <a:latin typeface="Times New Roman"/>
              </a:rPr>
              <a:t>in terms of solutions to smaller problems. </a:t>
            </a:r>
            <a:r>
              <a:rPr lang="en-US" altLang="ko-KR" sz="2400" dirty="0" smtClean="0">
                <a:latin typeface="Times New Roman"/>
              </a:rPr>
              <a:t>Backtracking is </a:t>
            </a:r>
            <a:r>
              <a:rPr lang="en-US" altLang="ko-KR" sz="2400" dirty="0">
                <a:latin typeface="Times New Roman"/>
              </a:rPr>
              <a:t>one such recursive procedure we have seen, as </a:t>
            </a:r>
            <a:r>
              <a:rPr lang="en-US" altLang="ko-KR" sz="2400" dirty="0" smtClean="0">
                <a:latin typeface="Times New Roman"/>
              </a:rPr>
              <a:t>is depth-first </a:t>
            </a:r>
            <a:r>
              <a:rPr lang="en-US" altLang="ko-KR" sz="2400" dirty="0">
                <a:latin typeface="Times New Roman"/>
              </a:rPr>
              <a:t>search in graphs.</a:t>
            </a:r>
          </a:p>
          <a:p>
            <a:r>
              <a:rPr lang="en-US" altLang="ko-KR" sz="2400" dirty="0">
                <a:latin typeface="Times New Roman"/>
              </a:rPr>
              <a:t>Efficiency in any such recursive algorithm requires </a:t>
            </a:r>
            <a:r>
              <a:rPr lang="en-US" altLang="ko-KR" sz="2400" dirty="0" smtClean="0">
                <a:latin typeface="Times New Roman"/>
              </a:rPr>
              <a:t>storing enough </a:t>
            </a:r>
            <a:r>
              <a:rPr lang="en-US" altLang="ko-KR" sz="2400" dirty="0">
                <a:latin typeface="Times New Roman"/>
              </a:rPr>
              <a:t>information to avoid repeating computations we </a:t>
            </a:r>
            <a:r>
              <a:rPr lang="en-US" altLang="ko-KR" sz="2400" dirty="0" smtClean="0">
                <a:latin typeface="Times New Roman"/>
              </a:rPr>
              <a:t>have done </a:t>
            </a:r>
            <a:r>
              <a:rPr lang="en-US" altLang="ko-KR" sz="2400" dirty="0">
                <a:latin typeface="Times New Roman"/>
              </a:rPr>
              <a:t>before. Depth-first search in graphs is efficient </a:t>
            </a:r>
            <a:r>
              <a:rPr lang="en-US" altLang="ko-KR" sz="2400" dirty="0" smtClean="0">
                <a:latin typeface="Times New Roman"/>
              </a:rPr>
              <a:t>because we </a:t>
            </a:r>
            <a:r>
              <a:rPr lang="en-US" altLang="ko-KR" sz="2400" dirty="0">
                <a:latin typeface="Times New Roman"/>
              </a:rPr>
              <a:t>mark the vertices we have visited so we don’t visit </a:t>
            </a:r>
            <a:r>
              <a:rPr lang="en-US" altLang="ko-KR" sz="2400" dirty="0" smtClean="0">
                <a:latin typeface="Times New Roman"/>
              </a:rPr>
              <a:t>them again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0285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5547320"/>
          </a:xfrm>
        </p:spPr>
        <p:txBody>
          <a:bodyPr/>
          <a:lstStyle/>
          <a:p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Dynamic programming is a technique for efficiently </a:t>
            </a:r>
            <a:r>
              <a:rPr lang="en-US" altLang="ko-KR" sz="2400" dirty="0" smtClean="0">
                <a:solidFill>
                  <a:srgbClr val="CC6600"/>
                </a:solidFill>
                <a:latin typeface="Times New Roman"/>
              </a:rPr>
              <a:t>implementing a </a:t>
            </a:r>
            <a:r>
              <a:rPr lang="en-US" altLang="ko-KR" sz="2400" dirty="0">
                <a:solidFill>
                  <a:srgbClr val="CC6600"/>
                </a:solidFill>
                <a:latin typeface="Times New Roman"/>
              </a:rPr>
              <a:t>recursive algorithm by storing partial results. </a:t>
            </a:r>
            <a:r>
              <a:rPr lang="en-US" altLang="ko-KR" sz="2400" dirty="0" smtClean="0">
                <a:latin typeface="Times New Roman"/>
              </a:rPr>
              <a:t>The trick </a:t>
            </a:r>
            <a:r>
              <a:rPr lang="en-US" altLang="ko-KR" sz="2400" dirty="0">
                <a:latin typeface="Times New Roman"/>
              </a:rPr>
              <a:t>is to see that the naive recursive algorithm </a:t>
            </a:r>
            <a:r>
              <a:rPr lang="en-US" altLang="ko-KR" sz="2400" dirty="0" smtClean="0">
                <a:latin typeface="Times New Roman"/>
              </a:rPr>
              <a:t>repeatedly computes </a:t>
            </a:r>
            <a:r>
              <a:rPr lang="en-US" altLang="ko-KR" sz="2400" dirty="0">
                <a:latin typeface="Times New Roman"/>
              </a:rPr>
              <a:t>the same </a:t>
            </a:r>
            <a:r>
              <a:rPr lang="en-US" altLang="ko-KR" sz="2400" dirty="0" err="1">
                <a:latin typeface="Times New Roman"/>
              </a:rPr>
              <a:t>subproblems</a:t>
            </a:r>
            <a:r>
              <a:rPr lang="en-US" altLang="ko-KR" sz="2400" dirty="0">
                <a:latin typeface="Times New Roman"/>
              </a:rPr>
              <a:t> over and over and </a:t>
            </a:r>
            <a:r>
              <a:rPr lang="en-US" altLang="ko-KR" sz="2400" dirty="0" smtClean="0">
                <a:latin typeface="Times New Roman"/>
              </a:rPr>
              <a:t>over again</a:t>
            </a:r>
            <a:r>
              <a:rPr lang="en-US" altLang="ko-KR" sz="2400" dirty="0">
                <a:latin typeface="Times New Roman"/>
              </a:rPr>
              <a:t>. If so, storing the answers to them in a table </a:t>
            </a:r>
            <a:r>
              <a:rPr lang="en-US" altLang="ko-KR" sz="2400" dirty="0" smtClean="0">
                <a:latin typeface="Times New Roman"/>
              </a:rPr>
              <a:t>instead of </a:t>
            </a:r>
            <a:r>
              <a:rPr lang="en-US" altLang="ko-KR" sz="2400" dirty="0" err="1">
                <a:latin typeface="Times New Roman"/>
              </a:rPr>
              <a:t>recomputing</a:t>
            </a:r>
            <a:r>
              <a:rPr lang="en-US" altLang="ko-KR" sz="2400" dirty="0">
                <a:latin typeface="Times New Roman"/>
              </a:rPr>
              <a:t> can lead to an efficient algorithm.</a:t>
            </a:r>
          </a:p>
          <a:p>
            <a:r>
              <a:rPr lang="en-US" altLang="ko-KR" sz="2400" dirty="0">
                <a:latin typeface="Times New Roman"/>
              </a:rPr>
              <a:t>Thus we must first hunt for a correct recursive algorithm </a:t>
            </a:r>
            <a:r>
              <a:rPr lang="en-US" altLang="ko-KR" sz="2400" dirty="0" smtClean="0">
                <a:latin typeface="Times New Roman"/>
              </a:rPr>
              <a:t>–later </a:t>
            </a:r>
            <a:r>
              <a:rPr lang="en-US" altLang="ko-KR" sz="2400" dirty="0">
                <a:latin typeface="Times New Roman"/>
              </a:rPr>
              <a:t>we can worry about speeding it up by using a </a:t>
            </a:r>
            <a:r>
              <a:rPr lang="en-US" altLang="ko-KR" sz="2400" dirty="0" smtClean="0">
                <a:latin typeface="Times New Roman"/>
              </a:rPr>
              <a:t>results matrix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0086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576064"/>
          </a:xfrm>
        </p:spPr>
        <p:txBody>
          <a:bodyPr/>
          <a:lstStyle/>
          <a:p>
            <a:r>
              <a:rPr lang="en-US" altLang="ko-KR" sz="3600" dirty="0"/>
              <a:t>Edit Distance</a:t>
            </a:r>
            <a:endParaRPr lang="ko-KR" altLang="en-US" sz="36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85800" y="1196752"/>
            <a:ext cx="7772400" cy="5256584"/>
          </a:xfrm>
        </p:spPr>
        <p:txBody>
          <a:bodyPr/>
          <a:lstStyle/>
          <a:p>
            <a:r>
              <a:rPr lang="en-US" altLang="ko-KR" sz="2000" dirty="0">
                <a:latin typeface="Times New Roman"/>
              </a:rPr>
              <a:t>Misspellings and changes in word usage (“Thou </a:t>
            </a:r>
            <a:r>
              <a:rPr lang="en-US" altLang="ko-KR" sz="2000" dirty="0" smtClean="0">
                <a:latin typeface="Times New Roman"/>
              </a:rPr>
              <a:t>shalt not </a:t>
            </a:r>
            <a:r>
              <a:rPr lang="en-US" altLang="ko-KR" sz="2000" dirty="0">
                <a:latin typeface="Times New Roman"/>
              </a:rPr>
              <a:t>kill” morphs into “You should not murder.”) </a:t>
            </a:r>
            <a:r>
              <a:rPr lang="en-US" altLang="ko-KR" sz="2000" dirty="0" smtClean="0">
                <a:latin typeface="Times New Roman"/>
              </a:rPr>
              <a:t>make </a:t>
            </a:r>
            <a:r>
              <a:rPr lang="en-US" altLang="ko-KR" sz="2000" i="1" dirty="0" smtClean="0">
                <a:latin typeface="Times New Roman"/>
              </a:rPr>
              <a:t>approximate </a:t>
            </a:r>
            <a:r>
              <a:rPr lang="en-US" altLang="ko-KR" sz="2000" i="1" dirty="0">
                <a:latin typeface="Times New Roman"/>
              </a:rPr>
              <a:t>pattern matching </a:t>
            </a:r>
            <a:r>
              <a:rPr lang="en-US" altLang="ko-KR" sz="2000" dirty="0">
                <a:latin typeface="Times New Roman"/>
              </a:rPr>
              <a:t>an important problem.</a:t>
            </a:r>
          </a:p>
          <a:p>
            <a:r>
              <a:rPr lang="en-US" altLang="ko-KR" sz="2000" dirty="0">
                <a:latin typeface="Times New Roman"/>
              </a:rPr>
              <a:t>A reasonable distance measure minimizes the cost of </a:t>
            </a:r>
            <a:r>
              <a:rPr lang="en-US" altLang="ko-KR" sz="2000" dirty="0" smtClean="0">
                <a:latin typeface="Times New Roman"/>
              </a:rPr>
              <a:t>the </a:t>
            </a:r>
            <a:r>
              <a:rPr lang="en-US" altLang="ko-KR" sz="2000" i="1" dirty="0" smtClean="0">
                <a:latin typeface="Times New Roman"/>
              </a:rPr>
              <a:t>changes </a:t>
            </a:r>
            <a:r>
              <a:rPr lang="en-US" altLang="ko-KR" sz="2000" dirty="0">
                <a:latin typeface="Times New Roman"/>
              </a:rPr>
              <a:t>which have to be made to convert one string </a:t>
            </a:r>
            <a:r>
              <a:rPr lang="en-US" altLang="ko-KR" sz="2000" dirty="0" smtClean="0">
                <a:latin typeface="Times New Roman"/>
              </a:rPr>
              <a:t>to another</a:t>
            </a:r>
            <a:r>
              <a:rPr lang="en-US" altLang="ko-KR" sz="2000" dirty="0">
                <a:latin typeface="Times New Roman"/>
              </a:rPr>
              <a:t>.</a:t>
            </a:r>
          </a:p>
          <a:p>
            <a:r>
              <a:rPr lang="en-US" altLang="ko-KR" sz="2000" dirty="0">
                <a:latin typeface="Times New Roman"/>
              </a:rPr>
              <a:t>There are three natural types of changes:</a:t>
            </a:r>
          </a:p>
          <a:p>
            <a:pPr lvl="1"/>
            <a:r>
              <a:rPr lang="en-US" altLang="ko-KR" sz="1800" i="1" dirty="0" smtClean="0">
                <a:latin typeface="Times New Roman"/>
              </a:rPr>
              <a:t>Substitution </a:t>
            </a:r>
            <a:r>
              <a:rPr lang="en-US" altLang="ko-KR" sz="1800" dirty="0">
                <a:latin typeface="Times New Roman"/>
              </a:rPr>
              <a:t>– Change a single character from pattern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1800" dirty="0" smtClean="0">
                <a:latin typeface="CMMI12"/>
              </a:rPr>
              <a:t> </a:t>
            </a:r>
            <a:r>
              <a:rPr lang="en-US" altLang="ko-KR" sz="1800" dirty="0" smtClean="0">
                <a:latin typeface="Times New Roman"/>
              </a:rPr>
              <a:t>to </a:t>
            </a:r>
            <a:r>
              <a:rPr lang="en-US" altLang="ko-KR" sz="1800" dirty="0">
                <a:latin typeface="Times New Roman"/>
              </a:rPr>
              <a:t>a different character in text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800" dirty="0">
                <a:latin typeface="Times New Roman"/>
              </a:rPr>
              <a:t>, such as changing “</a:t>
            </a:r>
            <a:r>
              <a:rPr lang="en-US" altLang="ko-KR" sz="1800" dirty="0" smtClean="0">
                <a:latin typeface="Times New Roman"/>
              </a:rPr>
              <a:t>shot” to </a:t>
            </a:r>
            <a:r>
              <a:rPr lang="en-US" altLang="ko-KR" sz="1800" dirty="0">
                <a:latin typeface="Times New Roman"/>
              </a:rPr>
              <a:t>“s</a:t>
            </a:r>
            <a:r>
              <a:rPr lang="en-US" altLang="ko-KR" sz="1800" dirty="0">
                <a:solidFill>
                  <a:srgbClr val="0066FF"/>
                </a:solidFill>
                <a:latin typeface="Times New Roman"/>
              </a:rPr>
              <a:t>p</a:t>
            </a:r>
            <a:r>
              <a:rPr lang="en-US" altLang="ko-KR" sz="1800" dirty="0">
                <a:latin typeface="Times New Roman"/>
              </a:rPr>
              <a:t>ot”.</a:t>
            </a:r>
          </a:p>
          <a:p>
            <a:pPr lvl="1"/>
            <a:r>
              <a:rPr lang="en-US" altLang="ko-KR" sz="1800" i="1" dirty="0" smtClean="0">
                <a:latin typeface="Times New Roman"/>
              </a:rPr>
              <a:t>Insertion </a:t>
            </a:r>
            <a:r>
              <a:rPr lang="en-US" altLang="ko-KR" sz="1800" dirty="0">
                <a:latin typeface="Times New Roman"/>
              </a:rPr>
              <a:t>– Insert a single character into pattern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1800" dirty="0">
                <a:latin typeface="CMMI12"/>
              </a:rPr>
              <a:t> </a:t>
            </a:r>
            <a:r>
              <a:rPr lang="en-US" altLang="ko-KR" sz="1800" dirty="0">
                <a:latin typeface="Times New Roman"/>
              </a:rPr>
              <a:t>to </a:t>
            </a:r>
            <a:r>
              <a:rPr lang="en-US" altLang="ko-KR" sz="1800" dirty="0" smtClean="0">
                <a:latin typeface="Times New Roman"/>
              </a:rPr>
              <a:t>help it </a:t>
            </a:r>
            <a:r>
              <a:rPr lang="en-US" altLang="ko-KR" sz="1800" dirty="0">
                <a:latin typeface="Times New Roman"/>
              </a:rPr>
              <a:t>match text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800" dirty="0">
                <a:latin typeface="Times New Roman"/>
              </a:rPr>
              <a:t>, such as changing “ago” to “ago</a:t>
            </a:r>
            <a:r>
              <a:rPr lang="en-US" altLang="ko-KR" sz="1800" dirty="0">
                <a:solidFill>
                  <a:srgbClr val="FF0000"/>
                </a:solidFill>
                <a:latin typeface="Times New Roman"/>
              </a:rPr>
              <a:t>g</a:t>
            </a:r>
            <a:r>
              <a:rPr lang="en-US" altLang="ko-KR" sz="1800" dirty="0" smtClean="0">
                <a:latin typeface="Times New Roman"/>
              </a:rPr>
              <a:t>”.</a:t>
            </a:r>
          </a:p>
          <a:p>
            <a:pPr lvl="1"/>
            <a:r>
              <a:rPr lang="en-US" altLang="ko-KR" sz="1800" i="1" dirty="0">
                <a:latin typeface="Times New Roman"/>
              </a:rPr>
              <a:t>Deletion </a:t>
            </a:r>
            <a:r>
              <a:rPr lang="en-US" altLang="ko-KR" sz="1800" dirty="0">
                <a:latin typeface="Times New Roman"/>
              </a:rPr>
              <a:t>– Delete a single character from pattern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1800" dirty="0">
                <a:latin typeface="CMMI12"/>
              </a:rPr>
              <a:t> </a:t>
            </a:r>
            <a:r>
              <a:rPr lang="en-US" altLang="ko-KR" sz="1800" dirty="0" smtClean="0">
                <a:latin typeface="Times New Roman"/>
              </a:rPr>
              <a:t>to help </a:t>
            </a:r>
            <a:r>
              <a:rPr lang="en-US" altLang="ko-KR" sz="1800" dirty="0">
                <a:latin typeface="Times New Roman"/>
              </a:rPr>
              <a:t>it match text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800" dirty="0">
                <a:latin typeface="Times New Roman"/>
              </a:rPr>
              <a:t>, such as changing “</a:t>
            </a:r>
            <a:r>
              <a:rPr lang="en-US" altLang="ko-KR" sz="1800" dirty="0">
                <a:solidFill>
                  <a:srgbClr val="FF0000"/>
                </a:solidFill>
                <a:latin typeface="Times New Roman"/>
              </a:rPr>
              <a:t>h</a:t>
            </a:r>
            <a:r>
              <a:rPr lang="en-US" altLang="ko-KR" sz="1800" dirty="0">
                <a:latin typeface="Times New Roman"/>
              </a:rPr>
              <a:t>our” to “our”.</a:t>
            </a:r>
          </a:p>
          <a:p>
            <a:r>
              <a:rPr lang="en-US" altLang="ko-KR" sz="2000" dirty="0">
                <a:latin typeface="Times New Roman"/>
              </a:rPr>
              <a:t>Properly posing the question of string similarity requires </a:t>
            </a:r>
            <a:r>
              <a:rPr lang="en-US" altLang="ko-KR" sz="2000" dirty="0" smtClean="0">
                <a:latin typeface="Times New Roman"/>
              </a:rPr>
              <a:t>us to </a:t>
            </a:r>
            <a:r>
              <a:rPr lang="en-US" altLang="ko-KR" sz="2000" dirty="0">
                <a:latin typeface="Times New Roman"/>
              </a:rPr>
              <a:t>set the cost of each of these string transform operations.</a:t>
            </a:r>
          </a:p>
          <a:p>
            <a:r>
              <a:rPr lang="en-US" altLang="ko-KR" sz="2000" dirty="0">
                <a:latin typeface="Times New Roman"/>
              </a:rPr>
              <a:t>Setting each operation to cost one step defines the </a:t>
            </a:r>
            <a:r>
              <a:rPr lang="en-US" altLang="ko-KR" sz="2000" i="1" dirty="0" smtClean="0">
                <a:latin typeface="Times New Roman"/>
              </a:rPr>
              <a:t>edit distance </a:t>
            </a:r>
            <a:r>
              <a:rPr lang="en-US" altLang="ko-KR" sz="2000" dirty="0">
                <a:latin typeface="Times New Roman"/>
              </a:rPr>
              <a:t>between two strings.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87479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Recursive Algorithm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We can compute the edit distance with recursive </a:t>
            </a:r>
            <a:r>
              <a:rPr lang="en-US" altLang="ko-KR" sz="2400" dirty="0" smtClean="0">
                <a:latin typeface="Times New Roman"/>
              </a:rPr>
              <a:t>algorithm using </a:t>
            </a:r>
            <a:r>
              <a:rPr lang="en-US" altLang="ko-KR" sz="2400" dirty="0">
                <a:latin typeface="Times New Roman"/>
              </a:rPr>
              <a:t>the observation that the last character in the string </a:t>
            </a:r>
            <a:r>
              <a:rPr lang="en-US" altLang="ko-KR" sz="2400" dirty="0" smtClean="0">
                <a:latin typeface="Times New Roman"/>
              </a:rPr>
              <a:t>must either </a:t>
            </a:r>
            <a:r>
              <a:rPr lang="en-US" altLang="ko-KR" sz="2400" dirty="0">
                <a:latin typeface="Times New Roman"/>
              </a:rPr>
              <a:t>be matched, substituted, inserted, or deleted. </a:t>
            </a:r>
            <a:r>
              <a:rPr lang="en-US" altLang="ko-KR" sz="2400" i="1" dirty="0">
                <a:latin typeface="Times New Roman"/>
              </a:rPr>
              <a:t>If </a:t>
            </a:r>
            <a:r>
              <a:rPr lang="en-US" altLang="ko-KR" sz="2400" dirty="0" smtClean="0">
                <a:latin typeface="Times New Roman"/>
              </a:rPr>
              <a:t>we knew </a:t>
            </a:r>
            <a:r>
              <a:rPr lang="en-US" altLang="ko-KR" sz="2400" dirty="0">
                <a:latin typeface="Times New Roman"/>
              </a:rPr>
              <a:t>the cost of editing the three pairs of smaller </a:t>
            </a:r>
            <a:r>
              <a:rPr lang="en-US" altLang="ko-KR" sz="2400" dirty="0" smtClean="0">
                <a:latin typeface="Times New Roman"/>
              </a:rPr>
              <a:t>strings, we </a:t>
            </a:r>
            <a:r>
              <a:rPr lang="en-US" altLang="ko-KR" sz="2400" dirty="0">
                <a:latin typeface="Times New Roman"/>
              </a:rPr>
              <a:t>could decide which option leads to the best </a:t>
            </a:r>
            <a:r>
              <a:rPr lang="en-US" altLang="ko-KR" sz="2400" dirty="0" smtClean="0">
                <a:latin typeface="Times New Roman"/>
              </a:rPr>
              <a:t>solution and </a:t>
            </a:r>
            <a:r>
              <a:rPr lang="en-US" altLang="ko-KR" sz="2400" dirty="0">
                <a:latin typeface="Times New Roman"/>
              </a:rPr>
              <a:t>choose that option accordingly. We </a:t>
            </a:r>
            <a:r>
              <a:rPr lang="en-US" altLang="ko-KR" sz="2400" i="1" dirty="0">
                <a:latin typeface="Times New Roman"/>
              </a:rPr>
              <a:t>can </a:t>
            </a:r>
            <a:r>
              <a:rPr lang="en-US" altLang="ko-KR" sz="2400" dirty="0">
                <a:latin typeface="Times New Roman"/>
              </a:rPr>
              <a:t>learn this </a:t>
            </a:r>
            <a:r>
              <a:rPr lang="en-US" altLang="ko-KR" sz="2400" dirty="0" smtClean="0">
                <a:latin typeface="Times New Roman"/>
              </a:rPr>
              <a:t>cost, through </a:t>
            </a:r>
            <a:r>
              <a:rPr lang="en-US" altLang="ko-KR" sz="2400" dirty="0">
                <a:latin typeface="Times New Roman"/>
              </a:rPr>
              <a:t>the magic of recursion: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5153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88640"/>
            <a:ext cx="8496944" cy="648072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MATCH 0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enumerated type symbol for match */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INSERT 1 /* enumerated type symbol for insert */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DELETE 2 /* enumerated type symbol for delete */</a:t>
            </a:r>
          </a:p>
          <a:p>
            <a:pPr marL="0" lvl="1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string_compare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j)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k; /* counter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opt[3]; /* cost of the three options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lowest_cost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lowest cost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lvl="1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0) return(j *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(’ ’));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(j == 0) return(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(’ ’));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opt[MATCH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string_compare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(s,t,i-1,j-1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)+match(s[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],t[j]);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opt[INSERT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string_compare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(s,t,i,j-1)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(t[j]);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opt[DELETE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string_compare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(s,t,i-1,j)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lowest_cost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opt[MATCH];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(k=INSERT; k&lt;=DELETE; k++)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(opt[k] &lt;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lowest_cost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lowest_cost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opt[k];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lowest_cost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76074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US" altLang="ko-KR" sz="3200" dirty="0"/>
              <a:t>Speeding it Up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83224"/>
          </a:xfrm>
        </p:spPr>
        <p:txBody>
          <a:bodyPr/>
          <a:lstStyle/>
          <a:p>
            <a:r>
              <a:rPr lang="en-US" altLang="ko-KR" sz="2000" dirty="0">
                <a:latin typeface="Times New Roman"/>
              </a:rPr>
              <a:t>This program is absolutely correct but impossibly slow </a:t>
            </a:r>
            <a:r>
              <a:rPr lang="en-US" altLang="ko-KR" sz="2000" dirty="0" smtClean="0">
                <a:latin typeface="Times New Roman"/>
              </a:rPr>
              <a:t>to compare </a:t>
            </a:r>
            <a:r>
              <a:rPr lang="en-US" altLang="ko-KR" sz="2000" dirty="0">
                <a:latin typeface="Times New Roman"/>
              </a:rPr>
              <a:t>two 12-character strings! It takes exponential </a:t>
            </a:r>
            <a:r>
              <a:rPr lang="en-US" altLang="ko-KR" sz="2000" dirty="0" smtClean="0">
                <a:latin typeface="Times New Roman"/>
              </a:rPr>
              <a:t>time because </a:t>
            </a:r>
            <a:r>
              <a:rPr lang="en-US" altLang="ko-KR" sz="2000" dirty="0">
                <a:latin typeface="Times New Roman"/>
              </a:rPr>
              <a:t>it </a:t>
            </a:r>
            <a:r>
              <a:rPr lang="en-US" altLang="ko-KR" sz="2000" dirty="0" err="1">
                <a:latin typeface="Times New Roman"/>
              </a:rPr>
              <a:t>recomputes</a:t>
            </a:r>
            <a:r>
              <a:rPr lang="en-US" altLang="ko-KR" sz="2000" dirty="0">
                <a:latin typeface="Times New Roman"/>
              </a:rPr>
              <a:t> values again and again.</a:t>
            </a:r>
          </a:p>
          <a:p>
            <a:r>
              <a:rPr lang="en-US" altLang="ko-KR" sz="2000" dirty="0">
                <a:latin typeface="Times New Roman"/>
              </a:rPr>
              <a:t>But there can only be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|s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|·|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t| </a:t>
            </a:r>
            <a:r>
              <a:rPr lang="en-US" altLang="ko-KR" sz="2000" dirty="0">
                <a:latin typeface="Times New Roman"/>
              </a:rPr>
              <a:t>possible unique recursive </a:t>
            </a:r>
            <a:r>
              <a:rPr lang="en-US" altLang="ko-KR" sz="2000" dirty="0" smtClean="0">
                <a:latin typeface="Times New Roman"/>
              </a:rPr>
              <a:t>calls, since </a:t>
            </a:r>
            <a:r>
              <a:rPr lang="en-US" altLang="ko-KR" sz="2000" dirty="0">
                <a:latin typeface="Times New Roman"/>
              </a:rPr>
              <a:t>there are only that many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(</a:t>
            </a:r>
            <a:r>
              <a:rPr lang="en-US" altLang="ko-K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pairs </a:t>
            </a:r>
            <a:r>
              <a:rPr lang="en-US" altLang="ko-KR" sz="2000" dirty="0">
                <a:latin typeface="Times New Roman"/>
              </a:rPr>
              <a:t>to serve </a:t>
            </a:r>
            <a:r>
              <a:rPr lang="en-US" altLang="ko-KR" sz="2000" dirty="0" smtClean="0">
                <a:latin typeface="Times New Roman"/>
              </a:rPr>
              <a:t>as the </a:t>
            </a:r>
            <a:r>
              <a:rPr lang="en-US" altLang="ko-KR" sz="2000" dirty="0">
                <a:latin typeface="Times New Roman"/>
              </a:rPr>
              <a:t>parameters of recursive calls. By storing the values </a:t>
            </a:r>
            <a:r>
              <a:rPr lang="en-US" altLang="ko-KR" sz="2000" dirty="0" smtClean="0">
                <a:latin typeface="Times New Roman"/>
              </a:rPr>
              <a:t>for each </a:t>
            </a:r>
            <a:r>
              <a:rPr lang="en-US" altLang="ko-KR" sz="2000" dirty="0">
                <a:latin typeface="Times New Roman"/>
              </a:rPr>
              <a:t>of these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000" dirty="0" smtClean="0">
                <a:latin typeface="Times New Roman"/>
              </a:rPr>
              <a:t>pairs </a:t>
            </a:r>
            <a:r>
              <a:rPr lang="en-US" altLang="ko-KR" sz="2000" dirty="0">
                <a:latin typeface="Times New Roman"/>
              </a:rPr>
              <a:t>in a table, we can just look them </a:t>
            </a:r>
            <a:r>
              <a:rPr lang="en-US" altLang="ko-KR" sz="2000" dirty="0" smtClean="0">
                <a:latin typeface="Times New Roman"/>
              </a:rPr>
              <a:t>up as </a:t>
            </a:r>
            <a:r>
              <a:rPr lang="en-US" altLang="ko-KR" sz="2000" dirty="0">
                <a:latin typeface="Times New Roman"/>
              </a:rPr>
              <a:t>needed.</a:t>
            </a:r>
          </a:p>
          <a:p>
            <a:r>
              <a:rPr lang="en-US" altLang="ko-KR" sz="2000" dirty="0">
                <a:latin typeface="Times New Roman"/>
              </a:rPr>
              <a:t>The table is a two-dimensional matrix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ko-KR" sz="2000" dirty="0">
                <a:latin typeface="CMMI12"/>
              </a:rPr>
              <a:t> </a:t>
            </a:r>
            <a:r>
              <a:rPr lang="en-US" altLang="ko-KR" sz="2000" dirty="0">
                <a:latin typeface="Times New Roman"/>
              </a:rPr>
              <a:t>where each of </a:t>
            </a:r>
            <a:r>
              <a:rPr lang="en-US" altLang="ko-KR" sz="2000" dirty="0" smtClean="0">
                <a:latin typeface="Times New Roman"/>
              </a:rPr>
              <a:t>the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|s|·|t| </a:t>
            </a:r>
            <a:r>
              <a:rPr lang="en-US" altLang="ko-KR" sz="2000" dirty="0" smtClean="0">
                <a:latin typeface="Times New Roman"/>
              </a:rPr>
              <a:t>cells </a:t>
            </a:r>
            <a:r>
              <a:rPr lang="en-US" altLang="ko-KR" sz="2000" dirty="0">
                <a:latin typeface="Times New Roman"/>
              </a:rPr>
              <a:t>contains the cost of the optimal solution of </a:t>
            </a:r>
            <a:r>
              <a:rPr lang="en-US" altLang="ko-KR" sz="2000" dirty="0" smtClean="0">
                <a:latin typeface="Times New Roman"/>
              </a:rPr>
              <a:t>this </a:t>
            </a:r>
            <a:r>
              <a:rPr lang="en-US" altLang="ko-KR" sz="2000" dirty="0" err="1" smtClean="0">
                <a:latin typeface="Times New Roman"/>
              </a:rPr>
              <a:t>subproblem</a:t>
            </a:r>
            <a:r>
              <a:rPr lang="en-US" altLang="ko-KR" sz="2000" dirty="0">
                <a:latin typeface="Times New Roman"/>
              </a:rPr>
              <a:t>, as well as a parent pointer explaining how </a:t>
            </a:r>
            <a:r>
              <a:rPr lang="en-US" altLang="ko-KR" sz="2000" dirty="0" smtClean="0">
                <a:latin typeface="Times New Roman"/>
              </a:rPr>
              <a:t>we got </a:t>
            </a:r>
            <a:r>
              <a:rPr lang="en-US" altLang="ko-KR" sz="2000" dirty="0">
                <a:latin typeface="Times New Roman"/>
              </a:rPr>
              <a:t>to this location</a:t>
            </a:r>
            <a:r>
              <a:rPr lang="en-US" altLang="ko-KR" sz="2000" dirty="0" smtClean="0">
                <a:latin typeface="Times New Roman"/>
              </a:rPr>
              <a:t>:</a:t>
            </a:r>
          </a:p>
          <a:p>
            <a:pPr marL="457200" lvl="1" indent="0">
              <a:buNone/>
            </a:pPr>
            <a:endParaRPr lang="en-US" altLang="ko-KR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cost;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cost of reaching this cell */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parent; /* parent cell */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cell;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cell m[MAXLEN+1][MAXLEN+1]; /* dynamic programming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 table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3887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115272"/>
          </a:xfrm>
        </p:spPr>
        <p:txBody>
          <a:bodyPr/>
          <a:lstStyle/>
          <a:p>
            <a:r>
              <a:rPr lang="en-US" altLang="ko-KR" sz="2000" dirty="0">
                <a:latin typeface="Times New Roman"/>
              </a:rPr>
              <a:t>The dynamic programming version has three </a:t>
            </a:r>
            <a:r>
              <a:rPr lang="en-US" altLang="ko-KR" sz="2000" dirty="0" smtClean="0">
                <a:latin typeface="Times New Roman"/>
              </a:rPr>
              <a:t>differences from </a:t>
            </a:r>
            <a:r>
              <a:rPr lang="en-US" altLang="ko-KR" sz="2000" dirty="0">
                <a:latin typeface="Times New Roman"/>
              </a:rPr>
              <a:t>the recursive version:</a:t>
            </a:r>
          </a:p>
          <a:p>
            <a:pPr lvl="1"/>
            <a:r>
              <a:rPr lang="en-US" altLang="ko-KR" sz="1800" dirty="0" smtClean="0">
                <a:latin typeface="Times New Roman"/>
              </a:rPr>
              <a:t>It </a:t>
            </a:r>
            <a:r>
              <a:rPr lang="en-US" altLang="ko-KR" sz="1800" dirty="0">
                <a:latin typeface="Times New Roman"/>
              </a:rPr>
              <a:t>gets its intermediate values using table lookup </a:t>
            </a:r>
            <a:r>
              <a:rPr lang="en-US" altLang="ko-KR" sz="1800" dirty="0" smtClean="0">
                <a:latin typeface="Times New Roman"/>
              </a:rPr>
              <a:t>instead of </a:t>
            </a:r>
            <a:r>
              <a:rPr lang="en-US" altLang="ko-KR" sz="1800" dirty="0">
                <a:latin typeface="Times New Roman"/>
              </a:rPr>
              <a:t>recursive calls.</a:t>
            </a:r>
          </a:p>
          <a:p>
            <a:pPr lvl="1"/>
            <a:r>
              <a:rPr lang="en-US" altLang="ko-KR" sz="1800" dirty="0" smtClean="0">
                <a:latin typeface="Times New Roman"/>
              </a:rPr>
              <a:t>It </a:t>
            </a:r>
            <a:r>
              <a:rPr lang="en-US" altLang="ko-KR" sz="1800" dirty="0">
                <a:latin typeface="Times New Roman"/>
              </a:rPr>
              <a:t>updates the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altLang="ko-KR" sz="1800" dirty="0">
                <a:latin typeface="Courier"/>
              </a:rPr>
              <a:t> </a:t>
            </a:r>
            <a:r>
              <a:rPr lang="en-US" altLang="ko-KR" sz="1800" dirty="0">
                <a:latin typeface="Times New Roman"/>
              </a:rPr>
              <a:t>field of each cell, which </a:t>
            </a:r>
            <a:r>
              <a:rPr lang="en-US" altLang="ko-KR" sz="1800" dirty="0" smtClean="0">
                <a:latin typeface="Times New Roman"/>
              </a:rPr>
              <a:t>will enable </a:t>
            </a:r>
            <a:r>
              <a:rPr lang="en-US" altLang="ko-KR" sz="1800" dirty="0">
                <a:latin typeface="Times New Roman"/>
              </a:rPr>
              <a:t>us to reconstruct the edit-sequence later.</a:t>
            </a:r>
          </a:p>
          <a:p>
            <a:pPr lvl="1"/>
            <a:r>
              <a:rPr lang="en-US" altLang="ko-KR" sz="1800" dirty="0" smtClean="0">
                <a:latin typeface="Times New Roman"/>
              </a:rPr>
              <a:t>It </a:t>
            </a:r>
            <a:r>
              <a:rPr lang="en-US" altLang="ko-KR" sz="1800" dirty="0">
                <a:latin typeface="Times New Roman"/>
              </a:rPr>
              <a:t>is instrumented using a more general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goal_cell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800" dirty="0" smtClean="0">
                <a:latin typeface="Courier"/>
              </a:rPr>
              <a:t> </a:t>
            </a:r>
            <a:r>
              <a:rPr lang="en-US" altLang="ko-KR" sz="1800" dirty="0" smtClean="0">
                <a:latin typeface="Times New Roman"/>
              </a:rPr>
              <a:t>function </a:t>
            </a:r>
            <a:r>
              <a:rPr lang="en-US" altLang="ko-KR" sz="1800" dirty="0">
                <a:latin typeface="Times New Roman"/>
              </a:rPr>
              <a:t>instead of just returning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m[|s|][|t|].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cost</a:t>
            </a:r>
            <a:r>
              <a:rPr lang="en-US" altLang="ko-KR" sz="1800" dirty="0" smtClean="0">
                <a:latin typeface="Times New Roman"/>
              </a:rPr>
              <a:t>. This </a:t>
            </a:r>
            <a:r>
              <a:rPr lang="en-US" altLang="ko-KR" sz="1800" dirty="0">
                <a:latin typeface="Times New Roman"/>
              </a:rPr>
              <a:t>will enable us to apply this routine to a wider </a:t>
            </a:r>
            <a:r>
              <a:rPr lang="en-US" altLang="ko-KR" sz="1800" dirty="0" smtClean="0">
                <a:latin typeface="Times New Roman"/>
              </a:rPr>
              <a:t>class of </a:t>
            </a:r>
            <a:r>
              <a:rPr lang="en-US" altLang="ko-KR" sz="1800" dirty="0">
                <a:latin typeface="Times New Roman"/>
              </a:rPr>
              <a:t>problems</a:t>
            </a:r>
            <a:r>
              <a:rPr lang="en-US" altLang="ko-KR" sz="1800" dirty="0" smtClean="0">
                <a:latin typeface="Times New Roman"/>
              </a:rPr>
              <a:t>.</a:t>
            </a:r>
          </a:p>
          <a:p>
            <a:r>
              <a:rPr lang="en-US" altLang="ko-KR" sz="2000" dirty="0">
                <a:latin typeface="Times New Roman"/>
              </a:rPr>
              <a:t>Be aware that we adhere to certain unusual string and </a:t>
            </a:r>
            <a:r>
              <a:rPr lang="en-US" altLang="ko-KR" sz="2000" dirty="0" smtClean="0">
                <a:latin typeface="Times New Roman"/>
              </a:rPr>
              <a:t>index conventions </a:t>
            </a:r>
            <a:r>
              <a:rPr lang="en-US" altLang="ko-KR" sz="2000" dirty="0">
                <a:latin typeface="Times New Roman"/>
              </a:rPr>
              <a:t>in the following routines. In particular, </a:t>
            </a:r>
            <a:r>
              <a:rPr lang="en-US" altLang="ko-KR" sz="2000" dirty="0" smtClean="0">
                <a:latin typeface="Times New Roman"/>
              </a:rPr>
              <a:t>we assume </a:t>
            </a:r>
            <a:r>
              <a:rPr lang="en-US" altLang="ko-KR" sz="2000" dirty="0">
                <a:latin typeface="Times New Roman"/>
              </a:rPr>
              <a:t>that each string has been padded with an initial </a:t>
            </a:r>
            <a:r>
              <a:rPr lang="en-US" altLang="ko-KR" sz="2000" dirty="0" smtClean="0">
                <a:latin typeface="Times New Roman"/>
              </a:rPr>
              <a:t>blank character</a:t>
            </a:r>
            <a:r>
              <a:rPr lang="en-US" altLang="ko-KR" sz="2000" dirty="0">
                <a:latin typeface="Times New Roman"/>
              </a:rPr>
              <a:t>, so the first real character of string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2000" dirty="0">
                <a:latin typeface="Courier"/>
              </a:rPr>
              <a:t> </a:t>
            </a:r>
            <a:r>
              <a:rPr lang="en-US" altLang="ko-KR" sz="2000" dirty="0">
                <a:latin typeface="Times New Roman"/>
              </a:rPr>
              <a:t>sits in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s[1]</a:t>
            </a:r>
            <a:r>
              <a:rPr lang="en-US" altLang="ko-KR" sz="2000" dirty="0">
                <a:latin typeface="Times New Roman"/>
              </a:rPr>
              <a:t>.</a:t>
            </a:r>
            <a:endParaRPr lang="ko-KR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7300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44624"/>
            <a:ext cx="8892480" cy="6768752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string_compare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i,j,k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opt[3];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cost of the three options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&lt;MAXLEN;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row_init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column_init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(s);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(j=1; j&lt;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(t); j++)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opt[MATCH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m[i-1][j-1].cost + match(s[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],t[j]);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opt[INSERT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][j-1].cost +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(t[j]);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opt[DELETE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m[i-1][j].cost +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][j].cost = opt[MATCH];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 MATCH;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(k=INSERT; k&lt;=DELETE; k++)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(opt[k] &lt;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][j].cost)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m[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][j].cost = opt[k];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m[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 k;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goal_cell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(s,t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,&amp;j);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][j].cost 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091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432048"/>
          </a:xfrm>
        </p:spPr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052736"/>
            <a:ext cx="7772400" cy="5616624"/>
          </a:xfrm>
        </p:spPr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value of cell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we need three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sitting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waiting for us, namely, the cells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− 1), and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Any evaluation order with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do, including row-major order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 shalt not” goes to “you should not” in 5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moves: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DSMMMMMISMSMMMM</a:t>
            </a:r>
            <a:endParaRPr lang="en-US" altLang="ko-K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41589"/>
            <a:ext cx="5186363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2043837" y="3781157"/>
            <a:ext cx="4544387" cy="2960211"/>
            <a:chOff x="2043837" y="3781157"/>
            <a:chExt cx="4544387" cy="2960211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444208" y="6597352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6107817" y="6397094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5795075" y="6204719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5500221" y="5980812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5163830" y="5797381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 bwMode="auto">
            <a:xfrm>
              <a:off x="4867915" y="5597123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 bwMode="auto">
            <a:xfrm>
              <a:off x="4556234" y="5388982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2347635" y="4164846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 bwMode="auto">
            <a:xfrm>
              <a:off x="2659316" y="4365104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2978880" y="4581128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 bwMode="auto">
            <a:xfrm>
              <a:off x="3298444" y="4789269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610125" y="4981644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3923928" y="5197668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 bwMode="auto">
            <a:xfrm>
              <a:off x="4235609" y="5197668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 bwMode="auto">
            <a:xfrm>
              <a:off x="2043837" y="3781157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 bwMode="auto">
            <a:xfrm>
              <a:off x="2051720" y="3965089"/>
              <a:ext cx="144016" cy="14401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56323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Reconstructing the Path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8278688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possible solutions are described by paths </a:t>
            </a:r>
            <a:r>
              <a:rPr lang="en-US" altLang="ko-KR" sz="2400" dirty="0" smtClean="0">
                <a:latin typeface="Times New Roman"/>
              </a:rPr>
              <a:t>through the </a:t>
            </a:r>
            <a:r>
              <a:rPr lang="en-US" altLang="ko-KR" sz="2400" dirty="0">
                <a:latin typeface="Times New Roman"/>
              </a:rPr>
              <a:t>dynamic programming matrix, starting from the </a:t>
            </a:r>
            <a:r>
              <a:rPr lang="en-US" altLang="ko-KR" sz="2400" dirty="0" smtClean="0">
                <a:latin typeface="Times New Roman"/>
              </a:rPr>
              <a:t>initial configuration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(0, 0) </a:t>
            </a:r>
            <a:r>
              <a:rPr lang="en-US" altLang="ko-KR" sz="2400" dirty="0">
                <a:latin typeface="Times New Roman"/>
              </a:rPr>
              <a:t>to the final goal state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(|s|, |t|)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Reconstructing these decisions is done by walking </a:t>
            </a:r>
            <a:r>
              <a:rPr lang="en-US" altLang="ko-KR" sz="2400" dirty="0" smtClean="0">
                <a:latin typeface="Times New Roman"/>
              </a:rPr>
              <a:t>backward from </a:t>
            </a:r>
            <a:r>
              <a:rPr lang="en-US" altLang="ko-KR" sz="2400" dirty="0">
                <a:latin typeface="Times New Roman"/>
              </a:rPr>
              <a:t>the goal state, following the </a:t>
            </a:r>
            <a:r>
              <a:rPr lang="en-US" altLang="ko-KR" sz="2400" dirty="0">
                <a:latin typeface="Courier"/>
              </a:rPr>
              <a:t>parent </a:t>
            </a:r>
            <a:r>
              <a:rPr lang="en-US" altLang="ko-KR" sz="2400" dirty="0">
                <a:latin typeface="Times New Roman"/>
              </a:rPr>
              <a:t>pointer to </a:t>
            </a:r>
            <a:r>
              <a:rPr lang="en-US" altLang="ko-KR" sz="2400" dirty="0" smtClean="0">
                <a:latin typeface="Times New Roman"/>
              </a:rPr>
              <a:t>an earlier </a:t>
            </a:r>
            <a:r>
              <a:rPr lang="en-US" altLang="ko-KR" sz="2400" dirty="0">
                <a:latin typeface="Times New Roman"/>
              </a:rPr>
              <a:t>cell. The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field for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m[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tells us </a:t>
            </a:r>
            <a:r>
              <a:rPr lang="en-US" altLang="ko-KR" sz="2400" dirty="0" smtClean="0">
                <a:latin typeface="Times New Roman"/>
              </a:rPr>
              <a:t>whether the </a:t>
            </a:r>
            <a:r>
              <a:rPr lang="en-US" altLang="ko-KR" sz="2400" dirty="0">
                <a:latin typeface="Times New Roman"/>
              </a:rPr>
              <a:t>transform at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>
                <a:latin typeface="Times New Roman"/>
              </a:rPr>
              <a:t>was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US" altLang="ko-KR" sz="2400" dirty="0">
                <a:latin typeface="Times New Roman"/>
              </a:rPr>
              <a:t>,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ko-KR" sz="2400" dirty="0">
                <a:latin typeface="Times New Roman"/>
              </a:rPr>
              <a:t>, or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ko-KR" sz="2400" dirty="0" smtClean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Walking backward reconstructs the solution in reverse </a:t>
            </a:r>
            <a:r>
              <a:rPr lang="en-US" altLang="ko-KR" sz="2400" dirty="0" smtClean="0">
                <a:latin typeface="Times New Roman"/>
              </a:rPr>
              <a:t>order. However</a:t>
            </a:r>
            <a:r>
              <a:rPr lang="en-US" altLang="ko-KR" sz="2400" dirty="0">
                <a:latin typeface="Times New Roman"/>
              </a:rPr>
              <a:t>, clever use of recursion can do the reversing for us:</a:t>
            </a:r>
            <a:endParaRPr lang="ko-KR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2855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88640"/>
            <a:ext cx="8892480" cy="59073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(m[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== -1) return;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(m[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== MATCH)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(s,t,i-1,j-1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match_out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t,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j);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(m[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== INSERT)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(s,t,i,j-1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(m[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][j].parent == DELETE)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(s,t,i-1,j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s,i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8191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dirty="0"/>
              <a:t>Customizing Edit Distance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632248"/>
            <a:ext cx="7772400" cy="4114800"/>
          </a:xfrm>
        </p:spPr>
        <p:txBody>
          <a:bodyPr/>
          <a:lstStyle/>
          <a:p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Initialization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functions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row_init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column_init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 the zeroth row and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 of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dynamic programming table, respectively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row_init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m[0][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].cost =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&gt;0)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m[0][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].parent = INSERT;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else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m[0][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].parent = -1;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4966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04664"/>
            <a:ext cx="7772400" cy="5342384"/>
          </a:xfrm>
        </p:spPr>
        <p:txBody>
          <a:bodyPr/>
          <a:lstStyle/>
          <a:p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functions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match(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c,d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the costs for transforming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inserting/deleting character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standard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costs 0 for matching characters, and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otherwise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match(char c, char d)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(c == d) return (0);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else return (1);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6188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04664"/>
            <a:ext cx="7772400" cy="5342384"/>
          </a:xfrm>
        </p:spPr>
        <p:txBody>
          <a:bodyPr/>
          <a:lstStyle/>
          <a:p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Identification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function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goal_cell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indices of the cell marking the endpoint of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edit distance, this is defined by the length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input strings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goal_cell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*j)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(s) – 1;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*j =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(t) – 1;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2443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04664"/>
            <a:ext cx="7772400" cy="5342384"/>
          </a:xfrm>
        </p:spPr>
        <p:txBody>
          <a:bodyPr/>
          <a:lstStyle/>
          <a:p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Traceback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– The functions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match_out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insert_out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delete_out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actions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edit-operation during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traceback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edit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distance, this might mean printing out the name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or character involved, as determined by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needs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application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(char *t, in j)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delete_out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(char *s,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match_out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(s[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== t[j])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else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("S");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01518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Substring Matching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Suppose that we want to find where a short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occurs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a long text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say, searching for “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sv-SE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sv-SE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misspellings (Skienna, Skena, Skina, . . . ).</a:t>
            </a:r>
          </a:p>
          <a:p>
            <a:r>
              <a:rPr lang="en-US" altLang="ko-KR" sz="2400" dirty="0">
                <a:latin typeface="Times New Roman"/>
              </a:rPr>
              <a:t>We want an edit distance search where the cost of </a:t>
            </a:r>
            <a:r>
              <a:rPr lang="en-US" altLang="ko-KR" sz="2400" dirty="0" smtClean="0">
                <a:latin typeface="Times New Roman"/>
              </a:rPr>
              <a:t>starting the </a:t>
            </a:r>
            <a:r>
              <a:rPr lang="en-US" altLang="ko-KR" sz="2400" dirty="0">
                <a:latin typeface="Times New Roman"/>
              </a:rPr>
              <a:t>match is independent of the position in the text, so that </a:t>
            </a:r>
            <a:r>
              <a:rPr lang="en-US" altLang="ko-KR" sz="2400" dirty="0" smtClean="0">
                <a:latin typeface="Times New Roman"/>
              </a:rPr>
              <a:t>a match </a:t>
            </a:r>
            <a:r>
              <a:rPr lang="en-US" altLang="ko-KR" sz="2400" dirty="0">
                <a:latin typeface="Times New Roman"/>
              </a:rPr>
              <a:t>in the middle is not prejudiced against.</a:t>
            </a:r>
          </a:p>
          <a:p>
            <a:r>
              <a:rPr lang="en-US" altLang="ko-KR" sz="2400" dirty="0">
                <a:latin typeface="Times New Roman"/>
              </a:rPr>
              <a:t>Likewise, the goal state is not necessarily at the end of </a:t>
            </a:r>
            <a:r>
              <a:rPr lang="en-US" altLang="ko-KR" sz="2400" dirty="0" smtClean="0">
                <a:latin typeface="Times New Roman"/>
              </a:rPr>
              <a:t>both strings</a:t>
            </a:r>
            <a:r>
              <a:rPr lang="en-US" altLang="ko-KR" sz="2400" dirty="0">
                <a:latin typeface="Times New Roman"/>
              </a:rPr>
              <a:t>, but the cheapest place to match the entire </a:t>
            </a:r>
            <a:r>
              <a:rPr lang="en-US" altLang="ko-KR" sz="2400" dirty="0" smtClean="0">
                <a:latin typeface="Times New Roman"/>
              </a:rPr>
              <a:t>pattern somewhere </a:t>
            </a:r>
            <a:r>
              <a:rPr lang="en-US" altLang="ko-KR" sz="2400" dirty="0">
                <a:latin typeface="Times New Roman"/>
              </a:rPr>
              <a:t>in the text. Modifying these two functions </a:t>
            </a:r>
            <a:r>
              <a:rPr lang="en-US" altLang="ko-KR" sz="2400" dirty="0" smtClean="0">
                <a:latin typeface="Times New Roman"/>
              </a:rPr>
              <a:t>gives us </a:t>
            </a:r>
            <a:r>
              <a:rPr lang="en-US" altLang="ko-KR" sz="2400" dirty="0">
                <a:latin typeface="Times New Roman"/>
              </a:rPr>
              <a:t>the correct solution: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07035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20688"/>
            <a:ext cx="7772400" cy="5475312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row_init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m[0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].cost = 0;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note change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m[0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].parent = -1; /* note change */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goal_cell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(char *s, char *t,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*j)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k; /* counter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(s) - 1;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j = 0;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(k=1; k&lt;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(t); k++)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(m[*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][k].cost &lt; m[*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][*j].cost) *j = k;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5911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Longest Common Subsequence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68816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Often we are interested in finding the longest scattered </a:t>
            </a:r>
            <a:r>
              <a:rPr lang="en-US" altLang="ko-KR" sz="2400" dirty="0" smtClean="0">
                <a:latin typeface="Times New Roman"/>
              </a:rPr>
              <a:t>string of </a:t>
            </a:r>
            <a:r>
              <a:rPr lang="en-US" altLang="ko-KR" sz="2400" dirty="0">
                <a:latin typeface="Times New Roman"/>
              </a:rPr>
              <a:t>characters which is included within both words. </a:t>
            </a:r>
            <a:r>
              <a:rPr lang="en-US" altLang="ko-KR" sz="2400" dirty="0" smtClean="0">
                <a:latin typeface="Times New Roman"/>
              </a:rPr>
              <a:t>The </a:t>
            </a:r>
            <a:r>
              <a:rPr lang="en-US" altLang="ko-KR" sz="2400" i="1" dirty="0" smtClean="0">
                <a:latin typeface="Times New Roman"/>
              </a:rPr>
              <a:t>longest </a:t>
            </a:r>
            <a:r>
              <a:rPr lang="en-US" altLang="ko-KR" sz="2400" i="1" dirty="0">
                <a:latin typeface="Times New Roman"/>
              </a:rPr>
              <a:t>common subsequence </a:t>
            </a:r>
            <a:r>
              <a:rPr lang="en-US" altLang="ko-KR" sz="2400" dirty="0">
                <a:latin typeface="Times New Roman"/>
              </a:rPr>
              <a:t>(LCS) between “democrat” </a:t>
            </a:r>
            <a:r>
              <a:rPr lang="en-US" altLang="ko-KR" sz="2400" dirty="0" smtClean="0">
                <a:latin typeface="Times New Roman"/>
              </a:rPr>
              <a:t>and “republican</a:t>
            </a:r>
            <a:r>
              <a:rPr lang="en-US" altLang="ko-KR" sz="2400" dirty="0">
                <a:latin typeface="Times New Roman"/>
              </a:rPr>
              <a:t>” is </a:t>
            </a:r>
            <a:r>
              <a:rPr lang="en-US" altLang="ko-KR" sz="2400" i="1" dirty="0" err="1">
                <a:latin typeface="Times New Roman"/>
              </a:rPr>
              <a:t>eca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A common subsequence is defined by </a:t>
            </a:r>
            <a:r>
              <a:rPr lang="en-US" altLang="ko-KR" sz="2400" dirty="0" smtClean="0">
                <a:latin typeface="Times New Roman"/>
              </a:rPr>
              <a:t>identical-character matches </a:t>
            </a:r>
            <a:r>
              <a:rPr lang="en-US" altLang="ko-KR" sz="2400" dirty="0">
                <a:latin typeface="Times New Roman"/>
              </a:rPr>
              <a:t>in an edit trace. To maximize such traces, we </a:t>
            </a:r>
            <a:r>
              <a:rPr lang="en-US" altLang="ko-KR" sz="2400" dirty="0" smtClean="0">
                <a:latin typeface="Times New Roman"/>
              </a:rPr>
              <a:t>must prevent </a:t>
            </a:r>
            <a:r>
              <a:rPr lang="en-US" altLang="ko-KR" sz="2400" dirty="0">
                <a:latin typeface="Times New Roman"/>
              </a:rPr>
              <a:t>substitution of non-identical characters by </a:t>
            </a:r>
            <a:r>
              <a:rPr lang="en-US" altLang="ko-KR" sz="2400" dirty="0" smtClean="0">
                <a:latin typeface="Times New Roman"/>
              </a:rPr>
              <a:t>changing the </a:t>
            </a:r>
            <a:r>
              <a:rPr lang="en-US" altLang="ko-KR" sz="2400" dirty="0">
                <a:latin typeface="Times New Roman"/>
              </a:rPr>
              <a:t>match-cost function:</a:t>
            </a:r>
          </a:p>
          <a:p>
            <a:pPr marL="457200" lvl="1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match(char c, char d)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(c == d) return(0);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return(MAXLEN);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9840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sz="3600" dirty="0"/>
              <a:t>Maximum Monotone Subsequence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412776"/>
            <a:ext cx="8640960" cy="5328592"/>
          </a:xfrm>
        </p:spPr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numerical sequence is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monotonically increasing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ko-KR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at least as big as the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− 1)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element.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monotone subsequence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seeks to delete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fewest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elements from an input string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leave a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monotonically increasing subsequence. Thus a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“243517698” is “23568.”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this is just a longest common subsequence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where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string is the elements 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sorted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increasing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trick to using edit distance is observing that your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 special case of approximate string matching.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7247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프로그램 설계 예제</a:t>
            </a:r>
            <a:r>
              <a:rPr lang="en-US" altLang="ko-KR" sz="3200" dirty="0" smtClean="0"/>
              <a:t>: </a:t>
            </a:r>
            <a:r>
              <a:rPr lang="ko-KR" altLang="en-US" sz="3200" dirty="0" smtClean="0"/>
              <a:t>엘리베이터 최적화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/>
              <a:t>문제의 정의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전기 요금을 절약하기 위해 엘리베이터 멈추는 회수를 최소화</a:t>
            </a:r>
            <a:endParaRPr lang="en-US" altLang="ko-KR" sz="2000" dirty="0" smtClean="0"/>
          </a:p>
          <a:p>
            <a:pPr lvl="2"/>
            <a:r>
              <a:rPr lang="ko-KR" altLang="en-US" sz="1600" dirty="0" smtClean="0"/>
              <a:t>예</a:t>
            </a:r>
            <a:r>
              <a:rPr lang="en-US" altLang="ko-KR" sz="1600" dirty="0" smtClean="0"/>
              <a:t>) 13, 14, 15</a:t>
            </a:r>
            <a:r>
              <a:rPr lang="ko-KR" altLang="en-US" sz="1600" dirty="0" smtClean="0"/>
              <a:t>층에 내릴 사람들이 각각 있는 경우 </a:t>
            </a:r>
            <a:r>
              <a:rPr lang="en-US" altLang="ko-KR" sz="1600" dirty="0" smtClean="0"/>
              <a:t>14</a:t>
            </a:r>
            <a:r>
              <a:rPr lang="ko-KR" altLang="en-US" sz="1600" dirty="0" smtClean="0"/>
              <a:t>층에 한 번 멈추고 </a:t>
            </a:r>
            <a:r>
              <a:rPr lang="en-US" altLang="ko-KR" sz="1600" dirty="0" smtClean="0"/>
              <a:t>13</a:t>
            </a:r>
            <a:r>
              <a:rPr lang="ko-KR" altLang="en-US" sz="1600" dirty="0" smtClean="0"/>
              <a:t>층과 </a:t>
            </a:r>
            <a:r>
              <a:rPr lang="en-US" altLang="ko-KR" sz="1600" dirty="0" smtClean="0"/>
              <a:t>15</a:t>
            </a:r>
            <a:r>
              <a:rPr lang="ko-KR" altLang="en-US" sz="1600" dirty="0" smtClean="0"/>
              <a:t>층까지는 걸어갈 수 있음</a:t>
            </a:r>
            <a:endParaRPr lang="en-US" altLang="ko-KR" sz="1600" dirty="0" smtClean="0"/>
          </a:p>
          <a:p>
            <a:pPr lvl="1"/>
            <a:r>
              <a:rPr lang="ko-KR" altLang="en-US" sz="2000" dirty="0" smtClean="0"/>
              <a:t>엘리베이터 멈추는 회수를 </a:t>
            </a:r>
            <a:r>
              <a:rPr lang="en-US" altLang="ko-KR" sz="2000" dirty="0" smtClean="0"/>
              <a:t>k</a:t>
            </a:r>
            <a:r>
              <a:rPr lang="ko-KR" altLang="en-US" sz="2000" dirty="0" smtClean="0"/>
              <a:t>로 제한할 때 어느 층에서 멈추는 것이 걸어가는 사람의 수를 최소화할 수 있을까</a:t>
            </a:r>
            <a:r>
              <a:rPr lang="en-US" altLang="ko-KR" sz="2000" dirty="0" smtClean="0"/>
              <a:t>?</a:t>
            </a:r>
          </a:p>
          <a:p>
            <a:pPr lvl="2"/>
            <a:r>
              <a:rPr lang="ko-KR" altLang="en-US" sz="1600" dirty="0" smtClean="0"/>
              <a:t>가정</a:t>
            </a:r>
            <a:r>
              <a:rPr lang="en-US" altLang="ko-KR" sz="1600" dirty="0" smtClean="0"/>
              <a:t>1: </a:t>
            </a:r>
            <a:r>
              <a:rPr lang="ko-KR" altLang="en-US" sz="1600" dirty="0" smtClean="0"/>
              <a:t>각 층에 내릴 사람 수도 알아낼 수 있음</a:t>
            </a:r>
            <a:endParaRPr lang="en-US" altLang="ko-KR" sz="1600" dirty="0" smtClean="0"/>
          </a:p>
          <a:p>
            <a:pPr lvl="2"/>
            <a:r>
              <a:rPr lang="ko-KR" altLang="en-US" sz="1600" dirty="0" smtClean="0"/>
              <a:t>가정</a:t>
            </a:r>
            <a:r>
              <a:rPr lang="en-US" altLang="ko-KR" sz="1600" dirty="0" smtClean="0"/>
              <a:t>2: </a:t>
            </a:r>
            <a:r>
              <a:rPr lang="ko-KR" altLang="en-US" sz="1600" dirty="0" smtClean="0"/>
              <a:t>걸어 올라가는 것과 걸어 내려가는 것은 차이가 없음</a:t>
            </a:r>
            <a:endParaRPr lang="en-US" altLang="ko-KR" sz="1600" dirty="0" smtClean="0"/>
          </a:p>
          <a:p>
            <a:pPr lvl="1"/>
            <a:r>
              <a:rPr lang="ko-KR" altLang="en-US" sz="2000" dirty="0" smtClean="0"/>
              <a:t>걸어가야 할 사람이 동일한 경우에는 낮은 층에서 세우는 것이 우선됨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8753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88640"/>
                <a:ext cx="7772400" cy="5907360"/>
              </a:xfrm>
            </p:spPr>
            <p:txBody>
              <a:bodyPr/>
              <a:lstStyle/>
              <a:p>
                <a:r>
                  <a:rPr lang="ko-KR" altLang="en-US" sz="2400" dirty="0" smtClean="0"/>
                  <a:t>문제 풀이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동적 프로그래밍으로 깔끔하게 풀 수 있는 대표적인 문제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재귀 알고리즘을 바탕으로 함</a:t>
                </a:r>
                <a:endParaRPr lang="en-US" altLang="ko-KR" sz="2000" dirty="0" smtClean="0"/>
              </a:p>
              <a:p>
                <a:pPr lvl="2"/>
                <a:r>
                  <a:rPr lang="en-US" altLang="ko-K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600" dirty="0" smtClean="0"/>
                  <a:t>번째 멈출 층을 결정하는 문제는 </a:t>
                </a:r>
                <a:r>
                  <a:rPr lang="en-US" altLang="ko-K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altLang="ko-KR" sz="1600" dirty="0" smtClean="0"/>
                  <a:t>-1</a:t>
                </a:r>
                <a:r>
                  <a:rPr lang="ko-KR" altLang="en-US" sz="1600" dirty="0" smtClean="0"/>
                  <a:t>번 멈추는 모든 가능한 풀이의 비용에 따라 결정됨</a:t>
                </a:r>
                <a:endParaRPr lang="en-US" altLang="ko-KR" sz="1600" dirty="0" smtClean="0"/>
              </a:p>
              <a:p>
                <a:pPr lvl="1"/>
                <a:r>
                  <a:rPr lang="ko-KR" altLang="en-US" sz="2000" dirty="0" smtClean="0"/>
                  <a:t>입력</a:t>
                </a:r>
                <a:endParaRPr lang="en-US" altLang="ko-KR" sz="2000" dirty="0" smtClean="0"/>
              </a:p>
              <a:p>
                <a:pPr lvl="2"/>
                <a:r>
                  <a:rPr lang="ko-KR" altLang="en-US" sz="1600" dirty="0" smtClean="0"/>
                  <a:t>탑승객의 목적지가 낮은 층에서 높은 층 순서로 정렬되어 입력됨 </a:t>
                </a:r>
                <a:r>
                  <a:rPr lang="en-US" altLang="ko-KR" sz="1600" dirty="0" smtClean="0">
                    <a:sym typeface="Wingdings" panose="05000000000000000000" pitchFamily="2" charset="2"/>
                  </a:rPr>
                  <a:t> </a:t>
                </a:r>
                <a:r>
                  <a:rPr lang="ko-KR" altLang="en-US" sz="1600" dirty="0" smtClean="0">
                    <a:sym typeface="Wingdings" panose="05000000000000000000" pitchFamily="2" charset="2"/>
                  </a:rPr>
                  <a:t>효율성이 증대됨</a:t>
                </a:r>
                <a:endParaRPr lang="en-US" altLang="ko-KR" sz="16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: </a:t>
                </a:r>
                <a:r>
                  <a:rPr lang="ko-KR" altLang="en-US" sz="2000" dirty="0" smtClean="0"/>
                  <a:t>마지막으로 멈춰야 하는 층이 </a:t>
                </a:r>
                <a:r>
                  <a:rPr lang="en-US" altLang="ko-KR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 smtClean="0"/>
                  <a:t>층이고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정확하게 </a:t>
                </a:r>
                <a:r>
                  <a:rPr lang="en-US" altLang="ko-KR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ko-KR" altLang="en-US" sz="2000" dirty="0" smtClean="0"/>
                  <a:t>번 멈추면서 모든 승객을 운반하기 위한 최소 비용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ko-KR" sz="20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ko-KR" sz="2000" b="0" i="1" smtClean="0">
                        <a:latin typeface="Cambria Math"/>
                      </a:rPr>
                      <m:t>=             </m:t>
                    </m:r>
                    <m:func>
                      <m:funcPr>
                        <m:ctrlPr>
                          <a:rPr lang="en-US" altLang="ko-KR" sz="2000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2000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ko-KR" sz="2000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ko-KR" sz="2000" b="0" i="1" smtClean="0">
                                <a:latin typeface="Cambria Math"/>
                              </a:rPr>
                              <m:t>=0,…,</m:t>
                            </m:r>
                            <m:r>
                              <a:rPr lang="en-US" altLang="ko-KR" sz="2000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2000" i="1">
                                    <a:latin typeface="Cambria Math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ko-KR" sz="2000" i="1">
                                    <a:latin typeface="Cambria Math"/>
                                  </a:rPr>
                                  <m:t>𝑓𝑙𝑜𝑜𝑟</m:t>
                                </m:r>
                                <m:r>
                                  <a:rPr lang="en-US" altLang="ko-KR" sz="2000" b="0" i="1" smtClean="0"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altLang="ko-KR" sz="2000" i="1">
                                    <a:latin typeface="Cambria Math"/>
                                  </a:rPr>
                                  <m:t>𝑤𝑎𝑙𝑘𝑒𝑑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</a:rPr>
                                      <m:t>,∞</m:t>
                                    </m:r>
                                  </m:e>
                                </m:d>
                                <m:r>
                                  <a:rPr lang="en-US" altLang="ko-KR" sz="2000" i="1">
                                    <a:latin typeface="Cambria Math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/>
                                    <a:ea typeface="Cambria Math"/>
                                  </a:rPr>
                                  <m:t>𝑓𝑙𝑜𝑜𝑟𝑠</m:t>
                                </m:r>
                                <m:r>
                                  <a:rPr lang="en-US" altLang="ko-KR" sz="2000" b="0" i="1" smtClean="0">
                                    <a:latin typeface="Cambria Math"/>
                                    <a:ea typeface="Cambria Math"/>
                                  </a:rPr>
                                  <m:t>_</m:t>
                                </m:r>
                                <m:r>
                                  <a:rPr lang="en-US" altLang="ko-KR" sz="2000" i="1">
                                    <a:latin typeface="Cambria Math"/>
                                    <a:ea typeface="Cambria Math"/>
                                  </a:rPr>
                                  <m:t>𝑤𝑎𝑙𝑘𝑒𝑑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  <m:t>𝑘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  <m:t>,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altLang="ko-KR" sz="2000" i="1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r>
                                  <a:rPr lang="en-US" altLang="ko-KR" sz="2000" i="1">
                                    <a:latin typeface="Cambria Math"/>
                                    <a:ea typeface="Cambria Math"/>
                                  </a:rPr>
                                  <m:t>𝑓𝑙𝑜𝑜𝑟𝑠</m:t>
                                </m:r>
                                <m:r>
                                  <a:rPr lang="en-US" altLang="ko-KR" sz="2000" b="0" i="1" smtClean="0">
                                    <a:latin typeface="Cambria Math"/>
                                    <a:ea typeface="Cambria Math"/>
                                  </a:rPr>
                                  <m:t>_</m:t>
                                </m:r>
                                <m:r>
                                  <a:rPr lang="en-US" altLang="ko-KR" sz="2000" i="1">
                                    <a:latin typeface="Cambria Math"/>
                                    <a:ea typeface="Cambria Math"/>
                                  </a:rPr>
                                  <m:t>𝑤𝑎𝑙𝑘𝑒𝑑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ko-KR" sz="2000" i="1">
                                        <a:latin typeface="Cambria Math"/>
                                        <a:ea typeface="Cambria Math"/>
                                      </a:rPr>
                                      <m:t>,∞</m:t>
                                    </m:r>
                                  </m:e>
                                </m:d>
                              </m:e>
                            </m:eqArr>
                          </m:e>
                        </m:d>
                      </m:e>
                    </m:func>
                  </m:oMath>
                </a14:m>
                <a:endParaRPr lang="en-US" altLang="ko-KR" sz="2000" dirty="0" smtClean="0"/>
              </a:p>
              <a:p>
                <a:pPr lvl="2"/>
                <a:r>
                  <a:rPr lang="ko-KR" altLang="en-US" sz="1600" dirty="0" smtClean="0"/>
                  <a:t>마지막으로 멈춘 층이 </a:t>
                </a:r>
                <a:r>
                  <a:rPr lang="en-US" altLang="ko-KR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 smtClean="0"/>
                  <a:t>층이었다면</a:t>
                </a:r>
                <a:r>
                  <a:rPr lang="en-US" altLang="ko-KR" sz="1600" dirty="0" smtClean="0"/>
                  <a:t>, </a:t>
                </a:r>
                <a:r>
                  <a:rPr lang="ko-KR" altLang="en-US" sz="1600" dirty="0" smtClean="0"/>
                  <a:t>그 전에 멈췄던 층은 </a:t>
                </a:r>
                <a:r>
                  <a:rPr lang="en-US" altLang="ko-KR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ko-KR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보다 작은 어떤 </a:t>
                </a:r>
                <a:r>
                  <a:rPr lang="en-US" altLang="ko-KR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ko-KR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층이었을 것이다</a:t>
                </a:r>
                <a:r>
                  <a:rPr lang="en-US" altLang="ko-KR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그런 풀이의 비용은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ko-KR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ko-KR" sz="1600" i="1">
                            <a:latin typeface="Cambria Math"/>
                          </a:rPr>
                          <m:t>,</m:t>
                        </m:r>
                        <m:r>
                          <a:rPr lang="en-US" altLang="ko-KR" sz="16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1600" dirty="0" smtClean="0"/>
                  <a:t>로부터 </a:t>
                </a:r>
                <a:r>
                  <a:rPr lang="en-US" altLang="ko-KR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ko-KR" altLang="en-US" sz="1600" dirty="0" smtClean="0"/>
                  <a:t>위로 올라가는 모든 승객에 대한 비용</a:t>
                </a:r>
                <a:r>
                  <a:rPr lang="en-US" altLang="ko-KR" sz="1600" dirty="0" smtClean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/>
                      </a:rPr>
                      <m:t>𝑓𝑙𝑜𝑜𝑟</m:t>
                    </m:r>
                    <m:r>
                      <a:rPr lang="en-US" altLang="ko-KR" sz="1600" i="1">
                        <a:latin typeface="Cambria Math"/>
                      </a:rPr>
                      <m:t>_</m:t>
                    </m:r>
                    <m:r>
                      <a:rPr lang="en-US" altLang="ko-KR" sz="1600" i="1">
                        <a:latin typeface="Cambria Math"/>
                      </a:rPr>
                      <m:t>𝑤𝑎𝑙𝑘𝑒𝑑</m:t>
                    </m:r>
                    <m:d>
                      <m:dPr>
                        <m:ctrlPr>
                          <a:rPr lang="en-US" altLang="ko-KR" sz="16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/>
                          </a:rPr>
                          <m:t>𝑘</m:t>
                        </m:r>
                        <m:r>
                          <a:rPr lang="en-US" altLang="ko-KR" sz="1600" i="1">
                            <a:latin typeface="Cambria Math"/>
                          </a:rPr>
                          <m:t>,∞</m:t>
                        </m:r>
                      </m:e>
                    </m:d>
                  </m:oMath>
                </a14:m>
                <a:r>
                  <a:rPr lang="en-US" altLang="ko-KR" sz="1600" dirty="0" smtClean="0"/>
                  <a:t>)</a:t>
                </a:r>
                <a:r>
                  <a:rPr lang="ko-KR" altLang="en-US" sz="1600" dirty="0" smtClean="0"/>
                  <a:t>을 빼고</a:t>
                </a:r>
                <a:r>
                  <a:rPr lang="en-US" altLang="ko-KR" sz="1600" dirty="0" smtClean="0"/>
                  <a:t>, </a:t>
                </a:r>
                <a:r>
                  <a:rPr lang="ko-KR" altLang="en-US" sz="1600" dirty="0" smtClean="0"/>
                  <a:t>그 비용보다 줄어든</a:t>
                </a:r>
                <a:r>
                  <a:rPr lang="en-US" altLang="ko-KR" sz="1600" dirty="0" smtClean="0"/>
                  <a:t>, </a:t>
                </a:r>
                <a:r>
                  <a:rPr lang="en-US" altLang="ko-KR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ko-KR" altLang="en-US" sz="1600" dirty="0" smtClean="0"/>
                  <a:t>층에 멈추는 비용</a:t>
                </a:r>
                <a:r>
                  <a:rPr lang="en-US" altLang="ko-KR" sz="1600" dirty="0" smtClean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/>
                        <a:ea typeface="Cambria Math"/>
                      </a:rPr>
                      <m:t>𝑓𝑙𝑜𝑜𝑟𝑠</m:t>
                    </m:r>
                    <m:r>
                      <a:rPr lang="en-US" altLang="ko-KR" sz="1600" i="1">
                        <a:latin typeface="Cambria Math"/>
                        <a:ea typeface="Cambria Math"/>
                      </a:rPr>
                      <m:t>_</m:t>
                    </m:r>
                    <m:r>
                      <a:rPr lang="en-US" altLang="ko-KR" sz="1600" i="1">
                        <a:latin typeface="Cambria Math"/>
                        <a:ea typeface="Cambria Math"/>
                      </a:rPr>
                      <m:t>𝑤𝑎𝑙𝑘𝑒𝑑</m:t>
                    </m:r>
                    <m:d>
                      <m:dPr>
                        <m:ctrlPr>
                          <a:rPr lang="en-US" altLang="ko-KR" sz="16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altLang="ko-KR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ko-KR" sz="1600" i="1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</m:d>
                    <m:r>
                      <a:rPr lang="en-US" altLang="ko-KR" sz="1600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ko-KR" sz="1600" i="1">
                        <a:latin typeface="Cambria Math"/>
                        <a:ea typeface="Cambria Math"/>
                      </a:rPr>
                      <m:t>𝑓𝑙𝑜𝑜𝑟𝑠</m:t>
                    </m:r>
                    <m:r>
                      <a:rPr lang="en-US" altLang="ko-KR" sz="1600" i="1">
                        <a:latin typeface="Cambria Math"/>
                        <a:ea typeface="Cambria Math"/>
                      </a:rPr>
                      <m:t>_</m:t>
                    </m:r>
                    <m:r>
                      <a:rPr lang="en-US" altLang="ko-KR" sz="1600" i="1">
                        <a:latin typeface="Cambria Math"/>
                        <a:ea typeface="Cambria Math"/>
                      </a:rPr>
                      <m:t>𝑤𝑎𝑙𝑘𝑒𝑑</m:t>
                    </m:r>
                    <m:d>
                      <m:dPr>
                        <m:ctrlPr>
                          <a:rPr lang="en-US" altLang="ko-KR" sz="16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/>
                            <a:ea typeface="Cambria Math"/>
                          </a:rPr>
                          <m:t>,∞</m:t>
                        </m:r>
                      </m:e>
                    </m:d>
                  </m:oMath>
                </a14:m>
                <a:r>
                  <a:rPr lang="en-US" altLang="ko-KR" sz="1600" dirty="0" smtClean="0"/>
                  <a:t>)</a:t>
                </a:r>
                <a:r>
                  <a:rPr lang="ko-KR" altLang="en-US" sz="1600" dirty="0" smtClean="0"/>
                  <a:t>을 더하면 된다</a:t>
                </a:r>
                <a:r>
                  <a:rPr lang="en-US" altLang="ko-KR" sz="1600" dirty="0" smtClean="0"/>
                  <a:t>.</a:t>
                </a:r>
              </a:p>
              <a:p>
                <a:pPr lvl="1"/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/>
                      </a:rPr>
                      <m:t>𝑓𝑙𝑜𝑜𝑟</m:t>
                    </m:r>
                    <m:r>
                      <a:rPr lang="en-US" altLang="ko-KR" sz="2000" i="1">
                        <a:latin typeface="Cambria Math"/>
                      </a:rPr>
                      <m:t>_</m:t>
                    </m:r>
                    <m:r>
                      <a:rPr lang="en-US" altLang="ko-KR" sz="2000" i="1">
                        <a:latin typeface="Cambria Math"/>
                      </a:rPr>
                      <m:t>𝑤𝑎𝑙𝑘𝑒𝑑</m:t>
                    </m:r>
                    <m:d>
                      <m:dPr>
                        <m:ctrlPr>
                          <a:rPr lang="en-US" altLang="ko-KR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/>
                          </a:rPr>
                          <m:t>𝑎</m:t>
                        </m:r>
                        <m:r>
                          <a:rPr lang="en-US" altLang="ko-KR" sz="2000" i="1">
                            <a:latin typeface="Cambria Math"/>
                          </a:rPr>
                          <m:t>,</m:t>
                        </m:r>
                        <m:r>
                          <a:rPr lang="en-US" altLang="ko-KR" sz="2000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ko-K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ko-KR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ko-KR" altLang="en-US" sz="2000" dirty="0" smtClean="0"/>
                  <a:t>층에서 멈춘 다음 </a:t>
                </a:r>
                <a:r>
                  <a:rPr lang="en-US" altLang="ko-KR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ko-KR" altLang="en-US" sz="2000" dirty="0" smtClean="0"/>
                  <a:t>층에서 멈출 때 승객들이 걸어서 이동한 층수의 총합을 나타내는 함</a:t>
                </a:r>
                <a:r>
                  <a:rPr lang="ko-KR" altLang="en-US" sz="2000" dirty="0"/>
                  <a:t>수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88640"/>
                <a:ext cx="7772400" cy="5907360"/>
              </a:xfrm>
              <a:blipFill rotWithShape="1">
                <a:blip r:embed="rId2"/>
                <a:stretch>
                  <a:fillRect l="-863" t="-826" r="-314" b="-95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92243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332656"/>
            <a:ext cx="3598168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5 2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2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4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11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332656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10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683568" y="3861048"/>
            <a:ext cx="3598168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5 </a:t>
            </a:r>
            <a:r>
              <a:rPr lang="en-US" altLang="ko-KR" sz="2000" b="0" kern="0" dirty="0" smtClean="0"/>
              <a:t>1</a:t>
            </a:r>
            <a:endParaRPr lang="en-US" altLang="ko-KR" sz="2000" b="0" kern="0" dirty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2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4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11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5076056" y="3861048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10</a:t>
            </a:r>
            <a:endParaRPr lang="en-US" altLang="ko-KR" sz="2000" b="0" kern="0" dirty="0"/>
          </a:p>
        </p:txBody>
      </p:sp>
      <p:sp>
        <p:nvSpPr>
          <p:cNvPr id="2" name="TextBox 1"/>
          <p:cNvSpPr txBox="1"/>
          <p:nvPr/>
        </p:nvSpPr>
        <p:spPr>
          <a:xfrm>
            <a:off x="2987824" y="5661248"/>
            <a:ext cx="489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층에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 설 때</a:t>
            </a:r>
            <a:r>
              <a:rPr lang="en-US" altLang="ko-KR" dirty="0" smtClean="0"/>
              <a:t>: 2+1+6+7=16</a:t>
            </a:r>
          </a:p>
          <a:p>
            <a:r>
              <a:rPr lang="en-US" altLang="ko-KR" dirty="0" smtClean="0"/>
              <a:t>10</a:t>
            </a:r>
            <a:r>
              <a:rPr lang="ko-KR" altLang="en-US" dirty="0" smtClean="0"/>
              <a:t>층에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 설 때</a:t>
            </a:r>
            <a:r>
              <a:rPr lang="en-US" altLang="ko-KR" dirty="0" smtClean="0"/>
              <a:t>: 2+3+4+1=10 (2, 3, 4</a:t>
            </a:r>
            <a:r>
              <a:rPr lang="ko-KR" altLang="en-US" dirty="0" smtClean="0"/>
              <a:t>층은 엘리베이터 타지 않고 </a:t>
            </a:r>
            <a:r>
              <a:rPr lang="en-US" altLang="ko-KR" dirty="0" smtClean="0"/>
              <a:t>1</a:t>
            </a:r>
            <a:r>
              <a:rPr lang="ko-KR" altLang="en-US" dirty="0" smtClean="0"/>
              <a:t>층에서 걸어 올라가는 비용 계산</a:t>
            </a:r>
            <a:r>
              <a:rPr lang="en-US" altLang="ko-KR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49692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23528" y="116632"/>
            <a:ext cx="8568952" cy="66967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limits.h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define NFLOORS     110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건물 층수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MAX_RIDERS  50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엘리베이터 최대 탑승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인원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stops[MAX_RIDERS];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모든 승객이 내리는 층 수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nriders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탑승객 수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멈출 수 있는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회수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m[NFLOORS+1][MAX_RIDERS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동적 프로그래밍 비용 테이블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p[NFLOORS+1][MAX_RIDERS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동적 프로그래밍 부모 테이블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min(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(a&gt;b) return b;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 return a;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7414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23528" y="116632"/>
            <a:ext cx="8568952" cy="66967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floors_walked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previous,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current)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nsteps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총 이동 거리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카운터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nriders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((stops[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&gt; previous) &amp;&amp; (stops[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&lt;= current))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nsteps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min(stops[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]-previous, current-stops[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nsteps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optimize_floors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j, k;       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카운터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cost;          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비용 저장용 변수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마지막으로 멈춘 위치</a:t>
            </a:r>
          </a:p>
          <a:p>
            <a:pPr marL="0" indent="0">
              <a:buNone/>
            </a:pP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&lt;=NFLOORS;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floors_walked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(0, INT_MAX);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 = -1;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34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23528" y="116632"/>
            <a:ext cx="8568952" cy="66967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(j=1; j&lt;=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&lt;=NFLOORS;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INT_MAX;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(k=0; k&lt;=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k++)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cost = m[k][j-1] -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floors_walked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(k, INT_MAX) +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floors_walked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(k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floors_walked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INT_MAX);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(cost &lt;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][j])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cost;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k;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&lt;=NFLOORS;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&lt; 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34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23528" y="116632"/>
            <a:ext cx="8568952" cy="66967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lastfloor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stops_to_go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stops_to_go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 1)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lastfloor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stops_to_go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stops_to_go-1);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lastfloor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nriders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nriders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&amp;stops[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 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낮은 층부터 정렬되어 입력된다고 가정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result;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input();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optimize_floors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reconstruct_path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(result,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nstops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2534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문제</a:t>
            </a:r>
            <a:r>
              <a:rPr lang="en-US" altLang="ko-KR" sz="2800" dirty="0"/>
              <a:t> </a:t>
            </a:r>
            <a:r>
              <a:rPr lang="en-US" altLang="ko-KR" sz="2800" dirty="0" smtClean="0"/>
              <a:t>83. </a:t>
            </a:r>
            <a:r>
              <a:rPr lang="ko-KR" altLang="en-US" sz="2800" dirty="0" smtClean="0"/>
              <a:t>거북이 쌓기</a:t>
            </a:r>
            <a:r>
              <a:rPr lang="en-US" altLang="ko-KR" sz="2800" dirty="0" smtClean="0"/>
              <a:t>(Weights and Measures) 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328120"/>
          </a:xfrm>
        </p:spPr>
        <p:txBody>
          <a:bodyPr/>
          <a:lstStyle/>
          <a:p>
            <a:r>
              <a:rPr lang="ko-KR" altLang="en-US" sz="2000" dirty="0" smtClean="0"/>
              <a:t>맥</a:t>
            </a:r>
            <a:r>
              <a:rPr lang="en-US" altLang="ko-KR" sz="2000" dirty="0" smtClean="0"/>
              <a:t>(Mack)</a:t>
            </a:r>
            <a:r>
              <a:rPr lang="ko-KR" altLang="en-US" sz="2000" dirty="0" smtClean="0"/>
              <a:t>이라는 이름의 거북이가 </a:t>
            </a:r>
            <a:r>
              <a:rPr lang="ko-KR" altLang="en-US" sz="2000" dirty="0" err="1" smtClean="0"/>
              <a:t>여틀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Yertle</a:t>
            </a:r>
            <a:r>
              <a:rPr lang="en-US" altLang="ko-KR" sz="2000" dirty="0" smtClean="0"/>
              <a:t>) </a:t>
            </a:r>
            <a:r>
              <a:rPr lang="ko-KR" altLang="en-US" sz="2000" dirty="0" smtClean="0"/>
              <a:t>왕의 거북이 왕관을 만들기 위한 거북이를 쌓는 방법을 문의해왔다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혹시 자기 등껍질이 깨질까 봐 겁이 났기 때문이다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여틀</a:t>
            </a:r>
            <a:r>
              <a:rPr lang="ko-KR" altLang="en-US" sz="2000" dirty="0" smtClean="0"/>
              <a:t> 왕의 왕관을 만들기 위해 동원된 </a:t>
            </a:r>
            <a:r>
              <a:rPr lang="en-US" altLang="ko-KR" sz="2000" dirty="0" smtClean="0"/>
              <a:t>5,607 </a:t>
            </a:r>
            <a:r>
              <a:rPr lang="ko-KR" altLang="en-US" sz="2000" dirty="0" smtClean="0"/>
              <a:t>마리의 거북이는 체중과 체력이 모두 다르다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가능한 한 가장 많은 거북이를 쌓는 방법을 찾아보자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여러 줄이 입력되는데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한 줄에 한 쌍의 정수가 입력된다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정수는 체중을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두번째</a:t>
            </a:r>
            <a:r>
              <a:rPr lang="ko-KR" altLang="en-US" sz="1800" dirty="0" smtClean="0"/>
              <a:t> 정수는 거북이의 체력을 나타낸다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거북이의 체중은 그램 단위로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즉 체중이 </a:t>
            </a:r>
            <a:r>
              <a:rPr lang="en-US" altLang="ko-KR" sz="1800" dirty="0" smtClean="0"/>
              <a:t>300g</a:t>
            </a:r>
            <a:r>
              <a:rPr lang="ko-KR" altLang="en-US" sz="1800" dirty="0" smtClean="0"/>
              <a:t>이고 체력이 </a:t>
            </a:r>
            <a:r>
              <a:rPr lang="en-US" altLang="ko-KR" sz="1800" dirty="0" smtClean="0"/>
              <a:t>1,000g</a:t>
            </a:r>
            <a:r>
              <a:rPr lang="ko-KR" altLang="en-US" sz="1800" dirty="0" smtClean="0"/>
              <a:t>인 거북이 등 위에는 </a:t>
            </a:r>
            <a:r>
              <a:rPr lang="en-US" altLang="ko-KR" sz="1800" dirty="0" smtClean="0"/>
              <a:t>700g</a:t>
            </a:r>
            <a:r>
              <a:rPr lang="ko-KR" altLang="en-US" sz="1800" dirty="0" smtClean="0"/>
              <a:t>을 올려놓을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거북이는 최대 </a:t>
            </a:r>
            <a:r>
              <a:rPr lang="en-US" altLang="ko-KR" sz="1800" dirty="0" smtClean="0"/>
              <a:t>5,607</a:t>
            </a:r>
            <a:r>
              <a:rPr lang="ko-KR" altLang="en-US" sz="1800" dirty="0" smtClean="0"/>
              <a:t>마리이다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어떤 거북이도 자기 체력이 허용하는 한도 내에서만 등 위에 다른 거북이를 올려놓으면서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몇 마리의 거북이를 쌓을 수 있는지를 나타내는 정수를 출력한다</a:t>
            </a:r>
            <a:r>
              <a:rPr lang="en-US" altLang="ko-KR" sz="18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1531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332656"/>
            <a:ext cx="359816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300 1000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1000 1200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200 600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100 101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332656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3</a:t>
            </a:r>
            <a:endParaRPr lang="en-US" altLang="ko-KR" sz="2000" b="0" kern="0" dirty="0"/>
          </a:p>
        </p:txBody>
      </p:sp>
    </p:spTree>
    <p:extLst>
      <p:ext uri="{BB962C8B-B14F-4D97-AF65-F5344CB8AC3E}">
        <p14:creationId xmlns:p14="http://schemas.microsoft.com/office/powerpoint/2010/main" val="23339226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83.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strength </a:t>
            </a:r>
            <a:r>
              <a:rPr lang="ko-KR" altLang="en-US" sz="2400" dirty="0"/>
              <a:t>순으로 정렬한 다음 동적 프로그래밍을 이용해 풀면 된다</a:t>
            </a:r>
            <a:r>
              <a:rPr lang="en-US" altLang="ko-KR" sz="2400" dirty="0"/>
              <a:t>. </a:t>
            </a:r>
            <a:r>
              <a:rPr lang="ko-KR" altLang="en-US" sz="2400" dirty="0"/>
              <a:t>다음은 이 </a:t>
            </a:r>
            <a:r>
              <a:rPr lang="ko-KR" altLang="en-US" sz="2400" dirty="0" smtClean="0"/>
              <a:t>문제를 </a:t>
            </a:r>
            <a:r>
              <a:rPr lang="ko-KR" altLang="en-US" sz="2400" dirty="0"/>
              <a:t>해결한 점화식이다</a:t>
            </a:r>
            <a:r>
              <a:rPr lang="en-US" altLang="ko-KR" sz="2400" dirty="0"/>
              <a:t>.</a:t>
            </a:r>
          </a:p>
          <a:p>
            <a:pPr lvl="1"/>
            <a:r>
              <a:rPr lang="en-US" altLang="ko-KR" sz="1800" dirty="0" smtClean="0"/>
              <a:t>D(</a:t>
            </a:r>
            <a:r>
              <a:rPr lang="en-US" altLang="ko-KR" sz="1800" dirty="0" err="1" smtClean="0"/>
              <a:t>i</a:t>
            </a:r>
            <a:r>
              <a:rPr lang="en-US" altLang="ko-KR" sz="1800" dirty="0"/>
              <a:t>, j) = </a:t>
            </a:r>
            <a:r>
              <a:rPr lang="en-US" altLang="ko-KR" sz="1800" dirty="0" err="1"/>
              <a:t>i</a:t>
            </a:r>
            <a:r>
              <a:rPr lang="ko-KR" altLang="en-US" sz="1800" dirty="0"/>
              <a:t>까지의 거북이를 이용해 </a:t>
            </a:r>
            <a:r>
              <a:rPr lang="en-US" altLang="ko-KR" sz="1800" dirty="0"/>
              <a:t>j</a:t>
            </a:r>
            <a:r>
              <a:rPr lang="ko-KR" altLang="en-US" sz="1800" dirty="0"/>
              <a:t>마리의 거북이를 쌓을 수 있는 최소의 </a:t>
            </a:r>
            <a:r>
              <a:rPr lang="ko-KR" altLang="en-US" sz="1800" dirty="0" smtClean="0"/>
              <a:t>거북이들의 </a:t>
            </a:r>
            <a:r>
              <a:rPr lang="en-US" altLang="ko-KR" sz="1800" dirty="0"/>
              <a:t>weight</a:t>
            </a:r>
          </a:p>
          <a:p>
            <a:pPr lvl="1"/>
            <a:r>
              <a:rPr lang="en-US" altLang="ko-KR" sz="1800" dirty="0"/>
              <a:t>D(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j)</a:t>
            </a:r>
            <a:r>
              <a:rPr lang="ko-KR" altLang="en-US" sz="1800" dirty="0"/>
              <a:t>가 존재하지 않을 경우 </a:t>
            </a:r>
            <a:r>
              <a:rPr lang="en-US" altLang="ko-KR" sz="1800" dirty="0"/>
              <a:t>infinite</a:t>
            </a:r>
          </a:p>
          <a:p>
            <a:pPr lvl="1"/>
            <a:r>
              <a:rPr lang="en-US" altLang="ko-KR" sz="1800" dirty="0"/>
              <a:t>D(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j) = Min[D(i-1, j-1) + weight(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), D(i-1, j)] if D(i-1, j-1) + weight(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 &lt;= strength(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D(i-1, j) otherwise</a:t>
            </a:r>
          </a:p>
          <a:p>
            <a:pPr lvl="1"/>
            <a:r>
              <a:rPr lang="en-US" altLang="ko-KR" sz="1800" dirty="0" smtClean="0"/>
              <a:t>D(n</a:t>
            </a:r>
            <a:r>
              <a:rPr lang="en-US" altLang="ko-KR" sz="1800" dirty="0"/>
              <a:t>, j) </a:t>
            </a:r>
            <a:r>
              <a:rPr lang="ko-KR" altLang="en-US" sz="1800" dirty="0"/>
              <a:t>중 </a:t>
            </a:r>
            <a:r>
              <a:rPr lang="en-US" altLang="ko-KR" sz="1800" dirty="0"/>
              <a:t>infinite</a:t>
            </a:r>
            <a:r>
              <a:rPr lang="ko-KR" altLang="en-US" sz="1800" dirty="0"/>
              <a:t>가 아닌 최대의 </a:t>
            </a:r>
            <a:r>
              <a:rPr lang="en-US" altLang="ko-KR" sz="1800" dirty="0"/>
              <a:t>j</a:t>
            </a:r>
            <a:r>
              <a:rPr lang="ko-KR" altLang="en-US" sz="1800" dirty="0"/>
              <a:t>가 해가 된다</a:t>
            </a:r>
            <a:r>
              <a:rPr lang="en-US" altLang="ko-KR" sz="18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1974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16632"/>
            <a:ext cx="7772400" cy="66247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83: Weights and Measures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&lt;stdio.h&gt;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MAXN 5607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INFINITY 1000000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int n, weight[MAXN], strength[MAXN];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dynamic[2][MAXN], result;</a:t>
            </a:r>
          </a:p>
          <a:p>
            <a:pPr marL="0" indent="0">
              <a:spcBef>
                <a:spcPts val="0"/>
              </a:spcBef>
              <a:buNone/>
            </a:pPr>
            <a:endParaRPr lang="sv-SE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void qsort(int left, int right)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k = strength[(left + right) / 2];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l = left, r = right;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while (l &lt; r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(;strength[l] &lt; k; l++);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(;strength[r] &gt; k; r--);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if (l &lt;= r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temp = strength[l];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strength[l] = strength[r];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strength[r] =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temp = weight[l];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weight[l] = weight[r];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weight[r] =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l++;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r--;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(left &lt; r) qsort(left, r);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(l &lt; right) qsort(l, right);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0729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16632"/>
            <a:ext cx="8460432" cy="66247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i, j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v-SE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(n = 0; scanf("%d %d", &amp;weight[n], &amp;strength[n]) != EOF; n++);</a:t>
            </a:r>
          </a:p>
          <a:p>
            <a:pPr marL="0" indent="0">
              <a:spcBef>
                <a:spcPts val="0"/>
              </a:spcBef>
              <a:buNone/>
            </a:pPr>
            <a:endParaRPr lang="sv-SE" altLang="ko-KR" sz="1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체력이 작은 거북이순으로 정렬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qsort(0, n - 1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sv-SE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(i = 0; i &lt; n;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dynamic[0][i] = INFINITY;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if (dynamic[0][0] &gt; weight[0] &amp;&amp; weight[0] &lt;= strength[0])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dynamic[0][0] = weight[0];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(i = 1; i &lt; n; i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dynamic[i%2][j] = dynamic[(i-1)%2][j];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(dynamic[(i-1)%2][j-1] + weight[i] &lt;= strength[i] &amp;&amp;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dynamic[(i-1)%2][j-1] + weight[i] &lt; dynamic[i%2][j])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dynamic[i%2][j] = dynamic[(i-1)%2][j-1] + weight[i];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v-SE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n - 1; i &gt;= 0; i--)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(dynamic[(n-1)%2][i] &lt; INFINITY</a:t>
            </a:r>
            <a:r>
              <a:rPr lang="sv-SE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sv-SE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result = i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printf("%d\n", result);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v-SE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22230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97904"/>
            <a:ext cx="8568952" cy="1143000"/>
          </a:xfrm>
        </p:spPr>
        <p:txBody>
          <a:bodyPr/>
          <a:lstStyle/>
          <a:p>
            <a:r>
              <a:rPr lang="ko-KR" altLang="en-US" sz="2800" dirty="0" smtClean="0"/>
              <a:t>문제 </a:t>
            </a:r>
            <a:r>
              <a:rPr lang="en-US" altLang="ko-KR" sz="2800" dirty="0" smtClean="0"/>
              <a:t>84. </a:t>
            </a:r>
            <a:r>
              <a:rPr lang="ko-KR" altLang="en-US" sz="2800" dirty="0" err="1" smtClean="0"/>
              <a:t>단방향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TSP(Unidirectional TSP)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124744"/>
            <a:ext cx="7990656" cy="4464496"/>
          </a:xfrm>
        </p:spPr>
        <p:txBody>
          <a:bodyPr/>
          <a:lstStyle/>
          <a:p>
            <a:r>
              <a:rPr lang="ko-KR" altLang="en-US" sz="2000" dirty="0" smtClean="0"/>
              <a:t>정수로 된 </a:t>
            </a:r>
            <a:r>
              <a:rPr lang="en-US" altLang="ko-KR" sz="2000" i="1" dirty="0" smtClean="0"/>
              <a:t>m</a:t>
            </a:r>
            <a:r>
              <a:rPr lang="en-US" altLang="ko-KR" sz="2000" dirty="0" smtClean="0"/>
              <a:t> x </a:t>
            </a:r>
            <a:r>
              <a:rPr lang="en-US" altLang="ko-KR" sz="2000" i="1" dirty="0" smtClean="0"/>
              <a:t>n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배열이 있을 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배열을 따라서 왼쪽에서 오른쪽으로 가는 경로를 찾는 프로그램을 만들어야 되는데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중 가중치의 합이 가장 작은 경로를 구해야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경로는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열의 임의의 행에서 시작하며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/>
              <a:t>n</a:t>
            </a:r>
            <a:r>
              <a:rPr lang="ko-KR" altLang="en-US" sz="2000" dirty="0" smtClean="0"/>
              <a:t>번째 열의 임의의 행에서 끝난다</a:t>
            </a:r>
            <a:r>
              <a:rPr lang="en-US" altLang="ko-KR" sz="2000" dirty="0" smtClean="0"/>
              <a:t>.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각 단계마다 </a:t>
            </a:r>
            <a:r>
              <a:rPr lang="en-US" altLang="ko-KR" sz="2000" i="1" dirty="0" err="1" smtClean="0"/>
              <a:t>i</a:t>
            </a:r>
            <a:r>
              <a:rPr lang="en-US" altLang="ko-KR" sz="2000" i="1" dirty="0" smtClean="0"/>
              <a:t> </a:t>
            </a:r>
            <a:r>
              <a:rPr lang="ko-KR" altLang="en-US" sz="2000" dirty="0" smtClean="0"/>
              <a:t>번째 열에서 </a:t>
            </a:r>
            <a:r>
              <a:rPr lang="en-US" altLang="ko-KR" sz="2000" i="1" dirty="0" err="1" smtClean="0"/>
              <a:t>i</a:t>
            </a:r>
            <a:r>
              <a:rPr lang="en-US" altLang="ko-KR" sz="2000" i="1" dirty="0" smtClean="0"/>
              <a:t> </a:t>
            </a:r>
            <a:r>
              <a:rPr lang="en-US" altLang="ko-KR" sz="2000" dirty="0" smtClean="0"/>
              <a:t>+1</a:t>
            </a:r>
            <a:r>
              <a:rPr lang="ko-KR" altLang="en-US" sz="2000" dirty="0" smtClean="0"/>
              <a:t>번째 열의 인접한 위치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수평 방향 또는 대각선 방향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로 이동할 수 있다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행과 마지막 행</a:t>
            </a:r>
            <a:r>
              <a:rPr lang="en-US" altLang="ko-KR" sz="2000" dirty="0" smtClean="0"/>
              <a:t>(1</a:t>
            </a:r>
            <a:r>
              <a:rPr lang="ko-KR" altLang="en-US" sz="2000" dirty="0" smtClean="0"/>
              <a:t>번 열과 </a:t>
            </a:r>
            <a:r>
              <a:rPr lang="en-US" altLang="ko-KR" sz="2000" i="1" dirty="0" smtClean="0"/>
              <a:t>m </a:t>
            </a:r>
            <a:r>
              <a:rPr lang="ko-KR" altLang="en-US" sz="2000" dirty="0" smtClean="0"/>
              <a:t>번 열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은 이어져 있는 것으로 생각하자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즉 수평 방향으로 원통형으로 둘둘 말려 있다고 생각할 수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움직일 수 있는 방향을 그림으로 표시하면 다음과 같다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경로에서 방문한 </a:t>
            </a:r>
            <a:r>
              <a:rPr lang="en-US" altLang="ko-KR" sz="2000" dirty="0" smtClean="0"/>
              <a:t>n</a:t>
            </a:r>
            <a:r>
              <a:rPr lang="ko-KR" altLang="en-US" sz="2000" dirty="0" smtClean="0"/>
              <a:t>개의 셀에 있는 각 정수의 합을 그 경로의 가중치라고 부른다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38</a:t>
            </a:fld>
            <a:endParaRPr lang="en-US" altLang="ko-KR" dirty="0"/>
          </a:p>
        </p:txBody>
      </p:sp>
      <p:grpSp>
        <p:nvGrpSpPr>
          <p:cNvPr id="28" name="그룹 27"/>
          <p:cNvGrpSpPr/>
          <p:nvPr/>
        </p:nvGrpSpPr>
        <p:grpSpPr>
          <a:xfrm>
            <a:off x="3563888" y="4293096"/>
            <a:ext cx="720080" cy="1080120"/>
            <a:chOff x="3707904" y="2132856"/>
            <a:chExt cx="720080" cy="1080120"/>
          </a:xfrm>
        </p:grpSpPr>
        <p:sp>
          <p:nvSpPr>
            <p:cNvPr id="29" name="직사각형 28"/>
            <p:cNvSpPr/>
            <p:nvPr/>
          </p:nvSpPr>
          <p:spPr bwMode="auto">
            <a:xfrm>
              <a:off x="3707904" y="249289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4067944" y="249289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 bwMode="auto">
            <a:xfrm>
              <a:off x="4067944" y="213285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4067944" y="285293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cxnSp>
          <p:nvCxnSpPr>
            <p:cNvPr id="33" name="직선 화살표 연결선 32"/>
            <p:cNvCxnSpPr/>
            <p:nvPr/>
          </p:nvCxnSpPr>
          <p:spPr bwMode="auto">
            <a:xfrm flipV="1">
              <a:off x="3887924" y="2312876"/>
              <a:ext cx="360040" cy="3600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직선 화살표 연결선 33"/>
            <p:cNvCxnSpPr/>
            <p:nvPr/>
          </p:nvCxnSpPr>
          <p:spPr bwMode="auto">
            <a:xfrm>
              <a:off x="3887924" y="2672916"/>
              <a:ext cx="360040" cy="3600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직선 화살표 연결선 34"/>
            <p:cNvCxnSpPr/>
            <p:nvPr/>
          </p:nvCxnSpPr>
          <p:spPr bwMode="auto">
            <a:xfrm>
              <a:off x="3887924" y="2672916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855830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760640"/>
          </a:xfrm>
        </p:spPr>
        <p:txBody>
          <a:bodyPr/>
          <a:lstStyle/>
          <a:p>
            <a:r>
              <a:rPr lang="ko-KR" altLang="en-US" sz="2000" dirty="0"/>
              <a:t>아래에 두 개의 조금 다른 </a:t>
            </a:r>
            <a:r>
              <a:rPr lang="en-US" altLang="ko-KR" sz="2000" dirty="0" smtClean="0"/>
              <a:t>5 x 6 </a:t>
            </a:r>
            <a:r>
              <a:rPr lang="ko-KR" altLang="en-US" sz="2000" dirty="0"/>
              <a:t>배열을</a:t>
            </a:r>
            <a:r>
              <a:rPr lang="en-US" altLang="ko-KR" sz="2000" dirty="0"/>
              <a:t> </a:t>
            </a:r>
            <a:r>
              <a:rPr lang="ko-KR" altLang="en-US" sz="2000" dirty="0"/>
              <a:t>통과하는 최단 경로가 나와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두 배열은 맨 아랫줄을 제외하면 모두 똑같지만</a:t>
            </a:r>
            <a:r>
              <a:rPr lang="en-US" altLang="ko-KR" sz="2000" dirty="0"/>
              <a:t>, </a:t>
            </a:r>
            <a:r>
              <a:rPr lang="ko-KR" altLang="en-US" sz="2000" dirty="0"/>
              <a:t>오른쪽에 있는 배열에서는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열과 마지막 열을 거쳐가는 경로가 최단 경로가 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24493"/>
              </p:ext>
            </p:extLst>
          </p:nvPr>
        </p:nvGraphicFramePr>
        <p:xfrm>
          <a:off x="1331640" y="2492896"/>
          <a:ext cx="2543946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991"/>
                <a:gridCol w="423991"/>
                <a:gridCol w="423991"/>
                <a:gridCol w="423991"/>
                <a:gridCol w="423991"/>
                <a:gridCol w="42399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713361"/>
              </p:ext>
            </p:extLst>
          </p:nvPr>
        </p:nvGraphicFramePr>
        <p:xfrm>
          <a:off x="5004048" y="2492896"/>
          <a:ext cx="2543946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991"/>
                <a:gridCol w="423991"/>
                <a:gridCol w="423991"/>
                <a:gridCol w="423991"/>
                <a:gridCol w="423991"/>
                <a:gridCol w="42399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 bwMode="auto">
          <a:xfrm>
            <a:off x="971600" y="2708920"/>
            <a:ext cx="57606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7"/>
          <p:cNvCxnSpPr/>
          <p:nvPr/>
        </p:nvCxnSpPr>
        <p:spPr bwMode="auto">
          <a:xfrm>
            <a:off x="1547664" y="2708920"/>
            <a:ext cx="1296144" cy="10801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직선 연결선 8"/>
          <p:cNvCxnSpPr/>
          <p:nvPr/>
        </p:nvCxnSpPr>
        <p:spPr bwMode="auto">
          <a:xfrm>
            <a:off x="2843808" y="3789040"/>
            <a:ext cx="432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직선 연결선 9"/>
          <p:cNvCxnSpPr/>
          <p:nvPr/>
        </p:nvCxnSpPr>
        <p:spPr bwMode="auto">
          <a:xfrm>
            <a:off x="3275856" y="3789040"/>
            <a:ext cx="432048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직선 화살표 연결선 10"/>
          <p:cNvCxnSpPr/>
          <p:nvPr/>
        </p:nvCxnSpPr>
        <p:spPr bwMode="auto">
          <a:xfrm>
            <a:off x="3707904" y="4221088"/>
            <a:ext cx="43204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직선 연결선 11"/>
          <p:cNvCxnSpPr/>
          <p:nvPr/>
        </p:nvCxnSpPr>
        <p:spPr bwMode="auto">
          <a:xfrm>
            <a:off x="4644008" y="2708920"/>
            <a:ext cx="57606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직선 연결선 12"/>
          <p:cNvCxnSpPr/>
          <p:nvPr/>
        </p:nvCxnSpPr>
        <p:spPr bwMode="auto">
          <a:xfrm>
            <a:off x="5220072" y="2708920"/>
            <a:ext cx="432048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직선 연결선 13"/>
          <p:cNvCxnSpPr/>
          <p:nvPr/>
        </p:nvCxnSpPr>
        <p:spPr bwMode="auto">
          <a:xfrm flipV="1">
            <a:off x="5652120" y="2348880"/>
            <a:ext cx="720080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직선 연결선 14"/>
          <p:cNvCxnSpPr/>
          <p:nvPr/>
        </p:nvCxnSpPr>
        <p:spPr bwMode="auto">
          <a:xfrm flipV="1">
            <a:off x="6156176" y="3789040"/>
            <a:ext cx="720080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직선 연결선 15"/>
          <p:cNvCxnSpPr/>
          <p:nvPr/>
        </p:nvCxnSpPr>
        <p:spPr bwMode="auto">
          <a:xfrm>
            <a:off x="6876256" y="3789040"/>
            <a:ext cx="432048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직선 화살표 연결선 16"/>
          <p:cNvCxnSpPr/>
          <p:nvPr/>
        </p:nvCxnSpPr>
        <p:spPr bwMode="auto">
          <a:xfrm>
            <a:off x="7308304" y="4138068"/>
            <a:ext cx="43204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11440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760640"/>
          </a:xfrm>
        </p:spPr>
        <p:txBody>
          <a:bodyPr/>
          <a:lstStyle/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배열을 기술하는 숫자들이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각 배열을 기술하는 부분의 첫째 줄에는 행의 개수를 나타내는 정수 </a:t>
            </a:r>
            <a:r>
              <a:rPr lang="en-US" altLang="ko-KR" sz="1800" i="1" dirty="0" smtClean="0"/>
              <a:t>m</a:t>
            </a:r>
            <a:r>
              <a:rPr lang="ko-KR" altLang="en-US" sz="1800" dirty="0" smtClean="0"/>
              <a:t>과 열의 개수를 나타내는 정수 </a:t>
            </a:r>
            <a:r>
              <a:rPr lang="en-US" altLang="ko-KR" sz="1800" i="1" dirty="0" smtClean="0"/>
              <a:t>n</a:t>
            </a:r>
            <a:r>
              <a:rPr lang="ko-KR" altLang="en-US" sz="1800" dirty="0" smtClean="0"/>
              <a:t>이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그리고 그 밑으로 </a:t>
            </a:r>
            <a:r>
              <a:rPr lang="en-US" altLang="ko-KR" sz="1800" i="1" dirty="0" smtClean="0"/>
              <a:t>m </a:t>
            </a:r>
            <a:r>
              <a:rPr lang="ko-KR" altLang="en-US" sz="1800" dirty="0" smtClean="0"/>
              <a:t>줄에 걸쳐서 각 행의 셀에 들어있는 정수가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즉 처음 입력된 </a:t>
            </a:r>
            <a:r>
              <a:rPr lang="en-US" altLang="ko-KR" sz="1800" i="1" dirty="0" smtClean="0"/>
              <a:t>n </a:t>
            </a:r>
            <a:r>
              <a:rPr lang="ko-KR" altLang="en-US" sz="1800" dirty="0" smtClean="0"/>
              <a:t>개의 정수는 배열의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열을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다음으로 입력된 </a:t>
            </a:r>
            <a:r>
              <a:rPr lang="en-US" altLang="ko-KR" sz="1800" i="1" dirty="0" smtClean="0"/>
              <a:t>n </a:t>
            </a:r>
            <a:r>
              <a:rPr lang="ko-KR" altLang="en-US" sz="1800" dirty="0" smtClean="0"/>
              <a:t>개의 정수는 배열의 </a:t>
            </a:r>
            <a:r>
              <a:rPr lang="ko-KR" altLang="en-US" sz="1800" dirty="0" err="1" smtClean="0"/>
              <a:t>두번째</a:t>
            </a:r>
            <a:r>
              <a:rPr lang="ko-KR" altLang="en-US" sz="1800" dirty="0" smtClean="0"/>
              <a:t> 열을 나타내는 식으로 정수들이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같은 줄에 있는 정수들은 한 개 이상의 스페이스로 구분된다</a:t>
            </a:r>
            <a:r>
              <a:rPr lang="en-US" altLang="ko-KR" sz="1800" dirty="0" smtClean="0"/>
              <a:t>. (</a:t>
            </a:r>
            <a:r>
              <a:rPr lang="ko-KR" altLang="en-US" sz="1800" dirty="0" smtClean="0"/>
              <a:t>주의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정수가 반드시 양수인 것은 아니다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그리고 한 입력 파일에는 한 개 이상의 배열 구성이 입력될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파일 종료 문자는 입력이 끝났음을 나타낸다</a:t>
            </a:r>
            <a:r>
              <a:rPr lang="en-US" altLang="ko-KR" sz="1800" dirty="0" smtClean="0"/>
              <a:t>.)</a:t>
            </a:r>
          </a:p>
          <a:p>
            <a:pPr lvl="1"/>
            <a:r>
              <a:rPr lang="ko-KR" altLang="en-US" sz="1800" dirty="0" smtClean="0"/>
              <a:t>각 배열 구성에서 행의 개수는 </a:t>
            </a:r>
            <a:r>
              <a:rPr lang="en-US" altLang="ko-KR" sz="1800" dirty="0" smtClean="0"/>
              <a:t>1 </a:t>
            </a:r>
            <a:r>
              <a:rPr lang="ko-KR" altLang="en-US" sz="1800" dirty="0" smtClean="0"/>
              <a:t>이상</a:t>
            </a:r>
            <a:r>
              <a:rPr lang="en-US" altLang="ko-KR" sz="1800" dirty="0" smtClean="0"/>
              <a:t>, 10 </a:t>
            </a:r>
            <a:r>
              <a:rPr lang="ko-KR" altLang="en-US" sz="1800" dirty="0" smtClean="0"/>
              <a:t>이하며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열의 개수는 </a:t>
            </a:r>
            <a:r>
              <a:rPr lang="en-US" altLang="ko-KR" sz="1800" dirty="0" smtClean="0"/>
              <a:t>1 </a:t>
            </a:r>
            <a:r>
              <a:rPr lang="ko-KR" altLang="en-US" sz="1800" dirty="0" smtClean="0"/>
              <a:t>이상</a:t>
            </a:r>
            <a:r>
              <a:rPr lang="en-US" altLang="ko-KR" sz="1800" dirty="0" smtClean="0"/>
              <a:t>, 100 </a:t>
            </a:r>
            <a:r>
              <a:rPr lang="ko-KR" altLang="en-US" sz="1800" dirty="0" smtClean="0"/>
              <a:t>이하다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어떤 경로의 가중치도 </a:t>
            </a:r>
            <a:r>
              <a:rPr lang="en-US" altLang="ko-KR" sz="1800" dirty="0" smtClean="0"/>
              <a:t>30</a:t>
            </a:r>
            <a:r>
              <a:rPr lang="ko-KR" altLang="en-US" sz="1800" dirty="0" smtClean="0"/>
              <a:t>비트로 표현할 수 있는 정수보다 크지 않다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각 배열 구성마다 두 줄씩을 결과로 출력한다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첫째 줄은 최단 가중치 경로고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둘째 줄은 그 최단 경로의 비용이다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경로는 </a:t>
            </a:r>
            <a:r>
              <a:rPr lang="en-US" altLang="ko-KR" sz="1800" i="1" dirty="0" smtClean="0"/>
              <a:t>n </a:t>
            </a:r>
            <a:r>
              <a:rPr lang="ko-KR" altLang="en-US" sz="1800" dirty="0" smtClean="0"/>
              <a:t>개의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정수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수열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하나 이상의 스페이스로 구분됨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로 구성되며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정수들은 최단 경로를 구성하는 행들을 나타낸다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가중치가 가장 작은 경로가 여러 개 있으면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사전 순으로 정렬했을 때 가장 작은 경로를 출력한다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84969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476672"/>
            <a:ext cx="359816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5 6</a:t>
            </a:r>
          </a:p>
          <a:p>
            <a:pPr marL="457200" lvl="1" indent="0">
              <a:buFontTx/>
              <a:buNone/>
            </a:pPr>
            <a:r>
              <a:rPr lang="en-US" altLang="ko-KR" sz="1800" kern="0" dirty="0"/>
              <a:t>3</a:t>
            </a:r>
            <a:r>
              <a:rPr lang="en-US" altLang="ko-KR" sz="1800" b="0" kern="0" dirty="0"/>
              <a:t> 4 1 2 8 6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6 </a:t>
            </a:r>
            <a:r>
              <a:rPr lang="en-US" altLang="ko-KR" sz="1800" kern="0" dirty="0"/>
              <a:t>1</a:t>
            </a:r>
            <a:r>
              <a:rPr lang="en-US" altLang="ko-KR" sz="1800" b="0" kern="0" dirty="0"/>
              <a:t> 8 2 7 4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5 9 </a:t>
            </a:r>
            <a:r>
              <a:rPr lang="en-US" altLang="ko-KR" sz="1800" kern="0" dirty="0"/>
              <a:t>3</a:t>
            </a:r>
            <a:r>
              <a:rPr lang="en-US" altLang="ko-KR" sz="1800" b="0" kern="0" dirty="0"/>
              <a:t> 9 9 5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8 4 1 </a:t>
            </a:r>
            <a:r>
              <a:rPr lang="en-US" altLang="ko-KR" sz="1800" kern="0" dirty="0"/>
              <a:t>3</a:t>
            </a:r>
            <a:r>
              <a:rPr lang="en-US" altLang="ko-KR" sz="1800" b="0" kern="0" dirty="0"/>
              <a:t> </a:t>
            </a:r>
            <a:r>
              <a:rPr lang="en-US" altLang="ko-KR" sz="1800" kern="0" dirty="0"/>
              <a:t>2</a:t>
            </a:r>
            <a:r>
              <a:rPr lang="en-US" altLang="ko-KR" sz="1800" b="0" kern="0" dirty="0"/>
              <a:t>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3 7 2 8 6 </a:t>
            </a:r>
            <a:r>
              <a:rPr lang="en-US" altLang="ko-KR" sz="1800" kern="0" dirty="0"/>
              <a:t>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5 6</a:t>
            </a:r>
          </a:p>
          <a:p>
            <a:pPr marL="457200" lvl="1" indent="0">
              <a:buFontTx/>
              <a:buNone/>
            </a:pPr>
            <a:r>
              <a:rPr lang="en-US" altLang="ko-KR" sz="1800" kern="0" dirty="0">
                <a:solidFill>
                  <a:srgbClr val="0066FF"/>
                </a:solidFill>
              </a:rPr>
              <a:t>3</a:t>
            </a:r>
            <a:r>
              <a:rPr lang="en-US" altLang="ko-KR" sz="1800" b="0" kern="0" dirty="0">
                <a:solidFill>
                  <a:srgbClr val="0066FF"/>
                </a:solidFill>
              </a:rPr>
              <a:t> 4 </a:t>
            </a:r>
            <a:r>
              <a:rPr lang="en-US" altLang="ko-KR" sz="1800" kern="0" dirty="0">
                <a:solidFill>
                  <a:srgbClr val="0066FF"/>
                </a:solidFill>
              </a:rPr>
              <a:t>1</a:t>
            </a:r>
            <a:r>
              <a:rPr lang="en-US" altLang="ko-KR" sz="1800" b="0" kern="0" dirty="0">
                <a:solidFill>
                  <a:srgbClr val="0066FF"/>
                </a:solidFill>
              </a:rPr>
              <a:t> 2 8 6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6 </a:t>
            </a:r>
            <a:r>
              <a:rPr lang="en-US" altLang="ko-KR" sz="1800" kern="0" dirty="0">
                <a:solidFill>
                  <a:srgbClr val="0066FF"/>
                </a:solidFill>
              </a:rPr>
              <a:t>1</a:t>
            </a:r>
            <a:r>
              <a:rPr lang="en-US" altLang="ko-KR" sz="1800" b="0" kern="0" dirty="0">
                <a:solidFill>
                  <a:srgbClr val="0066FF"/>
                </a:solidFill>
              </a:rPr>
              <a:t> 8 2 7 4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5 9 3 9 9 5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8 4 1 3 </a:t>
            </a:r>
            <a:r>
              <a:rPr lang="en-US" altLang="ko-KR" sz="1800" kern="0" dirty="0">
                <a:solidFill>
                  <a:srgbClr val="0066FF"/>
                </a:solidFill>
              </a:rPr>
              <a:t>2</a:t>
            </a:r>
            <a:r>
              <a:rPr lang="en-US" altLang="ko-KR" sz="1800" b="0" kern="0" dirty="0">
                <a:solidFill>
                  <a:srgbClr val="0066FF"/>
                </a:solidFill>
              </a:rPr>
              <a:t>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3 7 2 </a:t>
            </a:r>
            <a:r>
              <a:rPr lang="en-US" altLang="ko-KR" sz="1800" kern="0" dirty="0">
                <a:solidFill>
                  <a:srgbClr val="0066FF"/>
                </a:solidFill>
              </a:rPr>
              <a:t>1</a:t>
            </a:r>
            <a:r>
              <a:rPr lang="en-US" altLang="ko-KR" sz="1800" b="0" kern="0" dirty="0">
                <a:solidFill>
                  <a:srgbClr val="0066FF"/>
                </a:solidFill>
              </a:rPr>
              <a:t> 2 </a:t>
            </a:r>
            <a:r>
              <a:rPr lang="en-US" altLang="ko-KR" sz="1800" kern="0" dirty="0">
                <a:solidFill>
                  <a:srgbClr val="0066FF"/>
                </a:solidFill>
              </a:rPr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2 2</a:t>
            </a:r>
          </a:p>
          <a:p>
            <a:pPr marL="457200" lvl="1" indent="0">
              <a:buFontTx/>
              <a:buNone/>
            </a:pPr>
            <a:r>
              <a:rPr lang="en-US" altLang="ko-KR" sz="1800" kern="0" dirty="0"/>
              <a:t>9</a:t>
            </a:r>
            <a:r>
              <a:rPr lang="en-US" altLang="ko-KR" sz="1800" b="0" kern="0" dirty="0"/>
              <a:t> </a:t>
            </a:r>
            <a:r>
              <a:rPr lang="en-US" altLang="ko-KR" sz="1800" kern="0" dirty="0" smtClean="0"/>
              <a:t>10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/>
              <a:t>9 </a:t>
            </a:r>
            <a:r>
              <a:rPr lang="en-US" altLang="ko-KR" sz="1800" b="0" kern="0" dirty="0"/>
              <a:t>10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4067944" y="476672"/>
            <a:ext cx="4608512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1 2 3 4 4 5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1 2 1 5 4 5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11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1 1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9469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84.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846640" cy="2527920"/>
          </a:xfrm>
        </p:spPr>
        <p:txBody>
          <a:bodyPr/>
          <a:lstStyle/>
          <a:p>
            <a:r>
              <a:rPr lang="en-US" altLang="ko-KR" sz="2000" dirty="0"/>
              <a:t>C[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</a:t>
            </a:r>
            <a:r>
              <a:rPr lang="ko-KR" altLang="en-US" sz="2000" dirty="0"/>
              <a:t>를 마지막 열부터 시작해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j)</a:t>
            </a:r>
            <a:r>
              <a:rPr lang="ko-KR" altLang="en-US" sz="2000" dirty="0"/>
              <a:t>의 위치까지 최소라고 하면 </a:t>
            </a:r>
            <a:r>
              <a:rPr lang="ko-KR" altLang="en-US" sz="2000" dirty="0" err="1"/>
              <a:t>점화식은</a:t>
            </a:r>
            <a:r>
              <a:rPr lang="ko-KR" altLang="en-US" sz="2000" dirty="0"/>
              <a:t> 다음과 </a:t>
            </a:r>
            <a:r>
              <a:rPr lang="ko-KR" altLang="en-US" sz="2000" dirty="0" smtClean="0"/>
              <a:t>같다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lvl="1"/>
            <a:r>
              <a:rPr lang="en-US" altLang="ko-KR" sz="1800" dirty="0"/>
              <a:t>C[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][j] = min( C[i-1][j+1], C[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][j+1], C[i+1][j+1])</a:t>
            </a:r>
            <a:endParaRPr lang="en-US" altLang="ko-KR" sz="1600" dirty="0"/>
          </a:p>
          <a:p>
            <a:endParaRPr lang="en-US" altLang="ko-KR" sz="2000" dirty="0"/>
          </a:p>
          <a:p>
            <a:r>
              <a:rPr lang="ko-KR" altLang="en-US" sz="2000" dirty="0"/>
              <a:t>물론 </a:t>
            </a:r>
            <a:r>
              <a:rPr lang="en-US" altLang="ko-KR" sz="2000" dirty="0" smtClean="0"/>
              <a:t>i-1</a:t>
            </a:r>
            <a:r>
              <a:rPr lang="ko-KR" altLang="en-US" sz="2000" dirty="0"/>
              <a:t>이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이면 </a:t>
            </a:r>
            <a:r>
              <a:rPr lang="en-US" altLang="ko-KR" sz="2000" dirty="0" smtClean="0"/>
              <a:t>n-1</a:t>
            </a:r>
            <a:r>
              <a:rPr lang="ko-KR" altLang="en-US" sz="2000" dirty="0"/>
              <a:t>로</a:t>
            </a:r>
            <a:r>
              <a:rPr lang="en-US" altLang="ko-KR" sz="2000" dirty="0"/>
              <a:t>, </a:t>
            </a:r>
            <a:r>
              <a:rPr lang="en-US" altLang="ko-KR" sz="2000" dirty="0" smtClean="0"/>
              <a:t>i+1</a:t>
            </a:r>
            <a:r>
              <a:rPr lang="ko-KR" altLang="en-US" sz="2000" dirty="0"/>
              <a:t>이 </a:t>
            </a:r>
            <a:r>
              <a:rPr lang="en-US" altLang="ko-KR" sz="2000" dirty="0" smtClean="0"/>
              <a:t>n</a:t>
            </a:r>
            <a:r>
              <a:rPr lang="ko-KR" altLang="en-US" sz="2000" dirty="0" smtClean="0"/>
              <a:t>이면 </a:t>
            </a:r>
            <a:r>
              <a:rPr lang="en-US" altLang="ko-KR" sz="2000" dirty="0" smtClean="0"/>
              <a:t>0</a:t>
            </a:r>
            <a:r>
              <a:rPr lang="ko-KR" altLang="en-US" sz="2000" dirty="0"/>
              <a:t>으로 보정해주어야 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42</a:t>
            </a:fld>
            <a:endParaRPr lang="en-US" altLang="ko-KR" dirty="0"/>
          </a:p>
        </p:txBody>
      </p:sp>
      <p:grpSp>
        <p:nvGrpSpPr>
          <p:cNvPr id="6" name="그룹 5"/>
          <p:cNvGrpSpPr/>
          <p:nvPr/>
        </p:nvGrpSpPr>
        <p:grpSpPr>
          <a:xfrm>
            <a:off x="4157954" y="4437112"/>
            <a:ext cx="1800200" cy="2016223"/>
            <a:chOff x="3707904" y="2132856"/>
            <a:chExt cx="720080" cy="1080120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3707904" y="249289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4067944" y="249289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 bwMode="auto">
            <a:xfrm>
              <a:off x="4067944" y="213285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 bwMode="auto">
            <a:xfrm>
              <a:off x="4067944" y="2852936"/>
              <a:ext cx="360040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cxnSp>
          <p:nvCxnSpPr>
            <p:cNvPr id="11" name="직선 화살표 연결선 10"/>
            <p:cNvCxnSpPr/>
            <p:nvPr/>
          </p:nvCxnSpPr>
          <p:spPr bwMode="auto">
            <a:xfrm flipV="1">
              <a:off x="3887924" y="2403560"/>
              <a:ext cx="244827" cy="2693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직선 화살표 연결선 11"/>
            <p:cNvCxnSpPr/>
            <p:nvPr/>
          </p:nvCxnSpPr>
          <p:spPr bwMode="auto">
            <a:xfrm>
              <a:off x="3887924" y="2672916"/>
              <a:ext cx="302434" cy="3086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직선 화살표 연결선 12"/>
            <p:cNvCxnSpPr/>
            <p:nvPr/>
          </p:nvCxnSpPr>
          <p:spPr bwMode="auto">
            <a:xfrm>
              <a:off x="3887924" y="2672916"/>
              <a:ext cx="24482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" name="TextBox 13"/>
          <p:cNvSpPr txBox="1"/>
          <p:nvPr/>
        </p:nvSpPr>
        <p:spPr>
          <a:xfrm>
            <a:off x="4215854" y="5275946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i</a:t>
            </a:r>
            <a:r>
              <a:rPr lang="en-US" altLang="ko-KR" dirty="0" smtClean="0"/>
              <a:t>, j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58054" y="4603872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i-1, j+1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220072" y="527594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i</a:t>
            </a:r>
            <a:r>
              <a:rPr lang="en-US" altLang="ko-KR" dirty="0" smtClean="0"/>
              <a:t>, j+1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058054" y="594802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</a:t>
            </a:r>
            <a:r>
              <a:rPr lang="en-US" altLang="ko-KR" dirty="0"/>
              <a:t>+</a:t>
            </a:r>
            <a:r>
              <a:rPr lang="en-US" altLang="ko-KR" dirty="0" smtClean="0"/>
              <a:t>1, j+1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2471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84: Unidirectional TSP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n, m, result;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[11][101];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sol[101], tracking[11][101], c[11][101];</a:t>
            </a:r>
          </a:p>
          <a:p>
            <a:pPr marL="0" indent="0">
              <a:buNone/>
            </a:pPr>
            <a:r>
              <a:rPr lang="en-US" altLang="ko-KR" sz="1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input(void)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n = 0;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&amp;n, &amp;m) == EOF)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0;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sol[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m; j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][j] = 0;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tracking[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][j] = 0;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][j] = 0;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m; j++)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][j]);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return 1;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dynamic(void)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a1, a2, a3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][m-1]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][m-1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(j = m-2; j &gt;= 0; j--)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a1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a2 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(n == 1) a2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a3 = n - 1;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else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n - 1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a1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a2 = n - 2;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(n == 1) a2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a3 = n - 1;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758811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else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a1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a2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a3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c[a1][j+1];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tracking[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a1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&gt; c[a2][j+1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c[a2][j+1];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tracking[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a2;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&gt; c[a3][j+1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c[a3][j+1];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tracking[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a3;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= c[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 +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3732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void tracking_procedure(void)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i, min, mi;</a:t>
            </a:r>
          </a:p>
          <a:p>
            <a:pPr marL="0" indent="0">
              <a:buNone/>
            </a:pP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min = c[0][0];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mi = 0</a:t>
            </a:r>
            <a:r>
              <a:rPr lang="nn-NO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1; i &lt; n; i</a:t>
            </a:r>
            <a:r>
              <a:rPr lang="nn-NO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(min &gt; c[i][0</a:t>
            </a:r>
            <a:r>
              <a:rPr lang="nn-NO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{</a:t>
            </a: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min = c[i][0];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mi = i;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n-NO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min;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m; i</a:t>
            </a:r>
            <a:r>
              <a:rPr lang="nn-NO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nn-NO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sol[i] = mi;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mi = tracking[mi][i];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nn-NO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8811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void output(void)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m - 1;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 ", sol[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+ 1);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("%d", sol[m-1] + 1);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("%d\n", result);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(input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dynamic();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tracking_procedure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output();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8811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97904"/>
            <a:ext cx="8568952" cy="1143000"/>
          </a:xfrm>
        </p:spPr>
        <p:txBody>
          <a:bodyPr/>
          <a:lstStyle/>
          <a:p>
            <a:r>
              <a:rPr lang="ko-KR" altLang="en-US" sz="2800" dirty="0" smtClean="0"/>
              <a:t>문제 </a:t>
            </a:r>
            <a:r>
              <a:rPr lang="en-US" altLang="ko-KR" sz="2800" dirty="0" smtClean="0"/>
              <a:t>86. </a:t>
            </a:r>
            <a:r>
              <a:rPr lang="ko-KR" altLang="en-US" sz="2800" dirty="0" err="1" smtClean="0"/>
              <a:t>페리</a:t>
            </a:r>
            <a:r>
              <a:rPr lang="ko-KR" altLang="en-US" sz="2800" dirty="0" smtClean="0"/>
              <a:t> 탑승</a:t>
            </a:r>
            <a:r>
              <a:rPr lang="en-US" altLang="ko-KR" sz="2800" dirty="0" smtClean="0"/>
              <a:t>(Ferry Loading)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124744"/>
            <a:ext cx="7990656" cy="4464496"/>
          </a:xfrm>
        </p:spPr>
        <p:txBody>
          <a:bodyPr/>
          <a:lstStyle/>
          <a:p>
            <a:r>
              <a:rPr lang="ko-KR" altLang="en-US" sz="2000" dirty="0" smtClean="0"/>
              <a:t>강이나 호수 또는 바다를 통해서 자동차를 운반할 때는 </a:t>
            </a:r>
            <a:r>
              <a:rPr lang="ko-KR" altLang="en-US" sz="2000" dirty="0" err="1" smtClean="0"/>
              <a:t>페리를</a:t>
            </a:r>
            <a:r>
              <a:rPr lang="ko-KR" altLang="en-US" sz="2000" dirty="0" smtClean="0"/>
              <a:t> 사용한다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일반적으로 </a:t>
            </a:r>
            <a:r>
              <a:rPr lang="ko-KR" altLang="en-US" sz="2000" dirty="0" err="1" smtClean="0"/>
              <a:t>페리에는</a:t>
            </a:r>
            <a:r>
              <a:rPr lang="ko-KR" altLang="en-US" sz="2000" dirty="0" smtClean="0"/>
              <a:t> 배 전체 길이에 걸쳐서 두 줄로 차를 실을 수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차들은 한 쪽 방향으로 배에 오르고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배가 목적지에 도착하면 반대편으로 내린다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err="1" smtClean="0"/>
              <a:t>페리에</a:t>
            </a:r>
            <a:r>
              <a:rPr lang="ko-KR" altLang="en-US" sz="2000" dirty="0" smtClean="0"/>
              <a:t> 오르기 전에는 차들이 한 줄로 대기하며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탑승 시에는 담당자의 지시에 따라 </a:t>
            </a:r>
            <a:r>
              <a:rPr lang="ko-KR" altLang="en-US" sz="2000" dirty="0" err="1" smtClean="0"/>
              <a:t>좌현</a:t>
            </a:r>
            <a:r>
              <a:rPr lang="en-US" altLang="ko-KR" sz="2000" dirty="0" smtClean="0"/>
              <a:t>(port) </a:t>
            </a:r>
            <a:r>
              <a:rPr lang="ko-KR" altLang="en-US" sz="2000" dirty="0" smtClean="0"/>
              <a:t>또는 우현</a:t>
            </a:r>
            <a:r>
              <a:rPr lang="en-US" altLang="ko-KR" sz="2000" dirty="0" smtClean="0"/>
              <a:t>(starboard)</a:t>
            </a:r>
            <a:r>
              <a:rPr lang="ko-KR" altLang="en-US" sz="2000" dirty="0" smtClean="0"/>
              <a:t>으로 올라간다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이렇게 해야 왼쪽과 오른쪽의 균형을 맞출 수 있기 때문이다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줄지어 대기 중인 차들은 길이가 모두 다른데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줄에서 대기중인 동안 담당자가 차의 길이를 검사한다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 검사 결과를 바탕으로 각 차를 어느 쪽으로 탑승시켜야 할지를 결정하는데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페리의</a:t>
            </a:r>
            <a:r>
              <a:rPr lang="ko-KR" altLang="en-US" sz="2000" dirty="0" smtClean="0"/>
              <a:t> 길이 제한 내에서 최대한 여러 대를 탑승시켜야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그리고 </a:t>
            </a:r>
            <a:r>
              <a:rPr lang="ko-KR" altLang="en-US" sz="2000" dirty="0" err="1" smtClean="0"/>
              <a:t>좌현과</a:t>
            </a:r>
            <a:r>
              <a:rPr lang="ko-KR" altLang="en-US" sz="2000" dirty="0" smtClean="0"/>
              <a:t> 우현에 탑승하는 차의 길이 합이 최대한 비슷해야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담당자에게 최대한 여러 대를 탑승시키기 위한 선적 방법을 알려줄 수 있는 프로그램을 만들자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00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760640"/>
          </a:xfrm>
        </p:spPr>
        <p:txBody>
          <a:bodyPr/>
          <a:lstStyle/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첫째 줄에는 테스트 케이스를 나타내는 양의 정수가 입력되고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다음 줄로는 빈 줄이 입력된다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각 테스트 케이스의 첫째 줄에는 </a:t>
            </a:r>
            <a:r>
              <a:rPr lang="en-US" altLang="ko-KR" sz="1800" dirty="0" smtClean="0"/>
              <a:t>1 </a:t>
            </a:r>
            <a:r>
              <a:rPr lang="ko-KR" altLang="en-US" sz="1800" dirty="0" smtClean="0"/>
              <a:t>이상 </a:t>
            </a:r>
            <a:r>
              <a:rPr lang="en-US" altLang="ko-KR" sz="1800" dirty="0" smtClean="0"/>
              <a:t>100 </a:t>
            </a:r>
            <a:r>
              <a:rPr lang="ko-KR" altLang="en-US" sz="1800" dirty="0" smtClean="0"/>
              <a:t>이하의 정수가 입력되는데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이 정수는 </a:t>
            </a:r>
            <a:r>
              <a:rPr lang="ko-KR" altLang="en-US" sz="1800" dirty="0" err="1" smtClean="0"/>
              <a:t>페리의</a:t>
            </a:r>
            <a:r>
              <a:rPr lang="ko-KR" altLang="en-US" sz="1800" dirty="0" smtClean="0"/>
              <a:t> 길이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미터 단위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를 나타낸다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줄지어 서있는 각 차량마다 한 줄씩 차의 길이가 센티미터 단위로 입력되는데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이 정수는 최소 </a:t>
            </a:r>
            <a:r>
              <a:rPr lang="en-US" altLang="ko-KR" sz="1800" dirty="0" smtClean="0"/>
              <a:t>100, </a:t>
            </a:r>
            <a:r>
              <a:rPr lang="ko-KR" altLang="en-US" sz="1800" dirty="0" smtClean="0"/>
              <a:t>최대 </a:t>
            </a:r>
            <a:r>
              <a:rPr lang="en-US" altLang="ko-KR" sz="1800" dirty="0" smtClean="0"/>
              <a:t>3,000</a:t>
            </a:r>
            <a:r>
              <a:rPr lang="ko-KR" altLang="en-US" sz="1800" dirty="0" smtClean="0"/>
              <a:t>이다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마지막 줄에는 </a:t>
            </a:r>
            <a:r>
              <a:rPr lang="en-US" altLang="ko-KR" sz="1800" dirty="0" smtClean="0"/>
              <a:t>0</a:t>
            </a:r>
            <a:r>
              <a:rPr lang="ko-KR" altLang="en-US" sz="1800" dirty="0" smtClean="0"/>
              <a:t>이 입력된다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서로 다른 테스트 케이스 사이에는 빈 줄이 입력된다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각 테스트 케이스에 대해 첫째 줄에는 </a:t>
            </a:r>
            <a:r>
              <a:rPr lang="ko-KR" altLang="en-US" sz="1800" dirty="0" err="1" smtClean="0"/>
              <a:t>페리에</a:t>
            </a:r>
            <a:r>
              <a:rPr lang="ko-KR" altLang="en-US" sz="1800" dirty="0" smtClean="0"/>
              <a:t> 선적할 수 있는 차량 수를 출력한다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err="1" smtClean="0"/>
              <a:t>페리에</a:t>
            </a:r>
            <a:r>
              <a:rPr lang="ko-KR" altLang="en-US" sz="1800" dirty="0" smtClean="0"/>
              <a:t> 선적할 수 있는 각 차에 대해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좌현에</a:t>
            </a:r>
            <a:r>
              <a:rPr lang="ko-KR" altLang="en-US" sz="1800" dirty="0" smtClean="0"/>
              <a:t> 선적해야 하는 차에 대해서는 </a:t>
            </a:r>
            <a:r>
              <a:rPr lang="en-US" altLang="ko-KR" sz="1800" dirty="0" smtClean="0"/>
              <a:t>“port”</a:t>
            </a:r>
            <a:r>
              <a:rPr lang="ko-KR" altLang="en-US" sz="1800" dirty="0" smtClean="0"/>
              <a:t>라고 출력하고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우현에 선적해야 하는 차에 대해서는 </a:t>
            </a:r>
            <a:r>
              <a:rPr lang="en-US" altLang="ko-KR" sz="1800" dirty="0" smtClean="0"/>
              <a:t>“starboard”</a:t>
            </a:r>
            <a:r>
              <a:rPr lang="ko-KR" altLang="en-US" sz="1800" dirty="0" smtClean="0"/>
              <a:t>라고 출력한다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여러 방식으로 선택할 수 있으면 그 중 아무 결과나 출력하면 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서로 다른 테스트 케이스에 대한 결과 사이에는 빈 줄을 출력한다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69342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476672"/>
            <a:ext cx="359816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/>
              <a:t>1</a:t>
            </a:r>
          </a:p>
          <a:p>
            <a:pPr marL="457200" lvl="1" indent="0">
              <a:buFontTx/>
              <a:buNone/>
            </a:pPr>
            <a:endParaRPr lang="en-US" altLang="ko-KR" sz="1800" b="0" kern="0" dirty="0"/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50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2500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3000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1000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1000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1500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700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800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0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4067944" y="476672"/>
            <a:ext cx="4608512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6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port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starboard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starboard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starboard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port</a:t>
            </a:r>
          </a:p>
          <a:p>
            <a:pPr marL="457200" lvl="1" indent="0">
              <a:buFontTx/>
              <a:buNone/>
            </a:pPr>
            <a:r>
              <a:rPr lang="fr-FR" altLang="ko-KR" sz="1800" b="0" kern="0" dirty="0"/>
              <a:t>port</a:t>
            </a:r>
            <a:endParaRPr lang="en-US" altLang="ko-KR" sz="1800" b="0" kern="0" dirty="0"/>
          </a:p>
        </p:txBody>
      </p:sp>
    </p:spTree>
    <p:extLst>
      <p:ext uri="{BB962C8B-B14F-4D97-AF65-F5344CB8AC3E}">
        <p14:creationId xmlns:p14="http://schemas.microsoft.com/office/powerpoint/2010/main" val="6806976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86.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846640" cy="3536032"/>
          </a:xfrm>
        </p:spPr>
        <p:txBody>
          <a:bodyPr/>
          <a:lstStyle/>
          <a:p>
            <a:r>
              <a:rPr lang="ko-KR" altLang="en-US" sz="2000" dirty="0"/>
              <a:t>아래와 같은 </a:t>
            </a:r>
            <a:r>
              <a:rPr lang="ko-KR" altLang="en-US" sz="2000" dirty="0" err="1"/>
              <a:t>점화식을</a:t>
            </a:r>
            <a:r>
              <a:rPr lang="ko-KR" altLang="en-US" sz="2000" dirty="0"/>
              <a:t> 이용해 동적 프로그래밍으로 해결하면 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lvl="1"/>
            <a:r>
              <a:rPr lang="en-US" altLang="ko-KR" sz="1800" dirty="0"/>
              <a:t>D(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j) = </a:t>
            </a:r>
            <a:r>
              <a:rPr lang="en-US" altLang="ko-KR" sz="1800" dirty="0" err="1"/>
              <a:t>i</a:t>
            </a:r>
            <a:r>
              <a:rPr lang="ko-KR" altLang="en-US" sz="1800" dirty="0"/>
              <a:t>번째 차까지 전체 길이의 합이 </a:t>
            </a:r>
            <a:r>
              <a:rPr lang="en-US" altLang="ko-KR" sz="1800" dirty="0"/>
              <a:t>j</a:t>
            </a:r>
            <a:r>
              <a:rPr lang="ko-KR" altLang="en-US" sz="1800" dirty="0"/>
              <a:t>가 되도록 차를 댈 수 있는 최대 차의 대수</a:t>
            </a:r>
          </a:p>
          <a:p>
            <a:pPr lvl="1"/>
            <a:r>
              <a:rPr lang="en-US" altLang="ko-KR" sz="1800" dirty="0"/>
              <a:t>D(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j) = Max[D(j-</a:t>
            </a:r>
            <a:r>
              <a:rPr lang="en-US" altLang="ko-KR" sz="1800" dirty="0" err="1"/>
              <a:t>carlength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)) + 1, D(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)]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이 </a:t>
            </a:r>
            <a:r>
              <a:rPr lang="ko-KR" altLang="en-US" sz="2000" dirty="0"/>
              <a:t>때 </a:t>
            </a:r>
            <a:r>
              <a:rPr lang="en-US" altLang="ko-KR" sz="2000" dirty="0"/>
              <a:t>D(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j)</a:t>
            </a:r>
            <a:r>
              <a:rPr lang="ko-KR" altLang="en-US" sz="2000" dirty="0"/>
              <a:t>에서 제외되는 차들의 길이 합이 </a:t>
            </a:r>
            <a:r>
              <a:rPr lang="ko-KR" altLang="en-US" sz="2000" dirty="0" err="1"/>
              <a:t>페리의</a:t>
            </a:r>
            <a:r>
              <a:rPr lang="ko-KR" altLang="en-US" sz="2000" dirty="0"/>
              <a:t> 길이보다 길면 </a:t>
            </a:r>
            <a:r>
              <a:rPr lang="ko-KR" altLang="en-US" sz="2000" dirty="0" err="1"/>
              <a:t>안된다</a:t>
            </a:r>
            <a:r>
              <a:rPr lang="en-US" altLang="ko-KR" sz="2000" dirty="0"/>
              <a:t>. </a:t>
            </a:r>
            <a:r>
              <a:rPr lang="ko-KR" altLang="en-US" sz="2000" dirty="0"/>
              <a:t>이러한 조건을 만족하는 최대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</a:t>
            </a:r>
            <a:r>
              <a:rPr lang="ko-KR" altLang="en-US" sz="2000" dirty="0"/>
              <a:t>중 양쪽의 길이가 최대한 같아지는 </a:t>
            </a:r>
            <a:r>
              <a:rPr lang="en-US" altLang="ko-KR" sz="2000" dirty="0"/>
              <a:t>j</a:t>
            </a:r>
            <a:r>
              <a:rPr lang="ko-KR" altLang="en-US" sz="2000" dirty="0"/>
              <a:t>를 찾으면 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20186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395536" y="188640"/>
            <a:ext cx="8568952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86: Ferry Loading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MAXL 100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max, dynamic[MAXL*100 + 1][2];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from[MAXL*2 + 1][MAXL*100 + 1][2], top, stack[MAXL*2];</a:t>
            </a:r>
          </a:p>
          <a:p>
            <a:pPr marL="0" indent="0">
              <a:buNone/>
            </a:pPr>
            <a:endParaRPr lang="en-US" altLang="ko-KR" sz="1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solve(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n;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-) {</a:t>
            </a: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i-carlength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!= -1 &amp;&amp;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 &amp;&amp;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&lt;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carnum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][1] 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from[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=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i-carlength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from[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][1] 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(dynamic[max][0] &lt;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||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(dynamic[max][0] == 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][0] &amp;&amp;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abs(max-dynamic[max][1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 abs(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-dynamic[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][1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])))</a:t>
            </a: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58497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136904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output(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j, k;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 = top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dynamic[max][0], j = max;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 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 -= from[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][k][1],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from[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][k][0])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stack[top++] 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(k = i-1; k &gt; from[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][j][0]; k--)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stack[top++]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k = j;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(t &gt;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("\n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("%d\n", dynamic[max][0]);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top - 1;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(stack[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("port\n");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("starboard\n");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8385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j, 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t;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 *=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&lt;= n; j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dynamic[j][0] = -1;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dynamic[j][1]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dynamic[0][0]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max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!= 0; j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&lt;= 2*n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solve(j + 1);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carlengthsum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carlength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output(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38036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97904"/>
            <a:ext cx="8568952" cy="1143000"/>
          </a:xfrm>
        </p:spPr>
        <p:txBody>
          <a:bodyPr/>
          <a:lstStyle/>
          <a:p>
            <a:r>
              <a:rPr lang="ko-KR" altLang="en-US" sz="2800" dirty="0" smtClean="0"/>
              <a:t>문제 </a:t>
            </a:r>
            <a:r>
              <a:rPr lang="en-US" altLang="ko-KR" sz="2800" dirty="0" smtClean="0"/>
              <a:t>87. </a:t>
            </a:r>
            <a:r>
              <a:rPr lang="ko-KR" altLang="en-US" sz="2800" dirty="0" smtClean="0"/>
              <a:t>젓가락</a:t>
            </a:r>
            <a:r>
              <a:rPr lang="en-US" altLang="ko-KR" sz="2800" dirty="0" smtClean="0"/>
              <a:t>(Chopsticks)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124744"/>
            <a:ext cx="7990656" cy="4464496"/>
          </a:xfrm>
        </p:spPr>
        <p:txBody>
          <a:bodyPr/>
          <a:lstStyle/>
          <a:p>
            <a:r>
              <a:rPr lang="ko-KR" altLang="en-US" sz="2000" dirty="0" smtClean="0"/>
              <a:t>중국에서는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음식을 먹을 때 젓가락 두 개를 쓰지만</a:t>
            </a:r>
            <a:r>
              <a:rPr lang="en-US" altLang="ko-KR" sz="2000" dirty="0" smtClean="0"/>
              <a:t>, L</a:t>
            </a:r>
            <a:r>
              <a:rPr lang="ko-KR" altLang="en-US" sz="2000" dirty="0" smtClean="0"/>
              <a:t>씨는 조금 다르다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그는 젓가락 세 개를 사용한다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셋 중 하나는 긴 젓가락으로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음식을 쿡 찍어먹기 위한 용도로 쓰인다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두 개의 일반 젓가락의 길이는 최대한 비슷해야 하지만 나머지 하나는 무조건 제일 길기만 하면 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길이가 각각 </a:t>
            </a:r>
            <a:r>
              <a:rPr lang="en-US" altLang="ko-KR" sz="2000" dirty="0" smtClean="0"/>
              <a:t>A, B, C(A≤B≤C)</a:t>
            </a:r>
            <a:r>
              <a:rPr lang="ko-KR" altLang="en-US" sz="2000" dirty="0" smtClean="0"/>
              <a:t>인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세 개의 젓가락이 있을 때 </a:t>
            </a:r>
            <a:r>
              <a:rPr lang="en-US" altLang="ko-KR" sz="2000" dirty="0" smtClean="0"/>
              <a:t>(A-B)</a:t>
            </a:r>
            <a:r>
              <a:rPr lang="en-US" altLang="ko-KR" sz="2000" baseline="30000" dirty="0" smtClean="0"/>
              <a:t>2</a:t>
            </a:r>
            <a:r>
              <a:rPr lang="ko-KR" altLang="en-US" sz="2000" dirty="0" smtClean="0"/>
              <a:t>을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계산하면 두 젓가락이 짝이 안 맞는 정도를 구할 수 있다</a:t>
            </a:r>
            <a:r>
              <a:rPr lang="en-US" altLang="ko-KR" sz="2000" dirty="0" smtClean="0"/>
              <a:t>.</a:t>
            </a:r>
          </a:p>
          <a:p>
            <a:r>
              <a:rPr lang="en-US" altLang="ko-KR" sz="2000" dirty="0" smtClean="0"/>
              <a:t>L</a:t>
            </a:r>
            <a:r>
              <a:rPr lang="ko-KR" altLang="en-US" sz="2000" dirty="0" smtClean="0"/>
              <a:t>씨는 그의 생일 파티에 </a:t>
            </a:r>
            <a:r>
              <a:rPr lang="en-US" altLang="ko-KR" sz="2000" dirty="0" smtClean="0"/>
              <a:t>K</a:t>
            </a:r>
            <a:r>
              <a:rPr lang="ko-KR" altLang="en-US" sz="2000" dirty="0" smtClean="0"/>
              <a:t>명의 손님을 초대했는데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그의 특이한 젓가락질 방법을 소개하고 싶어서 안달이 나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젓가락을 </a:t>
            </a:r>
            <a:r>
              <a:rPr lang="en-US" altLang="ko-KR" sz="2000" dirty="0" smtClean="0"/>
              <a:t>K+8</a:t>
            </a:r>
            <a:r>
              <a:rPr lang="ko-KR" altLang="en-US" sz="2000" dirty="0" smtClean="0"/>
              <a:t>세트</a:t>
            </a:r>
            <a:r>
              <a:rPr lang="en-US" altLang="ko-KR" sz="2000" dirty="0" smtClean="0"/>
              <a:t>(L</a:t>
            </a:r>
            <a:r>
              <a:rPr lang="ko-KR" altLang="en-US" sz="2000" dirty="0" smtClean="0"/>
              <a:t>씨 자신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부인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아들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딸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어머님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아버님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장모님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장인어른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그리고 </a:t>
            </a:r>
            <a:r>
              <a:rPr lang="en-US" altLang="ko-KR" sz="2000" dirty="0" smtClean="0"/>
              <a:t>K</a:t>
            </a:r>
            <a:r>
              <a:rPr lang="ko-KR" altLang="en-US" sz="2000" dirty="0" smtClean="0"/>
              <a:t>명의 손님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를 준비해야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하지만 </a:t>
            </a:r>
            <a:r>
              <a:rPr lang="en-US" altLang="ko-KR" sz="2000" dirty="0" smtClean="0"/>
              <a:t>L</a:t>
            </a:r>
            <a:r>
              <a:rPr lang="ko-KR" altLang="en-US" sz="2000" dirty="0" smtClean="0"/>
              <a:t>씨네 집에 있는 젓가락들 중에는 길이가 다른 것들이 많다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젓가락들의 길이가 주어졌을 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각 세트의 짝이 안 맞는 정도를 최소화하면서 </a:t>
            </a:r>
            <a:r>
              <a:rPr lang="en-US" altLang="ko-KR" sz="2000" dirty="0" smtClean="0"/>
              <a:t>K+8</a:t>
            </a:r>
            <a:r>
              <a:rPr lang="ko-KR" altLang="en-US" sz="2000" dirty="0" smtClean="0"/>
              <a:t>세트를 만들어내는 방법을 찾아야 한다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12451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16632"/>
            <a:ext cx="7772400" cy="612068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>
              <a:spcBef>
                <a:spcPts val="200"/>
              </a:spcBef>
            </a:pPr>
            <a:r>
              <a:rPr lang="ko-KR" altLang="en-US" sz="1800" dirty="0" smtClean="0"/>
              <a:t>첫째 줄에는 테스트 케이스의 개수를 나타내는 정수 </a:t>
            </a:r>
            <a:r>
              <a:rPr lang="en-US" altLang="ko-KR" sz="1800" dirty="0" smtClean="0"/>
              <a:t>T(1≤T≤ 20)</a:t>
            </a:r>
            <a:r>
              <a:rPr lang="ko-KR" altLang="en-US" sz="1800" dirty="0" smtClean="0"/>
              <a:t>가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입력된다</a:t>
            </a:r>
            <a:r>
              <a:rPr lang="en-US" altLang="ko-KR" sz="1800" dirty="0" smtClean="0"/>
              <a:t>.</a:t>
            </a:r>
          </a:p>
          <a:p>
            <a:pPr lvl="1">
              <a:spcBef>
                <a:spcPts val="200"/>
              </a:spcBef>
            </a:pPr>
            <a:r>
              <a:rPr lang="ko-KR" altLang="en-US" sz="1800" dirty="0" smtClean="0"/>
              <a:t>각 테스트 케이스의 첫째 줄에는 손님 수를 나타내는 정수 </a:t>
            </a:r>
            <a:r>
              <a:rPr lang="en-US" altLang="ko-KR" sz="1800" dirty="0" smtClean="0"/>
              <a:t>K(1≤K≤ 1,000)</a:t>
            </a:r>
            <a:r>
              <a:rPr lang="ko-KR" altLang="en-US" sz="1800" dirty="0" smtClean="0"/>
              <a:t>와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젓가락의 개수를 나타내는 정수 </a:t>
            </a:r>
            <a:r>
              <a:rPr lang="en-US" altLang="ko-KR" sz="1800" dirty="0" smtClean="0"/>
              <a:t>N(3K+24</a:t>
            </a:r>
            <a:r>
              <a:rPr lang="en-US" altLang="ko-KR" sz="1800" dirty="0"/>
              <a:t> ≤ </a:t>
            </a:r>
            <a:r>
              <a:rPr lang="en-US" altLang="ko-KR" sz="1800" dirty="0" smtClean="0"/>
              <a:t>N</a:t>
            </a:r>
            <a:r>
              <a:rPr lang="en-US" altLang="ko-KR" sz="1800" dirty="0"/>
              <a:t> ≤ </a:t>
            </a:r>
            <a:r>
              <a:rPr lang="en-US" altLang="ko-KR" sz="1800" dirty="0" smtClean="0"/>
              <a:t>5,000)</a:t>
            </a:r>
            <a:r>
              <a:rPr lang="ko-KR" altLang="en-US" sz="1800" dirty="0" smtClean="0"/>
              <a:t>이 입력된다</a:t>
            </a:r>
            <a:r>
              <a:rPr lang="en-US" altLang="ko-KR" sz="1800" dirty="0" smtClean="0"/>
              <a:t>.</a:t>
            </a:r>
          </a:p>
          <a:p>
            <a:pPr lvl="1">
              <a:spcBef>
                <a:spcPts val="200"/>
              </a:spcBef>
            </a:pPr>
            <a:r>
              <a:rPr lang="ko-KR" altLang="en-US" sz="1800" dirty="0" smtClean="0"/>
              <a:t>그 밑으로는 젓가락의 길이를 나타내는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개의 양의 정수 </a:t>
            </a:r>
            <a:r>
              <a:rPr lang="en-US" altLang="ko-KR" sz="1800" dirty="0" smtClean="0"/>
              <a:t>L(1≤L</a:t>
            </a:r>
            <a:r>
              <a:rPr lang="en-US" altLang="ko-KR" sz="1800" baseline="-25000" dirty="0" smtClean="0"/>
              <a:t>i</a:t>
            </a:r>
            <a:r>
              <a:rPr lang="en-US" altLang="ko-KR" sz="1800" dirty="0"/>
              <a:t> </a:t>
            </a:r>
            <a:r>
              <a:rPr lang="en-US" altLang="ko-KR" sz="1800" dirty="0" smtClean="0"/>
              <a:t>≤32,000)</a:t>
            </a:r>
            <a:r>
              <a:rPr lang="ko-KR" altLang="en-US" sz="1800" dirty="0" smtClean="0"/>
              <a:t>가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오름차순으로 입력된다</a:t>
            </a:r>
            <a:r>
              <a:rPr lang="en-US" altLang="ko-KR" sz="1800" dirty="0" smtClean="0"/>
              <a:t>.</a:t>
            </a:r>
          </a:p>
          <a:p>
            <a:pPr>
              <a:spcBef>
                <a:spcPts val="200"/>
              </a:spcBef>
            </a:pPr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>
              <a:spcBef>
                <a:spcPts val="200"/>
              </a:spcBef>
            </a:pPr>
            <a:r>
              <a:rPr lang="ko-KR" altLang="en-US" sz="1800" dirty="0" smtClean="0"/>
              <a:t>각 테스트 케이스에 대해 한 줄에 하나씩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모든 젓가락 세트의 짝이 </a:t>
            </a:r>
            <a:r>
              <a:rPr lang="ko-KR" altLang="en-US" sz="1800" dirty="0" err="1" smtClean="0"/>
              <a:t>안맞는</a:t>
            </a:r>
            <a:r>
              <a:rPr lang="ko-KR" altLang="en-US" sz="1800" dirty="0" smtClean="0"/>
              <a:t> 정도의 합이 가지는 최소 값을 출력한다</a:t>
            </a:r>
            <a:r>
              <a:rPr lang="en-US" altLang="ko-KR" sz="1800" dirty="0" smtClean="0"/>
              <a:t>.</a:t>
            </a:r>
          </a:p>
          <a:p>
            <a:pPr>
              <a:spcBef>
                <a:spcPts val="200"/>
              </a:spcBef>
            </a:pPr>
            <a:r>
              <a:rPr lang="ko-KR" altLang="en-US" sz="2000" dirty="0" smtClean="0"/>
              <a:t>입력 예</a:t>
            </a:r>
            <a:endParaRPr lang="en-US" altLang="ko-KR" sz="2000" dirty="0" smtClean="0"/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ko-KR" sz="1800" dirty="0" smtClean="0"/>
              <a:t>1 </a:t>
            </a:r>
            <a:r>
              <a:rPr lang="en-US" altLang="ko-KR" sz="1800" dirty="0"/>
              <a:t>40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ko-KR" sz="1800" dirty="0"/>
              <a:t>1 8 10 16 19 22 27 33 36 40 47 52 56 61 63 71 72 75 81 81 84 88 96 98 103 110 113 118 124 128 129 134 134 139 148 157 157 160 162 </a:t>
            </a:r>
            <a:r>
              <a:rPr lang="en-US" altLang="ko-KR" sz="1800" dirty="0" smtClean="0"/>
              <a:t>164</a:t>
            </a:r>
          </a:p>
          <a:p>
            <a:pPr>
              <a:spcBef>
                <a:spcPts val="200"/>
              </a:spcBef>
            </a:pPr>
            <a:r>
              <a:rPr lang="ko-KR" altLang="en-US" sz="2000" dirty="0" smtClean="0"/>
              <a:t>출력 예</a:t>
            </a:r>
            <a:endParaRPr lang="en-US" altLang="ko-KR" sz="2000" dirty="0" smtClean="0"/>
          </a:p>
          <a:p>
            <a:pPr marL="457200" lvl="1" indent="0">
              <a:spcBef>
                <a:spcPts val="200"/>
              </a:spcBef>
              <a:buNone/>
            </a:pPr>
            <a:r>
              <a:rPr lang="en-US" altLang="ko-KR" sz="1800" dirty="0" smtClean="0"/>
              <a:t>23</a:t>
            </a:r>
          </a:p>
          <a:p>
            <a:pPr>
              <a:spcBef>
                <a:spcPts val="200"/>
              </a:spcBef>
            </a:pPr>
            <a:r>
              <a:rPr lang="ko-KR" altLang="en-US" sz="2000" dirty="0" smtClean="0"/>
              <a:t>참고</a:t>
            </a:r>
            <a:endParaRPr lang="en-US" altLang="ko-KR" sz="2000" dirty="0" smtClean="0"/>
          </a:p>
          <a:p>
            <a:pPr lvl="1">
              <a:spcBef>
                <a:spcPts val="200"/>
              </a:spcBef>
            </a:pPr>
            <a:r>
              <a:rPr lang="ko-KR" altLang="en-US" sz="1600" dirty="0" smtClean="0"/>
              <a:t>위의 입력 예에 대해서 다음과 같은 식으로 젓가락 세트를 구성할 수 있다</a:t>
            </a:r>
            <a:r>
              <a:rPr lang="en-US" altLang="ko-KR" sz="1600" dirty="0" smtClean="0"/>
              <a:t>. (8, 10, 16), (19, 22, 27), (61, 63, 75), (71, 72, 88), (81, 81, 84), (96, 98, 103), (128, 129, 148), (134, 134, 139), (157, 157, 160)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80390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87.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846640" cy="2527920"/>
          </a:xfrm>
        </p:spPr>
        <p:txBody>
          <a:bodyPr/>
          <a:lstStyle/>
          <a:p>
            <a:r>
              <a:rPr lang="ko-KR" altLang="en-US" sz="2000" dirty="0"/>
              <a:t>이 문제에서는 두 가지 관찰이 필요하다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최적해를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유지하면서</a:t>
            </a:r>
            <a:r>
              <a:rPr lang="en-US" altLang="ko-KR" sz="2000" dirty="0"/>
              <a:t>,</a:t>
            </a:r>
          </a:p>
          <a:p>
            <a:endParaRPr lang="en-US" altLang="ko-KR" sz="2000" dirty="0"/>
          </a:p>
          <a:p>
            <a:pPr marL="803275" lvl="1" indent="-266700">
              <a:buNone/>
            </a:pPr>
            <a:r>
              <a:rPr lang="en-US" altLang="ko-KR" sz="1800" dirty="0"/>
              <a:t>1. </a:t>
            </a:r>
            <a:r>
              <a:rPr lang="ko-KR" altLang="en-US" sz="1800" dirty="0"/>
              <a:t>세 짝의 젓가락 중에서 거리 차이를 계산해야 하는 두 젓가락은</a:t>
            </a:r>
            <a:r>
              <a:rPr lang="en-US" altLang="ko-KR" sz="1800" dirty="0"/>
              <a:t>, </a:t>
            </a:r>
            <a:r>
              <a:rPr lang="ko-KR" altLang="en-US" sz="1800" dirty="0"/>
              <a:t>어떤 두 사람을 놓고 보아도</a:t>
            </a:r>
            <a:r>
              <a:rPr lang="en-US" altLang="ko-KR" sz="1800" dirty="0"/>
              <a:t>, </a:t>
            </a:r>
            <a:r>
              <a:rPr lang="ko-KR" altLang="en-US" sz="1800" dirty="0"/>
              <a:t>한 사람의 </a:t>
            </a:r>
            <a:r>
              <a:rPr lang="ko-KR" altLang="en-US" sz="1800" dirty="0" smtClean="0"/>
              <a:t>젓가락들이 </a:t>
            </a:r>
            <a:r>
              <a:rPr lang="ko-KR" altLang="en-US" sz="1800" dirty="0"/>
              <a:t>다른 사람의 젓가락보다 길이가 모두 짧도록 할 수 있다</a:t>
            </a:r>
            <a:r>
              <a:rPr lang="en-US" altLang="ko-KR" sz="1800" dirty="0"/>
              <a:t>.</a:t>
            </a:r>
          </a:p>
          <a:p>
            <a:pPr marL="803275" lvl="1" indent="-266700">
              <a:buNone/>
            </a:pPr>
            <a:r>
              <a:rPr lang="en-US" altLang="ko-KR" sz="1800" dirty="0" smtClean="0"/>
              <a:t>2</a:t>
            </a:r>
            <a:r>
              <a:rPr lang="en-US" altLang="ko-KR" sz="1800" dirty="0"/>
              <a:t>. </a:t>
            </a:r>
            <a:r>
              <a:rPr lang="ko-KR" altLang="en-US" sz="1800" dirty="0"/>
              <a:t>한 사람 분의 젓가락 두 짝은</a:t>
            </a:r>
            <a:r>
              <a:rPr lang="en-US" altLang="ko-KR" sz="1800" dirty="0"/>
              <a:t>, </a:t>
            </a:r>
            <a:r>
              <a:rPr lang="ko-KR" altLang="en-US" sz="1800" dirty="0"/>
              <a:t>입력 데이터 상에서 가장 가까운 두 숫자를 쓰게 할 수 있다</a:t>
            </a:r>
            <a:r>
              <a:rPr lang="en-US" altLang="ko-KR" sz="18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위의 가정을 증명할 수 있다면</a:t>
            </a:r>
            <a:r>
              <a:rPr lang="en-US" altLang="ko-KR" sz="2000" dirty="0"/>
              <a:t>, </a:t>
            </a:r>
            <a:r>
              <a:rPr lang="ko-KR" altLang="en-US" sz="2000" dirty="0"/>
              <a:t>이제 이 문제는 전형적인 동적 계획법 문제가 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세번째</a:t>
            </a:r>
            <a:r>
              <a:rPr lang="ko-KR" altLang="en-US" sz="2000" dirty="0"/>
              <a:t> 젓가락이 있다는 것을 고려해야 하므로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점화식을</a:t>
            </a:r>
            <a:r>
              <a:rPr lang="ko-KR" altLang="en-US" sz="2000" dirty="0"/>
              <a:t> 계산할 때 약간의 제한을 두어야 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84053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58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395536" y="188640"/>
            <a:ext cx="8568952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87: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Chopstics</a:t>
            </a: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MAX_CHOPSTICK 5000</a:t>
            </a:r>
          </a:p>
          <a:p>
            <a:pPr marL="0" indent="0">
              <a:buNone/>
            </a:pPr>
            <a:r>
              <a:rPr lang="en-US" altLang="ko-KR" sz="1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chopstick_length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[MAX_CHOPSTICK];</a:t>
            </a:r>
          </a:p>
          <a:p>
            <a:pPr marL="0" indent="0">
              <a:buNone/>
            </a:pP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[MAX_CHOPSTICK + 1];</a:t>
            </a:r>
          </a:p>
          <a:p>
            <a:pPr marL="0" indent="0">
              <a:buNone/>
            </a:pP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[MAX_CHOPSTICK + 1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t;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j, k;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guests_num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guests_num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j++)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chopstick_length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[j]);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  <a:r>
              <a:rPr lang="ko-KR" alt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기본적으로 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ko-KR" alt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명을 더해준다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guests_num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+= 8;</a:t>
            </a:r>
          </a:p>
          <a:p>
            <a:pPr marL="0" indent="0">
              <a:buNone/>
            </a:pPr>
            <a:endParaRPr lang="en-US" altLang="ko-K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&lt;=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j++)</a:t>
            </a:r>
          </a:p>
          <a:p>
            <a:pPr marL="0" indent="0">
              <a:buNone/>
            </a:pP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[j] = 0;</a:t>
            </a:r>
          </a:p>
        </p:txBody>
      </p:sp>
    </p:spTree>
    <p:extLst>
      <p:ext uri="{BB962C8B-B14F-4D97-AF65-F5344CB8AC3E}">
        <p14:creationId xmlns:p14="http://schemas.microsoft.com/office/powerpoint/2010/main" val="948886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59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136904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(j = 0; j &lt;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guests_num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ko-KR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앞으로 추가될 사람이 있으므로 생기는 젓가락 수의 제한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3*(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guests_num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- 1 - j) - 1;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 -1;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= -1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(k = 2; k &lt;=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k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- 2] &gt; -1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badness, diff;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diff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chopstick_length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- 1] -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  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chopstick_length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[k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- 2];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badness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- 2] + diff * diff;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- 1] &gt; badness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- 1] == -1)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[k] = badness;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 - 1];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[k] = -1;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9558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60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45333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//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차원 배열을 돌려쓴다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+ 1] = 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(k = 0; k &lt;=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max_candidate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+ 1; k++)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[k];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pre_badness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chopsticks_num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-1]);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84388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16926</TotalTime>
  <Words>6462</Words>
  <Application>Microsoft Office PowerPoint</Application>
  <PresentationFormat>화면 슬라이드 쇼(4:3)</PresentationFormat>
  <Paragraphs>878</Paragraphs>
  <Slides>60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1" baseType="lpstr">
      <vt:lpstr>기본 디자인</vt:lpstr>
      <vt:lpstr>제 11장 동적 프로그래밍</vt:lpstr>
      <vt:lpstr>PowerPoint 프레젠테이션</vt:lpstr>
      <vt:lpstr>Dynamic Programming</vt:lpstr>
      <vt:lpstr>Greedy Algorithms</vt:lpstr>
      <vt:lpstr>PowerPoint 프레젠테이션</vt:lpstr>
      <vt:lpstr>PowerPoint 프레젠테이션</vt:lpstr>
      <vt:lpstr>Evaluating Recurrence Relations</vt:lpstr>
      <vt:lpstr>PowerPoint 프레젠테이션</vt:lpstr>
      <vt:lpstr>Edit Distance</vt:lpstr>
      <vt:lpstr>Recursive Algorithm</vt:lpstr>
      <vt:lpstr>PowerPoint 프레젠테이션</vt:lpstr>
      <vt:lpstr>Speeding it Up</vt:lpstr>
      <vt:lpstr>PowerPoint 프레젠테이션</vt:lpstr>
      <vt:lpstr>PowerPoint 프레젠테이션</vt:lpstr>
      <vt:lpstr>Example</vt:lpstr>
      <vt:lpstr>Reconstructing the Path</vt:lpstr>
      <vt:lpstr>PowerPoint 프레젠테이션</vt:lpstr>
      <vt:lpstr>Customizing Edit Distance</vt:lpstr>
      <vt:lpstr>PowerPoint 프레젠테이션</vt:lpstr>
      <vt:lpstr>PowerPoint 프레젠테이션</vt:lpstr>
      <vt:lpstr>PowerPoint 프레젠테이션</vt:lpstr>
      <vt:lpstr>Substring Matching</vt:lpstr>
      <vt:lpstr>PowerPoint 프레젠테이션</vt:lpstr>
      <vt:lpstr>Longest Common Subsequence</vt:lpstr>
      <vt:lpstr>Maximum Monotone Subsequence</vt:lpstr>
      <vt:lpstr>프로그램 설계 예제: 엘리베이터 최적화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문제 83. 거북이 쌓기(Weights and Measures) </vt:lpstr>
      <vt:lpstr>PowerPoint 프레젠테이션</vt:lpstr>
      <vt:lpstr>문제 83. 힌트</vt:lpstr>
      <vt:lpstr>PowerPoint 프레젠테이션</vt:lpstr>
      <vt:lpstr>PowerPoint 프레젠테이션</vt:lpstr>
      <vt:lpstr>문제 84. 단방향 TSP(Unidirectional TSP)</vt:lpstr>
      <vt:lpstr>PowerPoint 프레젠테이션</vt:lpstr>
      <vt:lpstr>PowerPoint 프레젠테이션</vt:lpstr>
      <vt:lpstr>PowerPoint 프레젠테이션</vt:lpstr>
      <vt:lpstr>문제 84. 힌트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문제 86. 페리 탑승(Ferry Loading)</vt:lpstr>
      <vt:lpstr>PowerPoint 프레젠테이션</vt:lpstr>
      <vt:lpstr>PowerPoint 프레젠테이션</vt:lpstr>
      <vt:lpstr>문제 86. 힌트</vt:lpstr>
      <vt:lpstr>PowerPoint 프레젠테이션</vt:lpstr>
      <vt:lpstr>PowerPoint 프레젠테이션</vt:lpstr>
      <vt:lpstr>PowerPoint 프레젠테이션</vt:lpstr>
      <vt:lpstr>문제 87. 젓가락(Chopsticks)</vt:lpstr>
      <vt:lpstr>PowerPoint 프레젠테이션</vt:lpstr>
      <vt:lpstr>문제 87. 힌트</vt:lpstr>
      <vt:lpstr>PowerPoint 프레젠테이션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하진영</cp:lastModifiedBy>
  <cp:revision>587</cp:revision>
  <dcterms:created xsi:type="dcterms:W3CDTF">2003-02-22T04:47:49Z</dcterms:created>
  <dcterms:modified xsi:type="dcterms:W3CDTF">2017-12-05T07:15:17Z</dcterms:modified>
</cp:coreProperties>
</file>