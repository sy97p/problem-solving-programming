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34" r:id="rId2"/>
    <p:sldId id="457" r:id="rId3"/>
    <p:sldId id="581" r:id="rId4"/>
    <p:sldId id="644" r:id="rId5"/>
    <p:sldId id="645" r:id="rId6"/>
    <p:sldId id="437" r:id="rId7"/>
    <p:sldId id="562" r:id="rId8"/>
    <p:sldId id="642" r:id="rId9"/>
    <p:sldId id="643" r:id="rId10"/>
    <p:sldId id="602" r:id="rId11"/>
    <p:sldId id="603" r:id="rId12"/>
    <p:sldId id="604" r:id="rId13"/>
    <p:sldId id="633" r:id="rId14"/>
    <p:sldId id="638" r:id="rId15"/>
    <p:sldId id="605" r:id="rId16"/>
    <p:sldId id="626" r:id="rId17"/>
    <p:sldId id="627" r:id="rId18"/>
    <p:sldId id="606" r:id="rId19"/>
    <p:sldId id="628" r:id="rId20"/>
    <p:sldId id="634" r:id="rId21"/>
    <p:sldId id="635" r:id="rId22"/>
    <p:sldId id="640" r:id="rId23"/>
    <p:sldId id="639" r:id="rId24"/>
    <p:sldId id="641" r:id="rId25"/>
    <p:sldId id="607" r:id="rId26"/>
    <p:sldId id="629" r:id="rId27"/>
    <p:sldId id="541" r:id="rId28"/>
    <p:sldId id="630" r:id="rId29"/>
    <p:sldId id="636" r:id="rId30"/>
    <p:sldId id="637" r:id="rId31"/>
    <p:sldId id="611" r:id="rId32"/>
    <p:sldId id="612" r:id="rId33"/>
    <p:sldId id="564" r:id="rId34"/>
    <p:sldId id="565" r:id="rId35"/>
    <p:sldId id="613" r:id="rId36"/>
    <p:sldId id="614" r:id="rId37"/>
    <p:sldId id="615" r:id="rId38"/>
    <p:sldId id="616" r:id="rId39"/>
    <p:sldId id="617" r:id="rId40"/>
    <p:sldId id="631" r:id="rId41"/>
    <p:sldId id="632" r:id="rId42"/>
    <p:sldId id="495" r:id="rId43"/>
    <p:sldId id="576" r:id="rId44"/>
    <p:sldId id="618" r:id="rId45"/>
    <p:sldId id="518" r:id="rId46"/>
    <p:sldId id="496" r:id="rId47"/>
    <p:sldId id="497" r:id="rId48"/>
    <p:sldId id="519" r:id="rId49"/>
    <p:sldId id="547" r:id="rId50"/>
    <p:sldId id="585" r:id="rId51"/>
    <p:sldId id="586" r:id="rId52"/>
    <p:sldId id="619" r:id="rId53"/>
    <p:sldId id="587" r:id="rId54"/>
    <p:sldId id="589" r:id="rId55"/>
    <p:sldId id="620" r:id="rId56"/>
    <p:sldId id="621" r:id="rId57"/>
    <p:sldId id="622" r:id="rId58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B4B4B4"/>
    <a:srgbClr val="7ACCB7"/>
    <a:srgbClr val="FFCC00"/>
    <a:srgbClr val="7BB0E5"/>
    <a:srgbClr val="89B2DB"/>
    <a:srgbClr val="3D81C5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34" d="100"/>
          <a:sy n="134" d="100"/>
        </p:scale>
        <p:origin x="1044" y="12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장 그래프 알고리즘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11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230543"/>
              </p:ext>
            </p:extLst>
          </p:nvPr>
        </p:nvGraphicFramePr>
        <p:xfrm>
          <a:off x="1116013" y="1135063"/>
          <a:ext cx="7632699" cy="5084762"/>
        </p:xfrm>
        <a:graphic>
          <a:graphicData uri="http://schemas.openxmlformats.org/drawingml/2006/table">
            <a:tbl>
              <a:tblPr/>
              <a:tblGrid>
                <a:gridCol w="809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9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10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순회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65, 71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12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그래프 알고리즘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73, 74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13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동적 프로그래밍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83, 84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동적 프로그래밍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86, 87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기말고사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바탕" pitchFamily="18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그래프 이론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그래프 구조의 특징에 대한 연구</a:t>
            </a:r>
            <a:endParaRPr lang="en-US" altLang="ko-KR" dirty="0" smtClean="0"/>
          </a:p>
          <a:p>
            <a:r>
              <a:rPr lang="ko-KR" altLang="en-US" dirty="0" smtClean="0"/>
              <a:t>그래프 알고리즘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최소 신장 트리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최단 경로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최대 흐름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5611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3399-EAB5-4CE9-82D2-F8EC9CE5580B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Graph </a:t>
            </a:r>
            <a:r>
              <a:rPr lang="en-US" altLang="ko-KR" dirty="0" smtClean="0"/>
              <a:t>Theory</a:t>
            </a:r>
            <a:endParaRPr lang="en-US" altLang="ko-KR" dirty="0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543800" cy="4191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sz="2800"/>
              <a:t>Graph theory</a:t>
            </a:r>
          </a:p>
          <a:p>
            <a:pPr lvl="1">
              <a:lnSpc>
                <a:spcPct val="110000"/>
              </a:lnSpc>
            </a:pPr>
            <a:r>
              <a:rPr lang="en-US" altLang="ko-KR" sz="2400"/>
              <a:t>invented by Euler in early 18th century</a:t>
            </a:r>
          </a:p>
          <a:p>
            <a:pPr lvl="1">
              <a:lnSpc>
                <a:spcPct val="110000"/>
              </a:lnSpc>
            </a:pPr>
            <a:r>
              <a:rPr lang="en-US" altLang="ko-KR" sz="2400"/>
              <a:t>the bridges of Königsberg problem</a:t>
            </a:r>
          </a:p>
          <a:p>
            <a:pPr lvl="2">
              <a:lnSpc>
                <a:spcPct val="110000"/>
              </a:lnSpc>
            </a:pPr>
            <a:r>
              <a:rPr lang="en-US" altLang="ko-KR" sz="2000"/>
              <a:t>asks if there is a walk around the city that crosses each bridge exactly once</a:t>
            </a:r>
          </a:p>
          <a:p>
            <a:pPr lvl="2">
              <a:lnSpc>
                <a:spcPct val="110000"/>
              </a:lnSpc>
            </a:pPr>
            <a:r>
              <a:rPr lang="en-US" altLang="ko-KR" sz="2000"/>
              <a:t>the residents doubted that it was possible, no one had proved its impossibility</a:t>
            </a:r>
          </a:p>
          <a:p>
            <a:pPr>
              <a:lnSpc>
                <a:spcPct val="110000"/>
              </a:lnSpc>
            </a:pPr>
            <a:endParaRPr lang="en-US" altLang="ko-KR" sz="2800"/>
          </a:p>
        </p:txBody>
      </p:sp>
    </p:spTree>
    <p:extLst>
      <p:ext uri="{BB962C8B-B14F-4D97-AF65-F5344CB8AC3E}">
        <p14:creationId xmlns:p14="http://schemas.microsoft.com/office/powerpoint/2010/main" val="35132650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7432E-93A5-4615-9DB5-2719E89BE47B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543800" cy="1143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/>
              <a:t>The Bridges of</a:t>
            </a:r>
            <a:br>
              <a:rPr lang="en-US" altLang="ko-KR"/>
            </a:br>
            <a:r>
              <a:rPr lang="en-US" altLang="ko-KR"/>
              <a:t>Königsberg Problem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543800" cy="17081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sz="2800"/>
              <a:t>Graph representation</a:t>
            </a:r>
          </a:p>
          <a:p>
            <a:pPr lvl="1">
              <a:lnSpc>
                <a:spcPct val="110000"/>
              </a:lnSpc>
            </a:pPr>
            <a:r>
              <a:rPr lang="en-US" altLang="ko-KR" sz="2400"/>
              <a:t>preserves the essential structure of the bridge system, while ignoring extraneous features such as distance and direction</a:t>
            </a:r>
          </a:p>
        </p:txBody>
      </p:sp>
      <p:pic>
        <p:nvPicPr>
          <p:cNvPr id="1986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54413"/>
            <a:ext cx="5029200" cy="330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866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155950"/>
            <a:ext cx="4067175" cy="370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343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차수</a:t>
            </a:r>
            <a:r>
              <a:rPr lang="en-US" altLang="ko-KR" dirty="0" smtClean="0"/>
              <a:t>(Degree)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정점의 차수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어떤 정점에 연결된 모서리의 개수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중요 속성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그래프에 있는 모든 정점의 차수 합은 모서리 개수의 두 배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차수가 홀수인 정점의 개수는 반드시 짝수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/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방향성 그래프에서는 출력 차수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ko-K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outdegree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의 합과 입력 차수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ko-K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indegree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의 합은 동일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/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트리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사이클이 없는 연결된 그래프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/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잎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(leaf): 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차수가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인 정점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3"/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정점이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개이면 모서리는 </a:t>
            </a: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n-1</a:t>
            </a:r>
            <a:r>
              <a:rPr lang="ko-KR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개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ko-K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신장 트리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(spanning tree)</a:t>
            </a: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그래프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 = (V, E)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가 있을 때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E’ </a:t>
            </a:r>
            <a:r>
              <a:rPr lang="ko-KR" altLang="en-US" sz="2000" dirty="0" smtClean="0"/>
              <a:t>⊂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인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E’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가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로 구성된 </a:t>
            </a:r>
            <a:r>
              <a:rPr lang="ko-KR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트리인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경우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E’</a:t>
            </a:r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로 이루어진 부분 집합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모든 연결 그래프에는 신장 트리 존재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연결성</a:t>
            </a:r>
            <a:r>
              <a:rPr lang="en-US" altLang="ko-KR" dirty="0" smtClean="0"/>
              <a:t>(Connectivity)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A graph is </a:t>
            </a:r>
            <a:r>
              <a:rPr lang="en-US" altLang="ko-KR" sz="2400" i="1" dirty="0">
                <a:latin typeface="Times New Roman"/>
              </a:rPr>
              <a:t>connected </a:t>
            </a:r>
            <a:r>
              <a:rPr lang="en-US" altLang="ko-KR" sz="2400" dirty="0">
                <a:latin typeface="Times New Roman"/>
              </a:rPr>
              <a:t>if there is an undirected path </a:t>
            </a:r>
            <a:r>
              <a:rPr lang="en-US" altLang="ko-KR" sz="2400" dirty="0" smtClean="0">
                <a:latin typeface="Times New Roman"/>
              </a:rPr>
              <a:t>between every </a:t>
            </a:r>
            <a:r>
              <a:rPr lang="en-US" altLang="ko-KR" sz="2400" dirty="0">
                <a:latin typeface="Times New Roman"/>
              </a:rPr>
              <a:t>pair of vertices.</a:t>
            </a:r>
          </a:p>
          <a:p>
            <a:r>
              <a:rPr lang="en-US" altLang="ko-KR" sz="2400" dirty="0">
                <a:latin typeface="Times New Roman"/>
              </a:rPr>
              <a:t>The existence of a spanning tree is sufficient to </a:t>
            </a:r>
            <a:r>
              <a:rPr lang="en-US" altLang="ko-KR" sz="2400" dirty="0" smtClean="0">
                <a:latin typeface="Times New Roman"/>
              </a:rPr>
              <a:t>prove connectivity</a:t>
            </a:r>
            <a:r>
              <a:rPr lang="en-US" altLang="ko-KR" sz="2400" dirty="0">
                <a:latin typeface="Times New Roman"/>
              </a:rPr>
              <a:t>. A breadth-first or depth-first </a:t>
            </a:r>
            <a:r>
              <a:rPr lang="en-US" altLang="ko-KR" sz="2400" dirty="0" smtClean="0">
                <a:latin typeface="Times New Roman"/>
              </a:rPr>
              <a:t>search-based connected </a:t>
            </a:r>
            <a:r>
              <a:rPr lang="en-US" altLang="ko-KR" sz="2400" dirty="0">
                <a:latin typeface="Times New Roman"/>
              </a:rPr>
              <a:t>components algorithm can be used to find such </a:t>
            </a:r>
            <a:r>
              <a:rPr lang="en-US" altLang="ko-KR" sz="2400" dirty="0" smtClean="0">
                <a:latin typeface="Times New Roman"/>
              </a:rPr>
              <a:t>a spanning </a:t>
            </a:r>
            <a:r>
              <a:rPr lang="en-US" altLang="ko-KR" sz="2400" dirty="0">
                <a:latin typeface="Times New Roman"/>
              </a:rPr>
              <a:t>tree.</a:t>
            </a:r>
          </a:p>
          <a:p>
            <a:r>
              <a:rPr lang="en-US" altLang="ko-KR" sz="2400" dirty="0">
                <a:latin typeface="Times New Roman"/>
              </a:rPr>
              <a:t>However, there are other notions of connectivity. The </a:t>
            </a:r>
            <a:r>
              <a:rPr lang="en-US" altLang="ko-KR" sz="2400" dirty="0" smtClean="0">
                <a:latin typeface="Times New Roman"/>
              </a:rPr>
              <a:t>most interesting </a:t>
            </a:r>
            <a:r>
              <a:rPr lang="en-US" altLang="ko-KR" sz="2400" dirty="0">
                <a:latin typeface="Times New Roman"/>
              </a:rPr>
              <a:t>special case when there is a single weak link in </a:t>
            </a:r>
            <a:r>
              <a:rPr lang="en-US" altLang="ko-KR" sz="2400" dirty="0" smtClean="0">
                <a:latin typeface="Times New Roman"/>
              </a:rPr>
              <a:t>the graph</a:t>
            </a:r>
            <a:r>
              <a:rPr lang="en-US" altLang="ko-KR" sz="2400" dirty="0">
                <a:latin typeface="Times New Roman"/>
              </a:rPr>
              <a:t>. A single vertex whose deletion disconnects the </a:t>
            </a:r>
            <a:r>
              <a:rPr lang="en-US" altLang="ko-KR" sz="2400" dirty="0" smtClean="0">
                <a:latin typeface="Times New Roman"/>
              </a:rPr>
              <a:t>graph is </a:t>
            </a:r>
            <a:r>
              <a:rPr lang="en-US" altLang="ko-KR" sz="2400" dirty="0">
                <a:latin typeface="Times New Roman"/>
              </a:rPr>
              <a:t>called an </a:t>
            </a:r>
            <a:r>
              <a:rPr lang="en-US" altLang="ko-KR" sz="2400" i="1" dirty="0">
                <a:latin typeface="Times New Roman"/>
              </a:rPr>
              <a:t>articulation vertex</a:t>
            </a:r>
            <a:r>
              <a:rPr lang="en-US" altLang="ko-KR" sz="2400" dirty="0">
                <a:latin typeface="Times New Roman"/>
              </a:rPr>
              <a:t>; any graph without such </a:t>
            </a:r>
            <a:r>
              <a:rPr lang="en-US" altLang="ko-KR" sz="2400" dirty="0" smtClean="0">
                <a:latin typeface="Times New Roman"/>
              </a:rPr>
              <a:t>a vertex </a:t>
            </a:r>
            <a:r>
              <a:rPr lang="en-US" altLang="ko-KR" sz="2400" dirty="0">
                <a:latin typeface="Times New Roman"/>
              </a:rPr>
              <a:t>is said to be </a:t>
            </a:r>
            <a:r>
              <a:rPr lang="en-US" altLang="ko-KR" sz="2400" i="1" dirty="0" err="1">
                <a:latin typeface="Times New Roman"/>
              </a:rPr>
              <a:t>biconnected</a:t>
            </a:r>
            <a:r>
              <a:rPr lang="en-US" altLang="ko-KR" sz="2400" dirty="0">
                <a:latin typeface="Times New Roman"/>
              </a:rPr>
              <a:t>. A single edge whose </a:t>
            </a:r>
            <a:r>
              <a:rPr lang="en-US" altLang="ko-KR" sz="2400" dirty="0" smtClean="0">
                <a:latin typeface="Times New Roman"/>
              </a:rPr>
              <a:t>deletion disconnects </a:t>
            </a:r>
            <a:r>
              <a:rPr lang="en-US" altLang="ko-KR" sz="2400" dirty="0">
                <a:latin typeface="Times New Roman"/>
              </a:rPr>
              <a:t>the graph is called a </a:t>
            </a:r>
            <a:r>
              <a:rPr lang="en-US" altLang="ko-KR" sz="2400" i="1" dirty="0">
                <a:latin typeface="Times New Roman"/>
              </a:rPr>
              <a:t>bridge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0285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48680"/>
            <a:ext cx="50577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19672" y="5157192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 smtClean="0"/>
              <a:t>articulation vertices:</a:t>
            </a:r>
            <a:endParaRPr lang="ko-KR" altLang="en-US" sz="1800" dirty="0"/>
          </a:p>
        </p:txBody>
      </p:sp>
      <p:grpSp>
        <p:nvGrpSpPr>
          <p:cNvPr id="8" name="그룹 7"/>
          <p:cNvGrpSpPr/>
          <p:nvPr/>
        </p:nvGrpSpPr>
        <p:grpSpPr>
          <a:xfrm>
            <a:off x="2612018" y="1484784"/>
            <a:ext cx="3112110" cy="4052961"/>
            <a:chOff x="2612018" y="1484784"/>
            <a:chExt cx="3112110" cy="4052961"/>
          </a:xfrm>
        </p:grpSpPr>
        <p:sp>
          <p:nvSpPr>
            <p:cNvPr id="7" name="TextBox 6"/>
            <p:cNvSpPr txBox="1"/>
            <p:nvPr/>
          </p:nvSpPr>
          <p:spPr>
            <a:xfrm>
              <a:off x="4049358" y="5168413"/>
              <a:ext cx="1455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dirty="0" smtClean="0"/>
                <a:t>D, E, F, G, I</a:t>
              </a:r>
              <a:endParaRPr lang="ko-KR" altLang="en-US" sz="1800" dirty="0"/>
            </a:p>
          </p:txBody>
        </p:sp>
        <p:sp>
          <p:nvSpPr>
            <p:cNvPr id="6" name="타원 5"/>
            <p:cNvSpPr/>
            <p:nvPr/>
          </p:nvSpPr>
          <p:spPr bwMode="auto">
            <a:xfrm>
              <a:off x="2627784" y="1484784"/>
              <a:ext cx="360040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  <a:headEnd type="none" w="med" len="med"/>
              <a:tailEnd type="triangl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9" name="타원 8"/>
            <p:cNvSpPr/>
            <p:nvPr/>
          </p:nvSpPr>
          <p:spPr bwMode="auto">
            <a:xfrm>
              <a:off x="3563888" y="1484784"/>
              <a:ext cx="360040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  <a:headEnd type="none" w="med" len="med"/>
              <a:tailEnd type="triangl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0" name="타원 9"/>
            <p:cNvSpPr/>
            <p:nvPr/>
          </p:nvSpPr>
          <p:spPr bwMode="auto">
            <a:xfrm>
              <a:off x="4427984" y="1484784"/>
              <a:ext cx="360040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  <a:headEnd type="none" w="med" len="med"/>
              <a:tailEnd type="triangl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1" name="타원 10"/>
            <p:cNvSpPr/>
            <p:nvPr/>
          </p:nvSpPr>
          <p:spPr bwMode="auto">
            <a:xfrm>
              <a:off x="5364088" y="1484784"/>
              <a:ext cx="360040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  <a:headEnd type="none" w="med" len="med"/>
              <a:tailEnd type="triangl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2" name="타원 11"/>
            <p:cNvSpPr/>
            <p:nvPr/>
          </p:nvSpPr>
          <p:spPr bwMode="auto">
            <a:xfrm>
              <a:off x="2612018" y="2397239"/>
              <a:ext cx="360040" cy="3600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ash"/>
              <a:headEnd type="none" w="med" len="med"/>
              <a:tailEnd type="triangl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1516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48680"/>
            <a:ext cx="50577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75656" y="5157192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 smtClean="0"/>
              <a:t>bridges:</a:t>
            </a:r>
            <a:endParaRPr lang="ko-KR" altLang="en-US" sz="1800" dirty="0"/>
          </a:p>
        </p:txBody>
      </p:sp>
      <p:grpSp>
        <p:nvGrpSpPr>
          <p:cNvPr id="3" name="그룹 2"/>
          <p:cNvGrpSpPr/>
          <p:nvPr/>
        </p:nvGrpSpPr>
        <p:grpSpPr>
          <a:xfrm>
            <a:off x="2483768" y="1597268"/>
            <a:ext cx="3897039" cy="3929256"/>
            <a:chOff x="2483768" y="1597268"/>
            <a:chExt cx="3897039" cy="3929256"/>
          </a:xfrm>
        </p:grpSpPr>
        <p:sp>
          <p:nvSpPr>
            <p:cNvPr id="13" name="TextBox 12"/>
            <p:cNvSpPr txBox="1"/>
            <p:nvPr/>
          </p:nvSpPr>
          <p:spPr>
            <a:xfrm>
              <a:off x="2483768" y="5157192"/>
              <a:ext cx="3419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dirty="0" smtClean="0"/>
                <a:t>D-I, I-J, D-E, E-F, F-G, G-H</a:t>
              </a:r>
              <a:endParaRPr lang="ko-KR" altLang="en-US" sz="1800" dirty="0"/>
            </a:p>
          </p:txBody>
        </p:sp>
        <p:sp>
          <p:nvSpPr>
            <p:cNvPr id="2" name="모서리가 둥근 직사각형 1"/>
            <p:cNvSpPr/>
            <p:nvPr/>
          </p:nvSpPr>
          <p:spPr bwMode="auto">
            <a:xfrm>
              <a:off x="2699792" y="1798226"/>
              <a:ext cx="144016" cy="678904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 bwMode="auto">
            <a:xfrm>
              <a:off x="2699792" y="2708920"/>
              <a:ext cx="144016" cy="678904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 bwMode="auto">
            <a:xfrm>
              <a:off x="2915816" y="1597268"/>
              <a:ext cx="711473" cy="121742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 bwMode="auto">
            <a:xfrm>
              <a:off x="3779912" y="1597268"/>
              <a:ext cx="711473" cy="121742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 bwMode="auto">
            <a:xfrm>
              <a:off x="4724623" y="1597268"/>
              <a:ext cx="711473" cy="121742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 bwMode="auto">
            <a:xfrm>
              <a:off x="5669334" y="1597268"/>
              <a:ext cx="711473" cy="121742"/>
            </a:xfrm>
            <a:prstGeom prst="roundRect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715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554732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Testing for articulation vertices or bridges is easy via </a:t>
            </a:r>
            <a:r>
              <a:rPr lang="en-US" altLang="ko-KR" sz="2400" dirty="0" smtClean="0">
                <a:latin typeface="Times New Roman"/>
              </a:rPr>
              <a:t>brute force</a:t>
            </a:r>
            <a:r>
              <a:rPr lang="en-US" altLang="ko-KR" sz="2400" dirty="0">
                <a:latin typeface="Times New Roman"/>
              </a:rPr>
              <a:t>. For each vertex/edge, delete it from the graph and </a:t>
            </a:r>
            <a:r>
              <a:rPr lang="en-US" altLang="ko-KR" sz="2400" dirty="0" smtClean="0">
                <a:latin typeface="Times New Roman"/>
              </a:rPr>
              <a:t>test whether </a:t>
            </a:r>
            <a:r>
              <a:rPr lang="en-US" altLang="ko-KR" sz="2400" dirty="0">
                <a:latin typeface="Times New Roman"/>
              </a:rPr>
              <a:t>the resulting graph remains connected. Be sure </a:t>
            </a:r>
            <a:r>
              <a:rPr lang="en-US" altLang="ko-KR" sz="2400" dirty="0" smtClean="0">
                <a:latin typeface="Times New Roman"/>
              </a:rPr>
              <a:t>to add </a:t>
            </a:r>
            <a:r>
              <a:rPr lang="en-US" altLang="ko-KR" sz="2400" dirty="0">
                <a:latin typeface="Times New Roman"/>
              </a:rPr>
              <a:t>that vertex/edge back before doing the next deletion!</a:t>
            </a:r>
          </a:p>
          <a:p>
            <a:r>
              <a:rPr lang="en-US" altLang="ko-KR" sz="2400" dirty="0">
                <a:latin typeface="Times New Roman"/>
              </a:rPr>
              <a:t>In directed graphs we are often concerned with </a:t>
            </a:r>
            <a:r>
              <a:rPr lang="en-US" altLang="ko-KR" sz="2400" i="1" dirty="0" smtClean="0">
                <a:latin typeface="Times New Roman"/>
              </a:rPr>
              <a:t>strongly connected </a:t>
            </a:r>
            <a:r>
              <a:rPr lang="en-US" altLang="ko-KR" sz="2400" i="1" dirty="0">
                <a:latin typeface="Times New Roman"/>
              </a:rPr>
              <a:t>components</a:t>
            </a:r>
            <a:r>
              <a:rPr lang="en-US" altLang="ko-KR" sz="2400" dirty="0">
                <a:latin typeface="Times New Roman"/>
              </a:rPr>
              <a:t>, that is, partitioning the graph </a:t>
            </a:r>
            <a:r>
              <a:rPr lang="en-US" altLang="ko-KR" sz="2400" dirty="0" smtClean="0">
                <a:latin typeface="Times New Roman"/>
              </a:rPr>
              <a:t>into chunks </a:t>
            </a:r>
            <a:r>
              <a:rPr lang="en-US" altLang="ko-KR" sz="2400" dirty="0">
                <a:latin typeface="Times New Roman"/>
              </a:rPr>
              <a:t>such that there are directed paths between all </a:t>
            </a:r>
            <a:r>
              <a:rPr lang="en-US" altLang="ko-KR" sz="2400" dirty="0" smtClean="0">
                <a:latin typeface="Times New Roman"/>
              </a:rPr>
              <a:t>pairs of </a:t>
            </a:r>
            <a:r>
              <a:rPr lang="en-US" altLang="ko-KR" sz="2400" dirty="0">
                <a:latin typeface="Times New Roman"/>
              </a:rPr>
              <a:t>vertices within a given chunk. Road networks should </a:t>
            </a:r>
            <a:r>
              <a:rPr lang="en-US" altLang="ko-KR" sz="2400" dirty="0" smtClean="0">
                <a:latin typeface="Times New Roman"/>
              </a:rPr>
              <a:t>be strongly </a:t>
            </a:r>
            <a:r>
              <a:rPr lang="en-US" altLang="ko-KR" sz="2400" dirty="0">
                <a:latin typeface="Times New Roman"/>
              </a:rPr>
              <a:t>connected, or else there will be places you can </a:t>
            </a:r>
            <a:r>
              <a:rPr lang="en-US" altLang="ko-KR" sz="2400" dirty="0" smtClean="0">
                <a:latin typeface="Times New Roman"/>
              </a:rPr>
              <a:t>drive to </a:t>
            </a:r>
            <a:r>
              <a:rPr lang="en-US" altLang="ko-KR" sz="2400" dirty="0">
                <a:latin typeface="Times New Roman"/>
              </a:rPr>
              <a:t>but not drive home from without violating one-way signs.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0086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 smtClean="0"/>
              <a:t>그래프의 사이클</a:t>
            </a:r>
            <a:r>
              <a:rPr lang="en-US" altLang="ko-KR" sz="3600" dirty="0" smtClean="0"/>
              <a:t>(Cycles in Graphs)</a:t>
            </a:r>
            <a:endParaRPr lang="ko-KR" altLang="en-US" sz="36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All non-tree connected graphs contain cycles.</a:t>
            </a:r>
          </a:p>
          <a:p>
            <a:r>
              <a:rPr lang="en-US" altLang="ko-KR" sz="2400" dirty="0">
                <a:latin typeface="Times New Roman"/>
              </a:rPr>
              <a:t>An </a:t>
            </a:r>
            <a:r>
              <a:rPr lang="en-US" altLang="ko-KR" sz="2400" i="1" dirty="0" err="1">
                <a:latin typeface="Times New Roman"/>
              </a:rPr>
              <a:t>Eulerian</a:t>
            </a:r>
            <a:r>
              <a:rPr lang="en-US" altLang="ko-KR" sz="2400" i="1" dirty="0">
                <a:latin typeface="Times New Roman"/>
              </a:rPr>
              <a:t> cycle </a:t>
            </a:r>
            <a:r>
              <a:rPr lang="en-US" altLang="ko-KR" sz="2400" dirty="0">
                <a:latin typeface="Times New Roman"/>
              </a:rPr>
              <a:t>is a tour which visits every edge of </a:t>
            </a:r>
            <a:r>
              <a:rPr lang="en-US" altLang="ko-KR" sz="2400" dirty="0" smtClean="0">
                <a:latin typeface="Times New Roman"/>
              </a:rPr>
              <a:t>the graph </a:t>
            </a:r>
            <a:r>
              <a:rPr lang="en-US" altLang="ko-KR" sz="2400" dirty="0">
                <a:latin typeface="Times New Roman"/>
              </a:rPr>
              <a:t>exactly once. A mailman’s route is ideally an </a:t>
            </a:r>
            <a:r>
              <a:rPr lang="en-US" altLang="ko-KR" sz="2400" dirty="0" err="1" smtClean="0">
                <a:latin typeface="Times New Roman"/>
              </a:rPr>
              <a:t>Eulerian</a:t>
            </a:r>
            <a:r>
              <a:rPr lang="en-US" altLang="ko-KR" sz="2400" dirty="0" smtClean="0">
                <a:latin typeface="Times New Roman"/>
              </a:rPr>
              <a:t> cycle</a:t>
            </a:r>
            <a:r>
              <a:rPr lang="en-US" altLang="ko-KR" sz="2400" dirty="0">
                <a:latin typeface="Times New Roman"/>
              </a:rPr>
              <a:t>, so he can visit every street (edge) in the </a:t>
            </a:r>
            <a:r>
              <a:rPr lang="en-US" altLang="ko-KR" sz="2400" dirty="0" smtClean="0">
                <a:latin typeface="Times New Roman"/>
              </a:rPr>
              <a:t>neighborhood once </a:t>
            </a:r>
            <a:r>
              <a:rPr lang="en-US" altLang="ko-KR" sz="2400" dirty="0">
                <a:latin typeface="Times New Roman"/>
              </a:rPr>
              <a:t>before returning home.</a:t>
            </a:r>
          </a:p>
          <a:p>
            <a:r>
              <a:rPr lang="en-US" altLang="ko-KR" sz="2400" dirty="0">
                <a:latin typeface="Times New Roman"/>
              </a:rPr>
              <a:t>An undirected graph contains an </a:t>
            </a:r>
            <a:r>
              <a:rPr lang="en-US" altLang="ko-KR" sz="2400" dirty="0" err="1">
                <a:latin typeface="Times New Roman"/>
              </a:rPr>
              <a:t>Eulerian</a:t>
            </a:r>
            <a:r>
              <a:rPr lang="en-US" altLang="ko-KR" sz="2400" dirty="0">
                <a:latin typeface="Times New Roman"/>
              </a:rPr>
              <a:t> cycle if it </a:t>
            </a:r>
            <a:r>
              <a:rPr lang="en-US" altLang="ko-KR" sz="2400" dirty="0" smtClean="0">
                <a:latin typeface="Times New Roman"/>
              </a:rPr>
              <a:t>is connected </a:t>
            </a:r>
            <a:r>
              <a:rPr lang="en-US" altLang="ko-KR" sz="2400" dirty="0">
                <a:latin typeface="Times New Roman"/>
              </a:rPr>
              <a:t>and every vertex is of even degree. Why?</a:t>
            </a:r>
          </a:p>
          <a:p>
            <a:r>
              <a:rPr lang="en-US" altLang="ko-KR" sz="2400" dirty="0">
                <a:latin typeface="Times New Roman"/>
              </a:rPr>
              <a:t>The circuit must enter and exit every vertex it </a:t>
            </a:r>
            <a:r>
              <a:rPr lang="en-US" altLang="ko-KR" sz="2400" dirty="0" smtClean="0">
                <a:latin typeface="Times New Roman"/>
              </a:rPr>
              <a:t>encounters, implying </a:t>
            </a:r>
            <a:r>
              <a:rPr lang="en-US" altLang="ko-KR" sz="2400" dirty="0">
                <a:latin typeface="Times New Roman"/>
              </a:rPr>
              <a:t>that all degrees must be even.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87479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Finding an </a:t>
            </a:r>
            <a:r>
              <a:rPr lang="en-US" altLang="ko-KR" sz="4000" dirty="0" err="1"/>
              <a:t>Eulerian</a:t>
            </a:r>
            <a:r>
              <a:rPr lang="en-US" altLang="ko-KR" sz="4000" dirty="0"/>
              <a:t> Cycle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latin typeface="Times New Roman"/>
              </a:rPr>
              <a:t>We can find an </a:t>
            </a:r>
            <a:r>
              <a:rPr lang="en-US" altLang="ko-KR" sz="2000" dirty="0" err="1">
                <a:latin typeface="Times New Roman"/>
              </a:rPr>
              <a:t>Eulerian</a:t>
            </a:r>
            <a:r>
              <a:rPr lang="en-US" altLang="ko-KR" sz="2000" dirty="0">
                <a:latin typeface="Times New Roman"/>
              </a:rPr>
              <a:t> cycle by building it one cycle at </a:t>
            </a:r>
            <a:r>
              <a:rPr lang="en-US" altLang="ko-KR" sz="2000" dirty="0" smtClean="0">
                <a:latin typeface="Times New Roman"/>
              </a:rPr>
              <a:t>a time</a:t>
            </a:r>
            <a:r>
              <a:rPr lang="en-US" altLang="ko-KR" sz="2000" dirty="0">
                <a:latin typeface="Times New Roman"/>
              </a:rPr>
              <a:t>. We can find a simple cycle in the graph by finding </a:t>
            </a:r>
            <a:r>
              <a:rPr lang="en-US" altLang="ko-KR" sz="2000" dirty="0" smtClean="0">
                <a:latin typeface="Times New Roman"/>
              </a:rPr>
              <a:t>a back </a:t>
            </a:r>
            <a:r>
              <a:rPr lang="en-US" altLang="ko-KR" sz="2000" dirty="0">
                <a:latin typeface="Times New Roman"/>
              </a:rPr>
              <a:t>edge using DFS. Deleting the edges on this cycle </a:t>
            </a:r>
            <a:r>
              <a:rPr lang="en-US" altLang="ko-KR" sz="2000" dirty="0" smtClean="0">
                <a:latin typeface="Times New Roman"/>
              </a:rPr>
              <a:t>leaves each </a:t>
            </a:r>
            <a:r>
              <a:rPr lang="en-US" altLang="ko-KR" sz="2000" dirty="0">
                <a:latin typeface="Times New Roman"/>
              </a:rPr>
              <a:t>vertex with even degree. Once we have partitioned </a:t>
            </a:r>
            <a:r>
              <a:rPr lang="en-US" altLang="ko-KR" sz="2000" dirty="0" smtClean="0">
                <a:latin typeface="Times New Roman"/>
              </a:rPr>
              <a:t>the edges </a:t>
            </a:r>
            <a:r>
              <a:rPr lang="en-US" altLang="ko-KR" sz="2000" dirty="0">
                <a:latin typeface="Times New Roman"/>
              </a:rPr>
              <a:t>into edge-disjoint cycles, we can merge these </a:t>
            </a:r>
            <a:r>
              <a:rPr lang="en-US" altLang="ko-KR" sz="2000" dirty="0" smtClean="0">
                <a:latin typeface="Times New Roman"/>
              </a:rPr>
              <a:t>cycles arbitrarily </a:t>
            </a:r>
            <a:r>
              <a:rPr lang="en-US" altLang="ko-KR" sz="2000" dirty="0">
                <a:latin typeface="Times New Roman"/>
              </a:rPr>
              <a:t>at common vertices to build an </a:t>
            </a:r>
            <a:r>
              <a:rPr lang="en-US" altLang="ko-KR" sz="2000" dirty="0" err="1">
                <a:latin typeface="Times New Roman"/>
              </a:rPr>
              <a:t>Eulerian</a:t>
            </a:r>
            <a:r>
              <a:rPr lang="en-US" altLang="ko-KR" sz="2000" dirty="0">
                <a:latin typeface="Times New Roman"/>
              </a:rPr>
              <a:t> cycle.</a:t>
            </a:r>
          </a:p>
          <a:p>
            <a:r>
              <a:rPr lang="en-US" altLang="ko-KR" sz="2000" dirty="0">
                <a:latin typeface="Times New Roman"/>
              </a:rPr>
              <a:t>A </a:t>
            </a:r>
            <a:r>
              <a:rPr lang="en-US" altLang="ko-KR" sz="2000" i="1" dirty="0">
                <a:latin typeface="Times New Roman"/>
              </a:rPr>
              <a:t>Hamiltonian cycle </a:t>
            </a:r>
            <a:r>
              <a:rPr lang="en-US" altLang="ko-KR" sz="2000" dirty="0">
                <a:latin typeface="Times New Roman"/>
              </a:rPr>
              <a:t>is a tour which visits every vertex of </a:t>
            </a:r>
            <a:r>
              <a:rPr lang="en-US" altLang="ko-KR" sz="2000" dirty="0" smtClean="0">
                <a:latin typeface="Times New Roman"/>
              </a:rPr>
              <a:t>the graph </a:t>
            </a:r>
            <a:r>
              <a:rPr lang="en-US" altLang="ko-KR" sz="2000" dirty="0">
                <a:latin typeface="Times New Roman"/>
              </a:rPr>
              <a:t>exactly once. The traveling salesman problem asks </a:t>
            </a:r>
            <a:r>
              <a:rPr lang="en-US" altLang="ko-KR" sz="2000" dirty="0" smtClean="0">
                <a:latin typeface="Times New Roman"/>
              </a:rPr>
              <a:t>for the </a:t>
            </a:r>
            <a:r>
              <a:rPr lang="en-US" altLang="ko-KR" sz="2000" dirty="0">
                <a:latin typeface="Times New Roman"/>
              </a:rPr>
              <a:t>shortest such tour on a weighted graph.</a:t>
            </a:r>
          </a:p>
          <a:p>
            <a:r>
              <a:rPr lang="en-US" altLang="ko-KR" sz="2000" dirty="0">
                <a:latin typeface="Times New Roman"/>
              </a:rPr>
              <a:t>Unfortunately, no efficient algorithm exists for </a:t>
            </a:r>
            <a:r>
              <a:rPr lang="en-US" altLang="ko-KR" sz="2000" dirty="0" smtClean="0">
                <a:latin typeface="Times New Roman"/>
              </a:rPr>
              <a:t>solving Hamiltonian </a:t>
            </a:r>
            <a:r>
              <a:rPr lang="en-US" altLang="ko-KR" sz="2000" dirty="0">
                <a:latin typeface="Times New Roman"/>
              </a:rPr>
              <a:t>cycle problems. If the graph is </a:t>
            </a:r>
            <a:r>
              <a:rPr lang="en-US" altLang="ko-KR" sz="2000" dirty="0" smtClean="0">
                <a:latin typeface="Times New Roman"/>
              </a:rPr>
              <a:t>sufficiently small</a:t>
            </a:r>
            <a:r>
              <a:rPr lang="en-US" altLang="ko-KR" sz="2000" dirty="0">
                <a:latin typeface="Times New Roman"/>
              </a:rPr>
              <a:t>, it can be solved via backtracking.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5153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Eulerian Cycle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44824"/>
            <a:ext cx="6162675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/>
          <p:cNvSpPr/>
          <p:nvPr/>
        </p:nvSpPr>
        <p:spPr bwMode="auto">
          <a:xfrm>
            <a:off x="1091533" y="2751089"/>
            <a:ext cx="216024" cy="153889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602" y="2674144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+mn-lt"/>
              </a:rPr>
              <a:t>1</a:t>
            </a:r>
            <a:endParaRPr lang="ko-KR" altLang="en-US" sz="1400" dirty="0">
              <a:latin typeface="+mn-lt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3044826" y="2823097"/>
            <a:ext cx="216024" cy="153889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8042" y="2746152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+mn-lt"/>
              </a:rPr>
              <a:t>1</a:t>
            </a:r>
            <a:endParaRPr lang="ko-KR" altLang="en-US" sz="1400" dirty="0">
              <a:latin typeface="+mn-lt"/>
            </a:endParaRPr>
          </a:p>
        </p:txBody>
      </p:sp>
      <p:sp>
        <p:nvSpPr>
          <p:cNvPr id="10" name="타원 9"/>
          <p:cNvSpPr/>
          <p:nvPr/>
        </p:nvSpPr>
        <p:spPr bwMode="auto">
          <a:xfrm>
            <a:off x="5412013" y="2842842"/>
            <a:ext cx="216024" cy="153889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49082" y="2765897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+mn-lt"/>
              </a:rPr>
              <a:t>1</a:t>
            </a:r>
            <a:endParaRPr lang="ko-KR" altLang="en-US" sz="1400" dirty="0">
              <a:latin typeface="+mn-lt"/>
            </a:endParaRPr>
          </a:p>
        </p:txBody>
      </p:sp>
      <p:cxnSp>
        <p:nvCxnSpPr>
          <p:cNvPr id="15" name="직선 연결선 14"/>
          <p:cNvCxnSpPr/>
          <p:nvPr/>
        </p:nvCxnSpPr>
        <p:spPr bwMode="auto">
          <a:xfrm flipH="1">
            <a:off x="4917034" y="4278065"/>
            <a:ext cx="216024" cy="21602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직선 연결선 18"/>
          <p:cNvCxnSpPr/>
          <p:nvPr/>
        </p:nvCxnSpPr>
        <p:spPr bwMode="auto">
          <a:xfrm>
            <a:off x="4845026" y="4638105"/>
            <a:ext cx="72008" cy="25127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직선 연결선 21"/>
          <p:cNvCxnSpPr/>
          <p:nvPr/>
        </p:nvCxnSpPr>
        <p:spPr bwMode="auto">
          <a:xfrm>
            <a:off x="5098034" y="5114553"/>
            <a:ext cx="251048" cy="17011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직선 연결선 24"/>
          <p:cNvCxnSpPr/>
          <p:nvPr/>
        </p:nvCxnSpPr>
        <p:spPr bwMode="auto">
          <a:xfrm flipH="1" flipV="1">
            <a:off x="5277074" y="4278065"/>
            <a:ext cx="134939" cy="92154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/>
          <p:cNvSpPr txBox="1"/>
          <p:nvPr/>
        </p:nvSpPr>
        <p:spPr>
          <a:xfrm>
            <a:off x="5953703" y="3724357"/>
            <a:ext cx="31902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0</a:t>
            </a:r>
            <a:r>
              <a:rPr lang="en-US" altLang="ko-KR" dirty="0" smtClean="0">
                <a:sym typeface="Wingdings" panose="05000000000000000000" pitchFamily="2" charset="2"/>
              </a:rPr>
              <a:t>12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en-US" altLang="ko-KR" dirty="0" smtClean="0">
                <a:sym typeface="Wingdings" panose="05000000000000000000" pitchFamily="2" charset="2"/>
              </a:rPr>
              <a:t>40</a:t>
            </a:r>
          </a:p>
          <a:p>
            <a:pPr algn="ctr"/>
            <a:r>
              <a:rPr lang="en-US" altLang="ko-KR" dirty="0" smtClean="0">
                <a:sym typeface="Wingdings" panose="05000000000000000000" pitchFamily="2" charset="2"/>
              </a:rPr>
              <a:t>+</a:t>
            </a:r>
          </a:p>
          <a:p>
            <a:pPr algn="ctr"/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35673</a:t>
            </a:r>
          </a:p>
          <a:p>
            <a:pPr algn="ctr"/>
            <a:r>
              <a:rPr lang="en-US" altLang="ko-KR" dirty="0" smtClean="0">
                <a:sym typeface="Wingdings" panose="05000000000000000000" pitchFamily="2" charset="2"/>
              </a:rPr>
              <a:t>=</a:t>
            </a:r>
          </a:p>
          <a:p>
            <a:pPr algn="ctr"/>
            <a:r>
              <a:rPr lang="en-US" altLang="ko-KR" dirty="0" smtClean="0">
                <a:sym typeface="Wingdings" panose="05000000000000000000" pitchFamily="2" charset="2"/>
              </a:rPr>
              <a:t>012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35673</a:t>
            </a:r>
            <a:r>
              <a:rPr lang="en-US" altLang="ko-KR" dirty="0" smtClean="0">
                <a:sym typeface="Wingdings" panose="05000000000000000000" pitchFamily="2" charset="2"/>
              </a:rPr>
              <a:t>40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2271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 smtClean="0"/>
              <a:t>Eulerian Circuit Algorithm for undirected graph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Start with an empty stack and an empty </a:t>
            </a:r>
            <a:r>
              <a:rPr lang="en-US" altLang="ko-KR" sz="2000" dirty="0" smtClean="0"/>
              <a:t>circuit.</a:t>
            </a:r>
            <a:endParaRPr lang="en-US" altLang="ko-KR" sz="2000" dirty="0"/>
          </a:p>
          <a:p>
            <a:pPr lvl="1"/>
            <a:r>
              <a:rPr lang="en-US" altLang="ko-KR" sz="1600" dirty="0" smtClean="0"/>
              <a:t>If </a:t>
            </a:r>
            <a:r>
              <a:rPr lang="en-US" altLang="ko-KR" sz="1600" dirty="0"/>
              <a:t>all vertices have even degree - choose any of them.</a:t>
            </a:r>
          </a:p>
          <a:p>
            <a:pPr lvl="1"/>
            <a:r>
              <a:rPr lang="en-US" altLang="ko-KR" sz="1600" dirty="0" smtClean="0"/>
              <a:t>Otherwise </a:t>
            </a:r>
            <a:r>
              <a:rPr lang="en-US" altLang="ko-KR" sz="1600" dirty="0"/>
              <a:t>no </a:t>
            </a:r>
            <a:r>
              <a:rPr lang="en-US" altLang="ko-KR" sz="1600" dirty="0" smtClean="0"/>
              <a:t>Euler circuit </a:t>
            </a:r>
            <a:r>
              <a:rPr lang="en-US" altLang="ko-KR" sz="1600" dirty="0"/>
              <a:t>exists.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If current vertex has no neighbors - add it to circuit, remove the last vertex from the stack and set it as the current one. Otherwise (in case it has neighbors) - add the vertex to the stack, take any of its neighbors, remove the edge between selected neighbor and that vertex, and set that neighbor as the current vertex.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Repeat step 2 until the current vertex has no more neighbors and the stack is empty.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88876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08912" cy="1143000"/>
          </a:xfrm>
        </p:spPr>
        <p:txBody>
          <a:bodyPr/>
          <a:lstStyle/>
          <a:p>
            <a:r>
              <a:rPr lang="ko-KR" altLang="en-US" sz="3200" dirty="0" smtClean="0"/>
              <a:t>최소 신장 트리</a:t>
            </a:r>
            <a:r>
              <a:rPr lang="en-US" altLang="ko-KR" sz="3200" dirty="0" smtClean="0"/>
              <a:t>(Minimum </a:t>
            </a:r>
            <a:r>
              <a:rPr lang="en-US" altLang="ko-KR" sz="3200" dirty="0"/>
              <a:t>Spanning </a:t>
            </a:r>
            <a:r>
              <a:rPr lang="en-US" altLang="ko-KR" sz="3200" dirty="0" smtClean="0"/>
              <a:t>Trees)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423864"/>
            <a:ext cx="7772400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A </a:t>
            </a:r>
            <a:r>
              <a:rPr lang="en-US" altLang="ko-KR" sz="2400" i="1" dirty="0">
                <a:latin typeface="Times New Roman"/>
              </a:rPr>
              <a:t>spanning tree </a:t>
            </a:r>
            <a:r>
              <a:rPr lang="en-US" altLang="ko-KR" sz="2400" dirty="0">
                <a:latin typeface="Times New Roman"/>
              </a:rPr>
              <a:t>of a graph </a:t>
            </a:r>
            <a:r>
              <a:rPr lang="en-US" altLang="ko-KR" sz="2400" dirty="0">
                <a:latin typeface="CMMI12"/>
              </a:rPr>
              <a:t>G </a:t>
            </a:r>
            <a:r>
              <a:rPr lang="en-US" altLang="ko-KR" sz="2400" dirty="0">
                <a:latin typeface="CMR17"/>
              </a:rPr>
              <a:t>= (</a:t>
            </a:r>
            <a:r>
              <a:rPr lang="en-US" altLang="ko-KR" sz="2400" dirty="0">
                <a:latin typeface="CMMI12"/>
              </a:rPr>
              <a:t>V,E</a:t>
            </a:r>
            <a:r>
              <a:rPr lang="en-US" altLang="ko-KR" sz="2400" dirty="0">
                <a:latin typeface="CMR17"/>
              </a:rPr>
              <a:t>) </a:t>
            </a:r>
            <a:r>
              <a:rPr lang="en-US" altLang="ko-KR" sz="2400" dirty="0">
                <a:latin typeface="Times New Roman"/>
              </a:rPr>
              <a:t>is a subset of </a:t>
            </a:r>
            <a:r>
              <a:rPr lang="en-US" altLang="ko-KR" sz="2400" dirty="0" smtClean="0">
                <a:latin typeface="Times New Roman"/>
              </a:rPr>
              <a:t>edges from </a:t>
            </a:r>
            <a:r>
              <a:rPr lang="en-US" altLang="ko-KR" sz="2400" dirty="0">
                <a:latin typeface="CMMI12"/>
              </a:rPr>
              <a:t>E </a:t>
            </a:r>
            <a:r>
              <a:rPr lang="en-US" altLang="ko-KR" sz="2400" dirty="0">
                <a:latin typeface="Times New Roman"/>
              </a:rPr>
              <a:t>forming a tree connecting all vertices of </a:t>
            </a:r>
            <a:r>
              <a:rPr lang="en-US" altLang="ko-KR" sz="2400" dirty="0">
                <a:latin typeface="CMMI12"/>
              </a:rPr>
              <a:t>V 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For edge-weighted graphs, we are particularly interested </a:t>
            </a:r>
            <a:r>
              <a:rPr lang="en-US" altLang="ko-KR" sz="2400" dirty="0" smtClean="0">
                <a:latin typeface="Times New Roman"/>
              </a:rPr>
              <a:t>in the </a:t>
            </a:r>
            <a:r>
              <a:rPr lang="en-US" altLang="ko-KR" sz="2400" i="1" dirty="0">
                <a:latin typeface="Times New Roman"/>
              </a:rPr>
              <a:t>minimum spanning tree</a:t>
            </a:r>
            <a:r>
              <a:rPr lang="en-US" altLang="ko-KR" sz="2400" dirty="0">
                <a:latin typeface="Times New Roman"/>
              </a:rPr>
              <a:t>, the spanning tree whose sum </a:t>
            </a:r>
            <a:r>
              <a:rPr lang="en-US" altLang="ko-KR" sz="2400" dirty="0" smtClean="0">
                <a:latin typeface="Times New Roman"/>
              </a:rPr>
              <a:t>of edge </a:t>
            </a:r>
            <a:r>
              <a:rPr lang="en-US" altLang="ko-KR" sz="2400" dirty="0">
                <a:latin typeface="Times New Roman"/>
              </a:rPr>
              <a:t>weights is the smallest possible.</a:t>
            </a:r>
          </a:p>
          <a:p>
            <a:r>
              <a:rPr lang="en-US" altLang="ko-KR" sz="2400" dirty="0">
                <a:latin typeface="Times New Roman"/>
              </a:rPr>
              <a:t>Minimum spanning trees are the answer whenever we need </a:t>
            </a:r>
            <a:r>
              <a:rPr lang="en-US" altLang="ko-KR" sz="2400" dirty="0" smtClean="0">
                <a:latin typeface="Times New Roman"/>
              </a:rPr>
              <a:t>to connect </a:t>
            </a:r>
            <a:r>
              <a:rPr lang="en-US" altLang="ko-KR" sz="2400" dirty="0">
                <a:latin typeface="Times New Roman"/>
              </a:rPr>
              <a:t>a set of points (representing cities, junctions, or </a:t>
            </a:r>
            <a:r>
              <a:rPr lang="en-US" altLang="ko-KR" sz="2400" dirty="0" smtClean="0">
                <a:latin typeface="Times New Roman"/>
              </a:rPr>
              <a:t>other locations</a:t>
            </a:r>
            <a:r>
              <a:rPr lang="en-US" altLang="ko-KR" sz="2400" dirty="0">
                <a:latin typeface="Times New Roman"/>
              </a:rPr>
              <a:t>) by the smallest amount of roadway, wire, or pipe.</a:t>
            </a:r>
          </a:p>
          <a:p>
            <a:r>
              <a:rPr lang="en-US" altLang="ko-KR" sz="2400" dirty="0">
                <a:latin typeface="Times New Roman"/>
              </a:rPr>
              <a:t>We present Prim’s algorithm because it is simpler to </a:t>
            </a:r>
            <a:r>
              <a:rPr lang="en-US" altLang="ko-KR" sz="2400" dirty="0" smtClean="0">
                <a:latin typeface="Times New Roman"/>
              </a:rPr>
              <a:t>program, and </a:t>
            </a:r>
            <a:r>
              <a:rPr lang="en-US" altLang="ko-KR" sz="2400" dirty="0">
                <a:latin typeface="Times New Roman"/>
              </a:rPr>
              <a:t>because it gives </a:t>
            </a:r>
            <a:r>
              <a:rPr lang="en-US" altLang="ko-KR" sz="2400" dirty="0" err="1">
                <a:latin typeface="Times New Roman"/>
              </a:rPr>
              <a:t>Dijkstra’s</a:t>
            </a:r>
            <a:r>
              <a:rPr lang="en-US" altLang="ko-KR" sz="2400" dirty="0">
                <a:latin typeface="Times New Roman"/>
              </a:rPr>
              <a:t> shortest path algorithm </a:t>
            </a:r>
            <a:r>
              <a:rPr lang="en-US" altLang="ko-KR" sz="2400" dirty="0" smtClean="0">
                <a:latin typeface="Times New Roman"/>
              </a:rPr>
              <a:t>with very </a:t>
            </a:r>
            <a:r>
              <a:rPr lang="en-US" altLang="ko-KR" sz="2400" dirty="0">
                <a:latin typeface="Times New Roman"/>
              </a:rPr>
              <a:t>minimal changes.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662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59160"/>
          </a:xfrm>
        </p:spPr>
        <p:txBody>
          <a:bodyPr/>
          <a:lstStyle/>
          <a:p>
            <a:r>
              <a:rPr lang="en-US" altLang="ko-KR" sz="3600" dirty="0" smtClean="0"/>
              <a:t>Representing Weighted </a:t>
            </a:r>
            <a:r>
              <a:rPr lang="en-US" altLang="ko-KR" sz="3600" dirty="0"/>
              <a:t>Graphs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484784"/>
            <a:ext cx="7772400" cy="4824536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We generalize the graph data structure to support </a:t>
            </a:r>
            <a:r>
              <a:rPr lang="en-US" altLang="ko-KR" sz="2400" dirty="0" smtClean="0">
                <a:latin typeface="Times New Roman"/>
              </a:rPr>
              <a:t>edge-weighted graphs</a:t>
            </a:r>
            <a:r>
              <a:rPr lang="en-US" altLang="ko-KR" sz="2400" dirty="0">
                <a:latin typeface="Times New Roman"/>
              </a:rPr>
              <a:t>. Each edge-entry previously contained </a:t>
            </a:r>
            <a:r>
              <a:rPr lang="en-US" altLang="ko-KR" sz="2400" dirty="0" smtClean="0">
                <a:latin typeface="Times New Roman"/>
              </a:rPr>
              <a:t>only the </a:t>
            </a:r>
            <a:r>
              <a:rPr lang="en-US" altLang="ko-KR" sz="2400" dirty="0">
                <a:latin typeface="Times New Roman"/>
              </a:rPr>
              <a:t>other endpoint of the given edge. We must </a:t>
            </a:r>
            <a:r>
              <a:rPr lang="en-US" altLang="ko-KR" sz="2400" dirty="0" smtClean="0">
                <a:latin typeface="Times New Roman"/>
              </a:rPr>
              <a:t>replace </a:t>
            </a:r>
            <a:r>
              <a:rPr lang="en-US" altLang="ko-KR" sz="2400" dirty="0">
                <a:latin typeface="Times New Roman"/>
              </a:rPr>
              <a:t>this </a:t>
            </a:r>
            <a:r>
              <a:rPr lang="en-US" altLang="ko-KR" sz="2400" dirty="0" smtClean="0">
                <a:latin typeface="Times New Roman"/>
              </a:rPr>
              <a:t>by a </a:t>
            </a:r>
            <a:r>
              <a:rPr lang="en-US" altLang="ko-KR" sz="2400" dirty="0">
                <a:latin typeface="Times New Roman"/>
              </a:rPr>
              <a:t>record allowing us to annotate the edge with weights</a:t>
            </a:r>
            <a:r>
              <a:rPr lang="en-US" altLang="ko-KR" sz="2400" dirty="0" smtClean="0">
                <a:latin typeface="Times New Roman"/>
              </a:rPr>
              <a:t>: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neighboring vertex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weight;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edge weight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edge;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edge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edges[MAXV+1][MAXDEGREE]; /* adjacency info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degree[MAXV+1];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outdegree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of vertex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vertices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edges in graph */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graph;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7953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Prim’s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Prim’s algorithm grows the minimum spanning tree in </a:t>
            </a:r>
            <a:r>
              <a:rPr lang="en-US" altLang="ko-KR" sz="2400" dirty="0" smtClean="0">
                <a:latin typeface="Times New Roman"/>
              </a:rPr>
              <a:t>stages starting </a:t>
            </a:r>
            <a:r>
              <a:rPr lang="en-US" altLang="ko-KR" sz="2400" dirty="0">
                <a:latin typeface="Times New Roman"/>
              </a:rPr>
              <a:t>from a given vertex. At each iteration, we add </a:t>
            </a:r>
            <a:r>
              <a:rPr lang="en-US" altLang="ko-KR" sz="2400" dirty="0" smtClean="0">
                <a:latin typeface="Times New Roman"/>
              </a:rPr>
              <a:t>one new </a:t>
            </a:r>
            <a:r>
              <a:rPr lang="en-US" altLang="ko-KR" sz="2400" dirty="0">
                <a:latin typeface="Times New Roman"/>
              </a:rPr>
              <a:t>vertex into the spanning tree. We greedily add </a:t>
            </a:r>
            <a:r>
              <a:rPr lang="en-US" altLang="ko-KR" sz="2400" dirty="0" smtClean="0">
                <a:latin typeface="Times New Roman"/>
              </a:rPr>
              <a:t>the lowest-weight </a:t>
            </a:r>
            <a:r>
              <a:rPr lang="en-US" altLang="ko-KR" sz="2400" dirty="0">
                <a:latin typeface="Times New Roman"/>
              </a:rPr>
              <a:t>edge linking a vertex in the tree to a </a:t>
            </a:r>
            <a:r>
              <a:rPr lang="en-US" altLang="ko-KR" sz="2400" dirty="0" smtClean="0">
                <a:latin typeface="Times New Roman"/>
              </a:rPr>
              <a:t>vertex on </a:t>
            </a:r>
            <a:r>
              <a:rPr lang="en-US" altLang="ko-KR" sz="2400" dirty="0">
                <a:latin typeface="Times New Roman"/>
              </a:rPr>
              <a:t>the outside.</a:t>
            </a:r>
          </a:p>
          <a:p>
            <a:r>
              <a:rPr lang="en-US" altLang="ko-KR" sz="2400" dirty="0">
                <a:latin typeface="Times New Roman"/>
              </a:rPr>
              <a:t>Our implementation keeps track of the cheapest edge </a:t>
            </a:r>
            <a:r>
              <a:rPr lang="en-US" altLang="ko-KR" sz="2400" dirty="0" smtClean="0">
                <a:latin typeface="Times New Roman"/>
              </a:rPr>
              <a:t>from the </a:t>
            </a:r>
            <a:r>
              <a:rPr lang="en-US" altLang="ko-KR" sz="2400" dirty="0">
                <a:latin typeface="Times New Roman"/>
              </a:rPr>
              <a:t>tree to every non-tree vertex in the graph. The </a:t>
            </a:r>
            <a:r>
              <a:rPr lang="en-US" altLang="ko-KR" sz="2400" dirty="0" smtClean="0">
                <a:latin typeface="Times New Roman"/>
              </a:rPr>
              <a:t>cheapest edge </a:t>
            </a:r>
            <a:r>
              <a:rPr lang="en-US" altLang="ko-KR" sz="2400" dirty="0">
                <a:latin typeface="Times New Roman"/>
              </a:rPr>
              <a:t>over all remaining non-tree vertices gets added in </a:t>
            </a:r>
            <a:r>
              <a:rPr lang="en-US" altLang="ko-KR" sz="2400" dirty="0" smtClean="0">
                <a:latin typeface="Times New Roman"/>
              </a:rPr>
              <a:t>each iteration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We must update the costs of getting to the non-tree </a:t>
            </a:r>
            <a:r>
              <a:rPr lang="en-US" altLang="ko-KR" sz="2400" dirty="0" smtClean="0">
                <a:latin typeface="Times New Roman"/>
              </a:rPr>
              <a:t>vertices after </a:t>
            </a:r>
            <a:r>
              <a:rPr lang="en-US" altLang="ko-KR" sz="2400" dirty="0">
                <a:latin typeface="Times New Roman"/>
              </a:rPr>
              <a:t>each insertion.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284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88640"/>
            <a:ext cx="7772400" cy="648072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prim(graph *g,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start) {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[MAXV];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is vertex in the tree yet?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vertex distance from start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current vertex to process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candidate next vertex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weight;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edge weight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 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shortest current distance */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FALSE;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distance[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MAXINT;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parent[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-1;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distance[start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start;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76074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88640"/>
            <a:ext cx="8424936" cy="6480720"/>
          </a:xfrm>
        </p:spPr>
        <p:txBody>
          <a:bodyPr/>
          <a:lstStyle/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while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[v] == FALSE) {</a:t>
            </a: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[v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&lt;g-&gt;degree[v];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w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g-&gt;edges[v][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].v;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weight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g-&gt;edges[v][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].weight;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((distance[w] &gt; weight) &amp;&amp;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[w]==FALSE)) {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distance[w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weight;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parent[w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v;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1;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MAXINT;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=2;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]==FALSE) &amp;&amp;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distance[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])) {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distance[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47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Prim’s Algorithm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2050" name="Picture 2" descr="http://postfiles7.naver.net/20140918_70/sehoon95_1411049206649OM3SI_PNG/1.png?type=w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postfiles14.naver.net/20140918_93/sehoon95_1411049207410UYMvz_PNG/1.png?type=w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772816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postfiles6.naver.net/20140918_277/sehoon95_1411049207831Ltgm7_PNG/2.png?type=w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772816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postfiles10.naver.net/20140918_169/sehoon95_1411049208524k8vGW_PNG/3.png?type=w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348" y="4149080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://postfiles14.naver.net/20140918_125/sehoon95_1411049208892LrVVt_PNG/4.png?type=w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676" y="4119026"/>
            <a:ext cx="28575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://postfiles11.naver.net/20140918_266/sehoon95_14110492093875wacx_PNG/5.png?type=w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38" y="4149079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9252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3074" name="Picture 2" descr="http://postfiles16.naver.net/20140918_255/sehoon95_1411049210017RwWhW_PNG/6.png?type=w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postfiles6.naver.net/20140918_5/sehoon95_1411049210485pTlgE_PNG/7.png?type=w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7" y="2060848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postfiles12.naver.net/20140918_75/sehoon95_1411049210889B8HMw_PNG/8.png?type=w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492" y="2075135"/>
            <a:ext cx="28575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963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Kruskal’s</a:t>
            </a:r>
            <a:r>
              <a:rPr lang="en-US" altLang="ko-KR" dirty="0" smtClean="0"/>
              <a:t>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Sort </a:t>
            </a:r>
            <a:r>
              <a:rPr lang="en-US" altLang="ko-KR" sz="2400" dirty="0"/>
              <a:t>all the edges in non-decreasing order of their weight.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Pick </a:t>
            </a:r>
            <a:r>
              <a:rPr lang="en-US" altLang="ko-KR" sz="2400" dirty="0"/>
              <a:t>the smallest edge. Check if it forms a cycle with the spanning tree </a:t>
            </a:r>
            <a:r>
              <a:rPr lang="en-US" altLang="ko-KR" sz="2400" dirty="0" smtClean="0"/>
              <a:t>formed </a:t>
            </a:r>
            <a:r>
              <a:rPr lang="en-US" altLang="ko-KR" sz="2400" dirty="0"/>
              <a:t>so far. If cycle is not formed, include this edge. Else, discard it.  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smtClean="0"/>
              <a:t>Repeat </a:t>
            </a:r>
            <a:r>
              <a:rPr lang="en-US" altLang="ko-KR" sz="2400" dirty="0"/>
              <a:t>step#2 until there are (V-1) edges in the spanning tree.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9844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What is the difference in </a:t>
            </a:r>
            <a:r>
              <a:rPr lang="en-US" altLang="ko-KR" sz="3600" dirty="0" err="1"/>
              <a:t>Kruskal's</a:t>
            </a:r>
            <a:r>
              <a:rPr lang="en-US" altLang="ko-KR" sz="3600" dirty="0"/>
              <a:t> and Prim's algorithm?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In Prim's, you always keep a connected component, starting with a single vertex. You look at all edges from the current component to other vertices and find the smallest among them. You then add the </a:t>
            </a:r>
            <a:r>
              <a:rPr lang="en-US" altLang="ko-KR" sz="2000" dirty="0" err="1"/>
              <a:t>neighbouring</a:t>
            </a:r>
            <a:r>
              <a:rPr lang="en-US" altLang="ko-KR" sz="2000" dirty="0"/>
              <a:t> vertex to the component, increasing its size by 1. In N-1 steps, every vertex would be merged to the current one if we have a connected graph.</a:t>
            </a:r>
          </a:p>
          <a:p>
            <a:r>
              <a:rPr lang="en-US" altLang="ko-KR" sz="2000" dirty="0" smtClean="0"/>
              <a:t>In </a:t>
            </a:r>
            <a:r>
              <a:rPr lang="en-US" altLang="ko-KR" sz="2000" dirty="0" err="1"/>
              <a:t>Kruskal's</a:t>
            </a:r>
            <a:r>
              <a:rPr lang="en-US" altLang="ko-KR" sz="2000" dirty="0"/>
              <a:t>, you do not keep one connected component but a forest. At each stage, you look at the globally smallest edge that does not create a cycle in the current forest. Such an edge has to necessarily merge two trees in the current forest into one. Since you start with N single-vertex trees, in N-1 steps, they would all have merged into one if the graph was connected.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8124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Use Prim's algorithm when you have a graph with lots of edges.</a:t>
            </a:r>
          </a:p>
          <a:p>
            <a:r>
              <a:rPr lang="en-US" altLang="ko-KR" sz="2000" dirty="0"/>
              <a:t>For a graph with V vertices E edges, </a:t>
            </a:r>
            <a:r>
              <a:rPr lang="en-US" altLang="ko-KR" sz="2000" dirty="0" err="1"/>
              <a:t>Kruskal's</a:t>
            </a:r>
            <a:r>
              <a:rPr lang="en-US" altLang="ko-KR" sz="2000" dirty="0"/>
              <a:t> algorithm runs in O(E log V) time and Prim's algorithm can run in O(E + V log V) amortized time, if you use a Fibonacci Heap.</a:t>
            </a:r>
          </a:p>
          <a:p>
            <a:r>
              <a:rPr lang="en-US" altLang="ko-KR" sz="2000" dirty="0"/>
              <a:t>Prim's algorithm is significantly faster in the limit when you've got a really dense graph with many more edges than vertices. </a:t>
            </a:r>
            <a:r>
              <a:rPr lang="en-US" altLang="ko-KR" sz="2000" dirty="0" err="1"/>
              <a:t>Kruskal</a:t>
            </a:r>
            <a:r>
              <a:rPr lang="en-US" altLang="ko-KR" sz="2000" dirty="0"/>
              <a:t> performs better in typical situations (sparse graphs) because it uses simpler data structures.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64732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US" altLang="ko-KR" sz="3200" dirty="0" err="1"/>
              <a:t>Dijkstra’s</a:t>
            </a:r>
            <a:r>
              <a:rPr lang="en-US" altLang="ko-KR" sz="3200" dirty="0"/>
              <a:t> Algorithm for Shortest Paths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83224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BFS does </a:t>
            </a:r>
            <a:r>
              <a:rPr lang="en-US" altLang="ko-KR" sz="2400" i="1" dirty="0">
                <a:latin typeface="Times New Roman"/>
              </a:rPr>
              <a:t>not </a:t>
            </a:r>
            <a:r>
              <a:rPr lang="en-US" altLang="ko-KR" sz="2400" dirty="0">
                <a:latin typeface="Times New Roman"/>
              </a:rPr>
              <a:t>suffice for finding shortest paths in </a:t>
            </a:r>
            <a:r>
              <a:rPr lang="en-US" altLang="ko-KR" sz="2400" dirty="0" smtClean="0">
                <a:latin typeface="Times New Roman"/>
              </a:rPr>
              <a:t>weighted graphs</a:t>
            </a:r>
            <a:r>
              <a:rPr lang="en-US" altLang="ko-KR" sz="2400" dirty="0">
                <a:latin typeface="Times New Roman"/>
              </a:rPr>
              <a:t>, because the shortest weighted path from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to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does not </a:t>
            </a:r>
            <a:r>
              <a:rPr lang="en-US" altLang="ko-KR" sz="2400" dirty="0">
                <a:latin typeface="Times New Roman"/>
              </a:rPr>
              <a:t>necessarily contain the fewest number of edges.</a:t>
            </a:r>
          </a:p>
          <a:p>
            <a:r>
              <a:rPr lang="en-US" altLang="ko-KR" sz="2400" dirty="0" err="1">
                <a:latin typeface="Times New Roman"/>
              </a:rPr>
              <a:t>Dijkstra’s</a:t>
            </a:r>
            <a:r>
              <a:rPr lang="en-US" altLang="ko-KR" sz="2400" dirty="0">
                <a:latin typeface="Times New Roman"/>
              </a:rPr>
              <a:t> algorithm is the method of choice for finding </a:t>
            </a:r>
            <a:r>
              <a:rPr lang="en-US" altLang="ko-KR" sz="2400" dirty="0" smtClean="0">
                <a:latin typeface="Times New Roman"/>
              </a:rPr>
              <a:t>the shortest </a:t>
            </a:r>
            <a:r>
              <a:rPr lang="en-US" altLang="ko-KR" sz="2400" dirty="0">
                <a:latin typeface="Times New Roman"/>
              </a:rPr>
              <a:t>path between two vertices in an edge- and/or </a:t>
            </a:r>
            <a:r>
              <a:rPr lang="en-US" altLang="ko-KR" sz="2400" dirty="0" smtClean="0">
                <a:latin typeface="Times New Roman"/>
              </a:rPr>
              <a:t>vertex-weighted graph</a:t>
            </a:r>
            <a:r>
              <a:rPr lang="en-US" altLang="ko-KR" sz="2400" dirty="0">
                <a:latin typeface="Times New Roman"/>
              </a:rPr>
              <a:t>. It finds the shortest path from start vertex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to </a:t>
            </a:r>
            <a:r>
              <a:rPr lang="en-US" altLang="ko-KR" sz="2400" dirty="0">
                <a:latin typeface="Times New Roman"/>
              </a:rPr>
              <a:t>every other vertex, including your desired destination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2400" dirty="0" smtClean="0">
                <a:latin typeface="Times New Roman"/>
              </a:rPr>
              <a:t>. </a:t>
            </a:r>
          </a:p>
          <a:p>
            <a:r>
              <a:rPr lang="en-US" altLang="ko-KR" sz="2400" dirty="0" smtClean="0">
                <a:latin typeface="Times New Roman"/>
              </a:rPr>
              <a:t>The </a:t>
            </a:r>
            <a:r>
              <a:rPr lang="en-US" altLang="ko-KR" sz="2400" dirty="0">
                <a:latin typeface="Times New Roman"/>
              </a:rPr>
              <a:t>basic idea is very similar to Prim’s algorithm. In </a:t>
            </a:r>
            <a:r>
              <a:rPr lang="en-US" altLang="ko-KR" sz="2400" dirty="0" smtClean="0">
                <a:latin typeface="Times New Roman"/>
              </a:rPr>
              <a:t>each iteration</a:t>
            </a:r>
            <a:r>
              <a:rPr lang="en-US" altLang="ko-KR" sz="2400" dirty="0">
                <a:latin typeface="Times New Roman"/>
              </a:rPr>
              <a:t>, we are going to add exactly one vertex to the tree </a:t>
            </a:r>
            <a:r>
              <a:rPr lang="en-US" altLang="ko-KR" sz="2400" dirty="0" smtClean="0">
                <a:latin typeface="Times New Roman"/>
              </a:rPr>
              <a:t>of vertices </a:t>
            </a:r>
            <a:r>
              <a:rPr lang="en-US" altLang="ko-KR" sz="2400" dirty="0">
                <a:latin typeface="Times New Roman"/>
              </a:rPr>
              <a:t>for which we </a:t>
            </a:r>
            <a:r>
              <a:rPr lang="en-US" altLang="ko-KR" sz="2400" i="1" dirty="0">
                <a:latin typeface="Times New Roman"/>
              </a:rPr>
              <a:t>know </a:t>
            </a:r>
            <a:r>
              <a:rPr lang="en-US" altLang="ko-KR" sz="2400" dirty="0">
                <a:latin typeface="Times New Roman"/>
              </a:rPr>
              <a:t>the shortest path from </a:t>
            </a:r>
            <a:r>
              <a:rPr lang="en-US" altLang="ko-KR" sz="2400" dirty="0">
                <a:latin typeface="CMMI12"/>
              </a:rPr>
              <a:t>s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3887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115272"/>
          </a:xfrm>
        </p:spPr>
        <p:txBody>
          <a:bodyPr/>
          <a:lstStyle/>
          <a:p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The difference between </a:t>
            </a:r>
            <a:r>
              <a:rPr lang="en-US" altLang="ko-KR" sz="2400" dirty="0" err="1">
                <a:solidFill>
                  <a:srgbClr val="000000"/>
                </a:solidFill>
                <a:latin typeface="Times New Roman"/>
              </a:rPr>
              <a:t>Dijkstra’s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 and Prim’s algorithms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is how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they rate the desirability of each outside vertex.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In shortest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path, we want to include the outside vertex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which is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closest (in shortest-path distance) to the start. This is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a function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of both the new edge weight </a:t>
            </a:r>
            <a:r>
              <a:rPr lang="en-US" altLang="ko-KR" sz="2400" i="1" dirty="0">
                <a:solidFill>
                  <a:srgbClr val="000000"/>
                </a:solidFill>
                <a:latin typeface="Times New Roman"/>
              </a:rPr>
              <a:t>and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the distance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from the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start of the tree-vertex it is adjacent to.</a:t>
            </a:r>
          </a:p>
          <a:p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In fact, this change is very minor. Below we give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an implementation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of </a:t>
            </a:r>
            <a:r>
              <a:rPr lang="en-US" altLang="ko-KR" sz="2400" dirty="0" err="1">
                <a:solidFill>
                  <a:srgbClr val="000000"/>
                </a:solidFill>
                <a:latin typeface="Times New Roman"/>
              </a:rPr>
              <a:t>Dijkstra’s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 algorithm based on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changing exactly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three lines from our Prim’s implementation – one </a:t>
            </a:r>
            <a:r>
              <a:rPr lang="en-US" altLang="ko-KR" sz="2400" dirty="0" smtClean="0">
                <a:solidFill>
                  <a:srgbClr val="000000"/>
                </a:solidFill>
                <a:latin typeface="Times New Roman"/>
              </a:rPr>
              <a:t>of which </a:t>
            </a:r>
            <a:r>
              <a:rPr lang="en-US" altLang="ko-KR" sz="2400" dirty="0">
                <a:solidFill>
                  <a:srgbClr val="000000"/>
                </a:solidFill>
                <a:latin typeface="Times New Roman"/>
              </a:rPr>
              <a:t>is simply the name of the function!</a:t>
            </a:r>
          </a:p>
          <a:p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Unlike Prim’s, </a:t>
            </a:r>
            <a:r>
              <a:rPr lang="en-US" altLang="ko-KR" sz="2400" dirty="0" err="1">
                <a:solidFill>
                  <a:srgbClr val="FF0000"/>
                </a:solidFill>
                <a:latin typeface="Times New Roman"/>
              </a:rPr>
              <a:t>Dijkstra’s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 algorithm only works on </a:t>
            </a:r>
            <a:r>
              <a:rPr lang="en-US" altLang="ko-KR" sz="2400" dirty="0" smtClean="0">
                <a:solidFill>
                  <a:srgbClr val="FF0000"/>
                </a:solidFill>
                <a:latin typeface="Times New Roman"/>
              </a:rPr>
              <a:t>graphs without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negative-cost edges. But most applications do </a:t>
            </a:r>
            <a:r>
              <a:rPr lang="en-US" altLang="ko-KR" sz="2400" dirty="0" smtClean="0">
                <a:solidFill>
                  <a:srgbClr val="FF0000"/>
                </a:solidFill>
                <a:latin typeface="Times New Roman"/>
              </a:rPr>
              <a:t>not feature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negative-weight edges. . .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73007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404664"/>
            <a:ext cx="8892480" cy="5691336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dijkstra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start) /* WAS prim(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g,start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is vertex in the tree yet?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vertex distance from start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current vertex to process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candidate next vertex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weight;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edge weight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shortest current distance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FALSE;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distance[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MAXINT;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parent[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-1;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091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260648"/>
            <a:ext cx="8892480" cy="5835352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distance[start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start;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while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[v] == FALSE)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[v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&lt;g-&gt;degree[v];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w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g-&gt;edges[v][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].v;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weight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g-&gt;edges[v][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].weight;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/* CHANGED */ if (distance[w] &gt; (distance[v]+weight))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/* CHANGED */ distance[w] = distance[v]+weight;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parent[w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v;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1;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MAXINT;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=2;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intree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]==FALSE) &amp;&amp;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distance[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distance[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v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53168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Dijkstra’s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Agorithm</a:t>
            </a:r>
            <a:r>
              <a:rPr lang="en-US" altLang="ko-KR" dirty="0" smtClean="0"/>
              <a:t> Example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4098" name="Picture 2" descr="http://postfiles13.naver.net/20140907_92/sehoon95_1410022567972SB815_PNG/2.png?type=w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0" y="1916832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postfiles13.naver.net/20140907_28/sehoon95_14100225684066dNBM_PNG/3.png?type=w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440" y="1937481"/>
            <a:ext cx="38100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postfiles4.naver.net/20140907_115/sehoon95_14100225693314u1MG_PNG/4.png?type=w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440" y="4293096"/>
            <a:ext cx="38100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postfiles1.naver.net/20140907_80/sehoon95_1410022568962zAvD0_PNG/5.png?type=w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0" y="4293096"/>
            <a:ext cx="3810000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827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pic>
        <p:nvPicPr>
          <p:cNvPr id="5122" name="Picture 2" descr="http://postfiles9.naver.net/20140907_264/sehoon95_1410022583826AkVf3_PNG/6.png?type=w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38100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postfiles10.naver.net/20140907_297/sehoon95_1410022586436donkA_PNG/7.png?type=w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6632"/>
            <a:ext cx="38100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://postfiles13.naver.net/20140907_268/sehoon95_1410022579412G2ynQ_PNG/8.png?type=w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416398"/>
            <a:ext cx="3810000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postfiles7.naver.net/20140907_38/sehoon95_1410022579517aTRsR_PNG/9.png?type=w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16397"/>
            <a:ext cx="3810000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ttp://postfiles9.naver.net/20140907_88/sehoon95_1410022580818vJKoR_PNG/10.png?type=w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48199"/>
            <a:ext cx="3810000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7776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All-Pairs Shortest Path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Many applications need to know the length of the </a:t>
            </a:r>
            <a:r>
              <a:rPr lang="en-US" altLang="ko-KR" sz="2400" dirty="0" smtClean="0">
                <a:latin typeface="Times New Roman"/>
              </a:rPr>
              <a:t>shortest path </a:t>
            </a:r>
            <a:r>
              <a:rPr lang="en-US" altLang="ko-KR" sz="2400" dirty="0">
                <a:latin typeface="Times New Roman"/>
              </a:rPr>
              <a:t>between all pairs of vertices in a given graph. </a:t>
            </a:r>
            <a:r>
              <a:rPr lang="en-US" altLang="ko-KR" sz="2400" dirty="0" smtClean="0">
                <a:latin typeface="Times New Roman"/>
              </a:rPr>
              <a:t>For example</a:t>
            </a:r>
            <a:r>
              <a:rPr lang="en-US" altLang="ko-KR" sz="2400" dirty="0">
                <a:latin typeface="Times New Roman"/>
              </a:rPr>
              <a:t>, suppose you want to find the “center” vertex, </a:t>
            </a:r>
            <a:r>
              <a:rPr lang="en-US" altLang="ko-KR" sz="2400" dirty="0" smtClean="0">
                <a:latin typeface="Times New Roman"/>
              </a:rPr>
              <a:t>the one </a:t>
            </a:r>
            <a:r>
              <a:rPr lang="en-US" altLang="ko-KR" sz="2400" dirty="0">
                <a:latin typeface="Times New Roman"/>
              </a:rPr>
              <a:t>which minimizes the longest or average distance to </a:t>
            </a:r>
            <a:r>
              <a:rPr lang="en-US" altLang="ko-KR" sz="2400" dirty="0" smtClean="0">
                <a:latin typeface="Times New Roman"/>
              </a:rPr>
              <a:t>all the </a:t>
            </a:r>
            <a:r>
              <a:rPr lang="en-US" altLang="ko-KR" sz="2400" dirty="0">
                <a:latin typeface="Times New Roman"/>
              </a:rPr>
              <a:t>other nodes. This might be the best place to start a </a:t>
            </a:r>
            <a:r>
              <a:rPr lang="en-US" altLang="ko-KR" sz="2400" dirty="0" smtClean="0">
                <a:latin typeface="Times New Roman"/>
              </a:rPr>
              <a:t>new business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We could solve this problem by calling </a:t>
            </a:r>
            <a:r>
              <a:rPr lang="en-US" altLang="ko-KR" sz="2400" dirty="0" err="1">
                <a:latin typeface="Times New Roman"/>
              </a:rPr>
              <a:t>Dijkstra’s</a:t>
            </a:r>
            <a:r>
              <a:rPr lang="en-US" altLang="ko-KR" sz="2400" dirty="0">
                <a:latin typeface="Times New Roman"/>
              </a:rPr>
              <a:t> </a:t>
            </a:r>
            <a:r>
              <a:rPr lang="en-US" altLang="ko-KR" sz="2400" dirty="0" smtClean="0">
                <a:latin typeface="Times New Roman"/>
              </a:rPr>
              <a:t>algorithm from </a:t>
            </a:r>
            <a:r>
              <a:rPr lang="en-US" altLang="ko-KR" sz="2400" dirty="0">
                <a:latin typeface="Times New Roman"/>
              </a:rPr>
              <a:t>each of the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possible starting vertices. But </a:t>
            </a:r>
            <a:r>
              <a:rPr lang="en-US" altLang="ko-KR" sz="2400" dirty="0" smtClean="0">
                <a:latin typeface="Times New Roman"/>
              </a:rPr>
              <a:t>Floyd’s all-pairs </a:t>
            </a:r>
            <a:r>
              <a:rPr lang="en-US" altLang="ko-KR" sz="2400" dirty="0">
                <a:latin typeface="Times New Roman"/>
              </a:rPr>
              <a:t>shortest-path algorithm is an amazingly slick way </a:t>
            </a:r>
            <a:r>
              <a:rPr lang="en-US" altLang="ko-KR" sz="2400" dirty="0" smtClean="0">
                <a:latin typeface="Times New Roman"/>
              </a:rPr>
              <a:t>to construct </a:t>
            </a:r>
            <a:r>
              <a:rPr lang="en-US" altLang="ko-KR" sz="2400" dirty="0">
                <a:latin typeface="Times New Roman"/>
              </a:rPr>
              <a:t>this distance matrix from the original weight </a:t>
            </a:r>
            <a:r>
              <a:rPr lang="en-US" altLang="ko-KR" sz="2400" dirty="0" smtClean="0">
                <a:latin typeface="Times New Roman"/>
              </a:rPr>
              <a:t>matrix of </a:t>
            </a:r>
            <a:r>
              <a:rPr lang="en-US" altLang="ko-KR" sz="2400" dirty="0">
                <a:latin typeface="Times New Roman"/>
              </a:rPr>
              <a:t>the graph.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56323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Floyd’s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8278688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Floyd’s algorithm is best employed on an adjacency </a:t>
            </a:r>
            <a:r>
              <a:rPr lang="en-US" altLang="ko-KR" sz="2400" dirty="0" smtClean="0">
                <a:latin typeface="Times New Roman"/>
              </a:rPr>
              <a:t>matrix data </a:t>
            </a:r>
            <a:r>
              <a:rPr lang="en-US" altLang="ko-KR" sz="2400" dirty="0">
                <a:latin typeface="Times New Roman"/>
              </a:rPr>
              <a:t>structure, which is OK since we have to store all </a:t>
            </a:r>
            <a:r>
              <a:rPr lang="en-US" altLang="ko-KR" sz="2400" i="1" dirty="0" smtClean="0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sz="2400" baseline="30000" dirty="0" smtClean="0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400" dirty="0" smtClean="0">
                <a:latin typeface="CMR12"/>
              </a:rPr>
              <a:t> </a:t>
            </a:r>
            <a:r>
              <a:rPr lang="en-US" altLang="ko-KR" sz="2400" dirty="0" smtClean="0">
                <a:latin typeface="Times New Roman"/>
              </a:rPr>
              <a:t>pairwise </a:t>
            </a:r>
            <a:r>
              <a:rPr lang="en-US" altLang="ko-KR" sz="2400" dirty="0">
                <a:latin typeface="Times New Roman"/>
              </a:rPr>
              <a:t>distances anyway.</a:t>
            </a:r>
          </a:p>
          <a:p>
            <a:r>
              <a:rPr lang="en-US" altLang="ko-KR" sz="2400" dirty="0">
                <a:latin typeface="Times New Roman"/>
              </a:rPr>
              <a:t>Our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adjacency_matrix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>
                <a:latin typeface="Times New Roman"/>
              </a:rPr>
              <a:t>type allocates space for </a:t>
            </a:r>
            <a:r>
              <a:rPr lang="en-US" altLang="ko-KR" sz="2400" dirty="0" smtClean="0">
                <a:latin typeface="Times New Roman"/>
              </a:rPr>
              <a:t>the largest </a:t>
            </a:r>
            <a:r>
              <a:rPr lang="en-US" altLang="ko-KR" sz="2400" dirty="0">
                <a:latin typeface="Times New Roman"/>
              </a:rPr>
              <a:t>possible matrix, and keeps track of how many </a:t>
            </a:r>
            <a:r>
              <a:rPr lang="en-US" altLang="ko-KR" sz="2400" dirty="0" smtClean="0">
                <a:latin typeface="Times New Roman"/>
              </a:rPr>
              <a:t>vertices there </a:t>
            </a:r>
            <a:r>
              <a:rPr lang="en-US" altLang="ko-KR" sz="2400" dirty="0">
                <a:latin typeface="Times New Roman"/>
              </a:rPr>
              <a:t>are</a:t>
            </a:r>
            <a:r>
              <a:rPr lang="en-US" altLang="ko-KR" sz="2400" dirty="0" smtClean="0">
                <a:latin typeface="Times New Roman"/>
              </a:rPr>
              <a:t>:</a:t>
            </a:r>
          </a:p>
          <a:p>
            <a:pPr marL="0" indent="0">
              <a:buNone/>
            </a:pPr>
            <a:endParaRPr lang="en-US" altLang="ko-KR" sz="2400" dirty="0">
              <a:latin typeface="Times New Roman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weight[MAXV+1][MAXV+1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adjacency/weight info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number of vertices in graph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adjacency_matrix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2855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Initializing the Adjacency Matrix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A critical issue in any adjacency matrix implementation </a:t>
            </a:r>
            <a:r>
              <a:rPr lang="en-US" altLang="ko-KR" sz="2400" dirty="0" smtClean="0">
                <a:latin typeface="Times New Roman"/>
              </a:rPr>
              <a:t>is how </a:t>
            </a:r>
            <a:r>
              <a:rPr lang="en-US" altLang="ko-KR" sz="2400" dirty="0">
                <a:latin typeface="Times New Roman"/>
              </a:rPr>
              <a:t>we denote the edges which are not present in the graph.</a:t>
            </a:r>
          </a:p>
          <a:p>
            <a:r>
              <a:rPr lang="en-US" altLang="ko-KR" sz="2400" dirty="0">
                <a:latin typeface="Times New Roman"/>
              </a:rPr>
              <a:t>For </a:t>
            </a:r>
            <a:r>
              <a:rPr lang="en-US" altLang="ko-KR" sz="2400" dirty="0" err="1">
                <a:latin typeface="Times New Roman"/>
              </a:rPr>
              <a:t>unweighted</a:t>
            </a:r>
            <a:r>
              <a:rPr lang="en-US" altLang="ko-KR" sz="2400" dirty="0">
                <a:latin typeface="Times New Roman"/>
              </a:rPr>
              <a:t> graphs, a common convention is that </a:t>
            </a:r>
            <a:r>
              <a:rPr lang="en-US" altLang="ko-KR" sz="2400" dirty="0" smtClean="0">
                <a:latin typeface="Times New Roman"/>
              </a:rPr>
              <a:t>graph edges </a:t>
            </a:r>
            <a:r>
              <a:rPr lang="en-US" altLang="ko-KR" sz="2400" dirty="0">
                <a:latin typeface="Times New Roman"/>
              </a:rPr>
              <a:t>are denoted by </a:t>
            </a:r>
            <a:r>
              <a:rPr lang="en-US" altLang="ko-KR" sz="2400" dirty="0">
                <a:latin typeface="CMR17"/>
              </a:rPr>
              <a:t>1 </a:t>
            </a:r>
            <a:r>
              <a:rPr lang="en-US" altLang="ko-KR" sz="2400" dirty="0">
                <a:latin typeface="Times New Roman"/>
              </a:rPr>
              <a:t>and non-edges by </a:t>
            </a:r>
            <a:r>
              <a:rPr lang="en-US" altLang="ko-KR" sz="2400" dirty="0">
                <a:latin typeface="CMR17"/>
              </a:rPr>
              <a:t>0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This </a:t>
            </a:r>
            <a:r>
              <a:rPr lang="en-US" altLang="ko-KR" sz="2400" dirty="0" smtClean="0">
                <a:latin typeface="Times New Roman"/>
              </a:rPr>
              <a:t>gives </a:t>
            </a:r>
            <a:r>
              <a:rPr lang="en-US" altLang="ko-KR" sz="2400" dirty="0">
                <a:latin typeface="Times New Roman"/>
              </a:rPr>
              <a:t>exactly the wrong interpretation if the </a:t>
            </a:r>
            <a:r>
              <a:rPr lang="en-US" altLang="ko-KR" sz="2400" dirty="0" smtClean="0">
                <a:latin typeface="Times New Roman"/>
              </a:rPr>
              <a:t>numbers denote </a:t>
            </a:r>
            <a:r>
              <a:rPr lang="en-US" altLang="ko-KR" sz="2400" dirty="0">
                <a:latin typeface="Times New Roman"/>
              </a:rPr>
              <a:t>edge weights, for the non-edges get interpreted as </a:t>
            </a:r>
            <a:r>
              <a:rPr lang="en-US" altLang="ko-KR" sz="2400" dirty="0" smtClean="0">
                <a:latin typeface="Times New Roman"/>
              </a:rPr>
              <a:t>a free </a:t>
            </a:r>
            <a:r>
              <a:rPr lang="en-US" altLang="ko-KR" sz="2400" dirty="0">
                <a:latin typeface="Times New Roman"/>
              </a:rPr>
              <a:t>ride between vertices. Instead, we should initialize </a:t>
            </a:r>
            <a:r>
              <a:rPr lang="en-US" altLang="ko-KR" sz="2400" dirty="0" smtClean="0">
                <a:latin typeface="Times New Roman"/>
              </a:rPr>
              <a:t>each non-edge </a:t>
            </a:r>
            <a:r>
              <a:rPr lang="en-US" altLang="ko-KR" sz="2400" dirty="0">
                <a:latin typeface="Times New Roman"/>
              </a:rPr>
              <a:t>to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MAXINT</a:t>
            </a:r>
            <a:r>
              <a:rPr lang="en-US" altLang="ko-KR" sz="2400" dirty="0">
                <a:latin typeface="Times New Roman"/>
              </a:rPr>
              <a:t>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3117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88640"/>
            <a:ext cx="8892480" cy="59073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initialize_adjacency_matrix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adjacency_matrix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*g)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&lt;=MAXV;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(j=1; j&lt;=MAXV; j++)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g-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&gt;weight[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= MAXINT;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8191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dirty="0"/>
              <a:t>Floyd’s Idea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632248"/>
            <a:ext cx="7772400" cy="4114800"/>
          </a:xfrm>
        </p:spPr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Floyd’s algorithm numbers the vertices 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1 to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using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numbers not to label the vertices but to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 them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perform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iterations, where the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iteration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only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vertices as possible intermediate steps on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path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each pair of vertices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vertex as a new possible intermediary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short path that goes through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</a:t>
            </a:r>
          </a:p>
          <a:p>
            <a:pPr marL="0" indent="0">
              <a:buNone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l-PL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l-PL" altLang="ko-KR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min(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l-PL" altLang="ko-KR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l-PL" altLang="ko-K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altLang="ko-KR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pl-PL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l-PL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l-PL" altLang="ko-K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altLang="ko-KR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altLang="ko-K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pl-PL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4966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Implementation of Floyd’s Algorithm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floyd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adjacency_matrix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*g)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dimension counters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k; /* intermediate vertex counter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through_k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distance through vertex k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(k=1; k&lt;=g-&gt;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k++)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(j=1; j&lt;=g-&gt;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j++)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through_k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g-&gt;weight[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][k]+g-&gt;weight[k][j];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through_k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g-&gt;weight[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g-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&gt;weight[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through_k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5911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Transitive Closure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Floyd’s algorithm has another important application, that </a:t>
            </a:r>
            <a:r>
              <a:rPr lang="en-US" altLang="ko-KR" sz="2400" dirty="0" smtClean="0">
                <a:latin typeface="Times New Roman"/>
              </a:rPr>
              <a:t>of computing </a:t>
            </a:r>
            <a:r>
              <a:rPr lang="en-US" altLang="ko-KR" sz="2400" dirty="0">
                <a:latin typeface="Times New Roman"/>
              </a:rPr>
              <a:t>the </a:t>
            </a:r>
            <a:r>
              <a:rPr lang="en-US" altLang="ko-KR" sz="2400" i="1" dirty="0">
                <a:latin typeface="Times New Roman"/>
              </a:rPr>
              <a:t>transitive closure </a:t>
            </a:r>
            <a:r>
              <a:rPr lang="en-US" altLang="ko-KR" sz="2400" dirty="0">
                <a:latin typeface="Times New Roman"/>
              </a:rPr>
              <a:t>of a directed graph. </a:t>
            </a:r>
            <a:r>
              <a:rPr lang="en-US" altLang="ko-KR" sz="2400" dirty="0" smtClean="0">
                <a:latin typeface="Times New Roman"/>
              </a:rPr>
              <a:t>In analyzing </a:t>
            </a:r>
            <a:r>
              <a:rPr lang="en-US" altLang="ko-KR" sz="2400" dirty="0">
                <a:latin typeface="Times New Roman"/>
              </a:rPr>
              <a:t>a directed graph, we are often interested in </a:t>
            </a:r>
            <a:r>
              <a:rPr lang="en-US" altLang="ko-KR" sz="2400" dirty="0" smtClean="0">
                <a:latin typeface="Times New Roman"/>
              </a:rPr>
              <a:t>which vertices </a:t>
            </a:r>
            <a:r>
              <a:rPr lang="en-US" altLang="ko-KR" sz="2400" dirty="0">
                <a:latin typeface="Times New Roman"/>
              </a:rPr>
              <a:t>are reachable from a given node.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consider the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blackmail graph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on a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people, where there is a directed edge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if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sensitive-enough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information on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him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whatever he wants. You wish to hire one of these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people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your personal representative. Who has the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power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blackmail potential?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9840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259288"/>
          </a:xfrm>
        </p:spPr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simplistic answer would be the vertex of highest degree.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Steve might only be able to blackmail Miguel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directly, but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Miguel can blackmail everyone else then Steve is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man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want to hire.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vertices reachable from any single node can be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using breadth-first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depth-first search. But the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whole batch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computed as an all-pairs shortest-path problem.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shortest path from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MAXINT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Floyd’s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algorithm, you can be sure there is no directed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 from 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1495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sz="4000" dirty="0"/>
              <a:t>Network Flow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412776"/>
            <a:ext cx="8640960" cy="5328592"/>
          </a:xfrm>
        </p:spPr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edge-weighted graph can be thought of as a network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pipes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weight of edge (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measures the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pipe. For a given weighted graph G and two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flow problem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for the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amount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flow which can be sent from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respecting the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capacities of each pipe.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network flow problem is of independent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interest, its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importance is that of being able to solve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problems. Classic examples are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matching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edge/vertex connectivity testing.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7247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Bipartite Graphs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two-colorable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vertices can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divided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two sets, say,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that all edges in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vertex 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vertex 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naturally defined graphs are bipartite. For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suppose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vertices represent jobs to be done and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people who can potentially do them.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existence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edge 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means that job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potentially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 by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Or let certain vertices represent boys and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certain vertices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girls, with edges representing compatible pairs.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4787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Bipartite Matching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matching in a graph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subset of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⊂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no two edges in E′ share a vertex.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 a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pairs off certain vertices such that every vertex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in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one such pair.</a:t>
            </a:r>
          </a:p>
          <a:p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have natural interpretations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job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or as marriages.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largest possible bipartite matching can be found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network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flow. The maximum weighted bipartite matching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using the Hungarian algorithm. See the textbook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details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74570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문제</a:t>
            </a:r>
            <a:r>
              <a:rPr lang="en-US" altLang="ko-KR" sz="3200" dirty="0"/>
              <a:t> </a:t>
            </a:r>
            <a:r>
              <a:rPr lang="en-US" altLang="ko-KR" sz="3200" dirty="0" smtClean="0"/>
              <a:t>73. </a:t>
            </a:r>
            <a:r>
              <a:rPr lang="ko-KR" altLang="en-US" sz="3200" dirty="0" smtClean="0"/>
              <a:t>주근깨</a:t>
            </a:r>
            <a:r>
              <a:rPr lang="en-US" altLang="ko-KR" sz="3200" dirty="0" smtClean="0"/>
              <a:t>(Freckles) 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328120"/>
          </a:xfrm>
        </p:spPr>
        <p:txBody>
          <a:bodyPr/>
          <a:lstStyle/>
          <a:p>
            <a:r>
              <a:rPr lang="ko-KR" altLang="en-US" sz="2000" dirty="0" err="1" smtClean="0"/>
              <a:t>딕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반 </a:t>
            </a:r>
            <a:r>
              <a:rPr lang="ko-KR" altLang="en-US" sz="2000" dirty="0" err="1" smtClean="0"/>
              <a:t>다이크</a:t>
            </a:r>
            <a:r>
              <a:rPr lang="ko-KR" altLang="en-US" sz="2000" dirty="0" smtClean="0"/>
              <a:t> 쇼라는 </a:t>
            </a:r>
            <a:r>
              <a:rPr lang="en-US" altLang="ko-KR" sz="2000" dirty="0" smtClean="0"/>
              <a:t>TV </a:t>
            </a:r>
            <a:r>
              <a:rPr lang="ko-KR" altLang="en-US" sz="2000" dirty="0" smtClean="0"/>
              <a:t>프로그램에서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딕의</a:t>
            </a:r>
            <a:r>
              <a:rPr lang="ko-KR" altLang="en-US" sz="2000" dirty="0" smtClean="0"/>
              <a:t> 아들 </a:t>
            </a:r>
            <a:r>
              <a:rPr lang="ko-KR" altLang="en-US" sz="2000" dirty="0" err="1" smtClean="0"/>
              <a:t>리치가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딕의</a:t>
            </a:r>
            <a:r>
              <a:rPr lang="ko-KR" altLang="en-US" sz="2000" dirty="0" smtClean="0"/>
              <a:t> 등에 있는 주근깨들을 연결하는 선을 그어서 자유의 종을 그리는 에피소드가 나온 적이 있다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err="1" smtClean="0"/>
              <a:t>딕의</a:t>
            </a:r>
            <a:r>
              <a:rPr lang="ko-KR" altLang="en-US" sz="2000" dirty="0" smtClean="0"/>
              <a:t> 등 여러 </a:t>
            </a:r>
            <a:r>
              <a:rPr lang="en-US" altLang="ko-KR" sz="2000" dirty="0" smtClean="0"/>
              <a:t>(x, y) </a:t>
            </a:r>
            <a:r>
              <a:rPr lang="ko-KR" altLang="en-US" sz="2000" dirty="0" smtClean="0"/>
              <a:t>위치에 주근깨가 있는 평면이라고 생각해보자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지금 우리는 </a:t>
            </a:r>
            <a:r>
              <a:rPr lang="ko-KR" altLang="en-US" sz="2000" dirty="0" err="1" smtClean="0"/>
              <a:t>리치가</a:t>
            </a:r>
            <a:r>
              <a:rPr lang="ko-KR" altLang="en-US" sz="2000" dirty="0" smtClean="0"/>
              <a:t> 최소한의 잉크로 점들을 연결할 수 있는 방법을 알려줘야 한다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리치는</a:t>
            </a:r>
            <a:r>
              <a:rPr lang="ko-KR" altLang="en-US" sz="2000" dirty="0" smtClean="0"/>
              <a:t> 점 사이에 직선을 긋는 식으로 점을 연결한다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그리고 각 직선을 그을 때마다 펜을 등에서 뗀다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 일이 끝나고 나면 등에 있는 모든 주근깨가 연결되어야 한다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1531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332656"/>
            <a:ext cx="7772400" cy="4114800"/>
          </a:xfrm>
        </p:spPr>
        <p:txBody>
          <a:bodyPr/>
          <a:lstStyle/>
          <a:p>
            <a:r>
              <a:rPr lang="ko-KR" altLang="en-US" sz="2400" dirty="0" smtClean="0"/>
              <a:t>입력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첫 줄에는 테스트 케이스의 개수를 나타내는 양의 정수가 입력되고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다음 줄은 빈 줄이다</a:t>
            </a:r>
            <a:r>
              <a:rPr lang="en-US" altLang="ko-KR" sz="2000" dirty="0" smtClean="0"/>
              <a:t>.</a:t>
            </a:r>
          </a:p>
          <a:p>
            <a:pPr lvl="1"/>
            <a:r>
              <a:rPr lang="ko-KR" altLang="en-US" sz="2000" dirty="0" smtClean="0"/>
              <a:t>각 테스트 케이스의 첫째 줄에는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보다 크고 </a:t>
            </a:r>
            <a:r>
              <a:rPr lang="en-US" altLang="ko-KR" sz="2000" dirty="0" smtClean="0"/>
              <a:t>100 </a:t>
            </a:r>
            <a:r>
              <a:rPr lang="ko-KR" altLang="en-US" sz="2000" dirty="0" smtClean="0"/>
              <a:t>이하인 정수 </a:t>
            </a:r>
            <a:r>
              <a:rPr lang="en-US" altLang="ko-KR" sz="2000" dirty="0" smtClean="0"/>
              <a:t>n</a:t>
            </a:r>
            <a:r>
              <a:rPr lang="ko-KR" altLang="en-US" sz="2000" dirty="0" smtClean="0"/>
              <a:t>이 입력되는데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이 정수는 </a:t>
            </a:r>
            <a:r>
              <a:rPr lang="ko-KR" altLang="en-US" sz="2000" dirty="0" err="1" smtClean="0"/>
              <a:t>딕의</a:t>
            </a:r>
            <a:r>
              <a:rPr lang="ko-KR" altLang="en-US" sz="2000" dirty="0" smtClean="0"/>
              <a:t> 등에 있는 주근깨 개수를 뜻한다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각 주근깨마다 한 줄씩 그 주근깨의 위치를 나타내는 좌표가 입력된다</a:t>
            </a:r>
            <a:r>
              <a:rPr lang="en-US" altLang="ko-KR" sz="2000" dirty="0" smtClean="0"/>
              <a:t>.</a:t>
            </a:r>
          </a:p>
          <a:p>
            <a:pPr lvl="1"/>
            <a:r>
              <a:rPr lang="ko-KR" altLang="en-US" sz="2000" dirty="0" smtClean="0"/>
              <a:t>서로 다른 테스트 케이스 사이에는 빈 줄이 하나씩 입력된다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400" dirty="0" smtClean="0"/>
              <a:t>출력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각 테스트 케이스에 대해 모든 주근깨를 연결하기 위해 잉크로 연결해야 하는 선 길이의 합을 소수점 둘째 자리까지 출력한다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서로 다른 테스트 케이스에 대한 결과 사이에는 빈 줄을 하나씩 출력한다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3603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332656"/>
            <a:ext cx="359816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</a:t>
            </a:r>
          </a:p>
          <a:p>
            <a:pPr marL="457200" lvl="1" indent="0">
              <a:buFontTx/>
              <a:buNone/>
            </a:pPr>
            <a:endParaRPr lang="en-US" altLang="ko-KR" sz="2000" b="0" kern="0" dirty="0"/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1.0 1.0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2.0 2.0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2.0 4.0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332656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/>
              <a:t>3.41</a:t>
            </a:r>
            <a:endParaRPr lang="en-US" altLang="ko-KR" sz="2000" b="0" kern="0" dirty="0"/>
          </a:p>
        </p:txBody>
      </p:sp>
    </p:spTree>
    <p:extLst>
      <p:ext uri="{BB962C8B-B14F-4D97-AF65-F5344CB8AC3E}">
        <p14:creationId xmlns:p14="http://schemas.microsoft.com/office/powerpoint/2010/main" val="23339226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73.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이 문제는 각 점을 </a:t>
            </a:r>
            <a:r>
              <a:rPr lang="ko-KR" altLang="en-US" sz="2000" dirty="0" err="1"/>
              <a:t>노드라고</a:t>
            </a:r>
            <a:r>
              <a:rPr lang="ko-KR" altLang="en-US" sz="2000" dirty="0"/>
              <a:t> 생각하고</a:t>
            </a:r>
            <a:r>
              <a:rPr lang="en-US" altLang="ko-KR" sz="2000" dirty="0"/>
              <a:t>, </a:t>
            </a:r>
            <a:r>
              <a:rPr lang="ko-KR" altLang="en-US" sz="2000" dirty="0"/>
              <a:t>모든 </a:t>
            </a:r>
            <a:r>
              <a:rPr lang="ko-KR" altLang="en-US" sz="2000" dirty="0" err="1"/>
              <a:t>노드가</a:t>
            </a:r>
            <a:r>
              <a:rPr lang="ko-KR" altLang="en-US" sz="2000" dirty="0"/>
              <a:t> 연결된 그래프에서 최소 신장 </a:t>
            </a:r>
            <a:r>
              <a:rPr lang="ko-KR" altLang="en-US" sz="2000" dirty="0" err="1"/>
              <a:t>트리를</a:t>
            </a:r>
            <a:r>
              <a:rPr lang="ko-KR" altLang="en-US" sz="2000" dirty="0"/>
              <a:t> 구하는 문제와 같다</a:t>
            </a:r>
            <a:r>
              <a:rPr lang="en-US" altLang="ko-KR" sz="2000" dirty="0"/>
              <a:t>. </a:t>
            </a:r>
            <a:r>
              <a:rPr lang="ko-KR" altLang="en-US" sz="2000" dirty="0"/>
              <a:t>이 문제의 경우 언제나 모든 점들이 연결되어 있다고 생각할 수 있기 때문에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크루스칼</a:t>
            </a:r>
            <a:r>
              <a:rPr lang="ko-KR" altLang="en-US" sz="2000" dirty="0"/>
              <a:t> 알고리즘보다는 </a:t>
            </a:r>
            <a:r>
              <a:rPr lang="ko-KR" altLang="en-US" sz="2000" dirty="0" err="1"/>
              <a:t>프림</a:t>
            </a:r>
            <a:r>
              <a:rPr lang="ko-KR" altLang="en-US" sz="2000" dirty="0"/>
              <a:t> 알고리즘을 사용하는 것이 더 효율적이다</a:t>
            </a:r>
            <a:r>
              <a:rPr lang="en-US" altLang="ko-KR" sz="20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1974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73: Freckles</a:t>
            </a:r>
          </a:p>
          <a:p>
            <a:pPr marL="0" indent="0">
              <a:buNone/>
            </a:pPr>
            <a:r>
              <a:rPr lang="sv-SE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must use -lm option at the end of the command line like followings</a:t>
            </a:r>
          </a:p>
          <a:p>
            <a:pPr marL="0" indent="0">
              <a:buNone/>
            </a:pPr>
            <a:r>
              <a:rPr lang="sv-SE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gcc -o prob73 prob73.c -lm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&lt;stdio.h&gt;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&lt;math.h&gt;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MAXN 100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n, check[MAXN];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double dot[MAXN][2], minval[MAXN], result;</a:t>
            </a:r>
          </a:p>
          <a:p>
            <a:pPr marL="0" indent="0">
              <a:buNone/>
            </a:pPr>
            <a:endParaRPr lang="sv-SE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input(void)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i;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scanf("%d", &amp;n);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n; i</a:t>
            </a: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scanf("%lf %lf", &amp;dot[i][0], &amp;dot[i][1]);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0729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double dist(int a, int b)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sqrt(pow(dot[a][0] - dot[b][0], 2) + </a:t>
            </a:r>
            <a:endParaRPr lang="sv-SE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pow(dot[a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][1] - dot[b][1], 2));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solve(void)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i, j, a;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0;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n; i</a:t>
            </a: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check[i] = 0;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check[0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1;</a:t>
            </a:r>
            <a:b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54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8352928" cy="619268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n-1;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= -1;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(check[j]) continue;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 (a == -1 ||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 &gt;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[j])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a = j;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result +=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[a];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check[a]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1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(j = 0; j &lt; n; j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(check[j]) continue;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 =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(a, j);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[j] &gt; 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[j] = d;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3713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input();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solve();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&gt;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("%0.2lf\n", result);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04857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97904"/>
            <a:ext cx="8568952" cy="1143000"/>
          </a:xfrm>
        </p:spPr>
        <p:txBody>
          <a:bodyPr/>
          <a:lstStyle/>
          <a:p>
            <a:r>
              <a:rPr lang="ko-KR" altLang="en-US" sz="2800" dirty="0" smtClean="0"/>
              <a:t>문제 </a:t>
            </a:r>
            <a:r>
              <a:rPr lang="en-US" altLang="ko-KR" sz="2800" dirty="0" smtClean="0"/>
              <a:t>74. </a:t>
            </a:r>
            <a:r>
              <a:rPr lang="ko-KR" altLang="en-US" sz="2800" dirty="0" smtClean="0"/>
              <a:t>목걸이</a:t>
            </a:r>
            <a:r>
              <a:rPr lang="en-US" altLang="ko-KR" sz="2800" dirty="0" smtClean="0"/>
              <a:t>(The Necklace)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124744"/>
            <a:ext cx="7990656" cy="4464496"/>
          </a:xfrm>
        </p:spPr>
        <p:txBody>
          <a:bodyPr/>
          <a:lstStyle/>
          <a:p>
            <a:r>
              <a:rPr lang="ko-KR" altLang="en-US" sz="2000" dirty="0" smtClean="0"/>
              <a:t>우리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막내 동생한테는 색색의 구슬로 만들어진 예쁜 목걸이가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각 구슬은 두 색으로 칠해져 있는데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다음 그림과 같이 맞닿아 있는 부분은 색이 같다</a:t>
            </a:r>
            <a:r>
              <a:rPr lang="en-US" altLang="ko-KR" sz="2000" dirty="0" smtClean="0"/>
              <a:t>.</a:t>
            </a:r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그런데 어느 날 목걸이가 끊어지면서 구슬이 전부 빠져서 바닥에 떨어졌다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동생은 최선을 다해 구슬들을 주웠지만 전부 다 찾았는지는 확실치가 않아서 나에게 도와달라고 찾아왔다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그녀는 원래 목걸이와 마찬가지로 구슬을 꿰어 목걸이를 다시 만들려고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그렇다면 구슬을 어떤 식으로 배치해야 할까</a:t>
            </a:r>
            <a:r>
              <a:rPr lang="en-US" altLang="ko-KR" sz="2000" dirty="0" smtClean="0"/>
              <a:t>?</a:t>
            </a:r>
          </a:p>
          <a:p>
            <a:r>
              <a:rPr lang="ko-KR" altLang="en-US" sz="2000" dirty="0" smtClean="0"/>
              <a:t>이 문제를 해결하기 위한 프로그램을 만들자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50</a:t>
            </a:fld>
            <a:endParaRPr lang="en-US" altLang="ko-KR" dirty="0"/>
          </a:p>
        </p:txBody>
      </p:sp>
      <p:grpSp>
        <p:nvGrpSpPr>
          <p:cNvPr id="5" name="그룹 4"/>
          <p:cNvGrpSpPr/>
          <p:nvPr/>
        </p:nvGrpSpPr>
        <p:grpSpPr>
          <a:xfrm>
            <a:off x="1563086" y="2204864"/>
            <a:ext cx="5889234" cy="820616"/>
            <a:chOff x="554974" y="1495430"/>
            <a:chExt cx="5889234" cy="820616"/>
          </a:xfrm>
        </p:grpSpPr>
        <p:grpSp>
          <p:nvGrpSpPr>
            <p:cNvPr id="6" name="그룹 5"/>
            <p:cNvGrpSpPr/>
            <p:nvPr/>
          </p:nvGrpSpPr>
          <p:grpSpPr>
            <a:xfrm>
              <a:off x="1203046" y="1505883"/>
              <a:ext cx="1152128" cy="810163"/>
              <a:chOff x="1619672" y="1268759"/>
              <a:chExt cx="1152128" cy="810163"/>
            </a:xfrm>
          </p:grpSpPr>
          <p:sp>
            <p:nvSpPr>
              <p:cNvPr id="24" name="모서리가 둥근 직사각형 23"/>
              <p:cNvSpPr/>
              <p:nvPr/>
            </p:nvSpPr>
            <p:spPr bwMode="auto">
              <a:xfrm>
                <a:off x="1619672" y="1268759"/>
                <a:ext cx="1152128" cy="81016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바탕" pitchFamily="18" charset="-127"/>
                </a:endParaRPr>
              </a:p>
            </p:txBody>
          </p:sp>
          <p:cxnSp>
            <p:nvCxnSpPr>
              <p:cNvPr id="25" name="직선 연결선 24"/>
              <p:cNvCxnSpPr>
                <a:stCxn id="24" idx="0"/>
                <a:endCxn id="24" idx="2"/>
              </p:cNvCxnSpPr>
              <p:nvPr/>
            </p:nvCxnSpPr>
            <p:spPr bwMode="auto">
              <a:xfrm>
                <a:off x="2195736" y="1268759"/>
                <a:ext cx="0" cy="81016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6" name="TextBox 25"/>
              <p:cNvSpPr txBox="1"/>
              <p:nvPr/>
            </p:nvSpPr>
            <p:spPr>
              <a:xfrm>
                <a:off x="1764848" y="1425695"/>
                <a:ext cx="430887" cy="49629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녹색</a:t>
                </a:r>
                <a:endParaRPr lang="ko-KR" altLang="en-US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263535" y="1372347"/>
                <a:ext cx="430887" cy="698268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빨간색</a:t>
                </a:r>
                <a:endParaRPr lang="ko-KR" altLang="en-US" dirty="0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2339752" y="1504548"/>
              <a:ext cx="1152128" cy="810163"/>
              <a:chOff x="1619672" y="1322692"/>
              <a:chExt cx="1152128" cy="810163"/>
            </a:xfrm>
          </p:grpSpPr>
          <p:sp>
            <p:nvSpPr>
              <p:cNvPr id="20" name="모서리가 둥근 직사각형 19"/>
              <p:cNvSpPr/>
              <p:nvPr/>
            </p:nvSpPr>
            <p:spPr bwMode="auto">
              <a:xfrm>
                <a:off x="1619672" y="1322692"/>
                <a:ext cx="1152128" cy="81016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바탕" pitchFamily="18" charset="-127"/>
                </a:endParaRPr>
              </a:p>
            </p:txBody>
          </p:sp>
          <p:cxnSp>
            <p:nvCxnSpPr>
              <p:cNvPr id="21" name="직선 연결선 20"/>
              <p:cNvCxnSpPr>
                <a:stCxn id="20" idx="0"/>
                <a:endCxn id="20" idx="2"/>
              </p:cNvCxnSpPr>
              <p:nvPr/>
            </p:nvCxnSpPr>
            <p:spPr bwMode="auto">
              <a:xfrm>
                <a:off x="2195736" y="1322692"/>
                <a:ext cx="0" cy="81016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2" name="TextBox 21"/>
              <p:cNvSpPr txBox="1"/>
              <p:nvPr/>
            </p:nvSpPr>
            <p:spPr>
              <a:xfrm>
                <a:off x="1764848" y="1425695"/>
                <a:ext cx="430887" cy="698268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빨간색</a:t>
                </a:r>
                <a:endParaRPr lang="ko-KR" altLang="en-US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263535" y="1372347"/>
                <a:ext cx="430887" cy="698268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하얀색</a:t>
                </a:r>
                <a:endParaRPr lang="ko-KR" altLang="en-US" dirty="0"/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3491880" y="1495430"/>
              <a:ext cx="1152128" cy="810163"/>
              <a:chOff x="1619672" y="1322692"/>
              <a:chExt cx="1152128" cy="810163"/>
            </a:xfrm>
          </p:grpSpPr>
          <p:sp>
            <p:nvSpPr>
              <p:cNvPr id="16" name="모서리가 둥근 직사각형 15"/>
              <p:cNvSpPr/>
              <p:nvPr/>
            </p:nvSpPr>
            <p:spPr bwMode="auto">
              <a:xfrm>
                <a:off x="1619672" y="1322692"/>
                <a:ext cx="1152128" cy="81016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바탕" pitchFamily="18" charset="-127"/>
                </a:endParaRPr>
              </a:p>
            </p:txBody>
          </p:sp>
          <p:cxnSp>
            <p:nvCxnSpPr>
              <p:cNvPr id="17" name="직선 연결선 16"/>
              <p:cNvCxnSpPr>
                <a:stCxn id="16" idx="0"/>
                <a:endCxn id="16" idx="2"/>
              </p:cNvCxnSpPr>
              <p:nvPr/>
            </p:nvCxnSpPr>
            <p:spPr bwMode="auto">
              <a:xfrm>
                <a:off x="2195736" y="1322692"/>
                <a:ext cx="0" cy="81016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8" name="TextBox 17"/>
              <p:cNvSpPr txBox="1"/>
              <p:nvPr/>
            </p:nvSpPr>
            <p:spPr>
              <a:xfrm>
                <a:off x="1764848" y="1425695"/>
                <a:ext cx="430887" cy="698268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하얀색</a:t>
                </a:r>
                <a:endParaRPr lang="ko-KR" altLang="en-US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263535" y="1372347"/>
                <a:ext cx="430887" cy="630942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  녹색</a:t>
                </a:r>
                <a:endParaRPr lang="ko-KR" altLang="en-US" dirty="0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4644008" y="1504547"/>
              <a:ext cx="1152128" cy="810163"/>
              <a:chOff x="1619672" y="1322692"/>
              <a:chExt cx="1152128" cy="810163"/>
            </a:xfrm>
          </p:grpSpPr>
          <p:sp>
            <p:nvSpPr>
              <p:cNvPr id="12" name="모서리가 둥근 직사각형 11"/>
              <p:cNvSpPr/>
              <p:nvPr/>
            </p:nvSpPr>
            <p:spPr bwMode="auto">
              <a:xfrm>
                <a:off x="1619672" y="1322692"/>
                <a:ext cx="1152128" cy="810163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6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바탕" pitchFamily="18" charset="-127"/>
                  <a:ea typeface="바탕" pitchFamily="18" charset="-127"/>
                </a:endParaRPr>
              </a:p>
            </p:txBody>
          </p:sp>
          <p:cxnSp>
            <p:nvCxnSpPr>
              <p:cNvPr id="13" name="직선 연결선 12"/>
              <p:cNvCxnSpPr>
                <a:stCxn id="12" idx="0"/>
                <a:endCxn id="12" idx="2"/>
              </p:cNvCxnSpPr>
              <p:nvPr/>
            </p:nvCxnSpPr>
            <p:spPr bwMode="auto">
              <a:xfrm>
                <a:off x="2195736" y="1322692"/>
                <a:ext cx="0" cy="81016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4" name="TextBox 13"/>
              <p:cNvSpPr txBox="1"/>
              <p:nvPr/>
            </p:nvSpPr>
            <p:spPr>
              <a:xfrm>
                <a:off x="1764848" y="1425695"/>
                <a:ext cx="430887" cy="563616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 녹색</a:t>
                </a:r>
                <a:endParaRPr lang="ko-KR" altLang="en-US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263535" y="1372347"/>
                <a:ext cx="430887" cy="698268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ko-KR" altLang="en-US" dirty="0" smtClean="0"/>
                  <a:t>파란색</a:t>
                </a:r>
                <a:endParaRPr lang="ko-KR" altLang="en-US" dirty="0"/>
              </a:p>
            </p:txBody>
          </p:sp>
        </p:grpSp>
        <p:cxnSp>
          <p:nvCxnSpPr>
            <p:cNvPr id="10" name="직선 연결선 9"/>
            <p:cNvCxnSpPr/>
            <p:nvPr/>
          </p:nvCxnSpPr>
          <p:spPr bwMode="auto">
            <a:xfrm>
              <a:off x="554974" y="1926768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직선 연결선 10"/>
            <p:cNvCxnSpPr/>
            <p:nvPr/>
          </p:nvCxnSpPr>
          <p:spPr bwMode="auto">
            <a:xfrm>
              <a:off x="5796136" y="1903337"/>
              <a:ext cx="6480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855830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760640"/>
          </a:xfrm>
        </p:spPr>
        <p:txBody>
          <a:bodyPr/>
          <a:lstStyle/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테스트 케이스의 개수를 나타내는 정수 </a:t>
            </a:r>
            <a:r>
              <a:rPr lang="en-US" altLang="ko-KR" sz="1800" dirty="0" smtClean="0"/>
              <a:t>T</a:t>
            </a:r>
            <a:r>
              <a:rPr lang="ko-KR" altLang="en-US" sz="1800" dirty="0" smtClean="0"/>
              <a:t>가 입력된다</a:t>
            </a:r>
            <a:r>
              <a:rPr lang="en-US" altLang="ko-KR" sz="1800" dirty="0" smtClean="0"/>
              <a:t>. </a:t>
            </a:r>
          </a:p>
          <a:p>
            <a:pPr lvl="1"/>
            <a:r>
              <a:rPr lang="ko-KR" altLang="en-US" sz="1800" dirty="0" smtClean="0"/>
              <a:t>각 테스트 케이스의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동생이 찾아낸 구슬의 개수를 나타내는 정수 </a:t>
            </a:r>
            <a:r>
              <a:rPr lang="en-US" altLang="ko-KR" sz="1800" dirty="0" smtClean="0"/>
              <a:t>N(5≤N≤1,000)</a:t>
            </a:r>
            <a:r>
              <a:rPr lang="ko-KR" altLang="en-US" sz="1800" dirty="0" smtClean="0"/>
              <a:t>이 입력된다</a:t>
            </a:r>
            <a:r>
              <a:rPr lang="en-US" altLang="ko-KR" sz="1800" dirty="0" smtClean="0"/>
              <a:t>. </a:t>
            </a:r>
          </a:p>
          <a:p>
            <a:pPr lvl="1"/>
            <a:r>
              <a:rPr lang="ko-KR" altLang="en-US" sz="1800" dirty="0" smtClean="0"/>
              <a:t>그 밑으로는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줄에 걸쳐서 구슬의 색을 나타내는 두 개씩의 정수가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색은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에서 </a:t>
            </a:r>
            <a:r>
              <a:rPr lang="en-US" altLang="ko-KR" sz="1800" dirty="0" smtClean="0"/>
              <a:t>50</a:t>
            </a:r>
            <a:r>
              <a:rPr lang="ko-KR" altLang="en-US" sz="1800" dirty="0" smtClean="0"/>
              <a:t>까지의 정수로 표현된다</a:t>
            </a:r>
            <a:r>
              <a:rPr lang="en-US" altLang="ko-KR" sz="1800" dirty="0" smtClean="0"/>
              <a:t>.</a:t>
            </a:r>
            <a:endParaRPr lang="en-US" altLang="ko-KR" sz="1800" dirty="0"/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각 테스트 케이스에 대해 출력 예에 나와있는 식으로 테스트 케이스의 번호를 출력한다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구슬을 제대로 꿸 수 없으면 </a:t>
            </a:r>
            <a:r>
              <a:rPr lang="en-US" altLang="ko-KR" sz="1800" dirty="0" smtClean="0"/>
              <a:t>“some beads may be lost”</a:t>
            </a:r>
            <a:r>
              <a:rPr lang="ko-KR" altLang="en-US" sz="1800" dirty="0" smtClean="0"/>
              <a:t>라고 출력한다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구슬을 꿸 수 있으면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개의 줄에 걸쳐서 각 줄에 하나씩 구슬을 나타내는 숫자들을 출력하는데</a:t>
            </a:r>
            <a:r>
              <a:rPr lang="en-US" altLang="ko-KR" sz="1800" dirty="0" smtClean="0"/>
              <a:t>, 1≤i≤N-1</a:t>
            </a:r>
            <a:r>
              <a:rPr lang="ko-KR" altLang="en-US" sz="1800" dirty="0" smtClean="0"/>
              <a:t>인 </a:t>
            </a:r>
            <a:r>
              <a:rPr lang="en-US" altLang="ko-KR" sz="1800" dirty="0" err="1" smtClean="0"/>
              <a:t>i</a:t>
            </a:r>
            <a:r>
              <a:rPr lang="ko-KR" altLang="en-US" sz="1800" dirty="0" smtClean="0"/>
              <a:t>에 대해 </a:t>
            </a:r>
            <a:r>
              <a:rPr lang="en-US" altLang="ko-KR" sz="1800" dirty="0" err="1" smtClean="0"/>
              <a:t>i</a:t>
            </a:r>
            <a:r>
              <a:rPr lang="ko-KR" altLang="en-US" sz="1800" dirty="0" smtClean="0"/>
              <a:t>번째 줄에 있는 두 번째 정수가 </a:t>
            </a:r>
            <a:r>
              <a:rPr lang="en-US" altLang="ko-KR" sz="1800" dirty="0" smtClean="0"/>
              <a:t>i+1</a:t>
            </a:r>
            <a:r>
              <a:rPr lang="ko-KR" altLang="en-US" sz="1800" dirty="0" smtClean="0"/>
              <a:t>번째 줄에 있는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정수와 같아야 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그리고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번째 줄의 두 번째 정수는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줄의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정수와 같아야 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답이 여러 개 나올 수 있는데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중 어떤 것을 출력해도 괜찮다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서로 다른 테스트 케이스 사이에는 빈 줄을 하나씩 출력한다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1440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476672"/>
            <a:ext cx="3598168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/>
              <a:t>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1 2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2 3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3 4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4 5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5 6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2 1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2 2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3 4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3 1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2 4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4067944" y="476672"/>
            <a:ext cx="4608512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FF0000"/>
                </a:solidFill>
              </a:rPr>
              <a:t>Case #1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FF0000"/>
                </a:solidFill>
              </a:rPr>
              <a:t>some beads may be lost</a:t>
            </a:r>
          </a:p>
          <a:p>
            <a:pPr marL="457200" lvl="1" indent="0">
              <a:buFontTx/>
              <a:buNone/>
            </a:pPr>
            <a:endParaRPr lang="en-US" altLang="ko-KR" sz="1800" b="0" kern="0" dirty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Case #2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2 1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1 3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3 4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4 2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2 2</a:t>
            </a:r>
          </a:p>
        </p:txBody>
      </p:sp>
    </p:spTree>
    <p:extLst>
      <p:ext uri="{BB962C8B-B14F-4D97-AF65-F5344CB8AC3E}">
        <p14:creationId xmlns:p14="http://schemas.microsoft.com/office/powerpoint/2010/main" val="2019469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74.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000" dirty="0"/>
              <a:t>이 문제는 </a:t>
            </a:r>
            <a:r>
              <a:rPr lang="ko-KR" altLang="ko-KR" sz="2000" dirty="0" smtClean="0"/>
              <a:t>얼핏</a:t>
            </a:r>
            <a:r>
              <a:rPr lang="en-US" altLang="ko-KR" sz="2000" dirty="0" smtClean="0"/>
              <a:t> </a:t>
            </a:r>
            <a:r>
              <a:rPr lang="ko-KR" altLang="ko-KR" sz="2000" dirty="0" smtClean="0"/>
              <a:t>보면 </a:t>
            </a:r>
            <a:r>
              <a:rPr lang="en-US" altLang="ko-KR" sz="2000" dirty="0" smtClean="0"/>
              <a:t>Hamilton Cycle</a:t>
            </a:r>
            <a:r>
              <a:rPr lang="ko-KR" altLang="ko-KR" sz="2000" dirty="0" smtClean="0"/>
              <a:t>을 </a:t>
            </a:r>
            <a:r>
              <a:rPr lang="ko-KR" altLang="ko-KR" sz="2000" dirty="0"/>
              <a:t>구하는 문제처럼 생각될지도 모르나</a:t>
            </a:r>
            <a:r>
              <a:rPr lang="en-US" altLang="ko-KR" sz="2000" dirty="0"/>
              <a:t>, </a:t>
            </a:r>
            <a:r>
              <a:rPr lang="ko-KR" altLang="ko-KR" sz="2000" dirty="0"/>
              <a:t>문제를 약간 변형하면 </a:t>
            </a:r>
            <a:r>
              <a:rPr lang="en-US" altLang="ko-KR" sz="2000" dirty="0" smtClean="0"/>
              <a:t>Euler Cycle</a:t>
            </a:r>
            <a:r>
              <a:rPr lang="ko-KR" altLang="ko-KR" sz="2000" dirty="0" smtClean="0"/>
              <a:t>을 </a:t>
            </a:r>
            <a:r>
              <a:rPr lang="ko-KR" altLang="ko-KR" sz="2000" dirty="0"/>
              <a:t>찾는 문제가 됨을 알 수 있다</a:t>
            </a:r>
            <a:r>
              <a:rPr lang="en-US" altLang="ko-KR" sz="2000" dirty="0"/>
              <a:t>. </a:t>
            </a:r>
            <a:r>
              <a:rPr lang="ko-KR" altLang="ko-KR" sz="2000" dirty="0" err="1"/>
              <a:t>노드를</a:t>
            </a:r>
            <a:r>
              <a:rPr lang="ko-KR" altLang="ko-KR" sz="2000" dirty="0"/>
              <a:t> 구슬 안에 있는 하나의 색으로 두고 두 색이 하나의 구슬 안에 들어 있으면 두 색을 연결하는 하나의 </a:t>
            </a:r>
            <a:r>
              <a:rPr lang="ko-KR" altLang="ko-KR" sz="2000" dirty="0" err="1"/>
              <a:t>엣지를</a:t>
            </a:r>
            <a:r>
              <a:rPr lang="ko-KR" altLang="ko-KR" sz="2000" dirty="0"/>
              <a:t> 그려준다</a:t>
            </a:r>
            <a:r>
              <a:rPr lang="en-US" altLang="ko-KR" sz="2000" dirty="0"/>
              <a:t>. </a:t>
            </a:r>
            <a:r>
              <a:rPr lang="ko-KR" altLang="ko-KR" sz="2000" dirty="0"/>
              <a:t>이러한 모양의 그래프에서 </a:t>
            </a:r>
            <a:r>
              <a:rPr lang="ko-KR" altLang="ko-KR" sz="2000" dirty="0" err="1"/>
              <a:t>오일러</a:t>
            </a:r>
            <a:r>
              <a:rPr lang="ko-KR" altLang="ko-KR" sz="2000" dirty="0"/>
              <a:t> 사이클을 구할 수 있으면 하나의 목걸이로 만들 수 있을 것이다</a:t>
            </a:r>
            <a:r>
              <a:rPr lang="en-US" altLang="ko-KR" sz="2000" dirty="0" smtClean="0"/>
              <a:t>.</a:t>
            </a:r>
          </a:p>
          <a:p>
            <a:r>
              <a:rPr lang="ko-KR" altLang="ko-KR" sz="2000" dirty="0" smtClean="0"/>
              <a:t>먼저 </a:t>
            </a:r>
            <a:r>
              <a:rPr lang="ko-KR" altLang="ko-KR" sz="2000" dirty="0"/>
              <a:t>각 색이 나오는 횟수를 지정해서 </a:t>
            </a:r>
            <a:r>
              <a:rPr lang="ko-KR" altLang="ko-KR" sz="2000" dirty="0" err="1"/>
              <a:t>홀수번</a:t>
            </a:r>
            <a:r>
              <a:rPr lang="ko-KR" altLang="ko-KR" sz="2000" dirty="0"/>
              <a:t> 나오는 색이 있으면 목걸이를 만들 수 없는 경우다</a:t>
            </a:r>
            <a:r>
              <a:rPr lang="en-US" altLang="ko-KR" sz="2000" dirty="0"/>
              <a:t>. </a:t>
            </a:r>
            <a:r>
              <a:rPr lang="ko-KR" altLang="ko-KR" sz="2000" dirty="0"/>
              <a:t>그렇지 않을 경우 </a:t>
            </a:r>
            <a:r>
              <a:rPr lang="ko-KR" altLang="ko-KR" sz="2000" dirty="0" err="1"/>
              <a:t>오일러</a:t>
            </a:r>
            <a:r>
              <a:rPr lang="ko-KR" altLang="ko-KR" sz="2000" dirty="0"/>
              <a:t> 사이클을 만들어야 하는데</a:t>
            </a:r>
            <a:r>
              <a:rPr lang="en-US" altLang="ko-KR" sz="2000" dirty="0"/>
              <a:t>, </a:t>
            </a:r>
            <a:r>
              <a:rPr lang="ko-KR" altLang="ko-KR" sz="2000" dirty="0"/>
              <a:t>이 방법으로는 여러 개의 독립적인 </a:t>
            </a:r>
            <a:r>
              <a:rPr lang="ko-KR" altLang="ko-KR" sz="2000" dirty="0" err="1"/>
              <a:t>오일러</a:t>
            </a:r>
            <a:r>
              <a:rPr lang="ko-KR" altLang="ko-KR" sz="2000" dirty="0"/>
              <a:t> 사이클을 구해서 각 </a:t>
            </a:r>
            <a:r>
              <a:rPr lang="ko-KR" altLang="ko-KR" sz="2000" dirty="0" err="1"/>
              <a:t>오일러</a:t>
            </a:r>
            <a:r>
              <a:rPr lang="ko-KR" altLang="ko-KR" sz="2000" dirty="0"/>
              <a:t> 사이클을 합치는 방법을 이용하면 된다</a:t>
            </a:r>
            <a:r>
              <a:rPr lang="en-US" altLang="ko-KR" sz="2000" dirty="0"/>
              <a:t>. </a:t>
            </a:r>
            <a:r>
              <a:rPr lang="ko-KR" altLang="ko-KR" sz="2000" dirty="0"/>
              <a:t>이 방법은 깊이 우선 탐색과 </a:t>
            </a:r>
            <a:r>
              <a:rPr lang="ko-KR" altLang="ko-KR" sz="2000" dirty="0" err="1"/>
              <a:t>스택을</a:t>
            </a:r>
            <a:r>
              <a:rPr lang="ko-KR" altLang="ko-KR" sz="2000" dirty="0"/>
              <a:t> 이용해 쉽게 구현이 가능하다</a:t>
            </a:r>
            <a:r>
              <a:rPr lang="en-US" altLang="ko-KR" sz="2000" dirty="0"/>
              <a:t>. </a:t>
            </a:r>
            <a:r>
              <a:rPr lang="ko-KR" altLang="ko-KR" sz="2000" dirty="0"/>
              <a:t>자세한 것은 아래의 소스를 참고하길 바란다</a:t>
            </a:r>
            <a:r>
              <a:rPr lang="en-US" altLang="ko-KR" sz="2000" dirty="0" smtClean="0"/>
              <a:t>.</a:t>
            </a:r>
            <a:endParaRPr lang="ko-KR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2471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74: The Necklace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MAXN 1000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MAXCOLOR 50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n, beads[MAXN][2], check[MAXN], color[MAXCOLOR + 1];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necklace[MAXN][2], top, stack[MAXN][2];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하나의 사이클이 구해지면 다른 사이클을 구해서 이전 사이클과 합친다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O(n)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euler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top;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check[a] = 1;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(b == 0)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stack[top][0] = beads[a][0];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stack[top++][1] = beads[a][1];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= beads[a][1];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else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stack[top][0] = beads[a][1];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stack[top++][1] = beads[a][0];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= beads[a][0];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(check[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continue;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(a == beads[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euler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 if (a == beads[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euler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(top = top - 1; top &gt;=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top-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necklace[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 = stack[top][0];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necklace[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++][1] = stack[top][1];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top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thistop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84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j, possible, t;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&lt;= t;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&amp;n);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check[j] =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1; j &lt;= MAXCOLOR; j++)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color[j] = 0;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j++)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&amp;beads[j][0], &amp;beads[j][1]);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color[beads[j][0]]++;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color[beads[j][1]]++;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top =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possible = 1;</a:t>
            </a:r>
          </a:p>
        </p:txBody>
      </p:sp>
    </p:spTree>
    <p:extLst>
      <p:ext uri="{BB962C8B-B14F-4D97-AF65-F5344CB8AC3E}">
        <p14:creationId xmlns:p14="http://schemas.microsoft.com/office/powerpoint/2010/main" val="4187146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260648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오일러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사이클의 조건에 의해 차수가 홀수인 </a:t>
            </a:r>
            <a:r>
              <a:rPr lang="ko-KR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노드가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존재하면 불가능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(j = 1; j &lt;= MAXCOLOR; j++)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((color[j])%2 == 1)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possible =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(possible)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euler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(0, 0);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("Case #%d\n",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== n)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(j = n - 1; j &gt;= 0; j--)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 %d\n", necklace[j][0], 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necklace[j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("some beads may be lost\n");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4577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14271</TotalTime>
  <Words>4271</Words>
  <Application>Microsoft Office PowerPoint</Application>
  <PresentationFormat>화면 슬라이드 쇼(4:3)</PresentationFormat>
  <Paragraphs>544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9" baseType="lpstr">
      <vt:lpstr>CMMI12</vt:lpstr>
      <vt:lpstr>CMR12</vt:lpstr>
      <vt:lpstr>CMR17</vt:lpstr>
      <vt:lpstr>HY견고딕</vt:lpstr>
      <vt:lpstr>굴림</vt:lpstr>
      <vt:lpstr>굴림체</vt:lpstr>
      <vt:lpstr>바탕</vt:lpstr>
      <vt:lpstr>산돌명조 M</vt:lpstr>
      <vt:lpstr>Courier New</vt:lpstr>
      <vt:lpstr>Times New Roman</vt:lpstr>
      <vt:lpstr>Wingdings</vt:lpstr>
      <vt:lpstr>기본 디자인</vt:lpstr>
      <vt:lpstr>제 10장 그래프 알고리즘</vt:lpstr>
      <vt:lpstr>PowerPoint 프레젠테이션</vt:lpstr>
      <vt:lpstr>서론</vt:lpstr>
      <vt:lpstr>Graph Theory</vt:lpstr>
      <vt:lpstr>The Bridges of Königsberg Problem</vt:lpstr>
      <vt:lpstr>차수(Degree)</vt:lpstr>
      <vt:lpstr>연결성(Connectivity)</vt:lpstr>
      <vt:lpstr>PowerPoint 프레젠테이션</vt:lpstr>
      <vt:lpstr>PowerPoint 프레젠테이션</vt:lpstr>
      <vt:lpstr>PowerPoint 프레젠테이션</vt:lpstr>
      <vt:lpstr>그래프의 사이클(Cycles in Graphs)</vt:lpstr>
      <vt:lpstr>Finding an Eulerian Cycle</vt:lpstr>
      <vt:lpstr>Eulerian Cycle Example</vt:lpstr>
      <vt:lpstr>Eulerian Circuit Algorithm for undirected graph</vt:lpstr>
      <vt:lpstr>최소 신장 트리(Minimum Spanning Trees)</vt:lpstr>
      <vt:lpstr>Representing Weighted Graphs</vt:lpstr>
      <vt:lpstr>Prim’s Algorithm</vt:lpstr>
      <vt:lpstr>PowerPoint 프레젠테이션</vt:lpstr>
      <vt:lpstr>PowerPoint 프레젠테이션</vt:lpstr>
      <vt:lpstr>Prim’s Algorithm Example</vt:lpstr>
      <vt:lpstr>PowerPoint 프레젠테이션</vt:lpstr>
      <vt:lpstr>Kruskal’s Algorithm</vt:lpstr>
      <vt:lpstr>What is the difference in Kruskal's and Prim's algorithm?</vt:lpstr>
      <vt:lpstr>PowerPoint 프레젠테이션</vt:lpstr>
      <vt:lpstr>Dijkstra’s Algorithm for Shortest Paths</vt:lpstr>
      <vt:lpstr>PowerPoint 프레젠테이션</vt:lpstr>
      <vt:lpstr>PowerPoint 프레젠테이션</vt:lpstr>
      <vt:lpstr>PowerPoint 프레젠테이션</vt:lpstr>
      <vt:lpstr>Dijkstra’s Agorithm Example</vt:lpstr>
      <vt:lpstr>PowerPoint 프레젠테이션</vt:lpstr>
      <vt:lpstr>All-Pairs Shortest Path</vt:lpstr>
      <vt:lpstr>Floyd’s Algorithm</vt:lpstr>
      <vt:lpstr>Initializing the Adjacency Matrix</vt:lpstr>
      <vt:lpstr>PowerPoint 프레젠테이션</vt:lpstr>
      <vt:lpstr>Floyd’s Idea</vt:lpstr>
      <vt:lpstr>Implementation of Floyd’s Algorithm</vt:lpstr>
      <vt:lpstr>Transitive Closure</vt:lpstr>
      <vt:lpstr>PowerPoint 프레젠테이션</vt:lpstr>
      <vt:lpstr>Network Flow</vt:lpstr>
      <vt:lpstr>Bipartite Graphs</vt:lpstr>
      <vt:lpstr>Bipartite Matching</vt:lpstr>
      <vt:lpstr>문제 73. 주근깨(Freckles) </vt:lpstr>
      <vt:lpstr>PowerPoint 프레젠테이션</vt:lpstr>
      <vt:lpstr>PowerPoint 프레젠테이션</vt:lpstr>
      <vt:lpstr>문제 73. 힌트</vt:lpstr>
      <vt:lpstr>PowerPoint 프레젠테이션</vt:lpstr>
      <vt:lpstr>PowerPoint 프레젠테이션</vt:lpstr>
      <vt:lpstr>PowerPoint 프레젠테이션</vt:lpstr>
      <vt:lpstr>PowerPoint 프레젠테이션</vt:lpstr>
      <vt:lpstr>문제 74. 목걸이(The Necklace)</vt:lpstr>
      <vt:lpstr>PowerPoint 프레젠테이션</vt:lpstr>
      <vt:lpstr>PowerPoint 프레젠테이션</vt:lpstr>
      <vt:lpstr>문제 74. 힌트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 진영</cp:lastModifiedBy>
  <cp:revision>545</cp:revision>
  <dcterms:created xsi:type="dcterms:W3CDTF">2003-02-22T04:47:49Z</dcterms:created>
  <dcterms:modified xsi:type="dcterms:W3CDTF">2018-12-03T11:03:18Z</dcterms:modified>
</cp:coreProperties>
</file>